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95" r:id="rId2"/>
    <p:sldId id="296" r:id="rId3"/>
    <p:sldId id="302" r:id="rId4"/>
    <p:sldId id="291" r:id="rId5"/>
    <p:sldId id="294" r:id="rId6"/>
    <p:sldId id="303" r:id="rId7"/>
    <p:sldId id="258" r:id="rId8"/>
    <p:sldId id="259" r:id="rId9"/>
    <p:sldId id="260" r:id="rId10"/>
    <p:sldId id="262" r:id="rId11"/>
    <p:sldId id="297" r:id="rId12"/>
    <p:sldId id="264" r:id="rId13"/>
    <p:sldId id="265" r:id="rId14"/>
    <p:sldId id="266" r:id="rId15"/>
    <p:sldId id="290" r:id="rId16"/>
    <p:sldId id="268" r:id="rId17"/>
    <p:sldId id="298" r:id="rId18"/>
    <p:sldId id="270" r:id="rId19"/>
    <p:sldId id="289" r:id="rId20"/>
    <p:sldId id="272" r:id="rId21"/>
    <p:sldId id="292" r:id="rId22"/>
    <p:sldId id="273" r:id="rId23"/>
    <p:sldId id="274" r:id="rId24"/>
    <p:sldId id="275" r:id="rId25"/>
    <p:sldId id="299" r:id="rId26"/>
    <p:sldId id="277" r:id="rId27"/>
    <p:sldId id="278" r:id="rId28"/>
    <p:sldId id="279" r:id="rId29"/>
    <p:sldId id="280" r:id="rId30"/>
    <p:sldId id="300" r:id="rId31"/>
    <p:sldId id="282" r:id="rId32"/>
    <p:sldId id="283" r:id="rId33"/>
    <p:sldId id="284" r:id="rId34"/>
    <p:sldId id="285" r:id="rId35"/>
    <p:sldId id="286" r:id="rId36"/>
    <p:sldId id="301"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A5A70E4-483F-B14A-58EF-21DEBA0294E5}">
          <p14:sldIdLst>
            <p14:sldId id="295"/>
          </p14:sldIdLst>
        </p14:section>
        <p14:section name="Context, scope &amp; the key decision" id="{4AD2CCDC-65E2-F209-96CE-2DF41E6349CC}">
          <p14:sldIdLst>
            <p14:sldId id="296"/>
            <p14:sldId id="302"/>
            <p14:sldId id="291"/>
            <p14:sldId id="294"/>
            <p14:sldId id="303"/>
            <p14:sldId id="258"/>
            <p14:sldId id="259"/>
            <p14:sldId id="260"/>
            <p14:sldId id="262"/>
          </p14:sldIdLst>
        </p14:section>
        <p14:section name="Architecture" id="{A95E0DD6-D01E-E947-4398-1D4617322B0C}">
          <p14:sldIdLst>
            <p14:sldId id="297"/>
            <p14:sldId id="264"/>
            <p14:sldId id="265"/>
            <p14:sldId id="266"/>
            <p14:sldId id="290"/>
            <p14:sldId id="268"/>
          </p14:sldIdLst>
        </p14:section>
        <p14:section name="Main flows" id="{3A748DE4-F97E-EE85-8C14-938AEB23EE67}">
          <p14:sldIdLst>
            <p14:sldId id="298"/>
            <p14:sldId id="270"/>
            <p14:sldId id="289"/>
            <p14:sldId id="272"/>
            <p14:sldId id="292"/>
            <p14:sldId id="273"/>
            <p14:sldId id="274"/>
            <p14:sldId id="275"/>
          </p14:sldIdLst>
        </p14:section>
        <p14:section name="Interfaces" id="{CEADFE75-21B0-371C-9225-4C7E1306B251}">
          <p14:sldIdLst>
            <p14:sldId id="299"/>
            <p14:sldId id="277"/>
            <p14:sldId id="278"/>
            <p14:sldId id="279"/>
            <p14:sldId id="280"/>
          </p14:sldIdLst>
        </p14:section>
        <p14:section name="Running it &amp; what comes next" id="{66286404-E7A6-2997-B169-F5F9CAB731D2}">
          <p14:sldIdLst>
            <p14:sldId id="300"/>
            <p14:sldId id="282"/>
            <p14:sldId id="283"/>
            <p14:sldId id="284"/>
            <p14:sldId id="285"/>
            <p14:sldId id="286"/>
            <p14:sldId id="301"/>
          </p14:sldIdLst>
        </p14:section>
        <p14:section name="Default Section" id="{E3DC4526-3F64-C947-AFC4-305231471E4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F4D"/>
    <a:srgbClr val="067582"/>
    <a:srgbClr val="F0F2F4"/>
    <a:srgbClr val="F2F5F9"/>
    <a:srgbClr val="6B7A8C"/>
    <a:srgbClr val="F4ECFC"/>
    <a:srgbClr val="BBD2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1"/>
    <p:restoredTop sz="94610"/>
  </p:normalViewPr>
  <p:slideViewPr>
    <p:cSldViewPr snapToGrid="0" snapToObjects="1">
      <p:cViewPr>
        <p:scale>
          <a:sx n="138" d="100"/>
          <a:sy n="138" d="100"/>
        </p:scale>
        <p:origin x="14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4351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the Task Engine sits in the middle of. Producers create tasks (REST through the API gateway, or the Rust SDK in-process). Workers are separate services: they claim with a long-poll (or, in future, a gRPC stream), hold a lease, and renew it with heartbeats. If a worker dies, its lease runs out and the engine re-queues the task. Lifecycle events go out through the Event Broker to anyone who cares. The timeline at the bottom is a concrete lease example. Right: the four kinds of background work the engine must cover, with the priority in which they arrive. Across the top: the six problems from PRD §1.2.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are ordered by severity for our platform: B = blocker (we cannot adopt a product without it), C = critical, M = major. All three products are workflow engines that run as a separate cluster with their own source of truth; the Task Engine is an in-process task lifecycle engine. Hedged cells: Conductor idempotency keys are documented for Orkes, the commercial edition; Hatchet task-level fencing and queue-depth caps are not documented; Temporal's Rust SDK is in public preview. Our own result/error schema check is required by PRD §5.1 but DESIGN only validates input on create today — a gap to close. Re-check before sharing outside the team.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options are listed in ADR-0001. Pros/cons are condensed from its decision drivers and consequences. Key argument: Gears semantics (GTS typing, PDP authorization, tenant scopes, lease fencing, queue admission) would have to be bent to fit a third-party engine, and we would end up with two sources of truth plus reconciliation. Option 3 adds a lowest-common-denominator interface and runtime plugin machinery we do not need.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recurring problems the PRD calls out, each with the Task Engine answer. The right panel matters just as much: the engine is not a workflow engine — no branches, loops or sagas. Control flow between tasks belongs to the worker or caller.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minute here — lease, lease token and lease epoch come back in almost every flow.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alone is usable: create, claim with leases, heartbeat, retry, timeouts, timer waits, events, search, SDK and REST. P2 adds relationships (dependencies, parent/child), richer waits, dedup/supersession and DLQ. P3 is advanced tuning and multi-database domains.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makes an execution decision — status, leases, counters, timers, waits, dedup state — lives in the relational operational store and changes inside its transactions. The other roles are narrow, compile-time Rust modules selected by config, introduced only when a measurable need appears. Their failure must never stop create, claim, heartbeat, retries, waits or completion.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6C6D6-70B8-1AD4-5FD0-C57F1AB06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CAB7D-CE8C-D382-D255-255B7183D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60C0E-9F79-BA8A-2674-FE49277F8E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4ECECA-217E-0AEA-A438-3A82112F372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60719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who calls us. Middle: the gear. Right: platform gears we depend on. Bottom: the operational database. REST and the in-process SDK are security-equivalent — both pass a SecurityContext through PolicyEnforcer into tenant-scoped SecureConn. Background loops (timer wheel, lease scan, retention) run inside every instance and coordinate with database advisory locks — no external coordinator.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ToolKit layering. Domain has no infrastructure dependencies, all structs carry #[domain_model], and no code outside migrations touches a raw DB connection. Note the naming: directory task-engine-sdk, package cf-gears-task-engine-sdk, library task_engine_sdk.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aggregate. Assignment holds the lease. Result is structured: result code, output, error with domain+code, warnings. Wait conditions have three fixed kinds. Entries and events are append-only. Timers are durable rows for absolute deadlines only. Bottom: what is GTS-extensible versus closed engine enums.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four kinds of actor change state. The producer (API consumer) creates and cancels. The worker drives claim → start → set wait / complete over its lease. An admin can force-cancel or re-enqueue from the DLQ. Everything dashed is the engine itself: the timer wheel (scheduled → queued, timeouts), the lease scan (missed heartbeat, assignment and execution timeouts), the dependency resolver (blocked → queued) and the event consumer / timer / input resolution (waiting → queued). The black dot is the UML initial pseudo-state: 'the task does not exist yet' — the arrow out of it is POST /tasks.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share a primary key. Big caller payloads sit in the cold table (input) or as compressed blobs. The hot row is small, so 10K heartbeats per second at 100K running tasks stay cheap. The claim dispatch index (queue_id, state, run_after, priority, created_at) covers candidate selection. Counter tables are cross-tenant and only touched on engine code paths with allow_all scope.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E9437-FF2B-3375-20DA-5BF19FD99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DE592-54FC-A103-A753-5EB10C43B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53F35D-D215-3DF0-CC61-0FF9C3D99F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79A43C-DFA6-1C31-590A-57FE51566F13}"/>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295628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row. Create: idempotency check, queue-depth reservation, insert, timers and outbox row commit together. Claim: long-poll; slot reservation and guarded state update. The worker carries lease_token on every call. Heartbeat is a single UPDATE of lease_until. Progress is buffered in memory and flushed in batches. Complete releases slots and deletes timers. Event delivery to Event Broker is asynchronous via the managed outbox.</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Both workers read the same candidates without locks. Both try to reserve a slot on the queue's counter row: worker 2 blocks on worker 1's row lock until worker 1 commits. Worker 1 flips T42 from queued to claimed (1 row) and commits. Worker 2 resumes, reserves its slot, tries T42, gets 0 rows because the database re-checked state = queued against the committed row, releases the slot and claims T43 instead. Nobody gets an error. Bottom: the details an implementer must not get wrong — one transaction, the hot counter row, isolation level, lock order, exclusion rules, and the multi-queue ordering gap between PRD and DESIGN.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worker A claims with token T1, then stalls (GC pause, network split). The lease scan sees lease_until passed and requeues the task with backoff, clearing the token. Worker B claims later and gets T2 with epoch 8. When A wakes and tries to complete with T1, the guarded UPDATE matches zero rows and A gets 409 LEASE_LOST. Rules on the right are the contract every worker must follow.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three modes. requested and graceful are cooperative — the worker learns about it from the next heartbeat response and finishes the task as cancelled. graceful adds a grace period after which the engine forces it. forced ends the task immediately, clears the lease so the worker's next call gets LEASE_LOST, and is the only mode that overrides cancellable=false. Any task that holds no lease (queued, scheduled, blocked, waiting) is cancelled immediately in every mode. Right: the graceful sequence end to end, including the escalation branch.</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heartbeat and execution deadlines are columns on te_task_state with partial indexes; a sharded lease scan checks them at least every second. Queue, lifetime, SLA, scheduled and wait timers are durable te_timers rows processed by a timer wheel and rebuilt on restart. Liveness failures (missed heartbeat, assignment timeout) retry with backoff and count against the worker; execution timeout is the task's fault and terminal. Considered and rejected: one timer row per heartbeat — about 10K writes/s at 100K running tasks.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authorize, validate, then the identity check — so a replay never consumes queue capacity — then supersession (P2), then queue-depth reservation. Gates 3 to 6 share one database transaction. Queue depth counts queued tasks per queue, per tenant and per domain, plus deferred (scheduled + blocked) per tenant. Admission can be refused; re-entry such as retry or resume never is.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a wait condition parks the task: state waiting, slot released, lease cleared — the worker is free. The Event Broker consumer group delivers events; the handler matches by type and subject (and CEL, P3), then in one transaction satisfies the wait, re-queues the task with resume_pending, writes outbox events and commits the consumer offset — exactly-once effect even with at-least-once delivery. The next claim returns the resolved data and does not bump attempt.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177BD-92F0-8741-AFC1-85D97F4CA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1711A-9687-51EC-C385-BF7A90C2D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74CB0-A7B6-6647-5E2E-B767109403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E089D6-024B-E06D-852C-113583140EFF}"/>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7510964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Grouped by purpose. The pill on the right of each row is the PDP action required. Worker principals need both claim and update. Bulk routes authorize per task and return per-item outcomes. Probes are anonymous.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sketch based on DESIGN.md (exact signatures will live in task-engine-sdk/src/api.rs). Producers create idempotently and handle the Existing outcome. Workers claim, receive a Lease, and select on lease.lost so they stop as soon as the lease is gone. The bottom row shows why there is no privileged in-process bypass: both paths end in the same domain service, PolicyEnforcer and SecureConn.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practical cheat sheet. The most important distinction: LEASE_LOST is final, CONCURRENT_MODIFICATION is retryable. 409 already_exists is a success for idempotent producers. All shed responses carry Retry-After. The Task Engine defines no error GTS types of its own.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Outbound: each transition writes te_events (always — it is the local audit log) and enqueues an outbox message if event_policies allow; the Event Broker SDK DbProducer delivers asynchronously, at-least-once, ordered per task. Inbound: the consumer group feeds event wait conditions with a transactional handler. Using the Event Broker SDK is a platform standard, not a Task-Engine ADR; a hand-rolled outbox and relay was never on the table.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286D3-51FD-96F1-3D66-7028B40B6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64E31-31AD-CD1F-73EB-83864D79A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F7482-5BC7-9578-59C4-DF7F58E515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2B352F-6FCC-C318-64AD-18832454ED8D}"/>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7930682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node serves HTTP and runs background loops. Timer wheel and lease scan are split into bg_shards shards; each shard is an advisory lock te-bg-shard-i, and a node only scans tasks where hash(task_id) mod S equals a shard it holds. If a node dies, its locks release and survivors pick them up. Low-frequency maintenance (retention, slot reconciliation) uses one leader lock. Each node runs a queue watcher that probes queues with parked waiters every second, so cross-node wake-up needs no Cluster gear.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client connections are parked long-poll claims holding nothing. DB-bound work needs one of 512 in-process admission permits (100 ms wait, else 429); then a pooled DB connection (250 ms, else 503). Under overload the node sheds new creates first and protects heartbeat, complete and cancel — dropping heartbeats would expire leases and create more work. Admission fails open; authorization always fails closed.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One-page summary of the architecture decisions and the alternatives each one beat. Most were already shown on earlier slides with more detail.</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feature groups. Most important for developers: dependencies and parent/child (tasks start in blocked), dedup identity and supersession (no Idempotency-Key needed for such types), event and input waits, and the dead-letter queue.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domains are the biggest P3 item: task types or queues are routed by first-match pattern to separate databases, each with its own pool, migrations and retention. Atomic operations (claim, dependencies, parent/child) never cross a domain; only read paths fan out and merge. The rest are tuning knobs and safety features.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4F47B-5CE5-28E2-6FAE-561A0033A9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4B540-AC15-D3A7-0BA8-E5CB9A6CD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5699D-6D44-6CF6-D803-DE276B1532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28465D-2EDE-DF82-6AFE-66FE73BFA83F}"/>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516471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54480"/>
            <a:ext cx="7315200" cy="365760"/>
          </a:xfrm>
          <a:prstGeom prst="rect">
            <a:avLst/>
          </a:prstGeom>
          <a:noFill/>
          <a:ln/>
        </p:spPr>
        <p:txBody>
          <a:bodyPr wrap="square" rtlCol="0"/>
          <a:lstStyle>
            <a:lvl1pPr marL="0" indent="0" algn="l">
              <a:buNone/>
              <a:defRPr lang="en-US" sz="1300" b="1" kern="0" spc="200" dirty="0">
                <a:solidFill>
                  <a:srgbClr val="6BA5F0"/>
                </a:solidFill>
                <a:latin typeface="Aptos" pitchFamily="34" charset="0"/>
                <a:ea typeface="Aptos" pitchFamily="34" charset="-122"/>
                <a:cs typeface="Aptos" pitchFamily="34" charset="-120"/>
              </a:defRPr>
            </a:lvl1pPr>
          </a:lstStyle>
          <a:p>
            <a:pPr marL="0" indent="0" algn="l">
              <a:buNone/>
            </a:pPr>
            <a:r>
              <a:rPr lang="en-US" sz="1300" b="1" kern="0" spc="200" dirty="0">
                <a:solidFill>
                  <a:srgbClr val="6BA5F0"/>
                </a:solidFill>
                <a:latin typeface="Aptos" pitchFamily="34" charset="0"/>
                <a:ea typeface="Aptos" pitchFamily="34" charset="-122"/>
                <a:cs typeface="Aptos" pitchFamily="34" charset="-120"/>
              </a:rPr>
              <a:t>PRESENTATION</a:t>
            </a:r>
            <a:endParaRPr lang="en-US" sz="1300" dirty="0"/>
          </a:p>
        </p:txBody>
      </p:sp>
      <p:sp>
        <p:nvSpPr>
          <p:cNvPr id="3" name="Text 0"/>
          <p:cNvSpPr>
            <a:spLocks noGrp="1"/>
          </p:cNvSpPr>
          <p:nvPr>
            <p:ph type="title" idx="101" hasCustomPrompt="1"/>
          </p:nvPr>
        </p:nvSpPr>
        <p:spPr>
          <a:xfrm>
            <a:off x="457200" y="1920240"/>
            <a:ext cx="10332720" cy="1920240"/>
          </a:xfrm>
          <a:prstGeom prst="rect">
            <a:avLst/>
          </a:prstGeom>
          <a:noFill/>
          <a:ln/>
        </p:spPr>
        <p:txBody>
          <a:bodyPr wrap="square" rtlCol="0"/>
          <a:lstStyle>
            <a:lvl1pPr marL="0" indent="0" algn="l">
              <a:buNone/>
              <a:defRPr lang="en-US" sz="6400" b="1" kern="0" spc="-100" dirty="0">
                <a:solidFill>
                  <a:srgbClr val="FFFFFF"/>
                </a:solidFill>
                <a:latin typeface="Aptos" pitchFamily="34" charset="0"/>
                <a:ea typeface="Aptos" pitchFamily="34" charset="-122"/>
                <a:cs typeface="Aptos" pitchFamily="34" charset="-120"/>
              </a:defRPr>
            </a:lvl1pPr>
          </a:lstStyle>
          <a:p>
            <a:pPr marL="0" indent="0" algn="l">
              <a:buNone/>
            </a:pPr>
            <a:r>
              <a:rPr lang="en-US" sz="6400" b="1" kern="0" spc="-100" dirty="0">
                <a:solidFill>
                  <a:srgbClr val="FFFFFF"/>
                </a:solidFill>
                <a:latin typeface="Aptos" pitchFamily="34" charset="0"/>
                <a:ea typeface="Aptos" pitchFamily="34" charset="-122"/>
                <a:cs typeface="Aptos" pitchFamily="34" charset="-120"/>
              </a:rPr>
              <a:t>Presentation title goes here</a:t>
            </a:r>
            <a:endParaRPr lang="en-US" sz="6400" dirty="0"/>
          </a:p>
        </p:txBody>
      </p:sp>
      <p:sp>
        <p:nvSpPr>
          <p:cNvPr id="4" name="Text 0"/>
          <p:cNvSpPr>
            <a:spLocks noGrp="1"/>
          </p:cNvSpPr>
          <p:nvPr>
            <p:ph type="body" idx="102" hasCustomPrompt="1"/>
          </p:nvPr>
        </p:nvSpPr>
        <p:spPr>
          <a:xfrm>
            <a:off x="457200" y="4160520"/>
            <a:ext cx="8046720" cy="640080"/>
          </a:xfrm>
          <a:prstGeom prst="rect">
            <a:avLst/>
          </a:prstGeom>
          <a:noFill/>
          <a:ln/>
        </p:spPr>
        <p:txBody>
          <a:bodyPr wrap="square" rtlCol="0"/>
          <a:lstStyle>
            <a:lvl1pPr marL="0" indent="0" algn="l">
              <a:buNone/>
              <a:defRPr lang="en-US" sz="1800" dirty="0">
                <a:solidFill>
                  <a:srgbClr val="E6EFFA"/>
                </a:solidFill>
                <a:latin typeface="Aptos" pitchFamily="34" charset="0"/>
                <a:ea typeface="Aptos" pitchFamily="34" charset="-122"/>
                <a:cs typeface="Aptos" pitchFamily="34" charset="-120"/>
              </a:defRPr>
            </a:lvl1pPr>
          </a:lstStyle>
          <a:p>
            <a:pPr marL="0" indent="0" algn="l">
              <a:buNone/>
            </a:pPr>
            <a:r>
              <a:rPr lang="en-US" sz="1800" dirty="0">
                <a:solidFill>
                  <a:srgbClr val="E6EFFA"/>
                </a:solidFill>
                <a:latin typeface="Aptos" pitchFamily="34" charset="0"/>
                <a:ea typeface="Aptos" pitchFamily="34" charset="-122"/>
                <a:cs typeface="Aptos" pitchFamily="34" charset="-120"/>
              </a:rPr>
              <a:t>A short one-line subtitle or description of the deck.</a:t>
            </a:r>
            <a:endParaRPr lang="en-US" sz="1800" dirty="0"/>
          </a:p>
        </p:txBody>
      </p:sp>
      <p:sp>
        <p:nvSpPr>
          <p:cNvPr id="5" name="Text 0"/>
          <p:cNvSpPr>
            <a:spLocks noGrp="1"/>
          </p:cNvSpPr>
          <p:nvPr>
            <p:ph type="body" idx="103" hasCustomPrompt="1"/>
          </p:nvPr>
        </p:nvSpPr>
        <p:spPr>
          <a:xfrm>
            <a:off x="457200" y="5577840"/>
            <a:ext cx="7315200" cy="365760"/>
          </a:xfrm>
          <a:prstGeom prst="rect">
            <a:avLst/>
          </a:prstGeom>
          <a:noFill/>
          <a:ln/>
        </p:spPr>
        <p:txBody>
          <a:bodyPr wrap="square" rtlCol="0"/>
          <a:lstStyle>
            <a:lvl1pPr marL="0" indent="0" algn="l">
              <a:buNone/>
              <a:defRPr lang="en-US" sz="1200" dirty="0">
                <a:solidFill>
                  <a:srgbClr val="A9BEDD"/>
                </a:solidFill>
                <a:latin typeface="Aptos" pitchFamily="34" charset="0"/>
                <a:ea typeface="Aptos" pitchFamily="34" charset="-122"/>
                <a:cs typeface="Aptos" pitchFamily="34" charset="-120"/>
              </a:defRPr>
            </a:lvl1pPr>
          </a:lstStyle>
          <a:p>
            <a:pPr marL="0" indent="0" algn="l">
              <a:buNone/>
            </a:pPr>
            <a:r>
              <a:rPr lang="en-US" sz="1200" dirty="0">
                <a:solidFill>
                  <a:srgbClr val="A9BEDD"/>
                </a:solidFill>
                <a:latin typeface="Aptos" pitchFamily="34" charset="0"/>
                <a:ea typeface="Aptos" pitchFamily="34" charset="-122"/>
                <a:cs typeface="Aptos" pitchFamily="34" charset="-120"/>
              </a:rPr>
              <a:t>Author Name · Month Year</a:t>
            </a:r>
            <a:endParaRPr lang="en-US" sz="1200" dirty="0"/>
          </a:p>
        </p:txBody>
      </p:sp>
      <p:sp>
        <p:nvSpPr>
          <p:cNvPr id="6"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A9BEDD"/>
                </a:solidFill>
                <a:latin typeface="Aptos" pitchFamily="34" charset="0"/>
                <a:ea typeface="Aptos" pitchFamily="34" charset="-122"/>
                <a:cs typeface="Aptos" pitchFamily="34" charset="-120"/>
              </a:rPr>
              <a:t>Constructor Fabric</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194560"/>
            <a:ext cx="7315200" cy="365760"/>
          </a:xfrm>
          <a:prstGeom prst="rect">
            <a:avLst/>
          </a:prstGeom>
          <a:noFill/>
          <a:ln/>
        </p:spPr>
        <p:txBody>
          <a:bodyPr wrap="square" rtlCol="0"/>
          <a:lstStyle>
            <a:lvl1pPr marL="0" indent="0" algn="l">
              <a:buNone/>
              <a:defRPr lang="en-US" sz="1300" b="1" kern="0" spc="200" dirty="0">
                <a:solidFill>
                  <a:srgbClr val="6BA5F0"/>
                </a:solidFill>
                <a:latin typeface="Aptos" pitchFamily="34" charset="0"/>
                <a:ea typeface="Aptos" pitchFamily="34" charset="-122"/>
                <a:cs typeface="Aptos" pitchFamily="34" charset="-120"/>
              </a:defRPr>
            </a:lvl1pPr>
          </a:lstStyle>
          <a:p>
            <a:pPr marL="0" indent="0" algn="l">
              <a:buNone/>
            </a:pPr>
            <a:r>
              <a:rPr lang="en-US" sz="1300" b="1" kern="0" spc="200" dirty="0">
                <a:solidFill>
                  <a:srgbClr val="6BA5F0"/>
                </a:solidFill>
                <a:latin typeface="Aptos" pitchFamily="34" charset="0"/>
                <a:ea typeface="Aptos" pitchFamily="34" charset="-122"/>
                <a:cs typeface="Aptos" pitchFamily="34" charset="-120"/>
              </a:rPr>
              <a:t>SECTION 01</a:t>
            </a:r>
            <a:endParaRPr lang="en-US" sz="1300" dirty="0"/>
          </a:p>
        </p:txBody>
      </p:sp>
      <p:sp>
        <p:nvSpPr>
          <p:cNvPr id="3" name="Text 0"/>
          <p:cNvSpPr>
            <a:spLocks noGrp="1"/>
          </p:cNvSpPr>
          <p:nvPr>
            <p:ph type="title" idx="101" hasCustomPrompt="1"/>
          </p:nvPr>
        </p:nvSpPr>
        <p:spPr>
          <a:xfrm>
            <a:off x="457200" y="2606040"/>
            <a:ext cx="10058400" cy="1188720"/>
          </a:xfrm>
          <a:prstGeom prst="rect">
            <a:avLst/>
          </a:prstGeom>
          <a:noFill/>
          <a:ln/>
        </p:spPr>
        <p:txBody>
          <a:bodyPr wrap="square" rtlCol="0"/>
          <a:lstStyle>
            <a:lvl1pPr marL="0" indent="0" algn="l">
              <a:buNone/>
              <a:defRPr lang="en-US" sz="4200" b="1" kern="0" spc="-100" dirty="0">
                <a:solidFill>
                  <a:srgbClr val="FFFFFF"/>
                </a:solidFill>
                <a:latin typeface="Aptos" pitchFamily="34" charset="0"/>
                <a:ea typeface="Aptos" pitchFamily="34" charset="-122"/>
                <a:cs typeface="Aptos" pitchFamily="34" charset="-120"/>
              </a:defRPr>
            </a:lvl1pPr>
          </a:lstStyle>
          <a:p>
            <a:pPr marL="0" indent="0" algn="l">
              <a:buNone/>
            </a:pPr>
            <a:r>
              <a:rPr lang="en-US" sz="4200" b="1" kern="0" spc="-100" dirty="0">
                <a:solidFill>
                  <a:srgbClr val="FFFFFF"/>
                </a:solidFill>
                <a:latin typeface="Aptos" pitchFamily="34" charset="0"/>
                <a:ea typeface="Aptos" pitchFamily="34" charset="-122"/>
                <a:cs typeface="Aptos" pitchFamily="34" charset="-120"/>
              </a:rPr>
              <a:t>Section title</a:t>
            </a:r>
            <a:endParaRPr lang="en-US" sz="4200" dirty="0"/>
          </a:p>
        </p:txBody>
      </p:sp>
      <p:sp>
        <p:nvSpPr>
          <p:cNvPr id="4" name="Text 0"/>
          <p:cNvSpPr>
            <a:spLocks noGrp="1"/>
          </p:cNvSpPr>
          <p:nvPr>
            <p:ph type="body" idx="102" hasCustomPrompt="1"/>
          </p:nvPr>
        </p:nvSpPr>
        <p:spPr>
          <a:xfrm>
            <a:off x="457200" y="3931920"/>
            <a:ext cx="7863840" cy="548640"/>
          </a:xfrm>
          <a:prstGeom prst="rect">
            <a:avLst/>
          </a:prstGeom>
          <a:noFill/>
          <a:ln/>
        </p:spPr>
        <p:txBody>
          <a:bodyPr wrap="square" rtlCol="0"/>
          <a:lstStyle>
            <a:lvl1pPr marL="0" indent="0" algn="l">
              <a:buNone/>
              <a:defRPr lang="en-US" sz="1500" dirty="0">
                <a:solidFill>
                  <a:srgbClr val="E6EFFA"/>
                </a:solidFill>
                <a:latin typeface="Aptos" pitchFamily="34" charset="0"/>
                <a:ea typeface="Aptos" pitchFamily="34" charset="-122"/>
                <a:cs typeface="Aptos" pitchFamily="34" charset="-120"/>
              </a:defRPr>
            </a:lvl1pPr>
          </a:lstStyle>
          <a:p>
            <a:pPr marL="0" indent="0" algn="l">
              <a:buNone/>
            </a:pPr>
            <a:r>
              <a:rPr lang="en-US" sz="1500" dirty="0">
                <a:solidFill>
                  <a:srgbClr val="E6EFFA"/>
                </a:solidFill>
                <a:latin typeface="Aptos" pitchFamily="34" charset="0"/>
                <a:ea typeface="Aptos" pitchFamily="34" charset="-122"/>
                <a:cs typeface="Aptos" pitchFamily="34" charset="-120"/>
              </a:rPr>
              <a:t>One sentence summarizing what this section covers.</a:t>
            </a:r>
            <a:endParaRPr lang="en-US" sz="1500" dirty="0"/>
          </a:p>
        </p:txBody>
      </p:sp>
      <p:sp>
        <p:nvSpPr>
          <p:cNvPr id="5"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A9BEDD"/>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A9BEDD"/>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rgbClr val="F2F6F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14400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Agenda</a:t>
            </a:r>
            <a:endParaRPr lang="en-US" sz="3200" dirty="0"/>
          </a:p>
        </p:txBody>
      </p:sp>
      <p:sp>
        <p:nvSpPr>
          <p:cNvPr id="3" name="Text 0"/>
          <p:cNvSpPr>
            <a:spLocks noGrp="1"/>
          </p:cNvSpPr>
          <p:nvPr>
            <p:ph type="body" idx="101" hasCustomPrompt="1"/>
          </p:nvPr>
        </p:nvSpPr>
        <p:spPr>
          <a:xfrm>
            <a:off x="457200" y="1554480"/>
            <a:ext cx="8412480" cy="4114800"/>
          </a:xfrm>
          <a:prstGeom prst="rect">
            <a:avLst/>
          </a:prstGeom>
          <a:noFill/>
          <a:ln/>
        </p:spPr>
        <p:txBody>
          <a:bodyPr wrap="square" rtlCol="0"/>
          <a:lstStyle>
            <a:lvl1pPr marL="0" indent="0" algn="l">
              <a:lnSpc>
                <a:spcPct val="170000"/>
              </a:lnSpc>
              <a:buNone/>
              <a:defRPr lang="en-US" sz="1700" dirty="0">
                <a:solidFill>
                  <a:srgbClr val="243143"/>
                </a:solidFill>
                <a:latin typeface="Aptos" pitchFamily="34" charset="0"/>
                <a:ea typeface="Aptos" pitchFamily="34" charset="-122"/>
                <a:cs typeface="Aptos" pitchFamily="34" charset="-120"/>
              </a:defRPr>
            </a:lvl1pPr>
          </a:lstStyle>
          <a:p>
            <a:pPr marL="0" indent="0" algn="l">
              <a:lnSpc>
                <a:spcPct val="170000"/>
              </a:lnSpc>
              <a:buNone/>
            </a:pPr>
            <a:r>
              <a:rPr lang="en-US" sz="1700" dirty="0">
                <a:solidFill>
                  <a:srgbClr val="243143"/>
                </a:solidFill>
                <a:latin typeface="Aptos" pitchFamily="34" charset="0"/>
                <a:ea typeface="Aptos" pitchFamily="34" charset="-122"/>
                <a:cs typeface="Aptos" pitchFamily="34" charset="-120"/>
              </a:rPr>
              <a:t>01   Welcome &amp; introductions — 10 min</a:t>
            </a:r>
            <a:endParaRPr lang="en-US" sz="1700" dirty="0"/>
          </a:p>
          <a:p>
            <a:pPr marL="0" indent="0" algn="l">
              <a:lnSpc>
                <a:spcPct val="170000"/>
              </a:lnSpc>
              <a:buNone/>
            </a:pPr>
            <a:r>
              <a:rPr lang="en-US" sz="1700" dirty="0">
                <a:solidFill>
                  <a:srgbClr val="243143"/>
                </a:solidFill>
                <a:latin typeface="Aptos" pitchFamily="34" charset="0"/>
                <a:ea typeface="Aptos" pitchFamily="34" charset="-122"/>
                <a:cs typeface="Aptos" pitchFamily="34" charset="-120"/>
              </a:rPr>
              <a:t>02   Market overview — 15 min</a:t>
            </a:r>
            <a:endParaRPr lang="en-US" sz="1700" dirty="0"/>
          </a:p>
          <a:p>
            <a:pPr marL="0" indent="0" algn="l">
              <a:lnSpc>
                <a:spcPct val="170000"/>
              </a:lnSpc>
              <a:buNone/>
            </a:pPr>
            <a:r>
              <a:rPr lang="en-US" sz="1700" dirty="0">
                <a:solidFill>
                  <a:srgbClr val="243143"/>
                </a:solidFill>
                <a:latin typeface="Aptos" pitchFamily="34" charset="0"/>
                <a:ea typeface="Aptos" pitchFamily="34" charset="-122"/>
                <a:cs typeface="Aptos" pitchFamily="34" charset="-120"/>
              </a:rPr>
              <a:t>03   Product walkthrough — 20 min</a:t>
            </a:r>
            <a:endParaRPr lang="en-US" sz="1700" dirty="0"/>
          </a:p>
          <a:p>
            <a:pPr marL="0" indent="0" algn="l">
              <a:lnSpc>
                <a:spcPct val="170000"/>
              </a:lnSpc>
              <a:buNone/>
            </a:pPr>
            <a:r>
              <a:rPr lang="en-US" sz="1700" dirty="0">
                <a:solidFill>
                  <a:srgbClr val="243143"/>
                </a:solidFill>
                <a:latin typeface="Aptos" pitchFamily="34" charset="0"/>
                <a:ea typeface="Aptos" pitchFamily="34" charset="-122"/>
                <a:cs typeface="Aptos" pitchFamily="34" charset="-120"/>
              </a:rPr>
              <a:t>04   Discussion &amp; next steps — 15 min</a:t>
            </a:r>
            <a:endParaRPr lang="en-US" sz="1700" dirty="0"/>
          </a:p>
          <a:p>
            <a:pPr marL="0" indent="0" algn="l">
              <a:lnSpc>
                <a:spcPct val="170000"/>
              </a:lnSpc>
              <a:buNone/>
            </a:pPr>
            <a:r>
              <a:rPr lang="en-US" sz="1700" dirty="0">
                <a:solidFill>
                  <a:srgbClr val="243143"/>
                </a:solidFill>
                <a:latin typeface="Aptos" pitchFamily="34" charset="0"/>
                <a:ea typeface="Aptos" pitchFamily="34" charset="-122"/>
                <a:cs typeface="Aptos" pitchFamily="34" charset="-120"/>
              </a:rPr>
              <a:t>05   Q&amp;A — 10 min</a:t>
            </a:r>
            <a:endParaRPr lang="en-US" sz="1700" dirty="0"/>
          </a:p>
        </p:txBody>
      </p:sp>
      <p:sp>
        <p:nvSpPr>
          <p:cNvPr id="4"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ag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9144000" cy="73152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Image slide title</a:t>
            </a:r>
            <a:endParaRPr lang="en-US" sz="3200" dirty="0"/>
          </a:p>
        </p:txBody>
      </p:sp>
      <p:sp>
        <p:nvSpPr>
          <p:cNvPr id="3" name="RoundCard"/>
          <p:cNvSpPr>
            <a:spLocks noGrp="1"/>
          </p:cNvSpPr>
          <p:nvPr>
            <p:ph type="body" idx="101" hasCustomPrompt="1"/>
          </p:nvPr>
        </p:nvSpPr>
        <p:spPr>
          <a:xfrm>
            <a:off x="457200" y="1463040"/>
            <a:ext cx="11277295" cy="3977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400" b="1" kern="0" spc="150" dirty="0">
                <a:solidFill>
                  <a:srgbClr val="6E7B8C"/>
                </a:solidFill>
                <a:latin typeface="Aptos" pitchFamily="34" charset="0"/>
                <a:ea typeface="Aptos" pitchFamily="34" charset="-122"/>
                <a:cs typeface="Aptos" pitchFamily="34" charset="-120"/>
              </a:defRPr>
            </a:lvl1pPr>
          </a:lstStyle>
          <a:p>
            <a:pPr marL="0" indent="0" algn="ctr">
              <a:buNone/>
            </a:pPr>
            <a:r>
              <a:rPr lang="en-US" sz="1400" b="1" kern="0" spc="150" dirty="0">
                <a:solidFill>
                  <a:srgbClr val="6E7B8C"/>
                </a:solidFill>
                <a:latin typeface="Aptos" pitchFamily="34" charset="0"/>
                <a:ea typeface="Aptos" pitchFamily="34" charset="-122"/>
                <a:cs typeface="Aptos" pitchFamily="34" charset="-120"/>
              </a:rPr>
              <a:t>INSERT IMAGE</a:t>
            </a:r>
            <a:endParaRPr lang="en-US" sz="1400" dirty="0"/>
          </a:p>
        </p:txBody>
      </p:sp>
      <p:sp>
        <p:nvSpPr>
          <p:cNvPr id="4" name="Text 0"/>
          <p:cNvSpPr>
            <a:spLocks noGrp="1"/>
          </p:cNvSpPr>
          <p:nvPr>
            <p:ph type="body" idx="102" hasCustomPrompt="1"/>
          </p:nvPr>
        </p:nvSpPr>
        <p:spPr>
          <a:xfrm>
            <a:off x="457200" y="5577840"/>
            <a:ext cx="11277295" cy="320040"/>
          </a:xfrm>
          <a:prstGeom prst="rect">
            <a:avLst/>
          </a:prstGeom>
          <a:noFill/>
          <a:ln/>
        </p:spPr>
        <p:txBody>
          <a:bodyPr wrap="square" rtlCol="0"/>
          <a:lstStyle>
            <a:lvl1pPr marL="0" indent="0" algn="l">
              <a:buNone/>
              <a:defRPr lang="en-US" sz="1200" i="1" dirty="0">
                <a:solidFill>
                  <a:srgbClr val="6E7B8C"/>
                </a:solidFill>
                <a:latin typeface="Aptos" pitchFamily="34" charset="0"/>
                <a:ea typeface="Aptos" pitchFamily="34" charset="-122"/>
                <a:cs typeface="Aptos" pitchFamily="34" charset="-120"/>
              </a:defRPr>
            </a:lvl1pPr>
          </a:lstStyle>
          <a:p>
            <a:pPr marL="0" indent="0" algn="l">
              <a:buNone/>
            </a:pPr>
            <a:r>
              <a:rPr lang="en-US" sz="1200" i="1" dirty="0">
                <a:solidFill>
                  <a:srgbClr val="6E7B8C"/>
                </a:solidFill>
                <a:latin typeface="Aptos" pitchFamily="34" charset="0"/>
                <a:ea typeface="Aptos" pitchFamily="34" charset="-122"/>
                <a:cs typeface="Aptos" pitchFamily="34" charset="-120"/>
              </a:rPr>
              <a:t>Image caption or source</a:t>
            </a:r>
            <a:endParaRPr lang="en-US" sz="1200" dirty="0"/>
          </a:p>
        </p:txBody>
      </p:sp>
      <p:sp>
        <p:nvSpPr>
          <p:cNvPr id="5"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mage Full">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9144000" cy="73152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Full image title</a:t>
            </a:r>
            <a:endParaRPr lang="en-US" sz="3200" dirty="0"/>
          </a:p>
        </p:txBody>
      </p:sp>
      <p:sp>
        <p:nvSpPr>
          <p:cNvPr id="3" name="RoundCard"/>
          <p:cNvSpPr>
            <a:spLocks noGrp="1"/>
          </p:cNvSpPr>
          <p:nvPr>
            <p:ph type="body" idx="101" hasCustomPrompt="1"/>
          </p:nvPr>
        </p:nvSpPr>
        <p:spPr>
          <a:xfrm>
            <a:off x="457200" y="1371600"/>
            <a:ext cx="11277295" cy="4818888"/>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400" b="1" kern="0" spc="150" dirty="0">
                <a:solidFill>
                  <a:srgbClr val="6E7B8C"/>
                </a:solidFill>
                <a:latin typeface="Aptos" pitchFamily="34" charset="0"/>
                <a:ea typeface="Aptos" pitchFamily="34" charset="-122"/>
                <a:cs typeface="Aptos" pitchFamily="34" charset="-120"/>
              </a:defRPr>
            </a:lvl1pPr>
          </a:lstStyle>
          <a:p>
            <a:pPr marL="0" indent="0" algn="ctr">
              <a:buNone/>
            </a:pPr>
            <a:r>
              <a:rPr lang="en-US" sz="1400" b="1" kern="0" spc="150" dirty="0">
                <a:solidFill>
                  <a:srgbClr val="6E7B8C"/>
                </a:solidFill>
                <a:latin typeface="Aptos" pitchFamily="34" charset="0"/>
                <a:ea typeface="Aptos" pitchFamily="34" charset="-122"/>
                <a:cs typeface="Aptos" pitchFamily="34" charset="-120"/>
              </a:rPr>
              <a:t>INSERT IMAGE</a:t>
            </a:r>
            <a:endParaRPr lang="en-US" sz="1400" dirty="0"/>
          </a:p>
        </p:txBody>
      </p:sp>
      <p:sp>
        <p:nvSpPr>
          <p:cNvPr id="4"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mage Half">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02920"/>
            <a:ext cx="9144000" cy="73152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Half image title</a:t>
            </a:r>
            <a:endParaRPr lang="en-US" sz="3200" dirty="0"/>
          </a:p>
        </p:txBody>
      </p:sp>
      <p:sp>
        <p:nvSpPr>
          <p:cNvPr id="3" name="RoundCard"/>
          <p:cNvSpPr>
            <a:spLocks noGrp="1"/>
          </p:cNvSpPr>
          <p:nvPr>
            <p:ph type="body" idx="101" hasCustomPrompt="1"/>
          </p:nvPr>
        </p:nvSpPr>
        <p:spPr>
          <a:xfrm>
            <a:off x="457200" y="1371600"/>
            <a:ext cx="5501488" cy="4818888"/>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300" b="1" kern="0" spc="150" dirty="0">
                <a:solidFill>
                  <a:srgbClr val="6E7B8C"/>
                </a:solidFill>
                <a:latin typeface="Aptos" pitchFamily="34" charset="0"/>
                <a:ea typeface="Aptos" pitchFamily="34" charset="-122"/>
                <a:cs typeface="Aptos" pitchFamily="34" charset="-120"/>
              </a:defRPr>
            </a:lvl1pPr>
          </a:lstStyle>
          <a:p>
            <a:pPr marL="0" indent="0" algn="ctr">
              <a:buNone/>
            </a:pPr>
            <a:r>
              <a:rPr lang="en-US" sz="1300" b="1" kern="0" spc="150" dirty="0">
                <a:solidFill>
                  <a:srgbClr val="6E7B8C"/>
                </a:solidFill>
                <a:latin typeface="Aptos" pitchFamily="34" charset="0"/>
                <a:ea typeface="Aptos" pitchFamily="34" charset="-122"/>
                <a:cs typeface="Aptos" pitchFamily="34" charset="-120"/>
              </a:rPr>
              <a:t>INSERT IMAGE</a:t>
            </a:r>
            <a:endParaRPr lang="en-US" sz="1300" dirty="0"/>
          </a:p>
        </p:txBody>
      </p:sp>
      <p:sp>
        <p:nvSpPr>
          <p:cNvPr id="4" name="Text 0"/>
          <p:cNvSpPr>
            <a:spLocks noGrp="1"/>
          </p:cNvSpPr>
          <p:nvPr>
            <p:ph type="body" idx="102" hasCustomPrompt="1"/>
          </p:nvPr>
        </p:nvSpPr>
        <p:spPr>
          <a:xfrm>
            <a:off x="6233008" y="1463040"/>
            <a:ext cx="5501488" cy="4636008"/>
          </a:xfrm>
          <a:prstGeom prst="rect">
            <a:avLst/>
          </a:prstGeom>
          <a:noFill/>
          <a:ln/>
        </p:spPr>
        <p:txBody>
          <a:bodyPr wrap="square" rtlCol="0"/>
          <a:lstStyle>
            <a:lvl1pPr marL="0" indent="0" algn="l">
              <a:lnSpc>
                <a:spcPct val="140000"/>
              </a:lnSpc>
              <a:buNone/>
              <a:defRPr lang="en-US" sz="1600" dirty="0">
                <a:solidFill>
                  <a:srgbClr val="243143"/>
                </a:solidFill>
                <a:latin typeface="Aptos" pitchFamily="34" charset="0"/>
                <a:ea typeface="Aptos" pitchFamily="34" charset="-122"/>
                <a:cs typeface="Aptos" pitchFamily="34" charset="-120"/>
              </a:defRPr>
            </a:lvl1pPr>
          </a:lstStyle>
          <a:p>
            <a:pPr marL="0" indent="0" algn="l">
              <a:lnSpc>
                <a:spcPct val="140000"/>
              </a:lnSpc>
              <a:buNone/>
            </a:pPr>
            <a:r>
              <a:rPr lang="en-US" sz="1600" dirty="0">
                <a:solidFill>
                  <a:srgbClr val="243143"/>
                </a:solidFill>
                <a:latin typeface="Aptos" pitchFamily="34" charset="0"/>
                <a:ea typeface="Aptos" pitchFamily="34" charset="-122"/>
                <a:cs typeface="Aptos" pitchFamily="34" charset="-120"/>
              </a:rPr>
              <a:t>Add a caption or short description beside the image here.</a:t>
            </a:r>
            <a:endParaRPr lang="en-US" sz="1600" dirty="0"/>
          </a:p>
        </p:txBody>
      </p:sp>
      <p:sp>
        <p:nvSpPr>
          <p:cNvPr id="5"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Lis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14400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Key points</a:t>
            </a:r>
            <a:endParaRPr lang="en-US" sz="3200" dirty="0"/>
          </a:p>
        </p:txBody>
      </p:sp>
      <p:sp>
        <p:nvSpPr>
          <p:cNvPr id="3" name="Text 0"/>
          <p:cNvSpPr>
            <a:spLocks noGrp="1"/>
          </p:cNvSpPr>
          <p:nvPr>
            <p:ph type="body" idx="101" hasCustomPrompt="1"/>
          </p:nvPr>
        </p:nvSpPr>
        <p:spPr>
          <a:xfrm>
            <a:off x="457200" y="1828800"/>
            <a:ext cx="8686800" cy="4206240"/>
          </a:xfrm>
          <a:prstGeom prst="rect">
            <a:avLst/>
          </a:prstGeom>
          <a:noFill/>
          <a:ln/>
        </p:spPr>
        <p:txBody>
          <a:bodyPr wrap="square" rtlCol="0"/>
          <a:lstStyle>
            <a:lvl1pPr marL="279400" indent="-279400" algn="l">
              <a:lnSpc>
                <a:spcPct val="160000"/>
              </a:lnSpc>
              <a:buSzPct val="100000"/>
              <a:buChar char="•"/>
              <a:defRPr lang="en-US" sz="1600" dirty="0">
                <a:solidFill>
                  <a:srgbClr val="243143"/>
                </a:solidFill>
                <a:latin typeface="Aptos" pitchFamily="34" charset="0"/>
                <a:ea typeface="Aptos" pitchFamily="34" charset="-122"/>
                <a:cs typeface="Aptos" pitchFamily="34" charset="-120"/>
              </a:defRPr>
            </a:lvl1pPr>
          </a:lstStyle>
          <a:p>
            <a:pPr marL="279400" indent="-279400" algn="l">
              <a:lnSpc>
                <a:spcPct val="160000"/>
              </a:lnSpc>
              <a:buSzPct val="100000"/>
              <a:buChar char="•"/>
            </a:pPr>
            <a:r>
              <a:rPr lang="en-US" sz="1600" dirty="0">
                <a:solidFill>
                  <a:srgbClr val="243143"/>
                </a:solidFill>
                <a:latin typeface="Aptos" pitchFamily="34" charset="0"/>
                <a:ea typeface="Aptos" pitchFamily="34" charset="-122"/>
                <a:cs typeface="Aptos" pitchFamily="34" charset="-120"/>
              </a:rPr>
              <a:t>First key point</a:t>
            </a:r>
            <a:endParaRPr lang="en-US" sz="1600" dirty="0"/>
          </a:p>
          <a:p>
            <a:pPr marL="279400" indent="-279400" algn="l">
              <a:lnSpc>
                <a:spcPct val="160000"/>
              </a:lnSpc>
              <a:buSzPct val="100000"/>
              <a:buChar char="•"/>
            </a:pPr>
            <a:r>
              <a:rPr lang="en-US" sz="1600" dirty="0">
                <a:solidFill>
                  <a:srgbClr val="243143"/>
                </a:solidFill>
                <a:latin typeface="Aptos" pitchFamily="34" charset="0"/>
                <a:ea typeface="Aptos" pitchFamily="34" charset="-122"/>
                <a:cs typeface="Aptos" pitchFamily="34" charset="-120"/>
              </a:rPr>
              <a:t>Second key point</a:t>
            </a:r>
            <a:endParaRPr lang="en-US" sz="1600" dirty="0"/>
          </a:p>
          <a:p>
            <a:pPr marL="279400" indent="-279400" algn="l">
              <a:lnSpc>
                <a:spcPct val="160000"/>
              </a:lnSpc>
              <a:buSzPct val="100000"/>
              <a:buChar char="•"/>
            </a:pPr>
            <a:r>
              <a:rPr lang="en-US" sz="1600" dirty="0">
                <a:solidFill>
                  <a:srgbClr val="243143"/>
                </a:solidFill>
                <a:latin typeface="Aptos" pitchFamily="34" charset="0"/>
                <a:ea typeface="Aptos" pitchFamily="34" charset="-122"/>
                <a:cs typeface="Aptos" pitchFamily="34" charset="-120"/>
              </a:rPr>
              <a:t>Third key point</a:t>
            </a:r>
            <a:endParaRPr lang="en-US" sz="1600" dirty="0"/>
          </a:p>
          <a:p>
            <a:pPr marL="279400" indent="-279400" algn="l">
              <a:lnSpc>
                <a:spcPct val="160000"/>
              </a:lnSpc>
              <a:buSzPct val="100000"/>
              <a:buChar char="•"/>
            </a:pPr>
            <a:r>
              <a:rPr lang="en-US" sz="1600" dirty="0">
                <a:solidFill>
                  <a:srgbClr val="243143"/>
                </a:solidFill>
                <a:latin typeface="Aptos" pitchFamily="34" charset="0"/>
                <a:ea typeface="Aptos" pitchFamily="34" charset="-122"/>
                <a:cs typeface="Aptos" pitchFamily="34" charset="-120"/>
              </a:rPr>
              <a:t>Fourth key point</a:t>
            </a:r>
            <a:endParaRPr lang="en-US" sz="1600" dirty="0"/>
          </a:p>
          <a:p>
            <a:pPr marL="279400" indent="-279400" algn="l">
              <a:lnSpc>
                <a:spcPct val="160000"/>
              </a:lnSpc>
              <a:buSzPct val="100000"/>
              <a:buChar char="•"/>
            </a:pPr>
            <a:r>
              <a:rPr lang="en-US" sz="1600" dirty="0">
                <a:solidFill>
                  <a:srgbClr val="243143"/>
                </a:solidFill>
                <a:latin typeface="Aptos" pitchFamily="34" charset="0"/>
                <a:ea typeface="Aptos" pitchFamily="34" charset="-122"/>
                <a:cs typeface="Aptos" pitchFamily="34" charset="-120"/>
              </a:rPr>
              <a:t>Fifth key point</a:t>
            </a:r>
            <a:endParaRPr lang="en-US" sz="1600" dirty="0"/>
          </a:p>
        </p:txBody>
      </p:sp>
      <p:sp>
        <p:nvSpPr>
          <p:cNvPr id="4"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ne Colum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One text block</a:t>
            </a:r>
            <a:endParaRPr lang="en-US" sz="3200" dirty="0"/>
          </a:p>
        </p:txBody>
      </p:sp>
      <p:sp>
        <p:nvSpPr>
          <p:cNvPr id="3" name="RoundCard"/>
          <p:cNvSpPr>
            <a:spLocks noGrp="1"/>
          </p:cNvSpPr>
          <p:nvPr>
            <p:ph type="body" idx="101" hasCustomPrompt="1"/>
          </p:nvPr>
        </p:nvSpPr>
        <p:spPr>
          <a:xfrm>
            <a:off x="457200" y="1554480"/>
            <a:ext cx="11277295"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6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600" dirty="0">
                <a:solidFill>
                  <a:srgbClr val="243143"/>
                </a:solidFill>
                <a:latin typeface="Aptos" pitchFamily="34" charset="0"/>
                <a:ea typeface="Aptos" pitchFamily="34" charset="-122"/>
                <a:cs typeface="Aptos" pitchFamily="34" charset="-120"/>
              </a:rPr>
              <a:t>HEADING ONE</a:t>
            </a:r>
            <a:endParaRPr lang="en-US" sz="1600" dirty="0"/>
          </a:p>
          <a:p>
            <a:pPr marL="0" indent="0" algn="l">
              <a:lnSpc>
                <a:spcPct val="130000"/>
              </a:lnSpc>
              <a:buNone/>
            </a:pPr>
            <a:r>
              <a:rPr lang="en-US" sz="1600" dirty="0">
                <a:solidFill>
                  <a:srgbClr val="243143"/>
                </a:solidFill>
                <a:latin typeface="Aptos" pitchFamily="34" charset="0"/>
                <a:ea typeface="Aptos" pitchFamily="34" charset="-122"/>
                <a:cs typeface="Aptos" pitchFamily="34" charset="-120"/>
              </a:rPr>
              <a:t>Add supporting details for this column here.</a:t>
            </a:r>
            <a:endParaRPr lang="en-US" sz="1600" dirty="0"/>
          </a:p>
        </p:txBody>
      </p:sp>
      <p:sp>
        <p:nvSpPr>
          <p:cNvPr id="4"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s">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Two text blocks</a:t>
            </a:r>
            <a:endParaRPr lang="en-US" sz="3200" dirty="0"/>
          </a:p>
        </p:txBody>
      </p:sp>
      <p:sp>
        <p:nvSpPr>
          <p:cNvPr id="3" name="RoundCard"/>
          <p:cNvSpPr>
            <a:spLocks noGrp="1"/>
          </p:cNvSpPr>
          <p:nvPr>
            <p:ph type="body" idx="101" hasCustomPrompt="1"/>
          </p:nvPr>
        </p:nvSpPr>
        <p:spPr>
          <a:xfrm>
            <a:off x="457200" y="1554480"/>
            <a:ext cx="5501488"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5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500" dirty="0">
                <a:solidFill>
                  <a:srgbClr val="243143"/>
                </a:solidFill>
                <a:latin typeface="Aptos" pitchFamily="34" charset="0"/>
                <a:ea typeface="Aptos" pitchFamily="34" charset="-122"/>
                <a:cs typeface="Aptos" pitchFamily="34" charset="-120"/>
              </a:rPr>
              <a:t>HEADING ONE</a:t>
            </a:r>
            <a:endParaRPr lang="en-US" sz="1500" dirty="0"/>
          </a:p>
          <a:p>
            <a:pPr marL="0" indent="0" algn="l">
              <a:lnSpc>
                <a:spcPct val="130000"/>
              </a:lnSpc>
              <a:buNone/>
            </a:pPr>
            <a:r>
              <a:rPr lang="en-US" sz="1500" dirty="0">
                <a:solidFill>
                  <a:srgbClr val="243143"/>
                </a:solidFill>
                <a:latin typeface="Aptos" pitchFamily="34" charset="0"/>
                <a:ea typeface="Aptos" pitchFamily="34" charset="-122"/>
                <a:cs typeface="Aptos" pitchFamily="34" charset="-120"/>
              </a:rPr>
              <a:t>Add supporting details for this column here.</a:t>
            </a:r>
            <a:endParaRPr lang="en-US" sz="1500" dirty="0"/>
          </a:p>
        </p:txBody>
      </p:sp>
      <p:sp>
        <p:nvSpPr>
          <p:cNvPr id="4" name="RoundCard"/>
          <p:cNvSpPr>
            <a:spLocks noGrp="1"/>
          </p:cNvSpPr>
          <p:nvPr>
            <p:ph type="body" idx="102" hasCustomPrompt="1"/>
          </p:nvPr>
        </p:nvSpPr>
        <p:spPr>
          <a:xfrm>
            <a:off x="6233008" y="1554480"/>
            <a:ext cx="5501488"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5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500" dirty="0">
                <a:solidFill>
                  <a:srgbClr val="243143"/>
                </a:solidFill>
                <a:latin typeface="Aptos" pitchFamily="34" charset="0"/>
                <a:ea typeface="Aptos" pitchFamily="34" charset="-122"/>
                <a:cs typeface="Aptos" pitchFamily="34" charset="-120"/>
              </a:rPr>
              <a:t>HEADING TWO</a:t>
            </a:r>
            <a:endParaRPr lang="en-US" sz="1500" dirty="0"/>
          </a:p>
          <a:p>
            <a:pPr marL="0" indent="0" algn="l">
              <a:lnSpc>
                <a:spcPct val="130000"/>
              </a:lnSpc>
              <a:buNone/>
            </a:pPr>
            <a:r>
              <a:rPr lang="en-US" sz="1500" dirty="0">
                <a:solidFill>
                  <a:srgbClr val="243143"/>
                </a:solidFill>
                <a:latin typeface="Aptos" pitchFamily="34" charset="0"/>
                <a:ea typeface="Aptos" pitchFamily="34" charset="-122"/>
                <a:cs typeface="Aptos" pitchFamily="34" charset="-120"/>
              </a:rPr>
              <a:t>Add supporting details for this column here.</a:t>
            </a:r>
            <a:endParaRPr lang="en-US" sz="1500" dirty="0"/>
          </a:p>
        </p:txBody>
      </p:sp>
      <p:sp>
        <p:nvSpPr>
          <p:cNvPr id="5"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hree Columns">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Three text blocks</a:t>
            </a:r>
            <a:endParaRPr lang="en-US" sz="3200" dirty="0"/>
          </a:p>
        </p:txBody>
      </p:sp>
      <p:sp>
        <p:nvSpPr>
          <p:cNvPr id="3" name="RoundCard"/>
          <p:cNvSpPr>
            <a:spLocks noGrp="1"/>
          </p:cNvSpPr>
          <p:nvPr>
            <p:ph type="body" idx="101" hasCustomPrompt="1"/>
          </p:nvPr>
        </p:nvSpPr>
        <p:spPr>
          <a:xfrm>
            <a:off x="457200" y="1554480"/>
            <a:ext cx="3576218"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4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400" dirty="0">
                <a:solidFill>
                  <a:srgbClr val="243143"/>
                </a:solidFill>
                <a:latin typeface="Aptos" pitchFamily="34" charset="0"/>
                <a:ea typeface="Aptos" pitchFamily="34" charset="-122"/>
                <a:cs typeface="Aptos" pitchFamily="34" charset="-120"/>
              </a:rPr>
              <a:t>HEADING ONE</a:t>
            </a:r>
            <a:endParaRPr lang="en-US" sz="1400" dirty="0"/>
          </a:p>
          <a:p>
            <a:pPr marL="0" indent="0" algn="l">
              <a:lnSpc>
                <a:spcPct val="130000"/>
              </a:lnSpc>
              <a:buNone/>
            </a:pPr>
            <a:r>
              <a:rPr lang="en-US" sz="1400" dirty="0">
                <a:solidFill>
                  <a:srgbClr val="243143"/>
                </a:solidFill>
                <a:latin typeface="Aptos" pitchFamily="34" charset="0"/>
                <a:ea typeface="Aptos" pitchFamily="34" charset="-122"/>
                <a:cs typeface="Aptos" pitchFamily="34" charset="-120"/>
              </a:rPr>
              <a:t>Add supporting details for this column here.</a:t>
            </a:r>
            <a:endParaRPr lang="en-US" sz="1400" dirty="0"/>
          </a:p>
        </p:txBody>
      </p:sp>
      <p:sp>
        <p:nvSpPr>
          <p:cNvPr id="4" name="RoundCard"/>
          <p:cNvSpPr>
            <a:spLocks noGrp="1"/>
          </p:cNvSpPr>
          <p:nvPr>
            <p:ph type="body" idx="102" hasCustomPrompt="1"/>
          </p:nvPr>
        </p:nvSpPr>
        <p:spPr>
          <a:xfrm>
            <a:off x="4307738" y="1554480"/>
            <a:ext cx="3576218"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4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400" dirty="0">
                <a:solidFill>
                  <a:srgbClr val="243143"/>
                </a:solidFill>
                <a:latin typeface="Aptos" pitchFamily="34" charset="0"/>
                <a:ea typeface="Aptos" pitchFamily="34" charset="-122"/>
                <a:cs typeface="Aptos" pitchFamily="34" charset="-120"/>
              </a:rPr>
              <a:t>HEADING TWO</a:t>
            </a:r>
            <a:endParaRPr lang="en-US" sz="1400" dirty="0"/>
          </a:p>
          <a:p>
            <a:pPr marL="0" indent="0" algn="l">
              <a:lnSpc>
                <a:spcPct val="130000"/>
              </a:lnSpc>
              <a:buNone/>
            </a:pPr>
            <a:r>
              <a:rPr lang="en-US" sz="1400" dirty="0">
                <a:solidFill>
                  <a:srgbClr val="243143"/>
                </a:solidFill>
                <a:latin typeface="Aptos" pitchFamily="34" charset="0"/>
                <a:ea typeface="Aptos" pitchFamily="34" charset="-122"/>
                <a:cs typeface="Aptos" pitchFamily="34" charset="-120"/>
              </a:rPr>
              <a:t>Add supporting details for this column here.</a:t>
            </a:r>
            <a:endParaRPr lang="en-US" sz="1400" dirty="0"/>
          </a:p>
        </p:txBody>
      </p:sp>
      <p:sp>
        <p:nvSpPr>
          <p:cNvPr id="5" name="RoundCard"/>
          <p:cNvSpPr>
            <a:spLocks noGrp="1"/>
          </p:cNvSpPr>
          <p:nvPr>
            <p:ph type="body" idx="103" hasCustomPrompt="1"/>
          </p:nvPr>
        </p:nvSpPr>
        <p:spPr>
          <a:xfrm>
            <a:off x="8158277" y="1554480"/>
            <a:ext cx="3576218"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4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400" dirty="0">
                <a:solidFill>
                  <a:srgbClr val="243143"/>
                </a:solidFill>
                <a:latin typeface="Aptos" pitchFamily="34" charset="0"/>
                <a:ea typeface="Aptos" pitchFamily="34" charset="-122"/>
                <a:cs typeface="Aptos" pitchFamily="34" charset="-120"/>
              </a:rPr>
              <a:t>HEADING THREE</a:t>
            </a:r>
            <a:endParaRPr lang="en-US" sz="1400" dirty="0"/>
          </a:p>
          <a:p>
            <a:pPr marL="0" indent="0" algn="l">
              <a:lnSpc>
                <a:spcPct val="130000"/>
              </a:lnSpc>
              <a:buNone/>
            </a:pPr>
            <a:r>
              <a:rPr lang="en-US" sz="1400" dirty="0">
                <a:solidFill>
                  <a:srgbClr val="243143"/>
                </a:solidFill>
                <a:latin typeface="Aptos" pitchFamily="34" charset="0"/>
                <a:ea typeface="Aptos" pitchFamily="34" charset="-122"/>
                <a:cs typeface="Aptos" pitchFamily="34" charset="-120"/>
              </a:rPr>
              <a:t>Add supporting details for this column here.</a:t>
            </a:r>
            <a:endParaRPr lang="en-US" sz="1400" dirty="0"/>
          </a:p>
        </p:txBody>
      </p:sp>
      <p:sp>
        <p:nvSpPr>
          <p:cNvPr id="6"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our Columns">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Four text blocks</a:t>
            </a:r>
            <a:endParaRPr lang="en-US" sz="3200" dirty="0"/>
          </a:p>
        </p:txBody>
      </p:sp>
      <p:sp>
        <p:nvSpPr>
          <p:cNvPr id="3" name="RoundCard"/>
          <p:cNvSpPr>
            <a:spLocks noGrp="1"/>
          </p:cNvSpPr>
          <p:nvPr>
            <p:ph type="body" idx="101" hasCustomPrompt="1"/>
          </p:nvPr>
        </p:nvSpPr>
        <p:spPr>
          <a:xfrm>
            <a:off x="457200" y="1554480"/>
            <a:ext cx="2613584"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3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300" dirty="0">
                <a:solidFill>
                  <a:srgbClr val="243143"/>
                </a:solidFill>
                <a:latin typeface="Aptos" pitchFamily="34" charset="0"/>
                <a:ea typeface="Aptos" pitchFamily="34" charset="-122"/>
                <a:cs typeface="Aptos" pitchFamily="34" charset="-120"/>
              </a:rPr>
              <a:t>HEADING ONE</a:t>
            </a:r>
            <a:endParaRPr lang="en-US" sz="1300" dirty="0"/>
          </a:p>
          <a:p>
            <a:pPr marL="0" indent="0" algn="l">
              <a:lnSpc>
                <a:spcPct val="130000"/>
              </a:lnSpc>
              <a:buNone/>
            </a:pPr>
            <a:r>
              <a:rPr lang="en-US" sz="1300" dirty="0">
                <a:solidFill>
                  <a:srgbClr val="243143"/>
                </a:solidFill>
                <a:latin typeface="Aptos" pitchFamily="34" charset="0"/>
                <a:ea typeface="Aptos" pitchFamily="34" charset="-122"/>
                <a:cs typeface="Aptos" pitchFamily="34" charset="-120"/>
              </a:rPr>
              <a:t>Add supporting details for this column here.</a:t>
            </a:r>
            <a:endParaRPr lang="en-US" sz="1300" dirty="0"/>
          </a:p>
        </p:txBody>
      </p:sp>
      <p:sp>
        <p:nvSpPr>
          <p:cNvPr id="4" name="RoundCard"/>
          <p:cNvSpPr>
            <a:spLocks noGrp="1"/>
          </p:cNvSpPr>
          <p:nvPr>
            <p:ph type="body" idx="102" hasCustomPrompt="1"/>
          </p:nvPr>
        </p:nvSpPr>
        <p:spPr>
          <a:xfrm>
            <a:off x="3345104" y="1554480"/>
            <a:ext cx="2613584"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3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300" dirty="0">
                <a:solidFill>
                  <a:srgbClr val="243143"/>
                </a:solidFill>
                <a:latin typeface="Aptos" pitchFamily="34" charset="0"/>
                <a:ea typeface="Aptos" pitchFamily="34" charset="-122"/>
                <a:cs typeface="Aptos" pitchFamily="34" charset="-120"/>
              </a:rPr>
              <a:t>HEADING TWO</a:t>
            </a:r>
            <a:endParaRPr lang="en-US" sz="1300" dirty="0"/>
          </a:p>
          <a:p>
            <a:pPr marL="0" indent="0" algn="l">
              <a:lnSpc>
                <a:spcPct val="130000"/>
              </a:lnSpc>
              <a:buNone/>
            </a:pPr>
            <a:r>
              <a:rPr lang="en-US" sz="1300" dirty="0">
                <a:solidFill>
                  <a:srgbClr val="243143"/>
                </a:solidFill>
                <a:latin typeface="Aptos" pitchFamily="34" charset="0"/>
                <a:ea typeface="Aptos" pitchFamily="34" charset="-122"/>
                <a:cs typeface="Aptos" pitchFamily="34" charset="-120"/>
              </a:rPr>
              <a:t>Add supporting details for this column here.</a:t>
            </a:r>
            <a:endParaRPr lang="en-US" sz="1300" dirty="0"/>
          </a:p>
        </p:txBody>
      </p:sp>
      <p:sp>
        <p:nvSpPr>
          <p:cNvPr id="5" name="RoundCard"/>
          <p:cNvSpPr>
            <a:spLocks noGrp="1"/>
          </p:cNvSpPr>
          <p:nvPr>
            <p:ph type="body" idx="103" hasCustomPrompt="1"/>
          </p:nvPr>
        </p:nvSpPr>
        <p:spPr>
          <a:xfrm>
            <a:off x="6233008" y="1554480"/>
            <a:ext cx="2613584"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3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300" dirty="0">
                <a:solidFill>
                  <a:srgbClr val="243143"/>
                </a:solidFill>
                <a:latin typeface="Aptos" pitchFamily="34" charset="0"/>
                <a:ea typeface="Aptos" pitchFamily="34" charset="-122"/>
                <a:cs typeface="Aptos" pitchFamily="34" charset="-120"/>
              </a:rPr>
              <a:t>HEADING THREE</a:t>
            </a:r>
            <a:endParaRPr lang="en-US" sz="1300" dirty="0"/>
          </a:p>
          <a:p>
            <a:pPr marL="0" indent="0" algn="l">
              <a:lnSpc>
                <a:spcPct val="130000"/>
              </a:lnSpc>
              <a:buNone/>
            </a:pPr>
            <a:r>
              <a:rPr lang="en-US" sz="1300" dirty="0">
                <a:solidFill>
                  <a:srgbClr val="243143"/>
                </a:solidFill>
                <a:latin typeface="Aptos" pitchFamily="34" charset="0"/>
                <a:ea typeface="Aptos" pitchFamily="34" charset="-122"/>
                <a:cs typeface="Aptos" pitchFamily="34" charset="-120"/>
              </a:rPr>
              <a:t>Add supporting details for this column here.</a:t>
            </a:r>
            <a:endParaRPr lang="en-US" sz="1300" dirty="0"/>
          </a:p>
        </p:txBody>
      </p:sp>
      <p:sp>
        <p:nvSpPr>
          <p:cNvPr id="6" name="RoundCard"/>
          <p:cNvSpPr>
            <a:spLocks noGrp="1"/>
          </p:cNvSpPr>
          <p:nvPr>
            <p:ph type="body" idx="104" hasCustomPrompt="1"/>
          </p:nvPr>
        </p:nvSpPr>
        <p:spPr>
          <a:xfrm>
            <a:off x="9120911" y="1554480"/>
            <a:ext cx="2613584"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30000"/>
              </a:lnSpc>
              <a:buNone/>
              <a:defRPr lang="en-US" sz="1300" dirty="0">
                <a:solidFill>
                  <a:srgbClr val="243143"/>
                </a:solidFill>
                <a:latin typeface="Aptos" pitchFamily="34" charset="0"/>
                <a:ea typeface="Aptos" pitchFamily="34" charset="-122"/>
                <a:cs typeface="Aptos" pitchFamily="34" charset="-120"/>
              </a:defRPr>
            </a:lvl1pPr>
          </a:lstStyle>
          <a:p>
            <a:pPr marL="0" indent="0" algn="l">
              <a:lnSpc>
                <a:spcPct val="130000"/>
              </a:lnSpc>
              <a:buNone/>
            </a:pPr>
            <a:r>
              <a:rPr lang="en-US" sz="1300" dirty="0">
                <a:solidFill>
                  <a:srgbClr val="243143"/>
                </a:solidFill>
                <a:latin typeface="Aptos" pitchFamily="34" charset="0"/>
                <a:ea typeface="Aptos" pitchFamily="34" charset="-122"/>
                <a:cs typeface="Aptos" pitchFamily="34" charset="-120"/>
              </a:rPr>
              <a:t>HEADING FOUR</a:t>
            </a:r>
            <a:endParaRPr lang="en-US" sz="1300" dirty="0"/>
          </a:p>
          <a:p>
            <a:pPr marL="0" indent="0" algn="l">
              <a:lnSpc>
                <a:spcPct val="130000"/>
              </a:lnSpc>
              <a:buNone/>
            </a:pPr>
            <a:r>
              <a:rPr lang="en-US" sz="1300" dirty="0">
                <a:solidFill>
                  <a:srgbClr val="243143"/>
                </a:solidFill>
                <a:latin typeface="Aptos" pitchFamily="34" charset="0"/>
                <a:ea typeface="Aptos" pitchFamily="34" charset="-122"/>
                <a:cs typeface="Aptos" pitchFamily="34" charset="-120"/>
              </a:rPr>
              <a:t>Add supporting details for this column here.</a:t>
            </a:r>
            <a:endParaRPr lang="en-US" sz="1300" dirty="0"/>
          </a:p>
        </p:txBody>
      </p:sp>
      <p:sp>
        <p:nvSpPr>
          <p:cNvPr id="7"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mparison">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Comparison</a:t>
            </a:r>
            <a:endParaRPr lang="en-US" sz="3200" dirty="0"/>
          </a:p>
        </p:txBody>
      </p:sp>
      <p:sp>
        <p:nvSpPr>
          <p:cNvPr id="3" name="RoundCard"/>
          <p:cNvSpPr>
            <a:spLocks noGrp="1"/>
          </p:cNvSpPr>
          <p:nvPr>
            <p:ph type="body" idx="101" hasCustomPrompt="1"/>
          </p:nvPr>
        </p:nvSpPr>
        <p:spPr>
          <a:xfrm>
            <a:off x="457200" y="1554480"/>
            <a:ext cx="5501488"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50000"/>
              </a:lnSpc>
              <a:buNone/>
              <a:defRPr lang="en-US" sz="1500" dirty="0">
                <a:solidFill>
                  <a:srgbClr val="243143"/>
                </a:solidFill>
                <a:latin typeface="Aptos" pitchFamily="34" charset="0"/>
                <a:ea typeface="Aptos" pitchFamily="34" charset="-122"/>
                <a:cs typeface="Aptos" pitchFamily="34" charset="-120"/>
              </a:defRPr>
            </a:lvl1pPr>
          </a:lstStyle>
          <a:p>
            <a:pPr marL="0" indent="0" algn="l">
              <a:lnSpc>
                <a:spcPct val="150000"/>
              </a:lnSpc>
              <a:buNone/>
            </a:pPr>
            <a:r>
              <a:rPr lang="en-US" sz="1500" dirty="0">
                <a:solidFill>
                  <a:srgbClr val="243143"/>
                </a:solidFill>
                <a:latin typeface="Aptos" pitchFamily="34" charset="0"/>
                <a:ea typeface="Aptos" pitchFamily="34" charset="-122"/>
                <a:cs typeface="Aptos" pitchFamily="34" charset="-120"/>
              </a:rPr>
              <a:t>OPTION A</a:t>
            </a:r>
            <a:endParaRPr lang="en-US" sz="1500" dirty="0"/>
          </a:p>
          <a:p>
            <a:pPr marL="0" indent="0" algn="l">
              <a:lnSpc>
                <a:spcPct val="150000"/>
              </a:lnSpc>
              <a:buNone/>
            </a:pPr>
            <a:r>
              <a:rPr lang="en-US" sz="1500" dirty="0">
                <a:solidFill>
                  <a:srgbClr val="243143"/>
                </a:solidFill>
                <a:latin typeface="Aptos" pitchFamily="34" charset="0"/>
                <a:ea typeface="Aptos" pitchFamily="34" charset="-122"/>
                <a:cs typeface="Aptos" pitchFamily="34" charset="-120"/>
              </a:rPr>
              <a:t>First point</a:t>
            </a:r>
            <a:endParaRPr lang="en-US" sz="1500" dirty="0"/>
          </a:p>
          <a:p>
            <a:pPr marL="0" indent="0" algn="l">
              <a:lnSpc>
                <a:spcPct val="150000"/>
              </a:lnSpc>
              <a:buNone/>
            </a:pPr>
            <a:r>
              <a:rPr lang="en-US" sz="1500" dirty="0">
                <a:solidFill>
                  <a:srgbClr val="243143"/>
                </a:solidFill>
                <a:latin typeface="Aptos" pitchFamily="34" charset="0"/>
                <a:ea typeface="Aptos" pitchFamily="34" charset="-122"/>
                <a:cs typeface="Aptos" pitchFamily="34" charset="-120"/>
              </a:rPr>
              <a:t>Second point</a:t>
            </a:r>
            <a:endParaRPr lang="en-US" sz="1500" dirty="0"/>
          </a:p>
          <a:p>
            <a:pPr marL="0" indent="0" algn="l">
              <a:lnSpc>
                <a:spcPct val="150000"/>
              </a:lnSpc>
              <a:buNone/>
            </a:pPr>
            <a:r>
              <a:rPr lang="en-US" sz="1500" dirty="0">
                <a:solidFill>
                  <a:srgbClr val="243143"/>
                </a:solidFill>
                <a:latin typeface="Aptos" pitchFamily="34" charset="0"/>
                <a:ea typeface="Aptos" pitchFamily="34" charset="-122"/>
                <a:cs typeface="Aptos" pitchFamily="34" charset="-120"/>
              </a:rPr>
              <a:t>Third point</a:t>
            </a:r>
            <a:endParaRPr lang="en-US" sz="1500" dirty="0"/>
          </a:p>
        </p:txBody>
      </p:sp>
      <p:sp>
        <p:nvSpPr>
          <p:cNvPr id="4" name="RoundCard"/>
          <p:cNvSpPr>
            <a:spLocks noGrp="1"/>
          </p:cNvSpPr>
          <p:nvPr>
            <p:ph type="body" idx="102" hasCustomPrompt="1"/>
          </p:nvPr>
        </p:nvSpPr>
        <p:spPr>
          <a:xfrm>
            <a:off x="6233008" y="1554480"/>
            <a:ext cx="5501488"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l">
              <a:lnSpc>
                <a:spcPct val="150000"/>
              </a:lnSpc>
              <a:buNone/>
              <a:defRPr lang="en-US" sz="1500" dirty="0">
                <a:solidFill>
                  <a:srgbClr val="243143"/>
                </a:solidFill>
                <a:latin typeface="Aptos" pitchFamily="34" charset="0"/>
                <a:ea typeface="Aptos" pitchFamily="34" charset="-122"/>
                <a:cs typeface="Aptos" pitchFamily="34" charset="-120"/>
              </a:defRPr>
            </a:lvl1pPr>
          </a:lstStyle>
          <a:p>
            <a:pPr marL="0" indent="0" algn="l">
              <a:lnSpc>
                <a:spcPct val="150000"/>
              </a:lnSpc>
              <a:buNone/>
            </a:pPr>
            <a:r>
              <a:rPr lang="en-US" sz="1500" dirty="0">
                <a:solidFill>
                  <a:srgbClr val="243143"/>
                </a:solidFill>
                <a:latin typeface="Aptos" pitchFamily="34" charset="0"/>
                <a:ea typeface="Aptos" pitchFamily="34" charset="-122"/>
                <a:cs typeface="Aptos" pitchFamily="34" charset="-120"/>
              </a:rPr>
              <a:t>OPTION B</a:t>
            </a:r>
            <a:endParaRPr lang="en-US" sz="1500" dirty="0"/>
          </a:p>
          <a:p>
            <a:pPr marL="0" indent="0" algn="l">
              <a:lnSpc>
                <a:spcPct val="150000"/>
              </a:lnSpc>
              <a:buNone/>
            </a:pPr>
            <a:r>
              <a:rPr lang="en-US" sz="1500" dirty="0">
                <a:solidFill>
                  <a:srgbClr val="243143"/>
                </a:solidFill>
                <a:latin typeface="Aptos" pitchFamily="34" charset="0"/>
                <a:ea typeface="Aptos" pitchFamily="34" charset="-122"/>
                <a:cs typeface="Aptos" pitchFamily="34" charset="-120"/>
              </a:rPr>
              <a:t>First point</a:t>
            </a:r>
            <a:endParaRPr lang="en-US" sz="1500" dirty="0"/>
          </a:p>
          <a:p>
            <a:pPr marL="0" indent="0" algn="l">
              <a:lnSpc>
                <a:spcPct val="150000"/>
              </a:lnSpc>
              <a:buNone/>
            </a:pPr>
            <a:r>
              <a:rPr lang="en-US" sz="1500" dirty="0">
                <a:solidFill>
                  <a:srgbClr val="243143"/>
                </a:solidFill>
                <a:latin typeface="Aptos" pitchFamily="34" charset="0"/>
                <a:ea typeface="Aptos" pitchFamily="34" charset="-122"/>
                <a:cs typeface="Aptos" pitchFamily="34" charset="-120"/>
              </a:rPr>
              <a:t>Second point</a:t>
            </a:r>
            <a:endParaRPr lang="en-US" sz="1500" dirty="0"/>
          </a:p>
          <a:p>
            <a:pPr marL="0" indent="0" algn="l">
              <a:lnSpc>
                <a:spcPct val="150000"/>
              </a:lnSpc>
              <a:buNone/>
            </a:pPr>
            <a:r>
              <a:rPr lang="en-US" sz="1500" dirty="0">
                <a:solidFill>
                  <a:srgbClr val="243143"/>
                </a:solidFill>
                <a:latin typeface="Aptos" pitchFamily="34" charset="0"/>
                <a:ea typeface="Aptos" pitchFamily="34" charset="-122"/>
                <a:cs typeface="Aptos" pitchFamily="34" charset="-120"/>
              </a:rPr>
              <a:t>Third point</a:t>
            </a:r>
            <a:endParaRPr lang="en-US" sz="1500" dirty="0"/>
          </a:p>
        </p:txBody>
      </p:sp>
      <p:sp>
        <p:nvSpPr>
          <p:cNvPr id="5"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ig Stats">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By the numbers</a:t>
            </a:r>
            <a:endParaRPr lang="en-US" sz="3200" dirty="0"/>
          </a:p>
        </p:txBody>
      </p:sp>
      <p:sp>
        <p:nvSpPr>
          <p:cNvPr id="3" name="RoundCard"/>
          <p:cNvSpPr>
            <a:spLocks noGrp="1"/>
          </p:cNvSpPr>
          <p:nvPr>
            <p:ph type="body" idx="101" hasCustomPrompt="1"/>
          </p:nvPr>
        </p:nvSpPr>
        <p:spPr>
          <a:xfrm>
            <a:off x="457200" y="2377440"/>
            <a:ext cx="3576218" cy="23774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4000" b="1" dirty="0">
                <a:solidFill>
                  <a:srgbClr val="00204D"/>
                </a:solidFill>
                <a:latin typeface="Aptos" pitchFamily="34" charset="0"/>
                <a:ea typeface="Aptos" pitchFamily="34" charset="-122"/>
                <a:cs typeface="Aptos" pitchFamily="34" charset="-120"/>
              </a:defRPr>
            </a:lvl1pPr>
          </a:lstStyle>
          <a:p>
            <a:pPr marL="0" indent="0" algn="ctr">
              <a:buNone/>
            </a:pPr>
            <a:r>
              <a:rPr lang="en-US" sz="4000" b="1" dirty="0">
                <a:solidFill>
                  <a:srgbClr val="00204D"/>
                </a:solidFill>
                <a:latin typeface="Aptos" pitchFamily="34" charset="0"/>
                <a:ea typeface="Aptos" pitchFamily="34" charset="-122"/>
                <a:cs typeface="Aptos" pitchFamily="34" charset="-120"/>
              </a:rPr>
              <a:t>128%</a:t>
            </a:r>
            <a:endParaRPr lang="en-US" sz="4000" dirty="0"/>
          </a:p>
          <a:p>
            <a:pPr marL="0" indent="0" algn="ctr">
              <a:buNone/>
            </a:pPr>
            <a:r>
              <a:rPr lang="en-US" sz="4000" b="1" dirty="0">
                <a:solidFill>
                  <a:srgbClr val="00204D"/>
                </a:solidFill>
                <a:latin typeface="Aptos" pitchFamily="34" charset="0"/>
                <a:ea typeface="Aptos" pitchFamily="34" charset="-122"/>
                <a:cs typeface="Aptos" pitchFamily="34" charset="-120"/>
              </a:rPr>
              <a:t>Metric label</a:t>
            </a:r>
            <a:endParaRPr lang="en-US" sz="4000" dirty="0"/>
          </a:p>
        </p:txBody>
      </p:sp>
      <p:sp>
        <p:nvSpPr>
          <p:cNvPr id="4" name="RoundCard"/>
          <p:cNvSpPr>
            <a:spLocks noGrp="1"/>
          </p:cNvSpPr>
          <p:nvPr>
            <p:ph type="body" idx="102" hasCustomPrompt="1"/>
          </p:nvPr>
        </p:nvSpPr>
        <p:spPr>
          <a:xfrm>
            <a:off x="4307738" y="2377440"/>
            <a:ext cx="3576218" cy="23774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4000" b="1" dirty="0">
                <a:solidFill>
                  <a:srgbClr val="00204D"/>
                </a:solidFill>
                <a:latin typeface="Aptos" pitchFamily="34" charset="0"/>
                <a:ea typeface="Aptos" pitchFamily="34" charset="-122"/>
                <a:cs typeface="Aptos" pitchFamily="34" charset="-120"/>
              </a:defRPr>
            </a:lvl1pPr>
          </a:lstStyle>
          <a:p>
            <a:pPr marL="0" indent="0" algn="ctr">
              <a:buNone/>
            </a:pPr>
            <a:r>
              <a:rPr lang="en-US" sz="4000" b="1" dirty="0">
                <a:solidFill>
                  <a:srgbClr val="00204D"/>
                </a:solidFill>
                <a:latin typeface="Aptos" pitchFamily="34" charset="0"/>
                <a:ea typeface="Aptos" pitchFamily="34" charset="-122"/>
                <a:cs typeface="Aptos" pitchFamily="34" charset="-120"/>
              </a:rPr>
              <a:t>3.2x</a:t>
            </a:r>
            <a:endParaRPr lang="en-US" sz="4000" dirty="0"/>
          </a:p>
          <a:p>
            <a:pPr marL="0" indent="0" algn="ctr">
              <a:buNone/>
            </a:pPr>
            <a:r>
              <a:rPr lang="en-US" sz="4000" b="1" dirty="0">
                <a:solidFill>
                  <a:srgbClr val="00204D"/>
                </a:solidFill>
                <a:latin typeface="Aptos" pitchFamily="34" charset="0"/>
                <a:ea typeface="Aptos" pitchFamily="34" charset="-122"/>
                <a:cs typeface="Aptos" pitchFamily="34" charset="-120"/>
              </a:rPr>
              <a:t>Metric label</a:t>
            </a:r>
            <a:endParaRPr lang="en-US" sz="4000" dirty="0"/>
          </a:p>
        </p:txBody>
      </p:sp>
      <p:sp>
        <p:nvSpPr>
          <p:cNvPr id="5" name="RoundCard"/>
          <p:cNvSpPr>
            <a:spLocks noGrp="1"/>
          </p:cNvSpPr>
          <p:nvPr>
            <p:ph type="body" idx="103" hasCustomPrompt="1"/>
          </p:nvPr>
        </p:nvSpPr>
        <p:spPr>
          <a:xfrm>
            <a:off x="8158277" y="2377440"/>
            <a:ext cx="3576218" cy="23774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4000" b="1" dirty="0">
                <a:solidFill>
                  <a:srgbClr val="00204D"/>
                </a:solidFill>
                <a:latin typeface="Aptos" pitchFamily="34" charset="0"/>
                <a:ea typeface="Aptos" pitchFamily="34" charset="-122"/>
                <a:cs typeface="Aptos" pitchFamily="34" charset="-120"/>
              </a:defRPr>
            </a:lvl1pPr>
          </a:lstStyle>
          <a:p>
            <a:pPr marL="0" indent="0" algn="ctr">
              <a:buNone/>
            </a:pPr>
            <a:r>
              <a:rPr lang="en-US" sz="4000" b="1" dirty="0">
                <a:solidFill>
                  <a:srgbClr val="00204D"/>
                </a:solidFill>
                <a:latin typeface="Aptos" pitchFamily="34" charset="0"/>
                <a:ea typeface="Aptos" pitchFamily="34" charset="-122"/>
                <a:cs typeface="Aptos" pitchFamily="34" charset="-120"/>
              </a:rPr>
              <a:t>94%</a:t>
            </a:r>
            <a:endParaRPr lang="en-US" sz="4000" dirty="0"/>
          </a:p>
          <a:p>
            <a:pPr marL="0" indent="0" algn="ctr">
              <a:buNone/>
            </a:pPr>
            <a:r>
              <a:rPr lang="en-US" sz="4000" b="1" dirty="0">
                <a:solidFill>
                  <a:srgbClr val="00204D"/>
                </a:solidFill>
                <a:latin typeface="Aptos" pitchFamily="34" charset="0"/>
                <a:ea typeface="Aptos" pitchFamily="34" charset="-122"/>
                <a:cs typeface="Aptos" pitchFamily="34" charset="-120"/>
              </a:rPr>
              <a:t>Metric label</a:t>
            </a:r>
            <a:endParaRPr lang="en-US" sz="4000" dirty="0"/>
          </a:p>
        </p:txBody>
      </p:sp>
      <p:sp>
        <p:nvSpPr>
          <p:cNvPr id="6"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mage + Tex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Image and text</a:t>
            </a:r>
            <a:endParaRPr lang="en-US" sz="3200" dirty="0"/>
          </a:p>
        </p:txBody>
      </p:sp>
      <p:sp>
        <p:nvSpPr>
          <p:cNvPr id="3" name="RoundCard"/>
          <p:cNvSpPr>
            <a:spLocks noGrp="1"/>
          </p:cNvSpPr>
          <p:nvPr>
            <p:ph type="body" idx="101" hasCustomPrompt="1"/>
          </p:nvPr>
        </p:nvSpPr>
        <p:spPr>
          <a:xfrm>
            <a:off x="457200" y="1554480"/>
            <a:ext cx="5864194" cy="283464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300" b="1" kern="0" spc="150" dirty="0">
                <a:solidFill>
                  <a:srgbClr val="6E7B8C"/>
                </a:solidFill>
                <a:latin typeface="Aptos" pitchFamily="34" charset="0"/>
                <a:ea typeface="Aptos" pitchFamily="34" charset="-122"/>
                <a:cs typeface="Aptos" pitchFamily="34" charset="-120"/>
              </a:defRPr>
            </a:lvl1pPr>
          </a:lstStyle>
          <a:p>
            <a:pPr marL="0" indent="0" algn="ctr">
              <a:buNone/>
            </a:pPr>
            <a:r>
              <a:rPr lang="en-US" sz="1300" b="1" kern="0" spc="150" dirty="0">
                <a:solidFill>
                  <a:srgbClr val="6E7B8C"/>
                </a:solidFill>
                <a:latin typeface="Aptos" pitchFamily="34" charset="0"/>
                <a:ea typeface="Aptos" pitchFamily="34" charset="-122"/>
                <a:cs typeface="Aptos" pitchFamily="34" charset="-120"/>
              </a:rPr>
              <a:t>INSERT IMAGE</a:t>
            </a:r>
            <a:endParaRPr lang="en-US" sz="1300" dirty="0"/>
          </a:p>
        </p:txBody>
      </p:sp>
      <p:sp>
        <p:nvSpPr>
          <p:cNvPr id="4" name="Text 0"/>
          <p:cNvSpPr>
            <a:spLocks noGrp="1"/>
          </p:cNvSpPr>
          <p:nvPr>
            <p:ph type="body" idx="102" hasCustomPrompt="1"/>
          </p:nvPr>
        </p:nvSpPr>
        <p:spPr>
          <a:xfrm>
            <a:off x="6595714" y="1645920"/>
            <a:ext cx="5138782" cy="2651760"/>
          </a:xfrm>
          <a:prstGeom prst="rect">
            <a:avLst/>
          </a:prstGeom>
          <a:noFill/>
          <a:ln/>
        </p:spPr>
        <p:txBody>
          <a:bodyPr wrap="square" rtlCol="0"/>
          <a:lstStyle>
            <a:lvl1pPr marL="0" indent="0" algn="l">
              <a:lnSpc>
                <a:spcPct val="140000"/>
              </a:lnSpc>
              <a:buNone/>
              <a:defRPr lang="en-US" sz="1600" dirty="0">
                <a:solidFill>
                  <a:srgbClr val="243143"/>
                </a:solidFill>
                <a:latin typeface="Aptos" pitchFamily="34" charset="0"/>
                <a:ea typeface="Aptos" pitchFamily="34" charset="-122"/>
                <a:cs typeface="Aptos" pitchFamily="34" charset="-120"/>
              </a:defRPr>
            </a:lvl1pPr>
          </a:lstStyle>
          <a:p>
            <a:pPr marL="0" indent="0" algn="l">
              <a:lnSpc>
                <a:spcPct val="140000"/>
              </a:lnSpc>
              <a:buNone/>
            </a:pPr>
            <a:r>
              <a:rPr lang="en-US" sz="1600" dirty="0">
                <a:solidFill>
                  <a:srgbClr val="243143"/>
                </a:solidFill>
                <a:latin typeface="Aptos" pitchFamily="34" charset="0"/>
                <a:ea typeface="Aptos" pitchFamily="34" charset="-122"/>
                <a:cs typeface="Aptos" pitchFamily="34" charset="-120"/>
              </a:rPr>
              <a:t>Add supporting details next to the image here. Keep it to a couple of short paragraphs.</a:t>
            </a:r>
            <a:endParaRPr lang="en-US" sz="1600" dirty="0"/>
          </a:p>
        </p:txBody>
      </p:sp>
      <p:sp>
        <p:nvSpPr>
          <p:cNvPr id="5"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mage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194560"/>
            <a:ext cx="7315200" cy="365760"/>
          </a:xfrm>
          <a:prstGeom prst="rect">
            <a:avLst/>
          </a:prstGeom>
          <a:noFill/>
          <a:ln/>
        </p:spPr>
        <p:txBody>
          <a:bodyPr wrap="square" rtlCol="0"/>
          <a:lstStyle>
            <a:lvl1pPr marL="0" indent="0" algn="l">
              <a:buNone/>
              <a:defRPr lang="en-US" sz="1300" b="1" kern="0" spc="200" dirty="0">
                <a:solidFill>
                  <a:srgbClr val="6BA5F0"/>
                </a:solidFill>
                <a:latin typeface="Aptos" pitchFamily="34" charset="0"/>
                <a:ea typeface="Aptos" pitchFamily="34" charset="-122"/>
                <a:cs typeface="Aptos" pitchFamily="34" charset="-120"/>
              </a:defRPr>
            </a:lvl1pPr>
          </a:lstStyle>
          <a:p>
            <a:pPr marL="0" indent="0" algn="l">
              <a:buNone/>
            </a:pPr>
            <a:r>
              <a:rPr lang="en-US" sz="1300" b="1" kern="0" spc="200" dirty="0">
                <a:solidFill>
                  <a:srgbClr val="6BA5F0"/>
                </a:solidFill>
                <a:latin typeface="Aptos" pitchFamily="34" charset="0"/>
                <a:ea typeface="Aptos" pitchFamily="34" charset="-122"/>
                <a:cs typeface="Aptos" pitchFamily="34" charset="-120"/>
              </a:rPr>
              <a:t>SECTION</a:t>
            </a:r>
            <a:endParaRPr lang="en-US" sz="1300" dirty="0"/>
          </a:p>
        </p:txBody>
      </p:sp>
      <p:sp>
        <p:nvSpPr>
          <p:cNvPr id="3" name="Text 0"/>
          <p:cNvSpPr>
            <a:spLocks noGrp="1"/>
          </p:cNvSpPr>
          <p:nvPr>
            <p:ph type="title" idx="101" hasCustomPrompt="1"/>
          </p:nvPr>
        </p:nvSpPr>
        <p:spPr>
          <a:xfrm>
            <a:off x="457200" y="2606040"/>
            <a:ext cx="10058400" cy="1463040"/>
          </a:xfrm>
          <a:prstGeom prst="rect">
            <a:avLst/>
          </a:prstGeom>
          <a:noFill/>
          <a:ln/>
        </p:spPr>
        <p:txBody>
          <a:bodyPr wrap="square" rtlCol="0"/>
          <a:lstStyle>
            <a:lvl1pPr marL="0" indent="0" algn="l">
              <a:buNone/>
              <a:defRPr lang="en-US" sz="4200" b="1" kern="0" spc="-100" dirty="0">
                <a:solidFill>
                  <a:srgbClr val="FFFFFF"/>
                </a:solidFill>
                <a:latin typeface="Aptos" pitchFamily="34" charset="0"/>
                <a:ea typeface="Aptos" pitchFamily="34" charset="-122"/>
                <a:cs typeface="Aptos" pitchFamily="34" charset="-120"/>
              </a:defRPr>
            </a:lvl1pPr>
          </a:lstStyle>
          <a:p>
            <a:pPr marL="0" indent="0" algn="l">
              <a:buNone/>
            </a:pPr>
            <a:r>
              <a:rPr lang="en-US" sz="4200" b="1" kern="0" spc="-100" dirty="0">
                <a:solidFill>
                  <a:srgbClr val="FFFFFF"/>
                </a:solidFill>
                <a:latin typeface="Aptos" pitchFamily="34" charset="0"/>
                <a:ea typeface="Aptos" pitchFamily="34" charset="-122"/>
                <a:cs typeface="Aptos" pitchFamily="34" charset="-120"/>
              </a:rPr>
              <a:t>Full-bleed image title</a:t>
            </a:r>
            <a:endParaRPr lang="en-US" sz="4200" dirty="0"/>
          </a:p>
        </p:txBody>
      </p:sp>
      <p:sp>
        <p:nvSpPr>
          <p:cNvPr id="4" name="Text 0"/>
          <p:cNvSpPr>
            <a:spLocks noGrp="1"/>
          </p:cNvSpPr>
          <p:nvPr>
            <p:ph type="body" idx="102" hasCustomPrompt="1"/>
          </p:nvPr>
        </p:nvSpPr>
        <p:spPr>
          <a:xfrm>
            <a:off x="457200" y="5961888"/>
            <a:ext cx="5486400" cy="274320"/>
          </a:xfrm>
          <a:prstGeom prst="rect">
            <a:avLst/>
          </a:prstGeom>
          <a:noFill/>
          <a:ln/>
        </p:spPr>
        <p:txBody>
          <a:bodyPr wrap="square" rtlCol="0"/>
          <a:lstStyle>
            <a:lvl1pPr marL="0" indent="0" algn="l">
              <a:buNone/>
              <a:defRPr lang="en-US" sz="1000" i="1" dirty="0">
                <a:solidFill>
                  <a:srgbClr val="A9BEDD"/>
                </a:solidFill>
                <a:latin typeface="Aptos" pitchFamily="34" charset="0"/>
                <a:ea typeface="Aptos" pitchFamily="34" charset="-122"/>
                <a:cs typeface="Aptos" pitchFamily="34" charset="-120"/>
              </a:defRPr>
            </a:lvl1pPr>
          </a:lstStyle>
          <a:p>
            <a:pPr marL="0" indent="0" algn="l">
              <a:buNone/>
            </a:pPr>
            <a:r>
              <a:rPr lang="en-US" sz="1000" i="1" dirty="0">
                <a:solidFill>
                  <a:srgbClr val="A9BEDD"/>
                </a:solidFill>
                <a:latin typeface="Aptos" pitchFamily="34" charset="0"/>
                <a:ea typeface="Aptos" pitchFamily="34" charset="-122"/>
                <a:cs typeface="Aptos" pitchFamily="34" charset="-120"/>
              </a:rPr>
              <a:t>Format Background → Picture or texture fill</a:t>
            </a:r>
            <a:endParaRPr lang="en-US" sz="1000" dirty="0"/>
          </a:p>
        </p:txBody>
      </p:sp>
      <p:sp>
        <p:nvSpPr>
          <p:cNvPr id="5"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A9BEDD"/>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A9BEDD"/>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Team</a:t>
            </a:r>
            <a:endParaRPr lang="en-US" sz="3200" dirty="0"/>
          </a:p>
        </p:txBody>
      </p:sp>
      <p:sp>
        <p:nvSpPr>
          <p:cNvPr id="3" name="PillBadge"/>
          <p:cNvSpPr>
            <a:spLocks noGrp="1"/>
          </p:cNvSpPr>
          <p:nvPr>
            <p:ph type="body" idx="101" hasCustomPrompt="1"/>
          </p:nvPr>
        </p:nvSpPr>
        <p:spPr>
          <a:xfrm>
            <a:off x="1306792" y="1554480"/>
            <a:ext cx="914400" cy="914400"/>
          </a:xfrm>
          <a:prstGeom prst="roundRect">
            <a:avLst>
              <a:gd name="adj" fmla="val 50000"/>
            </a:avLst>
          </a:prstGeom>
          <a:solidFill>
            <a:srgbClr val="E6EFFA"/>
          </a:solidFill>
          <a:ln w="12700">
            <a:solidFill>
              <a:srgbClr val="DCE3EE"/>
            </a:solidFill>
          </a:ln>
        </p:spPr>
        <p:txBody>
          <a:bodyPr wrap="square" rtlCol="0"/>
          <a:lstStyle>
            <a:lvl1pPr marL="0" indent="0" algn="ctr">
              <a:buNone/>
              <a:defRPr lang="en-US" sz="900" dirty="0">
                <a:solidFill>
                  <a:srgbClr val="6E7B8C"/>
                </a:solidFill>
                <a:latin typeface="Aptos" pitchFamily="34" charset="0"/>
                <a:ea typeface="Aptos" pitchFamily="34" charset="-122"/>
                <a:cs typeface="Aptos" pitchFamily="34" charset="-120"/>
              </a:defRPr>
            </a:lvl1pPr>
          </a:lstStyle>
          <a:p>
            <a:pPr marL="0" indent="0" algn="ctr">
              <a:buNone/>
            </a:pPr>
            <a:r>
              <a:rPr lang="en-US" sz="900" dirty="0">
                <a:solidFill>
                  <a:srgbClr val="6E7B8C"/>
                </a:solidFill>
                <a:latin typeface="Aptos" pitchFamily="34" charset="0"/>
                <a:ea typeface="Aptos" pitchFamily="34" charset="-122"/>
                <a:cs typeface="Aptos" pitchFamily="34" charset="-120"/>
              </a:rPr>
              <a:t>Photo</a:t>
            </a:r>
            <a:endParaRPr lang="en-US" sz="900" dirty="0"/>
          </a:p>
        </p:txBody>
      </p:sp>
      <p:sp>
        <p:nvSpPr>
          <p:cNvPr id="4" name="Text 0"/>
          <p:cNvSpPr>
            <a:spLocks noGrp="1"/>
          </p:cNvSpPr>
          <p:nvPr>
            <p:ph type="body" idx="102" hasCustomPrompt="1"/>
          </p:nvPr>
        </p:nvSpPr>
        <p:spPr>
          <a:xfrm>
            <a:off x="457200" y="2651760"/>
            <a:ext cx="2613584" cy="566928"/>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Full Name</a:t>
            </a:r>
            <a:endParaRPr lang="en-US" sz="1400" dirty="0"/>
          </a:p>
          <a:p>
            <a:pPr marL="0" indent="0" algn="ctr">
              <a:buNone/>
            </a:pPr>
            <a:r>
              <a:rPr lang="en-US" sz="1400" b="1" dirty="0">
                <a:solidFill>
                  <a:srgbClr val="00204D"/>
                </a:solidFill>
                <a:latin typeface="Aptos" pitchFamily="34" charset="0"/>
                <a:ea typeface="Aptos" pitchFamily="34" charset="-122"/>
                <a:cs typeface="Aptos" pitchFamily="34" charset="-120"/>
              </a:rPr>
              <a:t>Role, Team</a:t>
            </a:r>
            <a:endParaRPr lang="en-US" sz="1400" dirty="0"/>
          </a:p>
        </p:txBody>
      </p:sp>
      <p:sp>
        <p:nvSpPr>
          <p:cNvPr id="5" name="PillBadge"/>
          <p:cNvSpPr>
            <a:spLocks noGrp="1"/>
          </p:cNvSpPr>
          <p:nvPr>
            <p:ph type="body" idx="103" hasCustomPrompt="1"/>
          </p:nvPr>
        </p:nvSpPr>
        <p:spPr>
          <a:xfrm>
            <a:off x="4194696" y="1554480"/>
            <a:ext cx="914400" cy="914400"/>
          </a:xfrm>
          <a:prstGeom prst="roundRect">
            <a:avLst>
              <a:gd name="adj" fmla="val 50000"/>
            </a:avLst>
          </a:prstGeom>
          <a:solidFill>
            <a:srgbClr val="E6EFFA"/>
          </a:solidFill>
          <a:ln w="12700">
            <a:solidFill>
              <a:srgbClr val="DCE3EE"/>
            </a:solidFill>
          </a:ln>
        </p:spPr>
        <p:txBody>
          <a:bodyPr wrap="square" rtlCol="0"/>
          <a:lstStyle>
            <a:lvl1pPr marL="0" indent="0" algn="ctr">
              <a:buNone/>
              <a:defRPr lang="en-US" sz="900" dirty="0">
                <a:solidFill>
                  <a:srgbClr val="6E7B8C"/>
                </a:solidFill>
                <a:latin typeface="Aptos" pitchFamily="34" charset="0"/>
                <a:ea typeface="Aptos" pitchFamily="34" charset="-122"/>
                <a:cs typeface="Aptos" pitchFamily="34" charset="-120"/>
              </a:defRPr>
            </a:lvl1pPr>
          </a:lstStyle>
          <a:p>
            <a:pPr marL="0" indent="0" algn="ctr">
              <a:buNone/>
            </a:pPr>
            <a:r>
              <a:rPr lang="en-US" sz="900" dirty="0">
                <a:solidFill>
                  <a:srgbClr val="6E7B8C"/>
                </a:solidFill>
                <a:latin typeface="Aptos" pitchFamily="34" charset="0"/>
                <a:ea typeface="Aptos" pitchFamily="34" charset="-122"/>
                <a:cs typeface="Aptos" pitchFamily="34" charset="-120"/>
              </a:rPr>
              <a:t>Photo</a:t>
            </a:r>
            <a:endParaRPr lang="en-US" sz="900" dirty="0"/>
          </a:p>
        </p:txBody>
      </p:sp>
      <p:sp>
        <p:nvSpPr>
          <p:cNvPr id="6" name="Text 0"/>
          <p:cNvSpPr>
            <a:spLocks noGrp="1"/>
          </p:cNvSpPr>
          <p:nvPr>
            <p:ph type="body" idx="104" hasCustomPrompt="1"/>
          </p:nvPr>
        </p:nvSpPr>
        <p:spPr>
          <a:xfrm>
            <a:off x="3345104" y="2651760"/>
            <a:ext cx="2613584" cy="566928"/>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Full Name</a:t>
            </a:r>
            <a:endParaRPr lang="en-US" sz="1400" dirty="0"/>
          </a:p>
          <a:p>
            <a:pPr marL="0" indent="0" algn="ctr">
              <a:buNone/>
            </a:pPr>
            <a:r>
              <a:rPr lang="en-US" sz="1400" b="1" dirty="0">
                <a:solidFill>
                  <a:srgbClr val="00204D"/>
                </a:solidFill>
                <a:latin typeface="Aptos" pitchFamily="34" charset="0"/>
                <a:ea typeface="Aptos" pitchFamily="34" charset="-122"/>
                <a:cs typeface="Aptos" pitchFamily="34" charset="-120"/>
              </a:rPr>
              <a:t>Role, Team</a:t>
            </a:r>
            <a:endParaRPr lang="en-US" sz="1400" dirty="0"/>
          </a:p>
        </p:txBody>
      </p:sp>
      <p:sp>
        <p:nvSpPr>
          <p:cNvPr id="7" name="PillBadge"/>
          <p:cNvSpPr>
            <a:spLocks noGrp="1"/>
          </p:cNvSpPr>
          <p:nvPr>
            <p:ph type="body" idx="105" hasCustomPrompt="1"/>
          </p:nvPr>
        </p:nvSpPr>
        <p:spPr>
          <a:xfrm>
            <a:off x="7082600" y="1554480"/>
            <a:ext cx="914400" cy="914400"/>
          </a:xfrm>
          <a:prstGeom prst="roundRect">
            <a:avLst>
              <a:gd name="adj" fmla="val 50000"/>
            </a:avLst>
          </a:prstGeom>
          <a:solidFill>
            <a:srgbClr val="E6EFFA"/>
          </a:solidFill>
          <a:ln w="12700">
            <a:solidFill>
              <a:srgbClr val="DCE3EE"/>
            </a:solidFill>
          </a:ln>
        </p:spPr>
        <p:txBody>
          <a:bodyPr wrap="square" rtlCol="0"/>
          <a:lstStyle>
            <a:lvl1pPr marL="0" indent="0" algn="ctr">
              <a:buNone/>
              <a:defRPr lang="en-US" sz="900" dirty="0">
                <a:solidFill>
                  <a:srgbClr val="6E7B8C"/>
                </a:solidFill>
                <a:latin typeface="Aptos" pitchFamily="34" charset="0"/>
                <a:ea typeface="Aptos" pitchFamily="34" charset="-122"/>
                <a:cs typeface="Aptos" pitchFamily="34" charset="-120"/>
              </a:defRPr>
            </a:lvl1pPr>
          </a:lstStyle>
          <a:p>
            <a:pPr marL="0" indent="0" algn="ctr">
              <a:buNone/>
            </a:pPr>
            <a:r>
              <a:rPr lang="en-US" sz="900" dirty="0">
                <a:solidFill>
                  <a:srgbClr val="6E7B8C"/>
                </a:solidFill>
                <a:latin typeface="Aptos" pitchFamily="34" charset="0"/>
                <a:ea typeface="Aptos" pitchFamily="34" charset="-122"/>
                <a:cs typeface="Aptos" pitchFamily="34" charset="-120"/>
              </a:rPr>
              <a:t>Photo</a:t>
            </a:r>
            <a:endParaRPr lang="en-US" sz="900" dirty="0"/>
          </a:p>
        </p:txBody>
      </p:sp>
      <p:sp>
        <p:nvSpPr>
          <p:cNvPr id="8" name="Text 0"/>
          <p:cNvSpPr>
            <a:spLocks noGrp="1"/>
          </p:cNvSpPr>
          <p:nvPr>
            <p:ph type="body" idx="106" hasCustomPrompt="1"/>
          </p:nvPr>
        </p:nvSpPr>
        <p:spPr>
          <a:xfrm>
            <a:off x="6233008" y="2651760"/>
            <a:ext cx="2613584" cy="566928"/>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Full Name</a:t>
            </a:r>
            <a:endParaRPr lang="en-US" sz="1400" dirty="0"/>
          </a:p>
          <a:p>
            <a:pPr marL="0" indent="0" algn="ctr">
              <a:buNone/>
            </a:pPr>
            <a:r>
              <a:rPr lang="en-US" sz="1400" b="1" dirty="0">
                <a:solidFill>
                  <a:srgbClr val="00204D"/>
                </a:solidFill>
                <a:latin typeface="Aptos" pitchFamily="34" charset="0"/>
                <a:ea typeface="Aptos" pitchFamily="34" charset="-122"/>
                <a:cs typeface="Aptos" pitchFamily="34" charset="-120"/>
              </a:rPr>
              <a:t>Role, Team</a:t>
            </a:r>
            <a:endParaRPr lang="en-US" sz="1400" dirty="0"/>
          </a:p>
        </p:txBody>
      </p:sp>
      <p:sp>
        <p:nvSpPr>
          <p:cNvPr id="9" name="PillBadge"/>
          <p:cNvSpPr>
            <a:spLocks noGrp="1"/>
          </p:cNvSpPr>
          <p:nvPr>
            <p:ph type="body" idx="107" hasCustomPrompt="1"/>
          </p:nvPr>
        </p:nvSpPr>
        <p:spPr>
          <a:xfrm>
            <a:off x="9970503" y="1554480"/>
            <a:ext cx="914400" cy="914400"/>
          </a:xfrm>
          <a:prstGeom prst="roundRect">
            <a:avLst>
              <a:gd name="adj" fmla="val 50000"/>
            </a:avLst>
          </a:prstGeom>
          <a:solidFill>
            <a:srgbClr val="E6EFFA"/>
          </a:solidFill>
          <a:ln w="12700">
            <a:solidFill>
              <a:srgbClr val="DCE3EE"/>
            </a:solidFill>
          </a:ln>
        </p:spPr>
        <p:txBody>
          <a:bodyPr wrap="square" rtlCol="0"/>
          <a:lstStyle>
            <a:lvl1pPr marL="0" indent="0" algn="ctr">
              <a:buNone/>
              <a:defRPr lang="en-US" sz="900" dirty="0">
                <a:solidFill>
                  <a:srgbClr val="6E7B8C"/>
                </a:solidFill>
                <a:latin typeface="Aptos" pitchFamily="34" charset="0"/>
                <a:ea typeface="Aptos" pitchFamily="34" charset="-122"/>
                <a:cs typeface="Aptos" pitchFamily="34" charset="-120"/>
              </a:defRPr>
            </a:lvl1pPr>
          </a:lstStyle>
          <a:p>
            <a:pPr marL="0" indent="0" algn="ctr">
              <a:buNone/>
            </a:pPr>
            <a:r>
              <a:rPr lang="en-US" sz="900" dirty="0">
                <a:solidFill>
                  <a:srgbClr val="6E7B8C"/>
                </a:solidFill>
                <a:latin typeface="Aptos" pitchFamily="34" charset="0"/>
                <a:ea typeface="Aptos" pitchFamily="34" charset="-122"/>
                <a:cs typeface="Aptos" pitchFamily="34" charset="-120"/>
              </a:rPr>
              <a:t>Photo</a:t>
            </a:r>
            <a:endParaRPr lang="en-US" sz="900" dirty="0"/>
          </a:p>
        </p:txBody>
      </p:sp>
      <p:sp>
        <p:nvSpPr>
          <p:cNvPr id="10" name="Text 0"/>
          <p:cNvSpPr>
            <a:spLocks noGrp="1"/>
          </p:cNvSpPr>
          <p:nvPr>
            <p:ph type="body" idx="108" hasCustomPrompt="1"/>
          </p:nvPr>
        </p:nvSpPr>
        <p:spPr>
          <a:xfrm>
            <a:off x="9120911" y="2651760"/>
            <a:ext cx="2613584" cy="566928"/>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Full Name</a:t>
            </a:r>
            <a:endParaRPr lang="en-US" sz="1400" dirty="0"/>
          </a:p>
          <a:p>
            <a:pPr marL="0" indent="0" algn="ctr">
              <a:buNone/>
            </a:pPr>
            <a:r>
              <a:rPr lang="en-US" sz="1400" b="1" dirty="0">
                <a:solidFill>
                  <a:srgbClr val="00204D"/>
                </a:solidFill>
                <a:latin typeface="Aptos" pitchFamily="34" charset="0"/>
                <a:ea typeface="Aptos" pitchFamily="34" charset="-122"/>
                <a:cs typeface="Aptos" pitchFamily="34" charset="-120"/>
              </a:rPr>
              <a:t>Role, Team</a:t>
            </a:r>
            <a:endParaRPr lang="en-US" sz="1400" dirty="0"/>
          </a:p>
        </p:txBody>
      </p:sp>
      <p:sp>
        <p:nvSpPr>
          <p:cNvPr id="11" name="PillBadge"/>
          <p:cNvSpPr>
            <a:spLocks noGrp="1"/>
          </p:cNvSpPr>
          <p:nvPr>
            <p:ph type="body" idx="109" hasCustomPrompt="1"/>
          </p:nvPr>
        </p:nvSpPr>
        <p:spPr>
          <a:xfrm>
            <a:off x="1306792" y="3767328"/>
            <a:ext cx="914400" cy="914400"/>
          </a:xfrm>
          <a:prstGeom prst="roundRect">
            <a:avLst>
              <a:gd name="adj" fmla="val 50000"/>
            </a:avLst>
          </a:prstGeom>
          <a:solidFill>
            <a:srgbClr val="E6EFFA"/>
          </a:solidFill>
          <a:ln w="12700">
            <a:solidFill>
              <a:srgbClr val="DCE3EE"/>
            </a:solidFill>
          </a:ln>
        </p:spPr>
        <p:txBody>
          <a:bodyPr wrap="square" rtlCol="0"/>
          <a:lstStyle>
            <a:lvl1pPr marL="0" indent="0" algn="ctr">
              <a:buNone/>
              <a:defRPr lang="en-US" sz="900" dirty="0">
                <a:solidFill>
                  <a:srgbClr val="6E7B8C"/>
                </a:solidFill>
                <a:latin typeface="Aptos" pitchFamily="34" charset="0"/>
                <a:ea typeface="Aptos" pitchFamily="34" charset="-122"/>
                <a:cs typeface="Aptos" pitchFamily="34" charset="-120"/>
              </a:defRPr>
            </a:lvl1pPr>
          </a:lstStyle>
          <a:p>
            <a:pPr marL="0" indent="0" algn="ctr">
              <a:buNone/>
            </a:pPr>
            <a:r>
              <a:rPr lang="en-US" sz="900" dirty="0">
                <a:solidFill>
                  <a:srgbClr val="6E7B8C"/>
                </a:solidFill>
                <a:latin typeface="Aptos" pitchFamily="34" charset="0"/>
                <a:ea typeface="Aptos" pitchFamily="34" charset="-122"/>
                <a:cs typeface="Aptos" pitchFamily="34" charset="-120"/>
              </a:rPr>
              <a:t>Photo</a:t>
            </a:r>
            <a:endParaRPr lang="en-US" sz="900" dirty="0"/>
          </a:p>
        </p:txBody>
      </p:sp>
      <p:sp>
        <p:nvSpPr>
          <p:cNvPr id="12" name="Text 0"/>
          <p:cNvSpPr>
            <a:spLocks noGrp="1"/>
          </p:cNvSpPr>
          <p:nvPr>
            <p:ph type="body" idx="110" hasCustomPrompt="1"/>
          </p:nvPr>
        </p:nvSpPr>
        <p:spPr>
          <a:xfrm>
            <a:off x="457200" y="4864608"/>
            <a:ext cx="2613584" cy="566928"/>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Full Name</a:t>
            </a:r>
            <a:endParaRPr lang="en-US" sz="1400" dirty="0"/>
          </a:p>
          <a:p>
            <a:pPr marL="0" indent="0" algn="ctr">
              <a:buNone/>
            </a:pPr>
            <a:r>
              <a:rPr lang="en-US" sz="1400" b="1" dirty="0">
                <a:solidFill>
                  <a:srgbClr val="00204D"/>
                </a:solidFill>
                <a:latin typeface="Aptos" pitchFamily="34" charset="0"/>
                <a:ea typeface="Aptos" pitchFamily="34" charset="-122"/>
                <a:cs typeface="Aptos" pitchFamily="34" charset="-120"/>
              </a:rPr>
              <a:t>Role, Team</a:t>
            </a:r>
            <a:endParaRPr lang="en-US" sz="1400" dirty="0"/>
          </a:p>
        </p:txBody>
      </p:sp>
      <p:sp>
        <p:nvSpPr>
          <p:cNvPr id="13" name="PillBadge"/>
          <p:cNvSpPr>
            <a:spLocks noGrp="1"/>
          </p:cNvSpPr>
          <p:nvPr>
            <p:ph type="body" idx="111" hasCustomPrompt="1"/>
          </p:nvPr>
        </p:nvSpPr>
        <p:spPr>
          <a:xfrm>
            <a:off x="4194696" y="3767328"/>
            <a:ext cx="914400" cy="914400"/>
          </a:xfrm>
          <a:prstGeom prst="roundRect">
            <a:avLst>
              <a:gd name="adj" fmla="val 50000"/>
            </a:avLst>
          </a:prstGeom>
          <a:solidFill>
            <a:srgbClr val="E6EFFA"/>
          </a:solidFill>
          <a:ln w="12700">
            <a:solidFill>
              <a:srgbClr val="DCE3EE"/>
            </a:solidFill>
          </a:ln>
        </p:spPr>
        <p:txBody>
          <a:bodyPr wrap="square" rtlCol="0"/>
          <a:lstStyle>
            <a:lvl1pPr marL="0" indent="0" algn="ctr">
              <a:buNone/>
              <a:defRPr lang="en-US" sz="900" dirty="0">
                <a:solidFill>
                  <a:srgbClr val="6E7B8C"/>
                </a:solidFill>
                <a:latin typeface="Aptos" pitchFamily="34" charset="0"/>
                <a:ea typeface="Aptos" pitchFamily="34" charset="-122"/>
                <a:cs typeface="Aptos" pitchFamily="34" charset="-120"/>
              </a:defRPr>
            </a:lvl1pPr>
          </a:lstStyle>
          <a:p>
            <a:pPr marL="0" indent="0" algn="ctr">
              <a:buNone/>
            </a:pPr>
            <a:r>
              <a:rPr lang="en-US" sz="900" dirty="0">
                <a:solidFill>
                  <a:srgbClr val="6E7B8C"/>
                </a:solidFill>
                <a:latin typeface="Aptos" pitchFamily="34" charset="0"/>
                <a:ea typeface="Aptos" pitchFamily="34" charset="-122"/>
                <a:cs typeface="Aptos" pitchFamily="34" charset="-120"/>
              </a:rPr>
              <a:t>Photo</a:t>
            </a:r>
            <a:endParaRPr lang="en-US" sz="900" dirty="0"/>
          </a:p>
        </p:txBody>
      </p:sp>
      <p:sp>
        <p:nvSpPr>
          <p:cNvPr id="14" name="Text 0"/>
          <p:cNvSpPr>
            <a:spLocks noGrp="1"/>
          </p:cNvSpPr>
          <p:nvPr>
            <p:ph type="body" idx="112" hasCustomPrompt="1"/>
          </p:nvPr>
        </p:nvSpPr>
        <p:spPr>
          <a:xfrm>
            <a:off x="3345104" y="4864608"/>
            <a:ext cx="2613584" cy="566928"/>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Full Name</a:t>
            </a:r>
            <a:endParaRPr lang="en-US" sz="1400" dirty="0"/>
          </a:p>
          <a:p>
            <a:pPr marL="0" indent="0" algn="ctr">
              <a:buNone/>
            </a:pPr>
            <a:r>
              <a:rPr lang="en-US" sz="1400" b="1" dirty="0">
                <a:solidFill>
                  <a:srgbClr val="00204D"/>
                </a:solidFill>
                <a:latin typeface="Aptos" pitchFamily="34" charset="0"/>
                <a:ea typeface="Aptos" pitchFamily="34" charset="-122"/>
                <a:cs typeface="Aptos" pitchFamily="34" charset="-120"/>
              </a:rPr>
              <a:t>Role, Team</a:t>
            </a:r>
            <a:endParaRPr lang="en-US" sz="1400" dirty="0"/>
          </a:p>
        </p:txBody>
      </p:sp>
      <p:sp>
        <p:nvSpPr>
          <p:cNvPr id="15" name="PillBadge"/>
          <p:cNvSpPr>
            <a:spLocks noGrp="1"/>
          </p:cNvSpPr>
          <p:nvPr>
            <p:ph type="body" idx="113" hasCustomPrompt="1"/>
          </p:nvPr>
        </p:nvSpPr>
        <p:spPr>
          <a:xfrm>
            <a:off x="7082600" y="3767328"/>
            <a:ext cx="914400" cy="914400"/>
          </a:xfrm>
          <a:prstGeom prst="roundRect">
            <a:avLst>
              <a:gd name="adj" fmla="val 50000"/>
            </a:avLst>
          </a:prstGeom>
          <a:solidFill>
            <a:srgbClr val="E6EFFA"/>
          </a:solidFill>
          <a:ln w="12700">
            <a:solidFill>
              <a:srgbClr val="DCE3EE"/>
            </a:solidFill>
          </a:ln>
        </p:spPr>
        <p:txBody>
          <a:bodyPr wrap="square" rtlCol="0"/>
          <a:lstStyle>
            <a:lvl1pPr marL="0" indent="0" algn="ctr">
              <a:buNone/>
              <a:defRPr lang="en-US" sz="900" dirty="0">
                <a:solidFill>
                  <a:srgbClr val="6E7B8C"/>
                </a:solidFill>
                <a:latin typeface="Aptos" pitchFamily="34" charset="0"/>
                <a:ea typeface="Aptos" pitchFamily="34" charset="-122"/>
                <a:cs typeface="Aptos" pitchFamily="34" charset="-120"/>
              </a:defRPr>
            </a:lvl1pPr>
          </a:lstStyle>
          <a:p>
            <a:pPr marL="0" indent="0" algn="ctr">
              <a:buNone/>
            </a:pPr>
            <a:r>
              <a:rPr lang="en-US" sz="900" dirty="0">
                <a:solidFill>
                  <a:srgbClr val="6E7B8C"/>
                </a:solidFill>
                <a:latin typeface="Aptos" pitchFamily="34" charset="0"/>
                <a:ea typeface="Aptos" pitchFamily="34" charset="-122"/>
                <a:cs typeface="Aptos" pitchFamily="34" charset="-120"/>
              </a:rPr>
              <a:t>Photo</a:t>
            </a:r>
            <a:endParaRPr lang="en-US" sz="900" dirty="0"/>
          </a:p>
        </p:txBody>
      </p:sp>
      <p:sp>
        <p:nvSpPr>
          <p:cNvPr id="16" name="Text 0"/>
          <p:cNvSpPr>
            <a:spLocks noGrp="1"/>
          </p:cNvSpPr>
          <p:nvPr>
            <p:ph type="body" idx="114" hasCustomPrompt="1"/>
          </p:nvPr>
        </p:nvSpPr>
        <p:spPr>
          <a:xfrm>
            <a:off x="6233008" y="4864608"/>
            <a:ext cx="2613584" cy="566928"/>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Full Name</a:t>
            </a:r>
            <a:endParaRPr lang="en-US" sz="1400" dirty="0"/>
          </a:p>
          <a:p>
            <a:pPr marL="0" indent="0" algn="ctr">
              <a:buNone/>
            </a:pPr>
            <a:r>
              <a:rPr lang="en-US" sz="1400" b="1" dirty="0">
                <a:solidFill>
                  <a:srgbClr val="00204D"/>
                </a:solidFill>
                <a:latin typeface="Aptos" pitchFamily="34" charset="0"/>
                <a:ea typeface="Aptos" pitchFamily="34" charset="-122"/>
                <a:cs typeface="Aptos" pitchFamily="34" charset="-120"/>
              </a:rPr>
              <a:t>Role, Team</a:t>
            </a:r>
            <a:endParaRPr lang="en-US" sz="1400" dirty="0"/>
          </a:p>
        </p:txBody>
      </p:sp>
      <p:sp>
        <p:nvSpPr>
          <p:cNvPr id="17" name="PillBadge"/>
          <p:cNvSpPr>
            <a:spLocks noGrp="1"/>
          </p:cNvSpPr>
          <p:nvPr>
            <p:ph type="body" idx="115" hasCustomPrompt="1"/>
          </p:nvPr>
        </p:nvSpPr>
        <p:spPr>
          <a:xfrm>
            <a:off x="9970503" y="3767328"/>
            <a:ext cx="914400" cy="914400"/>
          </a:xfrm>
          <a:prstGeom prst="roundRect">
            <a:avLst>
              <a:gd name="adj" fmla="val 50000"/>
            </a:avLst>
          </a:prstGeom>
          <a:solidFill>
            <a:srgbClr val="E6EFFA"/>
          </a:solidFill>
          <a:ln w="12700">
            <a:solidFill>
              <a:srgbClr val="DCE3EE"/>
            </a:solidFill>
          </a:ln>
        </p:spPr>
        <p:txBody>
          <a:bodyPr wrap="square" rtlCol="0"/>
          <a:lstStyle>
            <a:lvl1pPr marL="0" indent="0" algn="ctr">
              <a:buNone/>
              <a:defRPr lang="en-US" sz="900" dirty="0">
                <a:solidFill>
                  <a:srgbClr val="6E7B8C"/>
                </a:solidFill>
                <a:latin typeface="Aptos" pitchFamily="34" charset="0"/>
                <a:ea typeface="Aptos" pitchFamily="34" charset="-122"/>
                <a:cs typeface="Aptos" pitchFamily="34" charset="-120"/>
              </a:defRPr>
            </a:lvl1pPr>
          </a:lstStyle>
          <a:p>
            <a:pPr marL="0" indent="0" algn="ctr">
              <a:buNone/>
            </a:pPr>
            <a:r>
              <a:rPr lang="en-US" sz="900" dirty="0">
                <a:solidFill>
                  <a:srgbClr val="6E7B8C"/>
                </a:solidFill>
                <a:latin typeface="Aptos" pitchFamily="34" charset="0"/>
                <a:ea typeface="Aptos" pitchFamily="34" charset="-122"/>
                <a:cs typeface="Aptos" pitchFamily="34" charset="-120"/>
              </a:rPr>
              <a:t>Photo</a:t>
            </a:r>
            <a:endParaRPr lang="en-US" sz="900" dirty="0"/>
          </a:p>
        </p:txBody>
      </p:sp>
      <p:sp>
        <p:nvSpPr>
          <p:cNvPr id="18" name="Text 0"/>
          <p:cNvSpPr>
            <a:spLocks noGrp="1"/>
          </p:cNvSpPr>
          <p:nvPr>
            <p:ph type="body" idx="116" hasCustomPrompt="1"/>
          </p:nvPr>
        </p:nvSpPr>
        <p:spPr>
          <a:xfrm>
            <a:off x="9120911" y="4864608"/>
            <a:ext cx="2613584" cy="566928"/>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Full Name</a:t>
            </a:r>
            <a:endParaRPr lang="en-US" sz="1400" dirty="0"/>
          </a:p>
          <a:p>
            <a:pPr marL="0" indent="0" algn="ctr">
              <a:buNone/>
            </a:pPr>
            <a:r>
              <a:rPr lang="en-US" sz="1400" b="1" dirty="0">
                <a:solidFill>
                  <a:srgbClr val="00204D"/>
                </a:solidFill>
                <a:latin typeface="Aptos" pitchFamily="34" charset="0"/>
                <a:ea typeface="Aptos" pitchFamily="34" charset="-122"/>
                <a:cs typeface="Aptos" pitchFamily="34" charset="-120"/>
              </a:rPr>
              <a:t>Role, Team</a:t>
            </a:r>
            <a:endParaRPr lang="en-US" sz="1400" dirty="0"/>
          </a:p>
        </p:txBody>
      </p:sp>
      <p:sp>
        <p:nvSpPr>
          <p:cNvPr id="19"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melin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Process</a:t>
            </a:r>
            <a:endParaRPr lang="en-US" sz="3200" dirty="0"/>
          </a:p>
        </p:txBody>
      </p:sp>
      <p:sp>
        <p:nvSpPr>
          <p:cNvPr id="3" name="Shape 0"/>
          <p:cNvSpPr/>
          <p:nvPr/>
        </p:nvSpPr>
        <p:spPr>
          <a:xfrm>
            <a:off x="1866862" y="2619756"/>
            <a:ext cx="8457971" cy="0"/>
          </a:xfrm>
          <a:prstGeom prst="line">
            <a:avLst/>
          </a:prstGeom>
          <a:noFill/>
          <a:ln w="19050">
            <a:solidFill>
              <a:srgbClr val="DCE3EE"/>
            </a:solidFill>
            <a:prstDash val="solid"/>
          </a:ln>
        </p:spPr>
        <p:txBody>
          <a:bodyPr/>
          <a:lstStyle/>
          <a:p>
            <a:endParaRPr lang="en-US"/>
          </a:p>
        </p:txBody>
      </p:sp>
      <p:sp>
        <p:nvSpPr>
          <p:cNvPr id="4" name="PillBadge"/>
          <p:cNvSpPr>
            <a:spLocks noGrp="1"/>
          </p:cNvSpPr>
          <p:nvPr>
            <p:ph type="body" idx="102" hasCustomPrompt="1"/>
          </p:nvPr>
        </p:nvSpPr>
        <p:spPr>
          <a:xfrm>
            <a:off x="1615402" y="2377440"/>
            <a:ext cx="502920" cy="502920"/>
          </a:xfrm>
          <a:prstGeom prst="roundRect">
            <a:avLst>
              <a:gd name="adj" fmla="val 50000"/>
            </a:avLst>
          </a:prstGeom>
          <a:solidFill>
            <a:srgbClr val="00204D"/>
          </a:solidFill>
          <a:ln/>
        </p:spPr>
        <p:txBody>
          <a:bodyPr wrap="square" rtlCol="0"/>
          <a:lstStyle>
            <a:lvl1pPr marL="0" indent="0" algn="ctr">
              <a:buNone/>
              <a:defRPr lang="en-US" sz="1600" b="1" dirty="0">
                <a:solidFill>
                  <a:srgbClr val="FFFFFF"/>
                </a:solidFill>
                <a:latin typeface="Aptos" pitchFamily="34" charset="0"/>
                <a:ea typeface="Aptos" pitchFamily="34" charset="-122"/>
                <a:cs typeface="Aptos" pitchFamily="34" charset="-120"/>
              </a:defRPr>
            </a:lvl1pP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5" name="Text 1"/>
          <p:cNvSpPr>
            <a:spLocks noGrp="1"/>
          </p:cNvSpPr>
          <p:nvPr>
            <p:ph type="body" idx="103" hasCustomPrompt="1"/>
          </p:nvPr>
        </p:nvSpPr>
        <p:spPr>
          <a:xfrm>
            <a:off x="594360" y="3154680"/>
            <a:ext cx="2545004" cy="365760"/>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Step name</a:t>
            </a:r>
            <a:endParaRPr lang="en-US" sz="1400" dirty="0"/>
          </a:p>
        </p:txBody>
      </p:sp>
      <p:sp>
        <p:nvSpPr>
          <p:cNvPr id="6" name="Text 1"/>
          <p:cNvSpPr>
            <a:spLocks noGrp="1"/>
          </p:cNvSpPr>
          <p:nvPr>
            <p:ph type="body" idx="104" hasCustomPrompt="1"/>
          </p:nvPr>
        </p:nvSpPr>
        <p:spPr>
          <a:xfrm>
            <a:off x="594360" y="3566160"/>
            <a:ext cx="2545004" cy="731520"/>
          </a:xfrm>
          <a:prstGeom prst="rect">
            <a:avLst/>
          </a:prstGeom>
          <a:noFill/>
          <a:ln/>
        </p:spPr>
        <p:txBody>
          <a:bodyPr wrap="square" rtlCol="0"/>
          <a:lstStyle>
            <a:lvl1pPr marL="0" indent="0" algn="ctr">
              <a:lnSpc>
                <a:spcPct val="130000"/>
              </a:lnSpc>
              <a:buNone/>
              <a:defRPr lang="en-US" sz="1100" dirty="0">
                <a:solidFill>
                  <a:srgbClr val="6E7B8C"/>
                </a:solidFill>
                <a:latin typeface="Aptos" pitchFamily="34" charset="0"/>
                <a:ea typeface="Aptos" pitchFamily="34" charset="-122"/>
                <a:cs typeface="Aptos" pitchFamily="34" charset="-120"/>
              </a:defRPr>
            </a:lvl1pPr>
          </a:lstStyle>
          <a:p>
            <a:pPr marL="0" indent="0" algn="ctr">
              <a:lnSpc>
                <a:spcPct val="130000"/>
              </a:lnSpc>
              <a:buNone/>
            </a:pPr>
            <a:r>
              <a:rPr lang="en-US" sz="1100" dirty="0">
                <a:solidFill>
                  <a:srgbClr val="6E7B8C"/>
                </a:solidFill>
                <a:latin typeface="Aptos" pitchFamily="34" charset="0"/>
                <a:ea typeface="Aptos" pitchFamily="34" charset="-122"/>
                <a:cs typeface="Aptos" pitchFamily="34" charset="-120"/>
              </a:rPr>
              <a:t>Short description of this step.</a:t>
            </a:r>
            <a:endParaRPr lang="en-US" sz="1100" dirty="0"/>
          </a:p>
        </p:txBody>
      </p:sp>
      <p:sp>
        <p:nvSpPr>
          <p:cNvPr id="7" name="PillBadge"/>
          <p:cNvSpPr>
            <a:spLocks noGrp="1"/>
          </p:cNvSpPr>
          <p:nvPr>
            <p:ph type="body" idx="105" hasCustomPrompt="1"/>
          </p:nvPr>
        </p:nvSpPr>
        <p:spPr>
          <a:xfrm>
            <a:off x="4434726" y="2377440"/>
            <a:ext cx="502920" cy="502920"/>
          </a:xfrm>
          <a:prstGeom prst="roundRect">
            <a:avLst>
              <a:gd name="adj" fmla="val 50000"/>
            </a:avLst>
          </a:prstGeom>
          <a:solidFill>
            <a:srgbClr val="00204D"/>
          </a:solidFill>
          <a:ln/>
        </p:spPr>
        <p:txBody>
          <a:bodyPr wrap="square" rtlCol="0"/>
          <a:lstStyle>
            <a:lvl1pPr marL="0" indent="0" algn="ctr">
              <a:buNone/>
              <a:defRPr lang="en-US" sz="1600" b="1" dirty="0">
                <a:solidFill>
                  <a:srgbClr val="FFFFFF"/>
                </a:solidFill>
                <a:latin typeface="Aptos" pitchFamily="34" charset="0"/>
                <a:ea typeface="Aptos" pitchFamily="34" charset="-122"/>
                <a:cs typeface="Aptos" pitchFamily="34" charset="-120"/>
              </a:defRPr>
            </a:lvl1pPr>
          </a:lstStyle>
          <a:p>
            <a:pPr marL="0" indent="0" algn="ctr">
              <a:buNone/>
            </a:pPr>
            <a:r>
              <a:rPr lang="en-US" sz="1600" b="1" dirty="0">
                <a:solidFill>
                  <a:srgbClr val="FFFFFF"/>
                </a:solidFill>
                <a:latin typeface="Aptos" pitchFamily="34" charset="0"/>
                <a:ea typeface="Aptos" pitchFamily="34" charset="-122"/>
                <a:cs typeface="Aptos" pitchFamily="34" charset="-120"/>
              </a:rPr>
              <a:t>2</a:t>
            </a:r>
            <a:endParaRPr lang="en-US" sz="1600" dirty="0"/>
          </a:p>
        </p:txBody>
      </p:sp>
      <p:sp>
        <p:nvSpPr>
          <p:cNvPr id="8" name="Text 1"/>
          <p:cNvSpPr>
            <a:spLocks noGrp="1"/>
          </p:cNvSpPr>
          <p:nvPr>
            <p:ph type="body" idx="106" hasCustomPrompt="1"/>
          </p:nvPr>
        </p:nvSpPr>
        <p:spPr>
          <a:xfrm>
            <a:off x="3413684" y="3154680"/>
            <a:ext cx="2545004" cy="365760"/>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Step name</a:t>
            </a:r>
            <a:endParaRPr lang="en-US" sz="1400" dirty="0"/>
          </a:p>
        </p:txBody>
      </p:sp>
      <p:sp>
        <p:nvSpPr>
          <p:cNvPr id="9" name="Text 1"/>
          <p:cNvSpPr>
            <a:spLocks noGrp="1"/>
          </p:cNvSpPr>
          <p:nvPr>
            <p:ph type="body" idx="107" hasCustomPrompt="1"/>
          </p:nvPr>
        </p:nvSpPr>
        <p:spPr>
          <a:xfrm>
            <a:off x="3413684" y="3566160"/>
            <a:ext cx="2545004" cy="731520"/>
          </a:xfrm>
          <a:prstGeom prst="rect">
            <a:avLst/>
          </a:prstGeom>
          <a:noFill/>
          <a:ln/>
        </p:spPr>
        <p:txBody>
          <a:bodyPr wrap="square" rtlCol="0"/>
          <a:lstStyle>
            <a:lvl1pPr marL="0" indent="0" algn="ctr">
              <a:lnSpc>
                <a:spcPct val="130000"/>
              </a:lnSpc>
              <a:buNone/>
              <a:defRPr lang="en-US" sz="1100" dirty="0">
                <a:solidFill>
                  <a:srgbClr val="6E7B8C"/>
                </a:solidFill>
                <a:latin typeface="Aptos" pitchFamily="34" charset="0"/>
                <a:ea typeface="Aptos" pitchFamily="34" charset="-122"/>
                <a:cs typeface="Aptos" pitchFamily="34" charset="-120"/>
              </a:defRPr>
            </a:lvl1pPr>
          </a:lstStyle>
          <a:p>
            <a:pPr marL="0" indent="0" algn="ctr">
              <a:lnSpc>
                <a:spcPct val="130000"/>
              </a:lnSpc>
              <a:buNone/>
            </a:pPr>
            <a:r>
              <a:rPr lang="en-US" sz="1100" dirty="0">
                <a:solidFill>
                  <a:srgbClr val="6E7B8C"/>
                </a:solidFill>
                <a:latin typeface="Aptos" pitchFamily="34" charset="0"/>
                <a:ea typeface="Aptos" pitchFamily="34" charset="-122"/>
                <a:cs typeface="Aptos" pitchFamily="34" charset="-120"/>
              </a:rPr>
              <a:t>Short description of this step.</a:t>
            </a:r>
            <a:endParaRPr lang="en-US" sz="1100" dirty="0"/>
          </a:p>
        </p:txBody>
      </p:sp>
      <p:sp>
        <p:nvSpPr>
          <p:cNvPr id="10" name="PillBadge"/>
          <p:cNvSpPr>
            <a:spLocks noGrp="1"/>
          </p:cNvSpPr>
          <p:nvPr>
            <p:ph type="body" idx="108" hasCustomPrompt="1"/>
          </p:nvPr>
        </p:nvSpPr>
        <p:spPr>
          <a:xfrm>
            <a:off x="7254050" y="2377440"/>
            <a:ext cx="502920" cy="502920"/>
          </a:xfrm>
          <a:prstGeom prst="roundRect">
            <a:avLst>
              <a:gd name="adj" fmla="val 50000"/>
            </a:avLst>
          </a:prstGeom>
          <a:solidFill>
            <a:srgbClr val="00204D"/>
          </a:solidFill>
          <a:ln/>
        </p:spPr>
        <p:txBody>
          <a:bodyPr wrap="square" rtlCol="0"/>
          <a:lstStyle>
            <a:lvl1pPr marL="0" indent="0" algn="ctr">
              <a:buNone/>
              <a:defRPr lang="en-US" sz="1600" b="1" dirty="0">
                <a:solidFill>
                  <a:srgbClr val="FFFFFF"/>
                </a:solidFill>
                <a:latin typeface="Aptos" pitchFamily="34" charset="0"/>
                <a:ea typeface="Aptos" pitchFamily="34" charset="-122"/>
                <a:cs typeface="Aptos" pitchFamily="34" charset="-120"/>
              </a:defRPr>
            </a:lvl1pP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11" name="Text 1"/>
          <p:cNvSpPr>
            <a:spLocks noGrp="1"/>
          </p:cNvSpPr>
          <p:nvPr>
            <p:ph type="body" idx="109" hasCustomPrompt="1"/>
          </p:nvPr>
        </p:nvSpPr>
        <p:spPr>
          <a:xfrm>
            <a:off x="6233008" y="3154680"/>
            <a:ext cx="2545004" cy="365760"/>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Step name</a:t>
            </a:r>
            <a:endParaRPr lang="en-US" sz="1400" dirty="0"/>
          </a:p>
        </p:txBody>
      </p:sp>
      <p:sp>
        <p:nvSpPr>
          <p:cNvPr id="12" name="Text 1"/>
          <p:cNvSpPr>
            <a:spLocks noGrp="1"/>
          </p:cNvSpPr>
          <p:nvPr>
            <p:ph type="body" idx="110" hasCustomPrompt="1"/>
          </p:nvPr>
        </p:nvSpPr>
        <p:spPr>
          <a:xfrm>
            <a:off x="6233008" y="3566160"/>
            <a:ext cx="2545004" cy="731520"/>
          </a:xfrm>
          <a:prstGeom prst="rect">
            <a:avLst/>
          </a:prstGeom>
          <a:noFill/>
          <a:ln/>
        </p:spPr>
        <p:txBody>
          <a:bodyPr wrap="square" rtlCol="0"/>
          <a:lstStyle>
            <a:lvl1pPr marL="0" indent="0" algn="ctr">
              <a:lnSpc>
                <a:spcPct val="130000"/>
              </a:lnSpc>
              <a:buNone/>
              <a:defRPr lang="en-US" sz="1100" dirty="0">
                <a:solidFill>
                  <a:srgbClr val="6E7B8C"/>
                </a:solidFill>
                <a:latin typeface="Aptos" pitchFamily="34" charset="0"/>
                <a:ea typeface="Aptos" pitchFamily="34" charset="-122"/>
                <a:cs typeface="Aptos" pitchFamily="34" charset="-120"/>
              </a:defRPr>
            </a:lvl1pPr>
          </a:lstStyle>
          <a:p>
            <a:pPr marL="0" indent="0" algn="ctr">
              <a:lnSpc>
                <a:spcPct val="130000"/>
              </a:lnSpc>
              <a:buNone/>
            </a:pPr>
            <a:r>
              <a:rPr lang="en-US" sz="1100" dirty="0">
                <a:solidFill>
                  <a:srgbClr val="6E7B8C"/>
                </a:solidFill>
                <a:latin typeface="Aptos" pitchFamily="34" charset="0"/>
                <a:ea typeface="Aptos" pitchFamily="34" charset="-122"/>
                <a:cs typeface="Aptos" pitchFamily="34" charset="-120"/>
              </a:rPr>
              <a:t>Short description of this step.</a:t>
            </a:r>
            <a:endParaRPr lang="en-US" sz="1100" dirty="0"/>
          </a:p>
        </p:txBody>
      </p:sp>
      <p:sp>
        <p:nvSpPr>
          <p:cNvPr id="13" name="PillBadge"/>
          <p:cNvSpPr>
            <a:spLocks noGrp="1"/>
          </p:cNvSpPr>
          <p:nvPr>
            <p:ph type="body" idx="111" hasCustomPrompt="1"/>
          </p:nvPr>
        </p:nvSpPr>
        <p:spPr>
          <a:xfrm>
            <a:off x="10073373" y="2377440"/>
            <a:ext cx="502920" cy="502920"/>
          </a:xfrm>
          <a:prstGeom prst="roundRect">
            <a:avLst>
              <a:gd name="adj" fmla="val 50000"/>
            </a:avLst>
          </a:prstGeom>
          <a:solidFill>
            <a:srgbClr val="00204D"/>
          </a:solidFill>
          <a:ln/>
        </p:spPr>
        <p:txBody>
          <a:bodyPr wrap="square" rtlCol="0"/>
          <a:lstStyle>
            <a:lvl1pPr marL="0" indent="0" algn="ctr">
              <a:buNone/>
              <a:defRPr lang="en-US" sz="1600" b="1" dirty="0">
                <a:solidFill>
                  <a:srgbClr val="FFFFFF"/>
                </a:solidFill>
                <a:latin typeface="Aptos" pitchFamily="34" charset="0"/>
                <a:ea typeface="Aptos" pitchFamily="34" charset="-122"/>
                <a:cs typeface="Aptos" pitchFamily="34" charset="-120"/>
              </a:defRPr>
            </a:lvl1pPr>
          </a:lstStyle>
          <a:p>
            <a:pPr marL="0" indent="0" algn="ctr">
              <a:buNone/>
            </a:pPr>
            <a:r>
              <a:rPr lang="en-US" sz="1600" b="1" dirty="0">
                <a:solidFill>
                  <a:srgbClr val="FFFFFF"/>
                </a:solidFill>
                <a:latin typeface="Aptos" pitchFamily="34" charset="0"/>
                <a:ea typeface="Aptos" pitchFamily="34" charset="-122"/>
                <a:cs typeface="Aptos" pitchFamily="34" charset="-120"/>
              </a:rPr>
              <a:t>4</a:t>
            </a:r>
            <a:endParaRPr lang="en-US" sz="1600" dirty="0"/>
          </a:p>
        </p:txBody>
      </p:sp>
      <p:sp>
        <p:nvSpPr>
          <p:cNvPr id="14" name="Text 1"/>
          <p:cNvSpPr>
            <a:spLocks noGrp="1"/>
          </p:cNvSpPr>
          <p:nvPr>
            <p:ph type="body" idx="112" hasCustomPrompt="1"/>
          </p:nvPr>
        </p:nvSpPr>
        <p:spPr>
          <a:xfrm>
            <a:off x="9052331" y="3154680"/>
            <a:ext cx="2545004" cy="365760"/>
          </a:xfrm>
          <a:prstGeom prst="rect">
            <a:avLst/>
          </a:prstGeom>
          <a:noFill/>
          <a:ln/>
        </p:spPr>
        <p:txBody>
          <a:bodyPr wrap="square" rtlCol="0"/>
          <a:lstStyle>
            <a:lvl1pPr marL="0" indent="0" algn="ctr">
              <a:buNone/>
              <a:defRPr lang="en-US" sz="1400" b="1" dirty="0">
                <a:solidFill>
                  <a:srgbClr val="00204D"/>
                </a:solidFill>
                <a:latin typeface="Aptos" pitchFamily="34" charset="0"/>
                <a:ea typeface="Aptos" pitchFamily="34" charset="-122"/>
                <a:cs typeface="Aptos" pitchFamily="34" charset="-120"/>
              </a:defRPr>
            </a:lvl1pPr>
          </a:lstStyle>
          <a:p>
            <a:pPr marL="0" indent="0" algn="ctr">
              <a:buNone/>
            </a:pPr>
            <a:r>
              <a:rPr lang="en-US" sz="1400" b="1" dirty="0">
                <a:solidFill>
                  <a:srgbClr val="00204D"/>
                </a:solidFill>
                <a:latin typeface="Aptos" pitchFamily="34" charset="0"/>
                <a:ea typeface="Aptos" pitchFamily="34" charset="-122"/>
                <a:cs typeface="Aptos" pitchFamily="34" charset="-120"/>
              </a:rPr>
              <a:t>Step name</a:t>
            </a:r>
            <a:endParaRPr lang="en-US" sz="1400" dirty="0"/>
          </a:p>
        </p:txBody>
      </p:sp>
      <p:sp>
        <p:nvSpPr>
          <p:cNvPr id="15" name="Text 1"/>
          <p:cNvSpPr>
            <a:spLocks noGrp="1"/>
          </p:cNvSpPr>
          <p:nvPr>
            <p:ph type="body" idx="113" hasCustomPrompt="1"/>
          </p:nvPr>
        </p:nvSpPr>
        <p:spPr>
          <a:xfrm>
            <a:off x="9052331" y="3566160"/>
            <a:ext cx="2545004" cy="731520"/>
          </a:xfrm>
          <a:prstGeom prst="rect">
            <a:avLst/>
          </a:prstGeom>
          <a:noFill/>
          <a:ln/>
        </p:spPr>
        <p:txBody>
          <a:bodyPr wrap="square" rtlCol="0"/>
          <a:lstStyle>
            <a:lvl1pPr marL="0" indent="0" algn="ctr">
              <a:lnSpc>
                <a:spcPct val="130000"/>
              </a:lnSpc>
              <a:buNone/>
              <a:defRPr lang="en-US" sz="1100" dirty="0">
                <a:solidFill>
                  <a:srgbClr val="6E7B8C"/>
                </a:solidFill>
                <a:latin typeface="Aptos" pitchFamily="34" charset="0"/>
                <a:ea typeface="Aptos" pitchFamily="34" charset="-122"/>
                <a:cs typeface="Aptos" pitchFamily="34" charset="-120"/>
              </a:defRPr>
            </a:lvl1pPr>
          </a:lstStyle>
          <a:p>
            <a:pPr marL="0" indent="0" algn="ctr">
              <a:lnSpc>
                <a:spcPct val="130000"/>
              </a:lnSpc>
              <a:buNone/>
            </a:pPr>
            <a:r>
              <a:rPr lang="en-US" sz="1100" dirty="0">
                <a:solidFill>
                  <a:srgbClr val="6E7B8C"/>
                </a:solidFill>
                <a:latin typeface="Aptos" pitchFamily="34" charset="0"/>
                <a:ea typeface="Aptos" pitchFamily="34" charset="-122"/>
                <a:cs typeface="Aptos" pitchFamily="34" charset="-120"/>
              </a:rPr>
              <a:t>Short description of this step.</a:t>
            </a:r>
            <a:endParaRPr lang="en-US" sz="1100" dirty="0"/>
          </a:p>
        </p:txBody>
      </p:sp>
      <p:sp>
        <p:nvSpPr>
          <p:cNvPr id="16" name="Text 1"/>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Slide title</a:t>
            </a:r>
            <a:endParaRPr lang="en-US" sz="3200" dirty="0"/>
          </a:p>
        </p:txBody>
      </p:sp>
      <p:sp>
        <p:nvSpPr>
          <p:cNvPr id="3"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s">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Partners</a:t>
            </a:r>
            <a:endParaRPr lang="en-US" sz="3200" dirty="0"/>
          </a:p>
        </p:txBody>
      </p:sp>
      <p:sp>
        <p:nvSpPr>
          <p:cNvPr id="3" name="RoundCard"/>
          <p:cNvSpPr>
            <a:spLocks noGrp="1"/>
          </p:cNvSpPr>
          <p:nvPr>
            <p:ph type="body" idx="101" hasCustomPrompt="1"/>
          </p:nvPr>
        </p:nvSpPr>
        <p:spPr>
          <a:xfrm>
            <a:off x="457200" y="3291840"/>
            <a:ext cx="1689049" cy="91440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100" b="1" kern="0" spc="100" dirty="0">
                <a:solidFill>
                  <a:srgbClr val="6E7B8C"/>
                </a:solidFill>
                <a:latin typeface="Aptos" pitchFamily="34" charset="0"/>
                <a:ea typeface="Aptos" pitchFamily="34" charset="-122"/>
                <a:cs typeface="Aptos" pitchFamily="34" charset="-120"/>
              </a:defRPr>
            </a:lvl1pPr>
          </a:lstStyle>
          <a:p>
            <a:pPr marL="0" indent="0" algn="ctr">
              <a:buNone/>
            </a:pPr>
            <a:r>
              <a:rPr lang="en-US" sz="1100" b="1" kern="0" spc="100" dirty="0">
                <a:solidFill>
                  <a:srgbClr val="6E7B8C"/>
                </a:solidFill>
                <a:latin typeface="Aptos" pitchFamily="34" charset="0"/>
                <a:ea typeface="Aptos" pitchFamily="34" charset="-122"/>
                <a:cs typeface="Aptos" pitchFamily="34" charset="-120"/>
              </a:rPr>
              <a:t>LOGO</a:t>
            </a:r>
            <a:endParaRPr lang="en-US" sz="1100" dirty="0"/>
          </a:p>
        </p:txBody>
      </p:sp>
      <p:sp>
        <p:nvSpPr>
          <p:cNvPr id="4" name="RoundCard"/>
          <p:cNvSpPr>
            <a:spLocks noGrp="1"/>
          </p:cNvSpPr>
          <p:nvPr>
            <p:ph type="body" idx="102" hasCustomPrompt="1"/>
          </p:nvPr>
        </p:nvSpPr>
        <p:spPr>
          <a:xfrm>
            <a:off x="2374849" y="3291840"/>
            <a:ext cx="1689049" cy="91440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100" b="1" kern="0" spc="100" dirty="0">
                <a:solidFill>
                  <a:srgbClr val="6E7B8C"/>
                </a:solidFill>
                <a:latin typeface="Aptos" pitchFamily="34" charset="0"/>
                <a:ea typeface="Aptos" pitchFamily="34" charset="-122"/>
                <a:cs typeface="Aptos" pitchFamily="34" charset="-120"/>
              </a:defRPr>
            </a:lvl1pPr>
          </a:lstStyle>
          <a:p>
            <a:pPr marL="0" indent="0" algn="ctr">
              <a:buNone/>
            </a:pPr>
            <a:r>
              <a:rPr lang="en-US" sz="1100" b="1" kern="0" spc="100" dirty="0">
                <a:solidFill>
                  <a:srgbClr val="6E7B8C"/>
                </a:solidFill>
                <a:latin typeface="Aptos" pitchFamily="34" charset="0"/>
                <a:ea typeface="Aptos" pitchFamily="34" charset="-122"/>
                <a:cs typeface="Aptos" pitchFamily="34" charset="-120"/>
              </a:rPr>
              <a:t>LOGO</a:t>
            </a:r>
            <a:endParaRPr lang="en-US" sz="1100" dirty="0"/>
          </a:p>
        </p:txBody>
      </p:sp>
      <p:sp>
        <p:nvSpPr>
          <p:cNvPr id="5" name="RoundCard"/>
          <p:cNvSpPr>
            <a:spLocks noGrp="1"/>
          </p:cNvSpPr>
          <p:nvPr>
            <p:ph type="body" idx="103" hasCustomPrompt="1"/>
          </p:nvPr>
        </p:nvSpPr>
        <p:spPr>
          <a:xfrm>
            <a:off x="4292498" y="3291840"/>
            <a:ext cx="1689049" cy="91440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100" b="1" kern="0" spc="100" dirty="0">
                <a:solidFill>
                  <a:srgbClr val="6E7B8C"/>
                </a:solidFill>
                <a:latin typeface="Aptos" pitchFamily="34" charset="0"/>
                <a:ea typeface="Aptos" pitchFamily="34" charset="-122"/>
                <a:cs typeface="Aptos" pitchFamily="34" charset="-120"/>
              </a:defRPr>
            </a:lvl1pPr>
          </a:lstStyle>
          <a:p>
            <a:pPr marL="0" indent="0" algn="ctr">
              <a:buNone/>
            </a:pPr>
            <a:r>
              <a:rPr lang="en-US" sz="1100" b="1" kern="0" spc="100" dirty="0">
                <a:solidFill>
                  <a:srgbClr val="6E7B8C"/>
                </a:solidFill>
                <a:latin typeface="Aptos" pitchFamily="34" charset="0"/>
                <a:ea typeface="Aptos" pitchFamily="34" charset="-122"/>
                <a:cs typeface="Aptos" pitchFamily="34" charset="-120"/>
              </a:rPr>
              <a:t>LOGO</a:t>
            </a:r>
            <a:endParaRPr lang="en-US" sz="1100" dirty="0"/>
          </a:p>
        </p:txBody>
      </p:sp>
      <p:sp>
        <p:nvSpPr>
          <p:cNvPr id="6" name="RoundCard"/>
          <p:cNvSpPr>
            <a:spLocks noGrp="1"/>
          </p:cNvSpPr>
          <p:nvPr>
            <p:ph type="body" idx="104" hasCustomPrompt="1"/>
          </p:nvPr>
        </p:nvSpPr>
        <p:spPr>
          <a:xfrm>
            <a:off x="6210148" y="3291840"/>
            <a:ext cx="1689049" cy="91440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100" b="1" kern="0" spc="100" dirty="0">
                <a:solidFill>
                  <a:srgbClr val="6E7B8C"/>
                </a:solidFill>
                <a:latin typeface="Aptos" pitchFamily="34" charset="0"/>
                <a:ea typeface="Aptos" pitchFamily="34" charset="-122"/>
                <a:cs typeface="Aptos" pitchFamily="34" charset="-120"/>
              </a:defRPr>
            </a:lvl1pPr>
          </a:lstStyle>
          <a:p>
            <a:pPr marL="0" indent="0" algn="ctr">
              <a:buNone/>
            </a:pPr>
            <a:r>
              <a:rPr lang="en-US" sz="1100" b="1" kern="0" spc="100" dirty="0">
                <a:solidFill>
                  <a:srgbClr val="6E7B8C"/>
                </a:solidFill>
                <a:latin typeface="Aptos" pitchFamily="34" charset="0"/>
                <a:ea typeface="Aptos" pitchFamily="34" charset="-122"/>
                <a:cs typeface="Aptos" pitchFamily="34" charset="-120"/>
              </a:rPr>
              <a:t>LOGO</a:t>
            </a:r>
            <a:endParaRPr lang="en-US" sz="1100" dirty="0"/>
          </a:p>
        </p:txBody>
      </p:sp>
      <p:sp>
        <p:nvSpPr>
          <p:cNvPr id="7" name="RoundCard"/>
          <p:cNvSpPr>
            <a:spLocks noGrp="1"/>
          </p:cNvSpPr>
          <p:nvPr>
            <p:ph type="body" idx="105" hasCustomPrompt="1"/>
          </p:nvPr>
        </p:nvSpPr>
        <p:spPr>
          <a:xfrm>
            <a:off x="8127797" y="3291840"/>
            <a:ext cx="1689049" cy="91440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100" b="1" kern="0" spc="100" dirty="0">
                <a:solidFill>
                  <a:srgbClr val="6E7B8C"/>
                </a:solidFill>
                <a:latin typeface="Aptos" pitchFamily="34" charset="0"/>
                <a:ea typeface="Aptos" pitchFamily="34" charset="-122"/>
                <a:cs typeface="Aptos" pitchFamily="34" charset="-120"/>
              </a:defRPr>
            </a:lvl1pPr>
          </a:lstStyle>
          <a:p>
            <a:pPr marL="0" indent="0" algn="ctr">
              <a:buNone/>
            </a:pPr>
            <a:r>
              <a:rPr lang="en-US" sz="1100" b="1" kern="0" spc="100" dirty="0">
                <a:solidFill>
                  <a:srgbClr val="6E7B8C"/>
                </a:solidFill>
                <a:latin typeface="Aptos" pitchFamily="34" charset="0"/>
                <a:ea typeface="Aptos" pitchFamily="34" charset="-122"/>
                <a:cs typeface="Aptos" pitchFamily="34" charset="-120"/>
              </a:rPr>
              <a:t>LOGO</a:t>
            </a:r>
            <a:endParaRPr lang="en-US" sz="1100" dirty="0"/>
          </a:p>
        </p:txBody>
      </p:sp>
      <p:sp>
        <p:nvSpPr>
          <p:cNvPr id="8" name="RoundCard"/>
          <p:cNvSpPr>
            <a:spLocks noGrp="1"/>
          </p:cNvSpPr>
          <p:nvPr>
            <p:ph type="body" idx="106" hasCustomPrompt="1"/>
          </p:nvPr>
        </p:nvSpPr>
        <p:spPr>
          <a:xfrm>
            <a:off x="10045446" y="3291840"/>
            <a:ext cx="1689049" cy="914400"/>
          </a:xfrm>
          <a:prstGeom prst="roundRect">
            <a:avLst>
              <a:gd name="adj" fmla="val 3000"/>
            </a:avLst>
          </a:prstGeom>
          <a:solidFill>
            <a:srgbClr val="F2F6FC"/>
          </a:solidFill>
          <a:ln w="12700">
            <a:solidFill>
              <a:srgbClr val="DCE3EE"/>
            </a:solidFill>
          </a:ln>
        </p:spPr>
        <p:txBody>
          <a:bodyPr wrap="square" lIns="347472" tIns="274320" rIns="347472" bIns="274320" rtlCol="0"/>
          <a:lstStyle>
            <a:lvl1pPr marL="0" indent="0" algn="ctr">
              <a:buNone/>
              <a:defRPr lang="en-US" sz="1100" b="1" kern="0" spc="100" dirty="0">
                <a:solidFill>
                  <a:srgbClr val="6E7B8C"/>
                </a:solidFill>
                <a:latin typeface="Aptos" pitchFamily="34" charset="0"/>
                <a:ea typeface="Aptos" pitchFamily="34" charset="-122"/>
                <a:cs typeface="Aptos" pitchFamily="34" charset="-120"/>
              </a:defRPr>
            </a:lvl1pPr>
          </a:lstStyle>
          <a:p>
            <a:pPr marL="0" indent="0" algn="ctr">
              <a:buNone/>
            </a:pPr>
            <a:r>
              <a:rPr lang="en-US" sz="1100" b="1" kern="0" spc="100" dirty="0">
                <a:solidFill>
                  <a:srgbClr val="6E7B8C"/>
                </a:solidFill>
                <a:latin typeface="Aptos" pitchFamily="34" charset="0"/>
                <a:ea typeface="Aptos" pitchFamily="34" charset="-122"/>
                <a:cs typeface="Aptos" pitchFamily="34" charset="-120"/>
              </a:rPr>
              <a:t>LOGO</a:t>
            </a:r>
            <a:endParaRPr lang="en-US" sz="1100" dirty="0"/>
          </a:p>
        </p:txBody>
      </p:sp>
      <p:sp>
        <p:nvSpPr>
          <p:cNvPr id="9"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1005840" y="1737360"/>
            <a:ext cx="10149840" cy="2468880"/>
          </a:xfrm>
          <a:prstGeom prst="rect">
            <a:avLst/>
          </a:prstGeom>
          <a:noFill/>
          <a:ln/>
        </p:spPr>
        <p:txBody>
          <a:bodyPr wrap="square" rtlCol="0"/>
          <a:lstStyle>
            <a:lvl1pPr marL="0" indent="0" algn="l">
              <a:buNone/>
              <a:defRPr lang="en-US" sz="3200" i="1" kern="0" spc="-50" dirty="0">
                <a:solidFill>
                  <a:srgbClr val="FFFFFF"/>
                </a:solidFill>
                <a:latin typeface="Aptos" pitchFamily="34" charset="0"/>
                <a:ea typeface="Aptos" pitchFamily="34" charset="-122"/>
                <a:cs typeface="Aptos" pitchFamily="34" charset="-120"/>
              </a:defRPr>
            </a:lvl1pPr>
          </a:lstStyle>
          <a:p>
            <a:pPr marL="0" indent="0" algn="l">
              <a:buNone/>
            </a:pPr>
            <a:r>
              <a:rPr lang="en-US" sz="3200" i="1" kern="0" spc="-50" dirty="0">
                <a:solidFill>
                  <a:srgbClr val="FFFFFF"/>
                </a:solidFill>
                <a:latin typeface="Aptos" pitchFamily="34" charset="0"/>
                <a:ea typeface="Aptos" pitchFamily="34" charset="-122"/>
                <a:cs typeface="Aptos" pitchFamily="34" charset="-120"/>
              </a:rPr>
              <a:t>“Replace this with an impactful quote that captures the key message.”</a:t>
            </a:r>
            <a:endParaRPr lang="en-US" sz="3200" dirty="0"/>
          </a:p>
        </p:txBody>
      </p:sp>
      <p:sp>
        <p:nvSpPr>
          <p:cNvPr id="3" name="Text 0"/>
          <p:cNvSpPr>
            <a:spLocks noGrp="1"/>
          </p:cNvSpPr>
          <p:nvPr>
            <p:ph type="body" idx="101" hasCustomPrompt="1"/>
          </p:nvPr>
        </p:nvSpPr>
        <p:spPr>
          <a:xfrm>
            <a:off x="1005840" y="4480560"/>
            <a:ext cx="7315200" cy="457200"/>
          </a:xfrm>
          <a:prstGeom prst="rect">
            <a:avLst/>
          </a:prstGeom>
          <a:noFill/>
          <a:ln/>
        </p:spPr>
        <p:txBody>
          <a:bodyPr wrap="square" rtlCol="0"/>
          <a:lstStyle>
            <a:lvl1pPr marL="0" indent="0" algn="l">
              <a:buNone/>
              <a:defRPr lang="en-US" sz="1500" b="1" dirty="0">
                <a:solidFill>
                  <a:srgbClr val="6BA5F0"/>
                </a:solidFill>
                <a:latin typeface="Aptos" pitchFamily="34" charset="0"/>
                <a:ea typeface="Aptos" pitchFamily="34" charset="-122"/>
                <a:cs typeface="Aptos" pitchFamily="34" charset="-120"/>
              </a:defRPr>
            </a:lvl1pPr>
          </a:lstStyle>
          <a:p>
            <a:pPr marL="0" indent="0" algn="l">
              <a:buNone/>
            </a:pPr>
            <a:r>
              <a:rPr lang="en-US" sz="1500" b="1" dirty="0">
                <a:solidFill>
                  <a:srgbClr val="6BA5F0"/>
                </a:solidFill>
                <a:latin typeface="Aptos" pitchFamily="34" charset="0"/>
                <a:ea typeface="Aptos" pitchFamily="34" charset="-122"/>
                <a:cs typeface="Aptos" pitchFamily="34" charset="-120"/>
              </a:rPr>
              <a:t>Name, Title, Company</a:t>
            </a:r>
            <a:endParaRPr lang="en-US" sz="1500" dirty="0"/>
          </a:p>
        </p:txBody>
      </p:sp>
      <p:sp>
        <p:nvSpPr>
          <p:cNvPr id="4"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A9BEDD"/>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A9BEDD"/>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able or Char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594360"/>
            <a:ext cx="9692640" cy="777240"/>
          </a:xfrm>
          <a:prstGeom prst="rect">
            <a:avLst/>
          </a:prstGeom>
          <a:noFill/>
          <a:ln/>
        </p:spPr>
        <p:txBody>
          <a:bodyPr wrap="square" rtlCol="0"/>
          <a:lstStyle>
            <a:lvl1pPr marL="0" indent="0" algn="l">
              <a:buNone/>
              <a:defRPr lang="en-US" sz="3200" b="1" kern="0" spc="-50" dirty="0">
                <a:solidFill>
                  <a:srgbClr val="00204D"/>
                </a:solidFill>
                <a:latin typeface="Aptos" pitchFamily="34" charset="0"/>
                <a:ea typeface="Aptos" pitchFamily="34" charset="-122"/>
                <a:cs typeface="Aptos" pitchFamily="34" charset="-120"/>
              </a:defRPr>
            </a:lvl1pPr>
          </a:lstStyle>
          <a:p>
            <a:pPr marL="0" indent="0" algn="l">
              <a:buNone/>
            </a:pPr>
            <a:r>
              <a:rPr lang="en-US" sz="3200" b="1" kern="0" spc="-50" dirty="0">
                <a:solidFill>
                  <a:srgbClr val="00204D"/>
                </a:solidFill>
                <a:latin typeface="Aptos" pitchFamily="34" charset="0"/>
                <a:ea typeface="Aptos" pitchFamily="34" charset="-122"/>
                <a:cs typeface="Aptos" pitchFamily="34" charset="-120"/>
              </a:rPr>
              <a:t>Data / results</a:t>
            </a:r>
            <a:endParaRPr lang="en-US" sz="3200" dirty="0"/>
          </a:p>
        </p:txBody>
      </p:sp>
      <p:sp>
        <p:nvSpPr>
          <p:cNvPr id="3" name="Text 0"/>
          <p:cNvSpPr>
            <a:spLocks noGrp="1"/>
          </p:cNvSpPr>
          <p:nvPr>
            <p:ph type="body" idx="101" hasCustomPrompt="1"/>
          </p:nvPr>
        </p:nvSpPr>
        <p:spPr>
          <a:xfrm>
            <a:off x="457200" y="1554480"/>
            <a:ext cx="11277295" cy="4434840"/>
          </a:xfrm>
          <a:prstGeom prst="rect">
            <a:avLst/>
          </a:prstGeom>
          <a:noFill/>
          <a:ln/>
        </p:spPr>
        <p:txBody>
          <a:bodyPr wrap="square" rtlCol="0"/>
          <a:lstStyle>
            <a:lvl1pPr marL="0" indent="0" algn="ctr">
              <a:buNone/>
              <a:defRPr lang="en-US" sz="1400" b="1" kern="0" spc="150" dirty="0">
                <a:solidFill>
                  <a:srgbClr val="6E7B8C"/>
                </a:solidFill>
                <a:latin typeface="Aptos" pitchFamily="34" charset="0"/>
                <a:ea typeface="Aptos" pitchFamily="34" charset="-122"/>
                <a:cs typeface="Aptos" pitchFamily="34" charset="-120"/>
              </a:defRPr>
            </a:lvl1pPr>
          </a:lstStyle>
          <a:p>
            <a:pPr marL="0" indent="0" algn="ctr">
              <a:buNone/>
            </a:pPr>
            <a:r>
              <a:rPr lang="en-US" sz="1400" b="1" kern="0" spc="150" dirty="0">
                <a:solidFill>
                  <a:srgbClr val="6E7B8C"/>
                </a:solidFill>
                <a:latin typeface="Aptos" pitchFamily="34" charset="0"/>
                <a:ea typeface="Aptos" pitchFamily="34" charset="-122"/>
                <a:cs typeface="Aptos" pitchFamily="34" charset="-120"/>
              </a:rPr>
              <a:t>TABLE / CHART AREA</a:t>
            </a:r>
            <a:endParaRPr lang="en-US" sz="1400" dirty="0"/>
          </a:p>
        </p:txBody>
      </p:sp>
      <p:sp>
        <p:nvSpPr>
          <p:cNvPr id="4"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6E7B8C"/>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6E7B8C"/>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920240"/>
            <a:ext cx="9144000" cy="1188720"/>
          </a:xfrm>
          <a:prstGeom prst="rect">
            <a:avLst/>
          </a:prstGeom>
          <a:noFill/>
          <a:ln/>
        </p:spPr>
        <p:txBody>
          <a:bodyPr wrap="square" rtlCol="0"/>
          <a:lstStyle>
            <a:lvl1pPr marL="0" indent="0" algn="l">
              <a:buNone/>
              <a:defRPr lang="en-US" sz="4600" b="1" kern="0" spc="-100" dirty="0">
                <a:solidFill>
                  <a:srgbClr val="FFFFFF"/>
                </a:solidFill>
                <a:latin typeface="Aptos" pitchFamily="34" charset="0"/>
                <a:ea typeface="Aptos" pitchFamily="34" charset="-122"/>
                <a:cs typeface="Aptos" pitchFamily="34" charset="-120"/>
              </a:defRPr>
            </a:lvl1pPr>
          </a:lstStyle>
          <a:p>
            <a:pPr marL="0" indent="0" algn="l">
              <a:buNone/>
            </a:pPr>
            <a:r>
              <a:rPr lang="en-US" sz="4600" b="1" kern="0" spc="-100" dirty="0">
                <a:solidFill>
                  <a:srgbClr val="FFFFFF"/>
                </a:solidFill>
                <a:latin typeface="Aptos" pitchFamily="34" charset="0"/>
                <a:ea typeface="Aptos" pitchFamily="34" charset="-122"/>
                <a:cs typeface="Aptos" pitchFamily="34" charset="-120"/>
              </a:rPr>
              <a:t>Thank you</a:t>
            </a:r>
            <a:endParaRPr lang="en-US" sz="4600" dirty="0"/>
          </a:p>
        </p:txBody>
      </p:sp>
      <p:sp>
        <p:nvSpPr>
          <p:cNvPr id="3" name="Text 0"/>
          <p:cNvSpPr>
            <a:spLocks noGrp="1"/>
          </p:cNvSpPr>
          <p:nvPr>
            <p:ph type="body" idx="101" hasCustomPrompt="1"/>
          </p:nvPr>
        </p:nvSpPr>
        <p:spPr>
          <a:xfrm>
            <a:off x="457200" y="3429000"/>
            <a:ext cx="7315200" cy="1188720"/>
          </a:xfrm>
          <a:prstGeom prst="rect">
            <a:avLst/>
          </a:prstGeom>
          <a:noFill/>
          <a:ln/>
        </p:spPr>
        <p:txBody>
          <a:bodyPr wrap="square" rtlCol="0"/>
          <a:lstStyle>
            <a:lvl1pPr marL="0" indent="0" algn="l">
              <a:lnSpc>
                <a:spcPct val="150000"/>
              </a:lnSpc>
              <a:buNone/>
              <a:defRPr lang="en-US" sz="1500" dirty="0">
                <a:solidFill>
                  <a:srgbClr val="E6EFFA"/>
                </a:solidFill>
                <a:latin typeface="Aptos" pitchFamily="34" charset="0"/>
                <a:ea typeface="Aptos" pitchFamily="34" charset="-122"/>
                <a:cs typeface="Aptos" pitchFamily="34" charset="-120"/>
              </a:defRPr>
            </a:lvl1pPr>
          </a:lstStyle>
          <a:p>
            <a:pPr marL="0" indent="0" algn="l">
              <a:lnSpc>
                <a:spcPct val="150000"/>
              </a:lnSpc>
              <a:buNone/>
            </a:pPr>
            <a:r>
              <a:rPr lang="en-US" sz="1500" dirty="0">
                <a:solidFill>
                  <a:srgbClr val="E6EFFA"/>
                </a:solidFill>
                <a:latin typeface="Aptos" pitchFamily="34" charset="0"/>
                <a:ea typeface="Aptos" pitchFamily="34" charset="-122"/>
                <a:cs typeface="Aptos" pitchFamily="34" charset="-120"/>
              </a:rPr>
              <a:t>Name</a:t>
            </a:r>
            <a:endParaRPr lang="en-US" sz="1500" dirty="0"/>
          </a:p>
          <a:p>
            <a:pPr marL="0" indent="0" algn="l">
              <a:lnSpc>
                <a:spcPct val="150000"/>
              </a:lnSpc>
              <a:buNone/>
            </a:pPr>
            <a:r>
              <a:rPr lang="en-US" sz="1500" dirty="0">
                <a:solidFill>
                  <a:srgbClr val="E6EFFA"/>
                </a:solidFill>
                <a:latin typeface="Aptos" pitchFamily="34" charset="0"/>
                <a:ea typeface="Aptos" pitchFamily="34" charset="-122"/>
                <a:cs typeface="Aptos" pitchFamily="34" charset="-120"/>
              </a:rPr>
              <a:t>email@company.com</a:t>
            </a:r>
            <a:endParaRPr lang="en-US" sz="1500" dirty="0"/>
          </a:p>
          <a:p>
            <a:pPr marL="0" indent="0" algn="l">
              <a:lnSpc>
                <a:spcPct val="150000"/>
              </a:lnSpc>
              <a:buNone/>
            </a:pPr>
            <a:r>
              <a:rPr lang="en-US" sz="1500" dirty="0">
                <a:solidFill>
                  <a:srgbClr val="E6EFFA"/>
                </a:solidFill>
                <a:latin typeface="Aptos" pitchFamily="34" charset="0"/>
                <a:ea typeface="Aptos" pitchFamily="34" charset="-122"/>
                <a:cs typeface="Aptos" pitchFamily="34" charset="-120"/>
              </a:rPr>
              <a:t>website.com</a:t>
            </a:r>
            <a:endParaRPr lang="en-US" sz="1500" dirty="0"/>
          </a:p>
        </p:txBody>
      </p:sp>
      <p:sp>
        <p:nvSpPr>
          <p:cNvPr id="4" name="Text 0"/>
          <p:cNvSpPr/>
          <p:nvPr/>
        </p:nvSpPr>
        <p:spPr>
          <a:xfrm>
            <a:off x="457200" y="6327648"/>
            <a:ext cx="3657600" cy="274320"/>
          </a:xfrm>
          <a:prstGeom prst="rect">
            <a:avLst/>
          </a:prstGeom>
          <a:noFill/>
          <a:ln/>
        </p:spPr>
        <p:txBody>
          <a:bodyPr wrap="square" rtlCol="0" anchor="ctr"/>
          <a:lstStyle/>
          <a:p>
            <a:pPr marL="0" indent="0" algn="l">
              <a:buNone/>
            </a:pPr>
            <a:r>
              <a:rPr lang="en-US" sz="1000" b="1" dirty="0">
                <a:solidFill>
                  <a:srgbClr val="A9BEDD"/>
                </a:solidFill>
                <a:latin typeface="Aptos" pitchFamily="34" charset="0"/>
                <a:ea typeface="Aptos" pitchFamily="34" charset="-122"/>
                <a:cs typeface="Aptos" pitchFamily="34" charset="-120"/>
              </a:rPr>
              <a:t>Constructor Fabric</a:t>
            </a:r>
            <a:endParaRPr lang="en-US" sz="1000" dirty="0"/>
          </a:p>
        </p:txBody>
      </p:sp>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A9BEDD"/>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01 · Cover">
    <p:bg>
      <p:bgPr>
        <a:solidFill>
          <a:srgbClr val="00183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1695" cy="6858000"/>
          </a:xfrm>
          <a:prstGeom prst="rect">
            <a:avLst/>
          </a:prstGeom>
        </p:spPr>
      </p:pic>
      <p:sp>
        <p:nvSpPr>
          <p:cNvPr id="3" name="Text 0"/>
          <p:cNvSpPr/>
          <p:nvPr/>
        </p:nvSpPr>
        <p:spPr>
          <a:xfrm>
            <a:off x="658368" y="512064"/>
            <a:ext cx="2743200" cy="292608"/>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Constructor Fabric</a:t>
            </a:r>
            <a:endParaRPr lang="en-US" sz="1400" dirty="0"/>
          </a:p>
        </p:txBody>
      </p:sp>
      <p:sp>
        <p:nvSpPr>
          <p:cNvPr id="4" name="Text 1"/>
          <p:cNvSpPr>
            <a:spLocks noGrp="1"/>
          </p:cNvSpPr>
          <p:nvPr>
            <p:ph type="title" idx="102" hasCustomPrompt="1"/>
          </p:nvPr>
        </p:nvSpPr>
        <p:spPr>
          <a:xfrm>
            <a:off x="658368" y="1389888"/>
            <a:ext cx="9509760" cy="1755648"/>
          </a:xfrm>
          <a:prstGeom prst="rect">
            <a:avLst/>
          </a:prstGeom>
          <a:noFill/>
          <a:ln/>
        </p:spPr>
        <p:txBody>
          <a:bodyPr wrap="square" rtlCol="0"/>
          <a:lstStyle>
            <a:lvl1pPr marL="0" indent="0" algn="l">
              <a:buNone/>
              <a:defRPr lang="en-US" sz="5000" b="1" dirty="0">
                <a:solidFill>
                  <a:srgbClr val="FFFFFF"/>
                </a:solidFill>
                <a:latin typeface="Arial" pitchFamily="34" charset="0"/>
                <a:ea typeface="Arial" pitchFamily="34" charset="-122"/>
                <a:cs typeface="Arial" pitchFamily="34" charset="-120"/>
              </a:defRPr>
            </a:lvl1pPr>
          </a:lstStyle>
          <a:p>
            <a:pPr marL="0" indent="0" algn="l">
              <a:buNone/>
            </a:pPr>
            <a:endParaRPr lang="en-US" sz="5000" dirty="0"/>
          </a:p>
        </p:txBody>
      </p:sp>
      <p:sp>
        <p:nvSpPr>
          <p:cNvPr id="5" name="Text 1"/>
          <p:cNvSpPr>
            <a:spLocks noGrp="1"/>
          </p:cNvSpPr>
          <p:nvPr>
            <p:ph type="body" idx="103" hasCustomPrompt="1"/>
          </p:nvPr>
        </p:nvSpPr>
        <p:spPr>
          <a:xfrm>
            <a:off x="685800" y="3401568"/>
            <a:ext cx="7772400" cy="822960"/>
          </a:xfrm>
          <a:prstGeom prst="rect">
            <a:avLst/>
          </a:prstGeom>
          <a:noFill/>
          <a:ln/>
        </p:spPr>
        <p:txBody>
          <a:bodyPr wrap="square" rtlCol="0"/>
          <a:lstStyle>
            <a:lvl1pPr marL="0" indent="0">
              <a:buNone/>
              <a:defRPr lang="en-US" sz="1900" dirty="0">
                <a:solidFill>
                  <a:srgbClr val="6BA5F0"/>
                </a:solidFill>
                <a:latin typeface="Arial" pitchFamily="34" charset="0"/>
                <a:ea typeface="Arial" pitchFamily="34" charset="-122"/>
                <a:cs typeface="Arial" pitchFamily="34" charset="-120"/>
              </a:defRPr>
            </a:lvl1pPr>
          </a:lstStyle>
          <a:p>
            <a:pPr marL="0" indent="0">
              <a:buNone/>
            </a:pPr>
            <a:endParaRPr lang="en-US" sz="1900" dirty="0"/>
          </a:p>
        </p:txBody>
      </p:sp>
      <p:sp>
        <p:nvSpPr>
          <p:cNvPr id="6" name="Text 1"/>
          <p:cNvSpPr>
            <a:spLocks noGrp="1"/>
          </p:cNvSpPr>
          <p:nvPr>
            <p:ph type="body" idx="104" hasCustomPrompt="1"/>
          </p:nvPr>
        </p:nvSpPr>
        <p:spPr>
          <a:xfrm>
            <a:off x="685800" y="5797296"/>
            <a:ext cx="3749040" cy="292608"/>
          </a:xfrm>
          <a:prstGeom prst="rect">
            <a:avLst/>
          </a:prstGeom>
          <a:noFill/>
          <a:ln/>
        </p:spPr>
        <p:txBody>
          <a:bodyPr wrap="square" rtlCol="0"/>
          <a:lstStyle>
            <a:lvl1pPr marL="0" indent="0">
              <a:buNone/>
              <a:defRPr lang="en-US" sz="1250" b="1" dirty="0">
                <a:solidFill>
                  <a:srgbClr val="FFFFFF"/>
                </a:solidFill>
                <a:latin typeface="Arial" pitchFamily="34" charset="0"/>
                <a:ea typeface="Arial" pitchFamily="34" charset="-122"/>
                <a:cs typeface="Arial" pitchFamily="34" charset="-120"/>
              </a:defRPr>
            </a:lvl1pPr>
          </a:lstStyle>
          <a:p>
            <a:pPr marL="0" indent="0">
              <a:buNone/>
            </a:pPr>
            <a:endParaRPr lang="en-US" sz="1250" dirty="0"/>
          </a:p>
        </p:txBody>
      </p:sp>
      <p:sp>
        <p:nvSpPr>
          <p:cNvPr id="7" name="Text 1"/>
          <p:cNvSpPr>
            <a:spLocks noGrp="1"/>
          </p:cNvSpPr>
          <p:nvPr>
            <p:ph type="body" idx="105" hasCustomPrompt="1"/>
          </p:nvPr>
        </p:nvSpPr>
        <p:spPr>
          <a:xfrm>
            <a:off x="685800" y="6144768"/>
            <a:ext cx="3749040" cy="256032"/>
          </a:xfrm>
          <a:prstGeom prst="rect">
            <a:avLst/>
          </a:prstGeom>
          <a:noFill/>
          <a:ln/>
        </p:spPr>
        <p:txBody>
          <a:bodyPr wrap="square" rtlCol="0"/>
          <a:lstStyle>
            <a:lvl1pPr marL="0" indent="0">
              <a:buNone/>
              <a:defRPr lang="en-US" sz="1150" dirty="0">
                <a:solidFill>
                  <a:srgbClr val="6BA5F0"/>
                </a:solidFill>
                <a:latin typeface="Arial" pitchFamily="34" charset="0"/>
                <a:ea typeface="Arial" pitchFamily="34" charset="-122"/>
                <a:cs typeface="Arial" pitchFamily="34" charset="-120"/>
              </a:defRPr>
            </a:lvl1pPr>
          </a:lstStyle>
          <a:p>
            <a:pPr marL="0" indent="0">
              <a:buNone/>
            </a:pPr>
            <a:endParaRPr lang="en-US" sz="1150" dirty="0"/>
          </a:p>
        </p:txBody>
      </p:sp>
    </p:spTree>
    <p:extLst>
      <p:ext uri="{BB962C8B-B14F-4D97-AF65-F5344CB8AC3E}">
        <p14:creationId xmlns:p14="http://schemas.microsoft.com/office/powerpoint/2010/main" val="6040220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03 · Section divider">
    <p:bg>
      <p:bgPr>
        <a:solidFill>
          <a:srgbClr val="00183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12191695" cy="6858000"/>
          </a:xfrm>
          <a:prstGeom prst="rect">
            <a:avLst/>
          </a:prstGeom>
        </p:spPr>
      </p:pic>
      <p:sp>
        <p:nvSpPr>
          <p:cNvPr id="3" name="Text 0"/>
          <p:cNvSpPr>
            <a:spLocks noGrp="1"/>
          </p:cNvSpPr>
          <p:nvPr>
            <p:ph type="title" idx="101" hasCustomPrompt="1"/>
          </p:nvPr>
        </p:nvSpPr>
        <p:spPr>
          <a:xfrm>
            <a:off x="777240" y="1901952"/>
            <a:ext cx="8778240" cy="987552"/>
          </a:xfrm>
          <a:prstGeom prst="rect">
            <a:avLst/>
          </a:prstGeom>
          <a:noFill/>
          <a:ln/>
        </p:spPr>
        <p:txBody>
          <a:bodyPr wrap="square" rtlCol="0"/>
          <a:lstStyle>
            <a:lvl1pPr marL="0" indent="0" algn="l">
              <a:buNone/>
              <a:defRPr lang="en-US" sz="3900" b="1" dirty="0">
                <a:solidFill>
                  <a:srgbClr val="FFFFFF"/>
                </a:solidFill>
                <a:latin typeface="Arial" pitchFamily="34" charset="0"/>
                <a:ea typeface="Arial" pitchFamily="34" charset="-122"/>
                <a:cs typeface="Arial" pitchFamily="34" charset="-120"/>
              </a:defRPr>
            </a:lvl1pPr>
          </a:lstStyle>
          <a:p>
            <a:pPr marL="0" indent="0" algn="l">
              <a:buNone/>
            </a:pPr>
            <a:endParaRPr lang="en-US" sz="3900" dirty="0"/>
          </a:p>
        </p:txBody>
      </p:sp>
      <p:sp>
        <p:nvSpPr>
          <p:cNvPr id="4" name="Text 0"/>
          <p:cNvSpPr>
            <a:spLocks noGrp="1"/>
          </p:cNvSpPr>
          <p:nvPr>
            <p:ph type="body" idx="102" hasCustomPrompt="1"/>
          </p:nvPr>
        </p:nvSpPr>
        <p:spPr>
          <a:xfrm>
            <a:off x="804672" y="3127248"/>
            <a:ext cx="7498080" cy="914400"/>
          </a:xfrm>
          <a:prstGeom prst="rect">
            <a:avLst/>
          </a:prstGeom>
          <a:noFill/>
          <a:ln/>
        </p:spPr>
        <p:txBody>
          <a:bodyPr wrap="square" rtlCol="0"/>
          <a:lstStyle>
            <a:lvl1pPr marL="0" indent="0">
              <a:buNone/>
              <a:defRPr lang="en-US" sz="1800" dirty="0">
                <a:solidFill>
                  <a:srgbClr val="6BA5F0"/>
                </a:solidFill>
                <a:latin typeface="Arial" pitchFamily="34" charset="0"/>
                <a:ea typeface="Arial" pitchFamily="34" charset="-122"/>
                <a:cs typeface="Arial" pitchFamily="34" charset="-120"/>
              </a:defRPr>
            </a:lvl1pPr>
          </a:lstStyle>
          <a:p>
            <a:pPr marL="0" indent="0">
              <a:buNone/>
            </a:pPr>
            <a:endParaRPr lang="en-US" sz="1800" dirty="0"/>
          </a:p>
        </p:txBody>
      </p:sp>
      <p:sp>
        <p:nvSpPr>
          <p:cNvPr id="5" name="Shape 0"/>
          <p:cNvSpPr/>
          <p:nvPr/>
        </p:nvSpPr>
        <p:spPr>
          <a:xfrm>
            <a:off x="0" y="6419088"/>
            <a:ext cx="12191695" cy="0"/>
          </a:xfrm>
          <a:prstGeom prst="line">
            <a:avLst/>
          </a:prstGeom>
          <a:noFill/>
          <a:ln w="10160">
            <a:solidFill>
              <a:srgbClr val="0A2D63"/>
            </a:solidFill>
            <a:prstDash val="solid"/>
          </a:ln>
        </p:spPr>
        <p:txBody>
          <a:bodyPr/>
          <a:lstStyle/>
          <a:p>
            <a:endParaRPr lang="en-US"/>
          </a:p>
        </p:txBody>
      </p:sp>
      <p:sp>
        <p:nvSpPr>
          <p:cNvPr id="6" name="Text 1"/>
          <p:cNvSpPr/>
          <p:nvPr/>
        </p:nvSpPr>
        <p:spPr>
          <a:xfrm>
            <a:off x="292608" y="6528816"/>
            <a:ext cx="2377440" cy="18288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Constructor Fabric</a:t>
            </a:r>
            <a:endParaRPr lang="en-US" sz="950" dirty="0"/>
          </a:p>
        </p:txBody>
      </p:sp>
      <p:sp>
        <p:nvSpPr>
          <p:cNvPr id="25" name="Slide Number Placeholder 0"/>
          <p:cNvSpPr>
            <a:spLocks noGrp="1"/>
          </p:cNvSpPr>
          <p:nvPr>
            <p:ph type="sldNum" sz="quarter" idx="4294967295"/>
          </p:nvPr>
        </p:nvSpPr>
        <p:spPr>
          <a:xfrm>
            <a:off x="11631168" y="6528816"/>
            <a:ext cx="256032" cy="18288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950">
                <a:solidFill>
                  <a:srgbClr val="FFFFFF"/>
                </a:solidFill>
                <a:latin typeface="Arial"/>
                <a:ea typeface="Arial"/>
                <a:cs typeface="Aria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2461727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E_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rtlCol="0"/>
          <a:lstStyle>
            <a:lvl1pPr marL="0" indent="0" algn="l">
              <a:buNone/>
              <a:defRPr lang="en-US" sz="3200" b="1" dirty="0">
                <a:solidFill>
                  <a:schemeClr val="tx1"/>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rtlCol="0"/>
          <a:lstStyle>
            <a:lvl1pPr marL="0" indent="0">
              <a:buNone/>
              <a:defRPr lang="en-US" sz="1600" dirty="0">
                <a:solidFill>
                  <a:schemeClr val="tx2"/>
                </a:solidFill>
              </a:defRPr>
            </a:lvl1pPr>
          </a:lstStyle>
          <a:p>
            <a:pPr marL="0" indent="0">
              <a:buNone/>
            </a:pPr>
            <a:endParaRPr lang="en-US" sz="1600" dirty="0"/>
          </a:p>
        </p:txBody>
      </p:sp>
      <p:sp>
        <p:nvSpPr>
          <p:cNvPr id="4" name="Text 0"/>
          <p:cNvSpPr/>
          <p:nvPr/>
        </p:nvSpPr>
        <p:spPr>
          <a:xfrm>
            <a:off x="457200" y="6446520"/>
            <a:ext cx="5486400" cy="256032"/>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Task Engine · architecture for developers</a:t>
            </a:r>
            <a:endParaRPr lang="en-US" sz="1000" dirty="0"/>
          </a:p>
        </p:txBody>
      </p:sp>
      <p:sp>
        <p:nvSpPr>
          <p:cNvPr id="25"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282509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27648"/>
            <a:ext cx="548640" cy="274320"/>
          </a:xfrm>
          <a:prstGeom prst="rect">
            <a:avLst/>
          </a:prstGeom>
          <a:extLst>
            <a:ext uri="{C572A759-6A51-4108-AA02-DFA0A04FC94B}">
              <ma14:wrappingTextBoxFlag xmlns:ma14="http://schemas.microsoft.com/office/mac/drawingml/2011/main" xmlns="" val="0"/>
            </a:ext>
          </a:extLst>
        </p:spPr>
        <p:txBody>
          <a:bodyPr anchor="ctr"/>
          <a:lstStyle>
            <a:lvl1pPr>
              <a:defRPr sz="1000">
                <a:solidFill>
                  <a:srgbClr val="A9BEDD"/>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6.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image" Target="../media/image5.png"/><Relationship Id="rId5" Type="http://schemas.openxmlformats.org/officeDocument/2006/relationships/image" Target="../media/image20.png"/><Relationship Id="rId10" Type="http://schemas.openxmlformats.org/officeDocument/2006/relationships/image" Target="../media/image23.png"/><Relationship Id="rId4" Type="http://schemas.openxmlformats.org/officeDocument/2006/relationships/image" Target="../media/image4.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6.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6.xml"/><Relationship Id="rId6" Type="http://schemas.openxmlformats.org/officeDocument/2006/relationships/image" Target="../media/image32.png"/><Relationship Id="rId5" Type="http://schemas.openxmlformats.org/officeDocument/2006/relationships/image" Target="../media/image18.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6.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5.png"/><Relationship Id="rId7"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6.xml"/><Relationship Id="rId6" Type="http://schemas.openxmlformats.org/officeDocument/2006/relationships/image" Target="../media/image35.png"/><Relationship Id="rId5" Type="http://schemas.openxmlformats.org/officeDocument/2006/relationships/image" Target="../media/image22.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6.xml"/><Relationship Id="rId5" Type="http://schemas.openxmlformats.org/officeDocument/2006/relationships/image" Target="../media/image39.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26.xml"/><Relationship Id="rId6" Type="http://schemas.openxmlformats.org/officeDocument/2006/relationships/image" Target="../media/image28.png"/><Relationship Id="rId5" Type="http://schemas.openxmlformats.org/officeDocument/2006/relationships/image" Target="../media/image38.png"/><Relationship Id="rId10" Type="http://schemas.openxmlformats.org/officeDocument/2006/relationships/image" Target="../media/image45.png"/><Relationship Id="rId4" Type="http://schemas.openxmlformats.org/officeDocument/2006/relationships/image" Target="../media/image42.png"/><Relationship Id="rId9" Type="http://schemas.openxmlformats.org/officeDocument/2006/relationships/image" Target="../media/image27.png"/></Relationships>
</file>

<file path=ppt/slides/_rels/slide3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26.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0">
            <a:extLst>
              <a:ext uri="{FF2B5EF4-FFF2-40B4-BE49-F238E27FC236}">
                <a16:creationId xmlns:a16="http://schemas.microsoft.com/office/drawing/2014/main" id="{04D0B046-5E9B-898D-F1ED-586334280ED5}"/>
              </a:ext>
            </a:extLst>
          </p:cNvPr>
          <p:cNvSpPr txBox="1">
            <a:spLocks/>
          </p:cNvSpPr>
          <p:nvPr/>
        </p:nvSpPr>
        <p:spPr>
          <a:xfrm>
            <a:off x="640080" y="2011680"/>
            <a:ext cx="6766560" cy="1097280"/>
          </a:xfrm>
          <a:prstGeom prst="rect">
            <a:avLst/>
          </a:prstGeom>
          <a:noFill/>
          <a:ln/>
        </p:spPr>
        <p:txBody>
          <a:bodyPr wrap="square" lIns="0" tIns="0" rIns="0" bIns="0" rtlCol="0" anchor="b"/>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5400" b="1">
                <a:solidFill>
                  <a:schemeClr val="bg1"/>
                </a:solidFill>
                <a:latin typeface="Arial" pitchFamily="34" charset="0"/>
                <a:ea typeface="Arial" pitchFamily="34" charset="-122"/>
                <a:cs typeface="Arial" pitchFamily="34" charset="-120"/>
              </a:rPr>
              <a:t>Task Engine</a:t>
            </a:r>
            <a:endParaRPr lang="en-US" sz="5400" dirty="0"/>
          </a:p>
        </p:txBody>
      </p:sp>
      <p:sp>
        <p:nvSpPr>
          <p:cNvPr id="35" name="Text 0">
            <a:extLst>
              <a:ext uri="{FF2B5EF4-FFF2-40B4-BE49-F238E27FC236}">
                <a16:creationId xmlns:a16="http://schemas.microsoft.com/office/drawing/2014/main" id="{BF5D9C55-4D36-F5F1-0455-2FD4054353F9}"/>
              </a:ext>
            </a:extLst>
          </p:cNvPr>
          <p:cNvSpPr txBox="1">
            <a:spLocks/>
          </p:cNvSpPr>
          <p:nvPr/>
        </p:nvSpPr>
        <p:spPr>
          <a:xfrm>
            <a:off x="640080" y="3246120"/>
            <a:ext cx="6583680" cy="1005840"/>
          </a:xfrm>
          <a:prstGeom prst="rect">
            <a:avLst/>
          </a:prstGeom>
          <a:noFill/>
          <a:ln/>
        </p:spPr>
        <p:txBody>
          <a:bodyPr wrap="square" lIns="0" tIns="0" rIns="0" bIns="0" rtlCol="0" anchor="t"/>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dirty="0">
                <a:solidFill>
                  <a:srgbClr val="6BA5F0"/>
                </a:solidFill>
              </a:rPr>
              <a:t>Architecture walkthrough for developers —</a:t>
            </a:r>
            <a:br>
              <a:rPr lang="ru-RU" sz="2000" dirty="0">
                <a:solidFill>
                  <a:srgbClr val="6BA5F0"/>
                </a:solidFill>
              </a:rPr>
            </a:br>
            <a:r>
              <a:rPr lang="en-US" sz="2000" dirty="0">
                <a:solidFill>
                  <a:srgbClr val="6BA5F0"/>
                </a:solidFill>
              </a:rPr>
              <a:t>the P1 scope in depth, P2 and P3 in brief</a:t>
            </a:r>
          </a:p>
          <a:p>
            <a:pPr marL="0" indent="0">
              <a:buFont typeface="Arial" pitchFamily="34" charset="0"/>
              <a:buNone/>
            </a:pPr>
            <a:endParaRPr lang="en-US" sz="2000" dirty="0">
              <a:solidFill>
                <a:srgbClr val="6BA5F0"/>
              </a:solidFill>
            </a:endParaRPr>
          </a:p>
          <a:p>
            <a:pPr marL="0" indent="0">
              <a:buFont typeface="Arial" pitchFamily="34" charset="0"/>
              <a:buNone/>
            </a:pPr>
            <a:r>
              <a:rPr lang="en-US" sz="2000" dirty="0">
                <a:solidFill>
                  <a:srgbClr val="6BA5F0"/>
                </a:solidFill>
              </a:rPr>
              <a:t>v0.1, </a:t>
            </a:r>
            <a:r>
              <a:rPr lang="en-US" sz="2000" dirty="0" err="1">
                <a:solidFill>
                  <a:srgbClr val="6BA5F0"/>
                </a:solidFill>
              </a:rPr>
              <a:t>Artifizer</a:t>
            </a:r>
            <a:r>
              <a:rPr lang="en-US" sz="2000" dirty="0">
                <a:solidFill>
                  <a:srgbClr val="6BA5F0"/>
                </a:solidFill>
              </a:rPr>
              <a:t>@, 2026 Oct 09</a:t>
            </a:r>
          </a:p>
          <a:p>
            <a:pPr marL="0" indent="0">
              <a:buFont typeface="Arial" pitchFamily="34" charset="0"/>
              <a:buNone/>
            </a:pPr>
            <a:endParaRPr lang="en-US" sz="2000" dirty="0">
              <a:solidFill>
                <a:srgbClr val="6BA5F0"/>
              </a:solidFill>
            </a:endParaRPr>
          </a:p>
        </p:txBody>
      </p:sp>
      <p:sp>
        <p:nvSpPr>
          <p:cNvPr id="36" name="Text 2">
            <a:extLst>
              <a:ext uri="{FF2B5EF4-FFF2-40B4-BE49-F238E27FC236}">
                <a16:creationId xmlns:a16="http://schemas.microsoft.com/office/drawing/2014/main" id="{8E423580-D9D2-76E8-97C9-D5FAAE307ABB}"/>
              </a:ext>
            </a:extLst>
          </p:cNvPr>
          <p:cNvSpPr txBox="1"/>
          <p:nvPr/>
        </p:nvSpPr>
        <p:spPr>
          <a:xfrm>
            <a:off x="640080" y="5943600"/>
            <a:ext cx="6400800" cy="274320"/>
          </a:xfrm>
          <a:prstGeom prst="rect">
            <a:avLst/>
          </a:prstGeom>
          <a:noFill/>
          <a:ln/>
        </p:spPr>
        <p:txBody>
          <a:bodyPr wrap="square" lIns="0" tIns="0" rIns="0" bIns="0" rtlCol="0" anchor="t"/>
          <a:lstStyle/>
          <a:p>
            <a:pPr marL="0" indent="0">
              <a:buNone/>
            </a:pPr>
            <a:r>
              <a:rPr lang="en-US" sz="1200" dirty="0">
                <a:solidFill>
                  <a:schemeClr val="bg2"/>
                </a:solidFill>
                <a:latin typeface="Calibri" pitchFamily="34" charset="0"/>
                <a:ea typeface="Calibri" pitchFamily="34" charset="-122"/>
                <a:cs typeface="Calibri" pitchFamily="34" charset="-120"/>
              </a:rPr>
              <a:t>Sources: gears/task-engine/docs — PRD.md · DESIGN.md · ADR/0001</a:t>
            </a:r>
            <a:endParaRPr lang="en-US" sz="1200" dirty="0"/>
          </a:p>
        </p:txBody>
      </p:sp>
      <p:sp>
        <p:nvSpPr>
          <p:cNvPr id="37" name="Shape 3">
            <a:extLst>
              <a:ext uri="{FF2B5EF4-FFF2-40B4-BE49-F238E27FC236}">
                <a16:creationId xmlns:a16="http://schemas.microsoft.com/office/drawing/2014/main" id="{E5995F6B-81AB-A155-475B-261B14A266BE}"/>
              </a:ext>
            </a:extLst>
          </p:cNvPr>
          <p:cNvSpPr/>
          <p:nvPr/>
        </p:nvSpPr>
        <p:spPr>
          <a:xfrm>
            <a:off x="8503920" y="1097280"/>
            <a:ext cx="658368" cy="658368"/>
          </a:xfrm>
          <a:prstGeom prst="ellipse">
            <a:avLst/>
          </a:prstGeom>
          <a:solidFill>
            <a:schemeClr val="tx2">
              <a:lumMod val="10000"/>
              <a:lumOff val="90000"/>
            </a:schemeClr>
          </a:solidFill>
          <a:ln/>
        </p:spPr>
        <p:txBody>
          <a:bodyPr/>
          <a:lstStyle/>
          <a:p>
            <a:endParaRPr lang="en-US"/>
          </a:p>
        </p:txBody>
      </p:sp>
      <p:pic>
        <p:nvPicPr>
          <p:cNvPr id="38" name="Image 0" descr="preencoded.png">
            <a:extLst>
              <a:ext uri="{FF2B5EF4-FFF2-40B4-BE49-F238E27FC236}">
                <a16:creationId xmlns:a16="http://schemas.microsoft.com/office/drawing/2014/main" id="{FD7861D5-D884-589F-7BAC-2E581AEB2C52}"/>
              </a:ext>
            </a:extLst>
          </p:cNvPr>
          <p:cNvPicPr>
            <a:picLocks noChangeAspect="1"/>
          </p:cNvPicPr>
          <p:nvPr/>
        </p:nvPicPr>
        <p:blipFill>
          <a:blip r:embed="rId3"/>
          <a:stretch>
            <a:fillRect/>
          </a:stretch>
        </p:blipFill>
        <p:spPr>
          <a:xfrm>
            <a:off x="8668512" y="1261872"/>
            <a:ext cx="329184" cy="329184"/>
          </a:xfrm>
          <a:prstGeom prst="rect">
            <a:avLst/>
          </a:prstGeom>
        </p:spPr>
      </p:pic>
      <p:sp>
        <p:nvSpPr>
          <p:cNvPr id="39" name="Text 4">
            <a:extLst>
              <a:ext uri="{FF2B5EF4-FFF2-40B4-BE49-F238E27FC236}">
                <a16:creationId xmlns:a16="http://schemas.microsoft.com/office/drawing/2014/main" id="{55A84426-F7D0-29E4-3389-0442C6E8BFD9}"/>
              </a:ext>
            </a:extLst>
          </p:cNvPr>
          <p:cNvSpPr txBox="1"/>
          <p:nvPr/>
        </p:nvSpPr>
        <p:spPr>
          <a:xfrm>
            <a:off x="9326880" y="1097280"/>
            <a:ext cx="2377440" cy="658368"/>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create</a:t>
            </a:r>
            <a:endParaRPr lang="en-US" sz="1800" dirty="0"/>
          </a:p>
        </p:txBody>
      </p:sp>
      <p:sp>
        <p:nvSpPr>
          <p:cNvPr id="40" name="Shape 5">
            <a:extLst>
              <a:ext uri="{FF2B5EF4-FFF2-40B4-BE49-F238E27FC236}">
                <a16:creationId xmlns:a16="http://schemas.microsoft.com/office/drawing/2014/main" id="{9445FDF1-FB5D-7B27-5F16-276B1A8CBBEA}"/>
              </a:ext>
            </a:extLst>
          </p:cNvPr>
          <p:cNvSpPr/>
          <p:nvPr/>
        </p:nvSpPr>
        <p:spPr>
          <a:xfrm>
            <a:off x="8833104" y="1773936"/>
            <a:ext cx="91" cy="292608"/>
          </a:xfrm>
          <a:prstGeom prst="line">
            <a:avLst/>
          </a:prstGeom>
          <a:noFill/>
          <a:ln w="19050">
            <a:solidFill>
              <a:schemeClr val="bg2"/>
            </a:solidFill>
            <a:prstDash val="solid"/>
            <a:headEnd type="none"/>
            <a:tailEnd type="triangle"/>
          </a:ln>
        </p:spPr>
        <p:txBody>
          <a:bodyPr/>
          <a:lstStyle/>
          <a:p>
            <a:endParaRPr lang="en-US"/>
          </a:p>
        </p:txBody>
      </p:sp>
      <p:sp>
        <p:nvSpPr>
          <p:cNvPr id="41" name="Shape 6">
            <a:extLst>
              <a:ext uri="{FF2B5EF4-FFF2-40B4-BE49-F238E27FC236}">
                <a16:creationId xmlns:a16="http://schemas.microsoft.com/office/drawing/2014/main" id="{A4A8CF5A-D430-B6F1-CCA8-B487E2FF7DCF}"/>
              </a:ext>
            </a:extLst>
          </p:cNvPr>
          <p:cNvSpPr/>
          <p:nvPr/>
        </p:nvSpPr>
        <p:spPr>
          <a:xfrm>
            <a:off x="8503920" y="2084832"/>
            <a:ext cx="658368" cy="658368"/>
          </a:xfrm>
          <a:prstGeom prst="ellipse">
            <a:avLst/>
          </a:prstGeom>
          <a:solidFill>
            <a:schemeClr val="tx2">
              <a:lumMod val="10000"/>
              <a:lumOff val="90000"/>
            </a:schemeClr>
          </a:solidFill>
          <a:ln/>
        </p:spPr>
        <p:txBody>
          <a:bodyPr/>
          <a:lstStyle/>
          <a:p>
            <a:endParaRPr lang="en-US"/>
          </a:p>
        </p:txBody>
      </p:sp>
      <p:pic>
        <p:nvPicPr>
          <p:cNvPr id="42" name="Image 1" descr="preencoded.png">
            <a:extLst>
              <a:ext uri="{FF2B5EF4-FFF2-40B4-BE49-F238E27FC236}">
                <a16:creationId xmlns:a16="http://schemas.microsoft.com/office/drawing/2014/main" id="{2796DB3C-0F8B-F37D-D9E7-E8C145D2458B}"/>
              </a:ext>
            </a:extLst>
          </p:cNvPr>
          <p:cNvPicPr>
            <a:picLocks noChangeAspect="1"/>
          </p:cNvPicPr>
          <p:nvPr/>
        </p:nvPicPr>
        <p:blipFill>
          <a:blip r:embed="rId4"/>
          <a:stretch>
            <a:fillRect/>
          </a:stretch>
        </p:blipFill>
        <p:spPr>
          <a:xfrm>
            <a:off x="8668512" y="2249424"/>
            <a:ext cx="329184" cy="329184"/>
          </a:xfrm>
          <a:prstGeom prst="rect">
            <a:avLst/>
          </a:prstGeom>
        </p:spPr>
      </p:pic>
      <p:sp>
        <p:nvSpPr>
          <p:cNvPr id="43" name="Text 7">
            <a:extLst>
              <a:ext uri="{FF2B5EF4-FFF2-40B4-BE49-F238E27FC236}">
                <a16:creationId xmlns:a16="http://schemas.microsoft.com/office/drawing/2014/main" id="{2B7A5F95-C8E1-7797-7BDB-85A5AED96051}"/>
              </a:ext>
            </a:extLst>
          </p:cNvPr>
          <p:cNvSpPr txBox="1"/>
          <p:nvPr/>
        </p:nvSpPr>
        <p:spPr>
          <a:xfrm>
            <a:off x="9326880" y="2084832"/>
            <a:ext cx="2377440" cy="658368"/>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queue</a:t>
            </a:r>
            <a:endParaRPr lang="en-US" sz="1800" dirty="0"/>
          </a:p>
        </p:txBody>
      </p:sp>
      <p:sp>
        <p:nvSpPr>
          <p:cNvPr id="44" name="Shape 8">
            <a:extLst>
              <a:ext uri="{FF2B5EF4-FFF2-40B4-BE49-F238E27FC236}">
                <a16:creationId xmlns:a16="http://schemas.microsoft.com/office/drawing/2014/main" id="{D9F314D3-B569-65F2-1A06-240E83F3CCB7}"/>
              </a:ext>
            </a:extLst>
          </p:cNvPr>
          <p:cNvSpPr/>
          <p:nvPr/>
        </p:nvSpPr>
        <p:spPr>
          <a:xfrm>
            <a:off x="8833104" y="2761488"/>
            <a:ext cx="91" cy="292608"/>
          </a:xfrm>
          <a:prstGeom prst="line">
            <a:avLst/>
          </a:prstGeom>
          <a:noFill/>
          <a:ln w="19050">
            <a:solidFill>
              <a:schemeClr val="bg2"/>
            </a:solidFill>
            <a:prstDash val="solid"/>
            <a:headEnd type="none"/>
            <a:tailEnd type="triangle"/>
          </a:ln>
        </p:spPr>
        <p:txBody>
          <a:bodyPr/>
          <a:lstStyle/>
          <a:p>
            <a:endParaRPr lang="en-US"/>
          </a:p>
        </p:txBody>
      </p:sp>
      <p:sp>
        <p:nvSpPr>
          <p:cNvPr id="45" name="Shape 9">
            <a:extLst>
              <a:ext uri="{FF2B5EF4-FFF2-40B4-BE49-F238E27FC236}">
                <a16:creationId xmlns:a16="http://schemas.microsoft.com/office/drawing/2014/main" id="{216F795A-B818-7CE8-02B7-51D00E6EE5B9}"/>
              </a:ext>
            </a:extLst>
          </p:cNvPr>
          <p:cNvSpPr/>
          <p:nvPr/>
        </p:nvSpPr>
        <p:spPr>
          <a:xfrm>
            <a:off x="8503920" y="3072384"/>
            <a:ext cx="658368" cy="658368"/>
          </a:xfrm>
          <a:prstGeom prst="ellipse">
            <a:avLst/>
          </a:prstGeom>
          <a:solidFill>
            <a:schemeClr val="tx2">
              <a:lumMod val="10000"/>
              <a:lumOff val="90000"/>
            </a:schemeClr>
          </a:solidFill>
          <a:ln/>
        </p:spPr>
        <p:txBody>
          <a:bodyPr/>
          <a:lstStyle/>
          <a:p>
            <a:endParaRPr lang="en-US"/>
          </a:p>
        </p:txBody>
      </p:sp>
      <p:pic>
        <p:nvPicPr>
          <p:cNvPr id="46" name="Image 2" descr="preencoded.png">
            <a:extLst>
              <a:ext uri="{FF2B5EF4-FFF2-40B4-BE49-F238E27FC236}">
                <a16:creationId xmlns:a16="http://schemas.microsoft.com/office/drawing/2014/main" id="{9339AA57-E9AA-D08F-D095-00D47CDB7FEA}"/>
              </a:ext>
            </a:extLst>
          </p:cNvPr>
          <p:cNvPicPr>
            <a:picLocks noChangeAspect="1"/>
          </p:cNvPicPr>
          <p:nvPr/>
        </p:nvPicPr>
        <p:blipFill>
          <a:blip r:embed="rId5"/>
          <a:stretch>
            <a:fillRect/>
          </a:stretch>
        </p:blipFill>
        <p:spPr>
          <a:xfrm>
            <a:off x="8668512" y="3236976"/>
            <a:ext cx="329184" cy="329184"/>
          </a:xfrm>
          <a:prstGeom prst="rect">
            <a:avLst/>
          </a:prstGeom>
        </p:spPr>
      </p:pic>
      <p:sp>
        <p:nvSpPr>
          <p:cNvPr id="47" name="Text 10">
            <a:extLst>
              <a:ext uri="{FF2B5EF4-FFF2-40B4-BE49-F238E27FC236}">
                <a16:creationId xmlns:a16="http://schemas.microsoft.com/office/drawing/2014/main" id="{1EC7435C-5204-64EA-CC6A-B080FDFE0CE5}"/>
              </a:ext>
            </a:extLst>
          </p:cNvPr>
          <p:cNvSpPr txBox="1"/>
          <p:nvPr/>
        </p:nvSpPr>
        <p:spPr>
          <a:xfrm>
            <a:off x="9326880" y="3072384"/>
            <a:ext cx="2377440" cy="658368"/>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claim + lease</a:t>
            </a:r>
            <a:endParaRPr lang="en-US" sz="1800" dirty="0"/>
          </a:p>
        </p:txBody>
      </p:sp>
      <p:sp>
        <p:nvSpPr>
          <p:cNvPr id="48" name="Shape 11">
            <a:extLst>
              <a:ext uri="{FF2B5EF4-FFF2-40B4-BE49-F238E27FC236}">
                <a16:creationId xmlns:a16="http://schemas.microsoft.com/office/drawing/2014/main" id="{8C499AB9-4856-6E3D-6187-1D8469D43A97}"/>
              </a:ext>
            </a:extLst>
          </p:cNvPr>
          <p:cNvSpPr/>
          <p:nvPr/>
        </p:nvSpPr>
        <p:spPr>
          <a:xfrm>
            <a:off x="8833104" y="3749040"/>
            <a:ext cx="91" cy="292608"/>
          </a:xfrm>
          <a:prstGeom prst="line">
            <a:avLst/>
          </a:prstGeom>
          <a:noFill/>
          <a:ln w="19050">
            <a:solidFill>
              <a:schemeClr val="bg2"/>
            </a:solidFill>
            <a:prstDash val="solid"/>
            <a:headEnd type="none"/>
            <a:tailEnd type="triangle"/>
          </a:ln>
        </p:spPr>
        <p:txBody>
          <a:bodyPr/>
          <a:lstStyle/>
          <a:p>
            <a:endParaRPr lang="en-US"/>
          </a:p>
        </p:txBody>
      </p:sp>
      <p:sp>
        <p:nvSpPr>
          <p:cNvPr id="49" name="Shape 12">
            <a:extLst>
              <a:ext uri="{FF2B5EF4-FFF2-40B4-BE49-F238E27FC236}">
                <a16:creationId xmlns:a16="http://schemas.microsoft.com/office/drawing/2014/main" id="{BB8C6E8C-709C-E3D5-5414-FA1659E9F757}"/>
              </a:ext>
            </a:extLst>
          </p:cNvPr>
          <p:cNvSpPr/>
          <p:nvPr/>
        </p:nvSpPr>
        <p:spPr>
          <a:xfrm>
            <a:off x="8503920" y="4059936"/>
            <a:ext cx="658368" cy="658368"/>
          </a:xfrm>
          <a:prstGeom prst="ellipse">
            <a:avLst/>
          </a:prstGeom>
          <a:solidFill>
            <a:schemeClr val="tx2">
              <a:lumMod val="10000"/>
              <a:lumOff val="90000"/>
            </a:schemeClr>
          </a:solidFill>
          <a:ln/>
        </p:spPr>
        <p:txBody>
          <a:bodyPr/>
          <a:lstStyle/>
          <a:p>
            <a:endParaRPr lang="en-US"/>
          </a:p>
        </p:txBody>
      </p:sp>
      <p:pic>
        <p:nvPicPr>
          <p:cNvPr id="50" name="Image 3" descr="preencoded.png">
            <a:extLst>
              <a:ext uri="{FF2B5EF4-FFF2-40B4-BE49-F238E27FC236}">
                <a16:creationId xmlns:a16="http://schemas.microsoft.com/office/drawing/2014/main" id="{C03498C6-0401-50C1-2F38-63973E10EC33}"/>
              </a:ext>
            </a:extLst>
          </p:cNvPr>
          <p:cNvPicPr>
            <a:picLocks noChangeAspect="1"/>
          </p:cNvPicPr>
          <p:nvPr/>
        </p:nvPicPr>
        <p:blipFill>
          <a:blip r:embed="rId6"/>
          <a:stretch>
            <a:fillRect/>
          </a:stretch>
        </p:blipFill>
        <p:spPr>
          <a:xfrm>
            <a:off x="8668512" y="4224528"/>
            <a:ext cx="329184" cy="329184"/>
          </a:xfrm>
          <a:prstGeom prst="rect">
            <a:avLst/>
          </a:prstGeom>
        </p:spPr>
      </p:pic>
      <p:sp>
        <p:nvSpPr>
          <p:cNvPr id="51" name="Text 13">
            <a:extLst>
              <a:ext uri="{FF2B5EF4-FFF2-40B4-BE49-F238E27FC236}">
                <a16:creationId xmlns:a16="http://schemas.microsoft.com/office/drawing/2014/main" id="{4DE17912-1AD8-986E-1C15-A153FB2F653B}"/>
              </a:ext>
            </a:extLst>
          </p:cNvPr>
          <p:cNvSpPr txBox="1"/>
          <p:nvPr/>
        </p:nvSpPr>
        <p:spPr>
          <a:xfrm>
            <a:off x="9326880" y="4059936"/>
            <a:ext cx="2377440" cy="658368"/>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run + heartbeat</a:t>
            </a:r>
            <a:endParaRPr lang="en-US" sz="1800" dirty="0"/>
          </a:p>
        </p:txBody>
      </p:sp>
      <p:sp>
        <p:nvSpPr>
          <p:cNvPr id="52" name="Shape 14">
            <a:extLst>
              <a:ext uri="{FF2B5EF4-FFF2-40B4-BE49-F238E27FC236}">
                <a16:creationId xmlns:a16="http://schemas.microsoft.com/office/drawing/2014/main" id="{00A29D82-C537-D351-A091-2482C00C2CCB}"/>
              </a:ext>
            </a:extLst>
          </p:cNvPr>
          <p:cNvSpPr/>
          <p:nvPr/>
        </p:nvSpPr>
        <p:spPr>
          <a:xfrm>
            <a:off x="8833104" y="4736592"/>
            <a:ext cx="91" cy="292608"/>
          </a:xfrm>
          <a:prstGeom prst="line">
            <a:avLst/>
          </a:prstGeom>
          <a:noFill/>
          <a:ln w="19050">
            <a:solidFill>
              <a:schemeClr val="bg2"/>
            </a:solidFill>
            <a:prstDash val="solid"/>
            <a:headEnd type="none"/>
            <a:tailEnd type="triangle"/>
          </a:ln>
        </p:spPr>
        <p:txBody>
          <a:bodyPr/>
          <a:lstStyle/>
          <a:p>
            <a:endParaRPr lang="en-US"/>
          </a:p>
        </p:txBody>
      </p:sp>
      <p:sp>
        <p:nvSpPr>
          <p:cNvPr id="53" name="Shape 15">
            <a:extLst>
              <a:ext uri="{FF2B5EF4-FFF2-40B4-BE49-F238E27FC236}">
                <a16:creationId xmlns:a16="http://schemas.microsoft.com/office/drawing/2014/main" id="{5115B4D4-92BB-9BDF-775D-3A4E7AF3626A}"/>
              </a:ext>
            </a:extLst>
          </p:cNvPr>
          <p:cNvSpPr/>
          <p:nvPr/>
        </p:nvSpPr>
        <p:spPr>
          <a:xfrm>
            <a:off x="8503920" y="5047488"/>
            <a:ext cx="658368" cy="658368"/>
          </a:xfrm>
          <a:prstGeom prst="ellipse">
            <a:avLst/>
          </a:prstGeom>
          <a:solidFill>
            <a:schemeClr val="accent4">
              <a:lumMod val="40000"/>
              <a:lumOff val="60000"/>
            </a:schemeClr>
          </a:solidFill>
          <a:ln/>
        </p:spPr>
        <p:txBody>
          <a:bodyPr/>
          <a:lstStyle/>
          <a:p>
            <a:endParaRPr lang="en-US"/>
          </a:p>
        </p:txBody>
      </p:sp>
      <p:pic>
        <p:nvPicPr>
          <p:cNvPr id="54" name="Image 4" descr="preencoded.png">
            <a:extLst>
              <a:ext uri="{FF2B5EF4-FFF2-40B4-BE49-F238E27FC236}">
                <a16:creationId xmlns:a16="http://schemas.microsoft.com/office/drawing/2014/main" id="{3BED1B4F-EF8A-0E48-BF49-577159EC7B42}"/>
              </a:ext>
            </a:extLst>
          </p:cNvPr>
          <p:cNvPicPr>
            <a:picLocks noChangeAspect="1"/>
          </p:cNvPicPr>
          <p:nvPr/>
        </p:nvPicPr>
        <p:blipFill>
          <a:blip r:embed="rId7"/>
          <a:stretch>
            <a:fillRect/>
          </a:stretch>
        </p:blipFill>
        <p:spPr>
          <a:xfrm>
            <a:off x="8668512" y="5212080"/>
            <a:ext cx="329184" cy="329184"/>
          </a:xfrm>
          <a:prstGeom prst="rect">
            <a:avLst/>
          </a:prstGeom>
        </p:spPr>
      </p:pic>
      <p:sp>
        <p:nvSpPr>
          <p:cNvPr id="55" name="Text 16">
            <a:extLst>
              <a:ext uri="{FF2B5EF4-FFF2-40B4-BE49-F238E27FC236}">
                <a16:creationId xmlns:a16="http://schemas.microsoft.com/office/drawing/2014/main" id="{F0AA8082-7453-1BAE-5294-FE245C9830E1}"/>
              </a:ext>
            </a:extLst>
          </p:cNvPr>
          <p:cNvSpPr txBox="1"/>
          <p:nvPr/>
        </p:nvSpPr>
        <p:spPr>
          <a:xfrm>
            <a:off x="9326880" y="5047488"/>
            <a:ext cx="2377440" cy="658368"/>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complete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528816"/>
            <a:ext cx="256032" cy="18288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950">
                <a:solidFill>
                  <a:srgbClr val="FFFFFF"/>
                </a:solidFill>
                <a:latin typeface="Arial"/>
                <a:ea typeface="Arial"/>
                <a:cs typeface="Arial"/>
              </a:defRPr>
            </a:lvl1pPr>
          </a:lstStyle>
          <a:p>
            <a:pPr algn="r"/>
            <a:fld id="{F7021451-1387-4CA6-816F-3879F97B5CBC}" type="slidenum">
              <a:rPr lang="en-US" b="0"/>
              <a:t>2</a:t>
            </a:fld>
            <a:endParaRPr lang="en-US"/>
          </a:p>
        </p:txBody>
      </p:sp>
      <p:sp>
        <p:nvSpPr>
          <p:cNvPr id="22" name="Text 0">
            <a:extLst>
              <a:ext uri="{FF2B5EF4-FFF2-40B4-BE49-F238E27FC236}">
                <a16:creationId xmlns:a16="http://schemas.microsoft.com/office/drawing/2014/main" id="{38D84534-033B-D12F-4D26-C53DCA1E52DD}"/>
              </a:ext>
            </a:extLst>
          </p:cNvPr>
          <p:cNvSpPr txBox="1">
            <a:spLocks/>
          </p:cNvSpPr>
          <p:nvPr/>
        </p:nvSpPr>
        <p:spPr>
          <a:xfrm>
            <a:off x="731520" y="1828800"/>
            <a:ext cx="2743200" cy="640080"/>
          </a:xfrm>
          <a:prstGeom prst="rect">
            <a:avLst/>
          </a:prstGeom>
          <a:noFill/>
          <a:ln/>
        </p:spPr>
        <p:txBody>
          <a:bodyPr wrap="square" lIns="0" tIns="0" rIns="0" bIns="0" rtlCol="0"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800" b="1" dirty="0">
                <a:solidFill>
                  <a:srgbClr val="6BA5F0"/>
                </a:solidFill>
              </a:rPr>
              <a:t>01</a:t>
            </a:r>
            <a:endParaRPr lang="en-US" sz="2800" dirty="0">
              <a:solidFill>
                <a:srgbClr val="6BA5F0"/>
              </a:solidFill>
            </a:endParaRPr>
          </a:p>
        </p:txBody>
      </p:sp>
      <p:sp>
        <p:nvSpPr>
          <p:cNvPr id="23" name="Text 0">
            <a:extLst>
              <a:ext uri="{FF2B5EF4-FFF2-40B4-BE49-F238E27FC236}">
                <a16:creationId xmlns:a16="http://schemas.microsoft.com/office/drawing/2014/main" id="{8B17FD6E-8EB2-821C-387F-ABF1F61F1FFF}"/>
              </a:ext>
            </a:extLst>
          </p:cNvPr>
          <p:cNvSpPr>
            <a:spLocks noGrp="1"/>
          </p:cNvSpPr>
          <p:nvPr>
            <p:ph type="title" idx="101" hasCustomPrompt="1"/>
          </p:nvPr>
        </p:nvSpPr>
        <p:spPr>
          <a:xfrm>
            <a:off x="731520" y="2514600"/>
            <a:ext cx="10058400" cy="1005840"/>
          </a:xfrm>
          <a:prstGeom prst="rect">
            <a:avLst/>
          </a:prstGeom>
          <a:noFill/>
          <a:ln/>
        </p:spPr>
        <p:txBody>
          <a:bodyPr wrap="square" lIns="0" tIns="0" rIns="0" bIns="0" rtlCol="0" anchor="t"/>
          <a:lstStyle/>
          <a:p>
            <a:pPr marL="0" indent="0" algn="l">
              <a:buNone/>
            </a:pPr>
            <a:r>
              <a:rPr lang="en-US" sz="4400" b="1" dirty="0">
                <a:solidFill>
                  <a:schemeClr val="bg1"/>
                </a:solidFill>
                <a:latin typeface="Arial" pitchFamily="34" charset="0"/>
                <a:ea typeface="Arial" pitchFamily="34" charset="-122"/>
                <a:cs typeface="Arial" pitchFamily="34" charset="-120"/>
              </a:rPr>
              <a:t>Context, scope &amp; the key decision</a:t>
            </a:r>
            <a:endParaRPr lang="en-US" sz="4400" dirty="0"/>
          </a:p>
        </p:txBody>
      </p:sp>
      <p:sp>
        <p:nvSpPr>
          <p:cNvPr id="24" name="Text 0">
            <a:extLst>
              <a:ext uri="{FF2B5EF4-FFF2-40B4-BE49-F238E27FC236}">
                <a16:creationId xmlns:a16="http://schemas.microsoft.com/office/drawing/2014/main" id="{F832D0DC-24A3-B83D-82FE-026B45F7362B}"/>
              </a:ext>
            </a:extLst>
          </p:cNvPr>
          <p:cNvSpPr>
            <a:spLocks noGrp="1"/>
          </p:cNvSpPr>
          <p:nvPr>
            <p:ph type="body" idx="102" hasCustomPrompt="1"/>
          </p:nvPr>
        </p:nvSpPr>
        <p:spPr>
          <a:xfrm>
            <a:off x="731520" y="3611880"/>
            <a:ext cx="9144000" cy="822960"/>
          </a:xfrm>
          <a:prstGeom prst="rect">
            <a:avLst/>
          </a:prstGeom>
          <a:noFill/>
          <a:ln/>
        </p:spPr>
        <p:txBody>
          <a:bodyPr wrap="square" lIns="0" tIns="0" rIns="0" bIns="0" rtlCol="0" anchor="t"/>
          <a:lstStyle/>
          <a:p>
            <a:pPr marL="0" indent="0">
              <a:buNone/>
            </a:pPr>
            <a:r>
              <a:rPr lang="en-US" sz="2000" dirty="0"/>
              <a:t>What the Task Engine is, what ships when, and why we build it ourselves</a:t>
            </a:r>
          </a:p>
        </p:txBody>
      </p:sp>
      <p:pic>
        <p:nvPicPr>
          <p:cNvPr id="26" name="Image 0" descr="preencoded.png">
            <a:extLst>
              <a:ext uri="{FF2B5EF4-FFF2-40B4-BE49-F238E27FC236}">
                <a16:creationId xmlns:a16="http://schemas.microsoft.com/office/drawing/2014/main" id="{0D5296FA-3F0C-BEFA-4B7B-0A81305F4B45}"/>
              </a:ext>
            </a:extLst>
          </p:cNvPr>
          <p:cNvPicPr>
            <a:picLocks noChangeAspect="1"/>
          </p:cNvPicPr>
          <p:nvPr/>
        </p:nvPicPr>
        <p:blipFill>
          <a:blip r:embed="rId3">
            <a:alphaModFix amt="25000"/>
          </a:blip>
          <a:stretch>
            <a:fillRect/>
          </a:stretch>
        </p:blipFill>
        <p:spPr>
          <a:xfrm>
            <a:off x="9509760" y="1920240"/>
            <a:ext cx="1828800" cy="1828800"/>
          </a:xfrm>
          <a:prstGeom prst="rect">
            <a:avLst/>
          </a:prstGeom>
        </p:spPr>
      </p:pic>
      <p:sp>
        <p:nvSpPr>
          <p:cNvPr id="27" name="Shape 3">
            <a:extLst>
              <a:ext uri="{FF2B5EF4-FFF2-40B4-BE49-F238E27FC236}">
                <a16:creationId xmlns:a16="http://schemas.microsoft.com/office/drawing/2014/main" id="{4FA420ED-CE46-F470-F232-F3B1F9673485}"/>
              </a:ext>
            </a:extLst>
          </p:cNvPr>
          <p:cNvSpPr/>
          <p:nvPr/>
        </p:nvSpPr>
        <p:spPr>
          <a:xfrm>
            <a:off x="2265677" y="4960338"/>
            <a:ext cx="1488432"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28" name="Text 4">
            <a:extLst>
              <a:ext uri="{FF2B5EF4-FFF2-40B4-BE49-F238E27FC236}">
                <a16:creationId xmlns:a16="http://schemas.microsoft.com/office/drawing/2014/main" id="{3B981122-86DA-380E-4D5B-F66FAD5C4B11}"/>
              </a:ext>
            </a:extLst>
          </p:cNvPr>
          <p:cNvSpPr txBox="1"/>
          <p:nvPr/>
        </p:nvSpPr>
        <p:spPr>
          <a:xfrm>
            <a:off x="2250428" y="4960335"/>
            <a:ext cx="1503681"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Industry options</a:t>
            </a:r>
            <a:endParaRPr lang="en-US" sz="1300" dirty="0"/>
          </a:p>
        </p:txBody>
      </p:sp>
      <p:sp>
        <p:nvSpPr>
          <p:cNvPr id="29" name="Shape 5">
            <a:extLst>
              <a:ext uri="{FF2B5EF4-FFF2-40B4-BE49-F238E27FC236}">
                <a16:creationId xmlns:a16="http://schemas.microsoft.com/office/drawing/2014/main" id="{6821843A-083B-917B-8E10-AD38035B471D}"/>
              </a:ext>
            </a:extLst>
          </p:cNvPr>
          <p:cNvSpPr/>
          <p:nvPr/>
        </p:nvSpPr>
        <p:spPr>
          <a:xfrm>
            <a:off x="5199089" y="4960338"/>
            <a:ext cx="1174750"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30" name="Text 6">
            <a:extLst>
              <a:ext uri="{FF2B5EF4-FFF2-40B4-BE49-F238E27FC236}">
                <a16:creationId xmlns:a16="http://schemas.microsoft.com/office/drawing/2014/main" id="{9EE8C319-B82A-2CAB-7E3D-77F916DA5F57}"/>
              </a:ext>
            </a:extLst>
          </p:cNvPr>
          <p:cNvSpPr txBox="1"/>
          <p:nvPr/>
        </p:nvSpPr>
        <p:spPr>
          <a:xfrm>
            <a:off x="5199089" y="4960335"/>
            <a:ext cx="1174750"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Vocabulary</a:t>
            </a:r>
            <a:endParaRPr lang="en-US" sz="1300" dirty="0"/>
          </a:p>
        </p:txBody>
      </p:sp>
      <p:sp>
        <p:nvSpPr>
          <p:cNvPr id="31" name="Shape 7">
            <a:extLst>
              <a:ext uri="{FF2B5EF4-FFF2-40B4-BE49-F238E27FC236}">
                <a16:creationId xmlns:a16="http://schemas.microsoft.com/office/drawing/2014/main" id="{64CF9BB3-DE1A-8DA1-9427-1E125E309FEA}"/>
              </a:ext>
            </a:extLst>
          </p:cNvPr>
          <p:cNvSpPr/>
          <p:nvPr/>
        </p:nvSpPr>
        <p:spPr>
          <a:xfrm>
            <a:off x="6510999" y="4960338"/>
            <a:ext cx="1821942"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32" name="Text 8">
            <a:extLst>
              <a:ext uri="{FF2B5EF4-FFF2-40B4-BE49-F238E27FC236}">
                <a16:creationId xmlns:a16="http://schemas.microsoft.com/office/drawing/2014/main" id="{5B1DF219-D1B9-B763-CA56-DF20CED85F80}"/>
              </a:ext>
            </a:extLst>
          </p:cNvPr>
          <p:cNvSpPr txBox="1"/>
          <p:nvPr/>
        </p:nvSpPr>
        <p:spPr>
          <a:xfrm>
            <a:off x="6510999" y="4960335"/>
            <a:ext cx="1821942"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P1 / P2 / P3 scope</a:t>
            </a:r>
            <a:endParaRPr lang="en-US" sz="1300" dirty="0"/>
          </a:p>
        </p:txBody>
      </p:sp>
      <p:sp>
        <p:nvSpPr>
          <p:cNvPr id="33" name="Shape 9">
            <a:extLst>
              <a:ext uri="{FF2B5EF4-FFF2-40B4-BE49-F238E27FC236}">
                <a16:creationId xmlns:a16="http://schemas.microsoft.com/office/drawing/2014/main" id="{2E63A72D-2499-B7D2-4542-2A69AFA52B5E}"/>
              </a:ext>
            </a:extLst>
          </p:cNvPr>
          <p:cNvSpPr/>
          <p:nvPr/>
        </p:nvSpPr>
        <p:spPr>
          <a:xfrm>
            <a:off x="8470101" y="4960338"/>
            <a:ext cx="1660144"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34" name="Text 10">
            <a:extLst>
              <a:ext uri="{FF2B5EF4-FFF2-40B4-BE49-F238E27FC236}">
                <a16:creationId xmlns:a16="http://schemas.microsoft.com/office/drawing/2014/main" id="{2C8891D5-9153-7048-CF10-48FCBB4DDDEB}"/>
              </a:ext>
            </a:extLst>
          </p:cNvPr>
          <p:cNvSpPr txBox="1"/>
          <p:nvPr/>
        </p:nvSpPr>
        <p:spPr>
          <a:xfrm>
            <a:off x="8470101" y="4960335"/>
            <a:ext cx="1660144"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ADR-0001 options</a:t>
            </a:r>
            <a:endParaRPr lang="en-US" sz="1300" dirty="0"/>
          </a:p>
        </p:txBody>
      </p:sp>
      <p:sp>
        <p:nvSpPr>
          <p:cNvPr id="35" name="Shape 11">
            <a:extLst>
              <a:ext uri="{FF2B5EF4-FFF2-40B4-BE49-F238E27FC236}">
                <a16:creationId xmlns:a16="http://schemas.microsoft.com/office/drawing/2014/main" id="{6EE3083D-49E6-7666-7A2C-C8C3C3FF0111}"/>
              </a:ext>
            </a:extLst>
          </p:cNvPr>
          <p:cNvSpPr/>
          <p:nvPr/>
        </p:nvSpPr>
        <p:spPr>
          <a:xfrm>
            <a:off x="10267405" y="4960338"/>
            <a:ext cx="1417447"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36" name="Text 12">
            <a:extLst>
              <a:ext uri="{FF2B5EF4-FFF2-40B4-BE49-F238E27FC236}">
                <a16:creationId xmlns:a16="http://schemas.microsoft.com/office/drawing/2014/main" id="{EA4961F6-99C0-7059-6ED0-E474DF8EA1F8}"/>
              </a:ext>
            </a:extLst>
          </p:cNvPr>
          <p:cNvSpPr txBox="1"/>
          <p:nvPr/>
        </p:nvSpPr>
        <p:spPr>
          <a:xfrm>
            <a:off x="10267405" y="4960335"/>
            <a:ext cx="1417447"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Storage roles</a:t>
            </a:r>
            <a:endParaRPr lang="en-US" sz="1300" dirty="0"/>
          </a:p>
        </p:txBody>
      </p:sp>
      <p:sp>
        <p:nvSpPr>
          <p:cNvPr id="47" name="Shape 11">
            <a:extLst>
              <a:ext uri="{FF2B5EF4-FFF2-40B4-BE49-F238E27FC236}">
                <a16:creationId xmlns:a16="http://schemas.microsoft.com/office/drawing/2014/main" id="{BD08B2D2-7B44-977D-3B0D-546DB805472E}"/>
              </a:ext>
            </a:extLst>
          </p:cNvPr>
          <p:cNvSpPr/>
          <p:nvPr/>
        </p:nvSpPr>
        <p:spPr>
          <a:xfrm>
            <a:off x="731393" y="4960338"/>
            <a:ext cx="1417447"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48" name="Text 12">
            <a:extLst>
              <a:ext uri="{FF2B5EF4-FFF2-40B4-BE49-F238E27FC236}">
                <a16:creationId xmlns:a16="http://schemas.microsoft.com/office/drawing/2014/main" id="{C81C1B8C-8DFA-E7B9-977B-81200907767C}"/>
              </a:ext>
            </a:extLst>
          </p:cNvPr>
          <p:cNvSpPr txBox="1"/>
          <p:nvPr/>
        </p:nvSpPr>
        <p:spPr>
          <a:xfrm>
            <a:off x="731393" y="4960335"/>
            <a:ext cx="1417447"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The problem</a:t>
            </a:r>
            <a:endParaRPr lang="en-US" sz="1300" dirty="0"/>
          </a:p>
        </p:txBody>
      </p:sp>
      <p:sp>
        <p:nvSpPr>
          <p:cNvPr id="49" name="Shape 5">
            <a:extLst>
              <a:ext uri="{FF2B5EF4-FFF2-40B4-BE49-F238E27FC236}">
                <a16:creationId xmlns:a16="http://schemas.microsoft.com/office/drawing/2014/main" id="{7A77669E-6272-FFAD-CFAE-3A14D1265771}"/>
              </a:ext>
            </a:extLst>
          </p:cNvPr>
          <p:cNvSpPr/>
          <p:nvPr/>
        </p:nvSpPr>
        <p:spPr>
          <a:xfrm>
            <a:off x="3889564" y="4960338"/>
            <a:ext cx="1174750"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50" name="Text 6">
            <a:extLst>
              <a:ext uri="{FF2B5EF4-FFF2-40B4-BE49-F238E27FC236}">
                <a16:creationId xmlns:a16="http://schemas.microsoft.com/office/drawing/2014/main" id="{9A68D2D0-930E-1917-2E47-67D7827B61D5}"/>
              </a:ext>
            </a:extLst>
          </p:cNvPr>
          <p:cNvSpPr txBox="1"/>
          <p:nvPr/>
        </p:nvSpPr>
        <p:spPr>
          <a:xfrm>
            <a:off x="3889564" y="4960335"/>
            <a:ext cx="1174750"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Why own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AD3A5-FC91-FC92-705B-664EC992DEEF}"/>
              </a:ext>
            </a:extLst>
          </p:cNvPr>
          <p:cNvSpPr>
            <a:spLocks noGrp="1"/>
          </p:cNvSpPr>
          <p:nvPr>
            <p:ph type="title" idx="101"/>
          </p:nvPr>
        </p:nvSpPr>
        <p:spPr/>
        <p:txBody>
          <a:bodyPr/>
          <a:lstStyle/>
          <a:p>
            <a:r>
              <a:rPr lang="en-US" dirty="0"/>
              <a:t>Add use-cases</a:t>
            </a:r>
          </a:p>
        </p:txBody>
      </p:sp>
      <p:sp>
        <p:nvSpPr>
          <p:cNvPr id="3" name="Text Placeholder 2">
            <a:extLst>
              <a:ext uri="{FF2B5EF4-FFF2-40B4-BE49-F238E27FC236}">
                <a16:creationId xmlns:a16="http://schemas.microsoft.com/office/drawing/2014/main" id="{6354434A-9DCD-EB01-1E10-60A0675E1E1D}"/>
              </a:ext>
            </a:extLst>
          </p:cNvPr>
          <p:cNvSpPr>
            <a:spLocks noGrp="1"/>
          </p:cNvSpPr>
          <p:nvPr>
            <p:ph type="body" idx="102"/>
          </p:nvPr>
        </p:nvSpPr>
        <p:spPr/>
        <p:txBody>
          <a:bodyPr/>
          <a:lstStyle/>
          <a:p>
            <a:r>
              <a:rPr lang="en-US" dirty="0"/>
              <a:t>1. </a:t>
            </a:r>
            <a:r>
              <a:rPr lang="en-US" dirty="0" err="1"/>
              <a:t>aaaa</a:t>
            </a:r>
            <a:endParaRPr lang="en-US" dirty="0"/>
          </a:p>
          <a:p>
            <a:r>
              <a:rPr lang="en-US" dirty="0"/>
              <a:t>2. </a:t>
            </a:r>
            <a:r>
              <a:rPr lang="en-US" dirty="0" err="1"/>
              <a:t>bbbc</a:t>
            </a:r>
            <a:endParaRPr lang="en-US" dirty="0"/>
          </a:p>
          <a:p>
            <a:r>
              <a:rPr lang="en-US" dirty="0"/>
              <a:t>3. </a:t>
            </a:r>
            <a:r>
              <a:rPr lang="en-US" dirty="0" err="1"/>
              <a:t>Cccc</a:t>
            </a:r>
            <a:endParaRPr lang="en-US" dirty="0"/>
          </a:p>
          <a:p>
            <a:endParaRPr lang="en-US" dirty="0"/>
          </a:p>
          <a:p>
            <a:r>
              <a:rPr lang="en-US" dirty="0"/>
              <a:t>All major public cloud service vendors have some service like this</a:t>
            </a:r>
          </a:p>
        </p:txBody>
      </p:sp>
    </p:spTree>
    <p:extLst>
      <p:ext uri="{BB962C8B-B14F-4D97-AF65-F5344CB8AC3E}">
        <p14:creationId xmlns:p14="http://schemas.microsoft.com/office/powerpoint/2010/main" val="412221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The problem: background work spread across many services</a:t>
            </a:r>
            <a:endParaRPr lang="en-US" sz="2800" dirty="0"/>
          </a:p>
        </p:txBody>
      </p:sp>
      <p:sp>
        <p:nvSpPr>
          <p:cNvPr id="3" name="Text 0"/>
          <p:cNvSpPr>
            <a:spLocks noGrp="1"/>
          </p:cNvSpPr>
          <p:nvPr>
            <p:ph type="body" idx="101" hasCustomPrompt="1"/>
          </p:nvPr>
        </p:nvSpPr>
        <p:spPr>
          <a:xfrm>
            <a:off x="457199" y="896112"/>
            <a:ext cx="11421533" cy="384048"/>
          </a:xfrm>
          <a:prstGeom prst="rect">
            <a:avLst/>
          </a:prstGeom>
          <a:noFill/>
          <a:ln/>
        </p:spPr>
        <p:txBody>
          <a:bodyPr wrap="square" lIns="0" tIns="0" rIns="0" bIns="0" rtlCol="0" anchor="t"/>
          <a:lstStyle/>
          <a:p>
            <a:pPr marL="0" indent="0">
              <a:buNone/>
            </a:pPr>
            <a:r>
              <a:rPr lang="en-US" sz="1400" dirty="0">
                <a:solidFill>
                  <a:schemeClr val="tx2"/>
                </a:solidFill>
              </a:rPr>
              <a:t>Some gear reimplements job tables, retries, and timeouts. That works until you need distributed execution and an API for UIs or external clients</a:t>
            </a:r>
            <a:endParaRPr lang="en-US" sz="1400" dirty="0"/>
          </a:p>
        </p:txBody>
      </p:sp>
      <p:sp>
        <p:nvSpPr>
          <p:cNvPr id="18" name="Text 15"/>
          <p:cNvSpPr txBox="1"/>
          <p:nvPr/>
        </p:nvSpPr>
        <p:spPr>
          <a:xfrm>
            <a:off x="457200" y="1549399"/>
            <a:ext cx="704088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Distributed task execution pattern illustration</a:t>
            </a:r>
            <a:endParaRPr lang="en-US" sz="1300" dirty="0"/>
          </a:p>
        </p:txBody>
      </p:sp>
      <p:sp>
        <p:nvSpPr>
          <p:cNvPr id="19" name="Shape 16"/>
          <p:cNvSpPr/>
          <p:nvPr/>
        </p:nvSpPr>
        <p:spPr>
          <a:xfrm>
            <a:off x="457200" y="1915159"/>
            <a:ext cx="1783080" cy="658368"/>
          </a:xfrm>
          <a:prstGeom prst="roundRect">
            <a:avLst>
              <a:gd name="adj" fmla="val 8333"/>
            </a:avLst>
          </a:prstGeom>
          <a:solidFill>
            <a:schemeClr val="bg1"/>
          </a:solidFill>
          <a:ln/>
        </p:spPr>
        <p:txBody>
          <a:bodyPr/>
          <a:lstStyle/>
          <a:p>
            <a:endParaRPr lang="en-US"/>
          </a:p>
        </p:txBody>
      </p:sp>
      <p:sp>
        <p:nvSpPr>
          <p:cNvPr id="20" name="Shape 17"/>
          <p:cNvSpPr/>
          <p:nvPr/>
        </p:nvSpPr>
        <p:spPr>
          <a:xfrm>
            <a:off x="457200" y="1915159"/>
            <a:ext cx="1783080" cy="658368"/>
          </a:xfrm>
          <a:prstGeom prst="roundRect">
            <a:avLst>
              <a:gd name="adj" fmla="val 8333"/>
            </a:avLst>
          </a:prstGeom>
          <a:solidFill>
            <a:schemeClr val="accent5">
              <a:alpha val="16000"/>
            </a:schemeClr>
          </a:solidFill>
          <a:ln w="15875">
            <a:solidFill>
              <a:schemeClr val="accent5"/>
            </a:solidFill>
            <a:prstDash val="solid"/>
          </a:ln>
        </p:spPr>
        <p:txBody>
          <a:bodyPr/>
          <a:lstStyle/>
          <a:p>
            <a:endParaRPr lang="en-US"/>
          </a:p>
        </p:txBody>
      </p:sp>
      <p:sp>
        <p:nvSpPr>
          <p:cNvPr id="21" name="Text 18"/>
          <p:cNvSpPr txBox="1"/>
          <p:nvPr/>
        </p:nvSpPr>
        <p:spPr>
          <a:xfrm>
            <a:off x="512064" y="1915159"/>
            <a:ext cx="1673352" cy="658368"/>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Web app / UI</a:t>
            </a:r>
            <a:endParaRPr lang="en-US" sz="1200" dirty="0"/>
          </a:p>
          <a:p>
            <a:pPr marL="0" indent="0" algn="ctr">
              <a:buNone/>
            </a:pPr>
            <a:r>
              <a:rPr lang="en-US" sz="900" dirty="0">
                <a:solidFill>
                  <a:schemeClr val="tx2"/>
                </a:solidFill>
                <a:latin typeface="Calibri" pitchFamily="34" charset="0"/>
                <a:ea typeface="Calibri" pitchFamily="34" charset="-122"/>
                <a:cs typeface="Calibri" pitchFamily="34" charset="-120"/>
              </a:rPr>
              <a:t>REST via API gateway</a:t>
            </a:r>
            <a:endParaRPr lang="en-US" sz="1200" dirty="0"/>
          </a:p>
        </p:txBody>
      </p:sp>
      <p:sp>
        <p:nvSpPr>
          <p:cNvPr id="22" name="Shape 19"/>
          <p:cNvSpPr/>
          <p:nvPr/>
        </p:nvSpPr>
        <p:spPr>
          <a:xfrm>
            <a:off x="457200" y="2692399"/>
            <a:ext cx="1783080" cy="658368"/>
          </a:xfrm>
          <a:prstGeom prst="roundRect">
            <a:avLst>
              <a:gd name="adj" fmla="val 8333"/>
            </a:avLst>
          </a:prstGeom>
          <a:solidFill>
            <a:schemeClr val="bg1"/>
          </a:solidFill>
          <a:ln/>
        </p:spPr>
        <p:txBody>
          <a:bodyPr/>
          <a:lstStyle/>
          <a:p>
            <a:endParaRPr lang="en-US"/>
          </a:p>
        </p:txBody>
      </p:sp>
      <p:sp>
        <p:nvSpPr>
          <p:cNvPr id="23" name="Shape 20"/>
          <p:cNvSpPr/>
          <p:nvPr/>
        </p:nvSpPr>
        <p:spPr>
          <a:xfrm>
            <a:off x="457200" y="2692399"/>
            <a:ext cx="1783080" cy="658368"/>
          </a:xfrm>
          <a:prstGeom prst="roundRect">
            <a:avLst>
              <a:gd name="adj" fmla="val 8333"/>
            </a:avLst>
          </a:prstGeom>
          <a:solidFill>
            <a:schemeClr val="accent5">
              <a:alpha val="16000"/>
            </a:schemeClr>
          </a:solidFill>
          <a:ln w="15875">
            <a:solidFill>
              <a:schemeClr val="accent5"/>
            </a:solidFill>
            <a:prstDash val="solid"/>
          </a:ln>
        </p:spPr>
        <p:txBody>
          <a:bodyPr/>
          <a:lstStyle/>
          <a:p>
            <a:endParaRPr lang="en-US"/>
          </a:p>
        </p:txBody>
      </p:sp>
      <p:sp>
        <p:nvSpPr>
          <p:cNvPr id="24" name="Text 21"/>
          <p:cNvSpPr txBox="1"/>
          <p:nvPr/>
        </p:nvSpPr>
        <p:spPr>
          <a:xfrm>
            <a:off x="512064" y="2692399"/>
            <a:ext cx="1673352" cy="658368"/>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Task initiator</a:t>
            </a:r>
            <a:r>
              <a:rPr lang="en-US" sz="1200" b="1" dirty="0">
                <a:solidFill>
                  <a:schemeClr val="tx1"/>
                </a:solidFill>
                <a:latin typeface="Calibri" pitchFamily="34" charset="0"/>
                <a:ea typeface="Calibri" pitchFamily="34" charset="-122"/>
                <a:cs typeface="Calibri" pitchFamily="34" charset="-120"/>
              </a:rPr>
              <a:t> gear</a:t>
            </a:r>
            <a:endParaRPr lang="en-US" sz="1200" dirty="0"/>
          </a:p>
          <a:p>
            <a:pPr marL="0" indent="0" algn="ctr">
              <a:buNone/>
            </a:pPr>
            <a:r>
              <a:rPr lang="en-US" sz="900" dirty="0">
                <a:solidFill>
                  <a:schemeClr val="tx2"/>
                </a:solidFill>
                <a:latin typeface="Calibri" pitchFamily="34" charset="0"/>
                <a:ea typeface="Calibri" pitchFamily="34" charset="-122"/>
                <a:cs typeface="Calibri" pitchFamily="34" charset="-120"/>
              </a:rPr>
              <a:t>Rust SDK</a:t>
            </a:r>
            <a:endParaRPr lang="en-US" sz="1200" dirty="0"/>
          </a:p>
        </p:txBody>
      </p:sp>
      <p:sp>
        <p:nvSpPr>
          <p:cNvPr id="25" name="Text 22"/>
          <p:cNvSpPr txBox="1"/>
          <p:nvPr/>
        </p:nvSpPr>
        <p:spPr>
          <a:xfrm>
            <a:off x="457200" y="3378199"/>
            <a:ext cx="1783080" cy="219456"/>
          </a:xfrm>
          <a:prstGeom prst="rect">
            <a:avLst/>
          </a:prstGeom>
          <a:noFill/>
          <a:ln/>
        </p:spPr>
        <p:txBody>
          <a:bodyPr wrap="square" lIns="0" tIns="0" rIns="0" bIns="0" rtlCol="0" anchor="t"/>
          <a:lstStyle/>
          <a:p>
            <a:pPr marL="0" indent="0" algn="ctr">
              <a:buNone/>
            </a:pPr>
            <a:r>
              <a:rPr lang="en-US" sz="900" i="1" dirty="0">
                <a:solidFill>
                  <a:schemeClr val="tx2"/>
                </a:solidFill>
                <a:latin typeface="Calibri" pitchFamily="34" charset="0"/>
                <a:ea typeface="Calibri" pitchFamily="34" charset="-122"/>
                <a:cs typeface="Calibri" pitchFamily="34" charset="-120"/>
              </a:rPr>
              <a:t>task initiators (producers)</a:t>
            </a:r>
            <a:endParaRPr lang="en-US" sz="900" dirty="0"/>
          </a:p>
        </p:txBody>
      </p:sp>
      <p:sp>
        <p:nvSpPr>
          <p:cNvPr id="26" name="Shape 23"/>
          <p:cNvSpPr/>
          <p:nvPr/>
        </p:nvSpPr>
        <p:spPr>
          <a:xfrm>
            <a:off x="2659830" y="1915159"/>
            <a:ext cx="2194560" cy="1874520"/>
          </a:xfrm>
          <a:prstGeom prst="roundRect">
            <a:avLst>
              <a:gd name="adj" fmla="val 2439"/>
            </a:avLst>
          </a:prstGeom>
          <a:solidFill>
            <a:schemeClr val="accent1">
              <a:alpha val="8000"/>
            </a:schemeClr>
          </a:solidFill>
          <a:ln w="19050">
            <a:solidFill>
              <a:schemeClr val="accent1"/>
            </a:solidFill>
            <a:prstDash val="dash"/>
          </a:ln>
        </p:spPr>
        <p:txBody>
          <a:bodyPr/>
          <a:lstStyle/>
          <a:p>
            <a:endParaRPr lang="en-US"/>
          </a:p>
        </p:txBody>
      </p:sp>
      <p:sp>
        <p:nvSpPr>
          <p:cNvPr id="27" name="Text 24"/>
          <p:cNvSpPr txBox="1"/>
          <p:nvPr/>
        </p:nvSpPr>
        <p:spPr>
          <a:xfrm>
            <a:off x="2751270" y="1960879"/>
            <a:ext cx="2011680" cy="237744"/>
          </a:xfrm>
          <a:prstGeom prst="rect">
            <a:avLst/>
          </a:prstGeom>
          <a:noFill/>
          <a:ln/>
        </p:spPr>
        <p:txBody>
          <a:bodyPr wrap="square" lIns="0" tIns="0" rIns="0" bIns="0" rtlCol="0" anchor="t"/>
          <a:lstStyle/>
          <a:p>
            <a:pPr marL="0" indent="0" algn="ctr">
              <a:buNone/>
            </a:pPr>
            <a:r>
              <a:rPr lang="en-US" sz="1000" b="1" dirty="0">
                <a:solidFill>
                  <a:schemeClr val="tx1"/>
                </a:solidFill>
                <a:latin typeface="Calibri" pitchFamily="34" charset="0"/>
                <a:ea typeface="Calibri" pitchFamily="34" charset="-122"/>
                <a:cs typeface="Calibri" pitchFamily="34" charset="-120"/>
              </a:rPr>
              <a:t>Task Engine · N identical nodes</a:t>
            </a:r>
            <a:endParaRPr lang="en-US" sz="1000" dirty="0"/>
          </a:p>
        </p:txBody>
      </p:sp>
      <p:sp>
        <p:nvSpPr>
          <p:cNvPr id="28" name="Shape 25"/>
          <p:cNvSpPr/>
          <p:nvPr/>
        </p:nvSpPr>
        <p:spPr>
          <a:xfrm>
            <a:off x="2796990" y="2262631"/>
            <a:ext cx="914400" cy="566928"/>
          </a:xfrm>
          <a:prstGeom prst="roundRect">
            <a:avLst>
              <a:gd name="adj" fmla="val 9677"/>
            </a:avLst>
          </a:prstGeom>
          <a:solidFill>
            <a:schemeClr val="bg1"/>
          </a:solidFill>
          <a:ln/>
        </p:spPr>
        <p:txBody>
          <a:bodyPr/>
          <a:lstStyle/>
          <a:p>
            <a:endParaRPr lang="en-US"/>
          </a:p>
        </p:txBody>
      </p:sp>
      <p:sp>
        <p:nvSpPr>
          <p:cNvPr id="29" name="Shape 26"/>
          <p:cNvSpPr/>
          <p:nvPr/>
        </p:nvSpPr>
        <p:spPr>
          <a:xfrm>
            <a:off x="2796990" y="2262631"/>
            <a:ext cx="914400" cy="566928"/>
          </a:xfrm>
          <a:prstGeom prst="roundRect">
            <a:avLst>
              <a:gd name="adj" fmla="val 9677"/>
            </a:avLst>
          </a:prstGeom>
          <a:solidFill>
            <a:schemeClr val="accent1">
              <a:alpha val="25000"/>
            </a:schemeClr>
          </a:solidFill>
          <a:ln w="15875">
            <a:solidFill>
              <a:schemeClr val="accent1"/>
            </a:solidFill>
            <a:prstDash val="solid"/>
          </a:ln>
        </p:spPr>
        <p:txBody>
          <a:bodyPr/>
          <a:lstStyle/>
          <a:p>
            <a:endParaRPr lang="en-US"/>
          </a:p>
        </p:txBody>
      </p:sp>
      <p:sp>
        <p:nvSpPr>
          <p:cNvPr id="30" name="Text 27"/>
          <p:cNvSpPr txBox="1"/>
          <p:nvPr/>
        </p:nvSpPr>
        <p:spPr>
          <a:xfrm>
            <a:off x="2851854" y="2262631"/>
            <a:ext cx="804672"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node A</a:t>
            </a:r>
            <a:endParaRPr lang="en-US" sz="1100" dirty="0"/>
          </a:p>
        </p:txBody>
      </p:sp>
      <p:sp>
        <p:nvSpPr>
          <p:cNvPr id="31" name="Shape 28"/>
          <p:cNvSpPr/>
          <p:nvPr/>
        </p:nvSpPr>
        <p:spPr>
          <a:xfrm>
            <a:off x="3802830" y="2262631"/>
            <a:ext cx="914400" cy="566928"/>
          </a:xfrm>
          <a:prstGeom prst="roundRect">
            <a:avLst>
              <a:gd name="adj" fmla="val 9677"/>
            </a:avLst>
          </a:prstGeom>
          <a:solidFill>
            <a:schemeClr val="bg1"/>
          </a:solidFill>
          <a:ln/>
        </p:spPr>
        <p:txBody>
          <a:bodyPr/>
          <a:lstStyle/>
          <a:p>
            <a:endParaRPr lang="en-US"/>
          </a:p>
        </p:txBody>
      </p:sp>
      <p:sp>
        <p:nvSpPr>
          <p:cNvPr id="32" name="Shape 29"/>
          <p:cNvSpPr/>
          <p:nvPr/>
        </p:nvSpPr>
        <p:spPr>
          <a:xfrm>
            <a:off x="3802830" y="2262631"/>
            <a:ext cx="914400" cy="566928"/>
          </a:xfrm>
          <a:prstGeom prst="roundRect">
            <a:avLst>
              <a:gd name="adj" fmla="val 9677"/>
            </a:avLst>
          </a:prstGeom>
          <a:solidFill>
            <a:schemeClr val="accent1">
              <a:alpha val="25000"/>
            </a:schemeClr>
          </a:solidFill>
          <a:ln w="15875">
            <a:solidFill>
              <a:schemeClr val="accent1"/>
            </a:solidFill>
            <a:prstDash val="solid"/>
          </a:ln>
        </p:spPr>
        <p:txBody>
          <a:bodyPr/>
          <a:lstStyle/>
          <a:p>
            <a:endParaRPr lang="en-US"/>
          </a:p>
        </p:txBody>
      </p:sp>
      <p:sp>
        <p:nvSpPr>
          <p:cNvPr id="33" name="Text 30"/>
          <p:cNvSpPr txBox="1"/>
          <p:nvPr/>
        </p:nvSpPr>
        <p:spPr>
          <a:xfrm>
            <a:off x="3857694" y="2262631"/>
            <a:ext cx="804672"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node B</a:t>
            </a:r>
            <a:endParaRPr lang="en-US" sz="1100" dirty="0"/>
          </a:p>
        </p:txBody>
      </p:sp>
      <p:sp>
        <p:nvSpPr>
          <p:cNvPr id="34" name="Text 31"/>
          <p:cNvSpPr txBox="1"/>
          <p:nvPr/>
        </p:nvSpPr>
        <p:spPr>
          <a:xfrm>
            <a:off x="2751270" y="2920999"/>
            <a:ext cx="2011680" cy="457200"/>
          </a:xfrm>
          <a:prstGeom prst="rect">
            <a:avLst/>
          </a:prstGeom>
          <a:noFill/>
          <a:ln/>
        </p:spPr>
        <p:txBody>
          <a:bodyPr wrap="square" lIns="0" tIns="0" rIns="0" bIns="0" rtlCol="0" anchor="t"/>
          <a:lstStyle/>
          <a:p>
            <a:pPr marL="0" indent="0" algn="ctr">
              <a:buNone/>
            </a:pPr>
            <a:r>
              <a:rPr lang="en-US" sz="900" dirty="0">
                <a:solidFill>
                  <a:schemeClr val="tx2"/>
                </a:solidFill>
                <a:latin typeface="Calibri" pitchFamily="34" charset="0"/>
                <a:ea typeface="Calibri" pitchFamily="34" charset="-122"/>
                <a:cs typeface="Calibri" pitchFamily="34" charset="-120"/>
              </a:rPr>
              <a:t>queues · leases · timers · retries · waits</a:t>
            </a:r>
            <a:endParaRPr lang="en-US" sz="900" dirty="0"/>
          </a:p>
        </p:txBody>
      </p:sp>
      <p:sp>
        <p:nvSpPr>
          <p:cNvPr id="35" name="Shape 32"/>
          <p:cNvSpPr/>
          <p:nvPr/>
        </p:nvSpPr>
        <p:spPr>
          <a:xfrm>
            <a:off x="2261796" y="2244343"/>
            <a:ext cx="360000" cy="0"/>
          </a:xfrm>
          <a:prstGeom prst="line">
            <a:avLst/>
          </a:prstGeom>
          <a:noFill/>
          <a:ln w="15875">
            <a:solidFill>
              <a:schemeClr val="tx1"/>
            </a:solidFill>
            <a:prstDash val="solid"/>
            <a:headEnd type="none"/>
            <a:tailEnd type="triangle"/>
          </a:ln>
        </p:spPr>
        <p:txBody>
          <a:bodyPr/>
          <a:lstStyle/>
          <a:p>
            <a:endParaRPr lang="en-US"/>
          </a:p>
        </p:txBody>
      </p:sp>
      <p:sp>
        <p:nvSpPr>
          <p:cNvPr id="36" name="Shape 33"/>
          <p:cNvSpPr/>
          <p:nvPr/>
        </p:nvSpPr>
        <p:spPr>
          <a:xfrm flipV="1">
            <a:off x="2261796" y="2994151"/>
            <a:ext cx="360000" cy="0"/>
          </a:xfrm>
          <a:prstGeom prst="line">
            <a:avLst/>
          </a:prstGeom>
          <a:noFill/>
          <a:ln w="15875">
            <a:solidFill>
              <a:schemeClr val="tx1"/>
            </a:solidFill>
            <a:prstDash val="solid"/>
            <a:headEnd type="none"/>
            <a:tailEnd type="triangle"/>
          </a:ln>
        </p:spPr>
        <p:txBody>
          <a:bodyPr/>
          <a:lstStyle/>
          <a:p>
            <a:endParaRPr lang="en-US"/>
          </a:p>
        </p:txBody>
      </p:sp>
      <p:sp>
        <p:nvSpPr>
          <p:cNvPr id="37" name="Text 34"/>
          <p:cNvSpPr txBox="1"/>
          <p:nvPr/>
        </p:nvSpPr>
        <p:spPr>
          <a:xfrm>
            <a:off x="2298910" y="2271535"/>
            <a:ext cx="457200" cy="182880"/>
          </a:xfrm>
          <a:prstGeom prst="rect">
            <a:avLst/>
          </a:prstGeom>
          <a:noFill/>
          <a:ln/>
        </p:spPr>
        <p:txBody>
          <a:bodyPr wrap="square" lIns="0" tIns="0" rIns="0" bIns="0" rtlCol="0" anchor="t"/>
          <a:lstStyle/>
          <a:p>
            <a:pPr marL="0" indent="0">
              <a:buNone/>
            </a:pPr>
            <a:r>
              <a:rPr lang="en-US" sz="900" dirty="0">
                <a:solidFill>
                  <a:schemeClr val="tx2"/>
                </a:solidFill>
                <a:latin typeface="Calibri" pitchFamily="34" charset="0"/>
                <a:ea typeface="Calibri" pitchFamily="34" charset="-122"/>
                <a:cs typeface="Calibri" pitchFamily="34" charset="-120"/>
              </a:rPr>
              <a:t>read</a:t>
            </a:r>
            <a:endParaRPr lang="en-US" sz="900" dirty="0"/>
          </a:p>
        </p:txBody>
      </p:sp>
      <p:sp>
        <p:nvSpPr>
          <p:cNvPr id="38" name="Shape 35"/>
          <p:cNvSpPr/>
          <p:nvPr/>
        </p:nvSpPr>
        <p:spPr>
          <a:xfrm>
            <a:off x="3757110" y="3789679"/>
            <a:ext cx="91" cy="182880"/>
          </a:xfrm>
          <a:prstGeom prst="line">
            <a:avLst/>
          </a:prstGeom>
          <a:noFill/>
          <a:ln w="25400">
            <a:solidFill>
              <a:schemeClr val="accent2"/>
            </a:solidFill>
            <a:prstDash val="solid"/>
            <a:headEnd type="none"/>
            <a:tailEnd type="triangle"/>
          </a:ln>
        </p:spPr>
        <p:txBody>
          <a:bodyPr/>
          <a:lstStyle/>
          <a:p>
            <a:endParaRPr lang="en-US"/>
          </a:p>
        </p:txBody>
      </p:sp>
      <p:sp>
        <p:nvSpPr>
          <p:cNvPr id="39" name="Shape 36"/>
          <p:cNvSpPr/>
          <p:nvPr/>
        </p:nvSpPr>
        <p:spPr>
          <a:xfrm>
            <a:off x="2788920" y="3945127"/>
            <a:ext cx="1828800" cy="868680"/>
          </a:xfrm>
          <a:prstGeom prst="can">
            <a:avLst/>
          </a:prstGeom>
          <a:solidFill>
            <a:schemeClr val="accent2"/>
          </a:solidFill>
          <a:ln w="15875">
            <a:solidFill>
              <a:schemeClr val="accent2"/>
            </a:solidFill>
            <a:prstDash val="solid"/>
          </a:ln>
        </p:spPr>
        <p:txBody>
          <a:bodyPr/>
          <a:lstStyle/>
          <a:p>
            <a:endParaRPr lang="en-US"/>
          </a:p>
        </p:txBody>
      </p:sp>
      <p:sp>
        <p:nvSpPr>
          <p:cNvPr id="40" name="Text 37"/>
          <p:cNvSpPr txBox="1"/>
          <p:nvPr/>
        </p:nvSpPr>
        <p:spPr>
          <a:xfrm>
            <a:off x="2880360" y="4101489"/>
            <a:ext cx="1645920" cy="712318"/>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Operational DB</a:t>
            </a:r>
            <a:endParaRPr lang="en-US" sz="1100" dirty="0"/>
          </a:p>
          <a:p>
            <a:pPr marL="0" indent="0" algn="ctr">
              <a:buNone/>
            </a:pPr>
            <a:r>
              <a:rPr lang="en-US" sz="900" dirty="0">
                <a:solidFill>
                  <a:schemeClr val="bg1"/>
                </a:solidFill>
                <a:latin typeface="Calibri" pitchFamily="34" charset="0"/>
                <a:ea typeface="Calibri" pitchFamily="34" charset="-122"/>
                <a:cs typeface="Calibri" pitchFamily="34" charset="-120"/>
              </a:rPr>
              <a:t>tasks · leases · outbox</a:t>
            </a:r>
            <a:endParaRPr lang="en-US" sz="1100" dirty="0"/>
          </a:p>
        </p:txBody>
      </p:sp>
      <p:sp>
        <p:nvSpPr>
          <p:cNvPr id="41" name="Shape 38"/>
          <p:cNvSpPr/>
          <p:nvPr/>
        </p:nvSpPr>
        <p:spPr>
          <a:xfrm>
            <a:off x="457200" y="3789679"/>
            <a:ext cx="1783080" cy="548640"/>
          </a:xfrm>
          <a:prstGeom prst="roundRect">
            <a:avLst>
              <a:gd name="adj" fmla="val 10000"/>
            </a:avLst>
          </a:prstGeom>
          <a:solidFill>
            <a:schemeClr val="bg1"/>
          </a:solidFill>
          <a:ln/>
        </p:spPr>
        <p:txBody>
          <a:bodyPr/>
          <a:lstStyle/>
          <a:p>
            <a:endParaRPr lang="en-US"/>
          </a:p>
        </p:txBody>
      </p:sp>
      <p:sp>
        <p:nvSpPr>
          <p:cNvPr id="42" name="Shape 39"/>
          <p:cNvSpPr/>
          <p:nvPr/>
        </p:nvSpPr>
        <p:spPr>
          <a:xfrm>
            <a:off x="457200" y="3789679"/>
            <a:ext cx="1783080" cy="548640"/>
          </a:xfrm>
          <a:prstGeom prst="roundRect">
            <a:avLst>
              <a:gd name="adj" fmla="val 10000"/>
            </a:avLst>
          </a:prstGeom>
          <a:solidFill>
            <a:schemeClr val="accent3">
              <a:alpha val="16000"/>
            </a:schemeClr>
          </a:solidFill>
          <a:ln w="15875">
            <a:solidFill>
              <a:schemeClr val="accent3"/>
            </a:solidFill>
            <a:prstDash val="solid"/>
          </a:ln>
        </p:spPr>
        <p:txBody>
          <a:bodyPr/>
          <a:lstStyle/>
          <a:p>
            <a:endParaRPr lang="en-US"/>
          </a:p>
        </p:txBody>
      </p:sp>
      <p:sp>
        <p:nvSpPr>
          <p:cNvPr id="43" name="Text 40"/>
          <p:cNvSpPr txBox="1"/>
          <p:nvPr/>
        </p:nvSpPr>
        <p:spPr>
          <a:xfrm>
            <a:off x="512064" y="3789679"/>
            <a:ext cx="1673352" cy="54864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Event Broker</a:t>
            </a:r>
            <a:endParaRPr lang="en-US" sz="1200" dirty="0"/>
          </a:p>
          <a:p>
            <a:pPr marL="0" indent="0" algn="ctr">
              <a:buNone/>
            </a:pPr>
            <a:r>
              <a:rPr lang="en-US" sz="900" dirty="0">
                <a:solidFill>
                  <a:schemeClr val="tx2"/>
                </a:solidFill>
                <a:latin typeface="Calibri" pitchFamily="34" charset="0"/>
                <a:ea typeface="Calibri" pitchFamily="34" charset="-122"/>
                <a:cs typeface="Calibri" pitchFamily="34" charset="-120"/>
              </a:rPr>
              <a:t>lifecycle events</a:t>
            </a:r>
            <a:endParaRPr lang="en-US" sz="1200" dirty="0"/>
          </a:p>
        </p:txBody>
      </p:sp>
      <p:sp>
        <p:nvSpPr>
          <p:cNvPr id="44" name="Shape 41"/>
          <p:cNvSpPr/>
          <p:nvPr/>
        </p:nvSpPr>
        <p:spPr>
          <a:xfrm>
            <a:off x="457200" y="4475479"/>
            <a:ext cx="1783080" cy="566928"/>
          </a:xfrm>
          <a:prstGeom prst="roundRect">
            <a:avLst>
              <a:gd name="adj" fmla="val 9677"/>
            </a:avLst>
          </a:prstGeom>
          <a:solidFill>
            <a:schemeClr val="bg1"/>
          </a:solidFill>
          <a:ln/>
        </p:spPr>
        <p:txBody>
          <a:bodyPr/>
          <a:lstStyle/>
          <a:p>
            <a:endParaRPr lang="en-US"/>
          </a:p>
        </p:txBody>
      </p:sp>
      <p:sp>
        <p:nvSpPr>
          <p:cNvPr id="45" name="Shape 42"/>
          <p:cNvSpPr/>
          <p:nvPr/>
        </p:nvSpPr>
        <p:spPr>
          <a:xfrm>
            <a:off x="457200" y="4475479"/>
            <a:ext cx="1783080" cy="566928"/>
          </a:xfrm>
          <a:prstGeom prst="roundRect">
            <a:avLst>
              <a:gd name="adj" fmla="val 9677"/>
            </a:avLst>
          </a:prstGeom>
          <a:solidFill>
            <a:schemeClr val="accent5">
              <a:alpha val="16000"/>
            </a:schemeClr>
          </a:solidFill>
          <a:ln w="15875">
            <a:solidFill>
              <a:schemeClr val="accent5"/>
            </a:solidFill>
            <a:prstDash val="solid"/>
          </a:ln>
        </p:spPr>
        <p:txBody>
          <a:bodyPr/>
          <a:lstStyle/>
          <a:p>
            <a:endParaRPr lang="en-US"/>
          </a:p>
        </p:txBody>
      </p:sp>
      <p:sp>
        <p:nvSpPr>
          <p:cNvPr id="46" name="Text 43"/>
          <p:cNvSpPr txBox="1"/>
          <p:nvPr/>
        </p:nvSpPr>
        <p:spPr>
          <a:xfrm>
            <a:off x="512064" y="4475479"/>
            <a:ext cx="1673352"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Event consumers</a:t>
            </a:r>
            <a:endParaRPr lang="en-US" sz="1100" dirty="0"/>
          </a:p>
          <a:p>
            <a:pPr marL="0" indent="0" algn="ctr">
              <a:buNone/>
            </a:pPr>
            <a:r>
              <a:rPr lang="en-US" sz="900" dirty="0">
                <a:solidFill>
                  <a:schemeClr val="tx2"/>
                </a:solidFill>
                <a:latin typeface="Calibri" pitchFamily="34" charset="0"/>
                <a:ea typeface="Calibri" pitchFamily="34" charset="-122"/>
                <a:cs typeface="Calibri" pitchFamily="34" charset="-120"/>
              </a:rPr>
              <a:t>notifications · audit · UI</a:t>
            </a:r>
            <a:endParaRPr lang="en-US" sz="1100" dirty="0"/>
          </a:p>
        </p:txBody>
      </p:sp>
      <p:sp>
        <p:nvSpPr>
          <p:cNvPr id="47" name="Shape 44"/>
          <p:cNvSpPr/>
          <p:nvPr/>
        </p:nvSpPr>
        <p:spPr>
          <a:xfrm flipH="1">
            <a:off x="2240280" y="3689093"/>
            <a:ext cx="360739" cy="237745"/>
          </a:xfrm>
          <a:prstGeom prst="line">
            <a:avLst/>
          </a:prstGeom>
          <a:noFill/>
          <a:ln w="15875">
            <a:solidFill>
              <a:schemeClr val="accent3"/>
            </a:solidFill>
            <a:prstDash val="solid"/>
            <a:headEnd type="none"/>
            <a:tailEnd type="triangle"/>
          </a:ln>
        </p:spPr>
        <p:txBody>
          <a:bodyPr/>
          <a:lstStyle/>
          <a:p>
            <a:endParaRPr lang="en-US"/>
          </a:p>
        </p:txBody>
      </p:sp>
      <p:sp>
        <p:nvSpPr>
          <p:cNvPr id="48" name="Shape 45"/>
          <p:cNvSpPr/>
          <p:nvPr/>
        </p:nvSpPr>
        <p:spPr>
          <a:xfrm>
            <a:off x="1344168" y="4338319"/>
            <a:ext cx="91" cy="137160"/>
          </a:xfrm>
          <a:prstGeom prst="line">
            <a:avLst/>
          </a:prstGeom>
          <a:noFill/>
          <a:ln w="15875">
            <a:solidFill>
              <a:schemeClr val="accent3"/>
            </a:solidFill>
            <a:prstDash val="solid"/>
            <a:headEnd type="none"/>
            <a:tailEnd type="triangle"/>
          </a:ln>
        </p:spPr>
        <p:txBody>
          <a:bodyPr/>
          <a:lstStyle/>
          <a:p>
            <a:endParaRPr lang="en-US"/>
          </a:p>
        </p:txBody>
      </p:sp>
      <p:sp>
        <p:nvSpPr>
          <p:cNvPr id="49" name="Shape 46"/>
          <p:cNvSpPr/>
          <p:nvPr/>
        </p:nvSpPr>
        <p:spPr>
          <a:xfrm>
            <a:off x="5623560" y="1915159"/>
            <a:ext cx="1874520" cy="603504"/>
          </a:xfrm>
          <a:prstGeom prst="roundRect">
            <a:avLst>
              <a:gd name="adj" fmla="val 9091"/>
            </a:avLst>
          </a:prstGeom>
          <a:solidFill>
            <a:schemeClr val="bg1"/>
          </a:solidFill>
          <a:ln/>
        </p:spPr>
        <p:txBody>
          <a:bodyPr/>
          <a:lstStyle/>
          <a:p>
            <a:endParaRPr lang="en-US"/>
          </a:p>
        </p:txBody>
      </p:sp>
      <p:sp>
        <p:nvSpPr>
          <p:cNvPr id="50" name="Shape 47"/>
          <p:cNvSpPr/>
          <p:nvPr/>
        </p:nvSpPr>
        <p:spPr>
          <a:xfrm>
            <a:off x="5623560" y="1915159"/>
            <a:ext cx="1874520" cy="603504"/>
          </a:xfrm>
          <a:prstGeom prst="roundRect">
            <a:avLst>
              <a:gd name="adj" fmla="val 9091"/>
            </a:avLst>
          </a:prstGeom>
          <a:solidFill>
            <a:schemeClr val="accent1">
              <a:alpha val="20000"/>
            </a:schemeClr>
          </a:solidFill>
          <a:ln w="15875">
            <a:solidFill>
              <a:schemeClr val="accent1"/>
            </a:solidFill>
            <a:prstDash val="solid"/>
          </a:ln>
        </p:spPr>
        <p:txBody>
          <a:bodyPr/>
          <a:lstStyle/>
          <a:p>
            <a:endParaRPr lang="en-US"/>
          </a:p>
        </p:txBody>
      </p:sp>
      <p:sp>
        <p:nvSpPr>
          <p:cNvPr id="51" name="Text 48"/>
          <p:cNvSpPr txBox="1"/>
          <p:nvPr/>
        </p:nvSpPr>
        <p:spPr>
          <a:xfrm>
            <a:off x="5678424" y="1915159"/>
            <a:ext cx="1764792" cy="603504"/>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Worker 1 · running</a:t>
            </a:r>
            <a:endParaRPr lang="en-US" sz="1100" dirty="0"/>
          </a:p>
          <a:p>
            <a:pPr marL="0" indent="0" algn="ctr">
              <a:buNone/>
            </a:pPr>
            <a:r>
              <a:rPr lang="en-US" sz="900" dirty="0">
                <a:solidFill>
                  <a:schemeClr val="tx2"/>
                </a:solidFill>
                <a:latin typeface="Calibri" pitchFamily="34" charset="0"/>
                <a:ea typeface="Calibri" pitchFamily="34" charset="-122"/>
                <a:cs typeface="Calibri" pitchFamily="34" charset="-120"/>
              </a:rPr>
              <a:t>lease to T+30 s, heartbeat 10 s</a:t>
            </a:r>
            <a:endParaRPr lang="en-US" sz="1100" dirty="0"/>
          </a:p>
        </p:txBody>
      </p:sp>
      <p:sp>
        <p:nvSpPr>
          <p:cNvPr id="52" name="Shape 49"/>
          <p:cNvSpPr/>
          <p:nvPr/>
        </p:nvSpPr>
        <p:spPr>
          <a:xfrm>
            <a:off x="5623560" y="2619247"/>
            <a:ext cx="1874520" cy="603504"/>
          </a:xfrm>
          <a:prstGeom prst="roundRect">
            <a:avLst>
              <a:gd name="adj" fmla="val 9091"/>
            </a:avLst>
          </a:prstGeom>
          <a:solidFill>
            <a:schemeClr val="bg1"/>
          </a:solidFill>
          <a:ln/>
        </p:spPr>
        <p:txBody>
          <a:bodyPr/>
          <a:lstStyle/>
          <a:p>
            <a:endParaRPr lang="en-US"/>
          </a:p>
        </p:txBody>
      </p:sp>
      <p:sp>
        <p:nvSpPr>
          <p:cNvPr id="53" name="Shape 50"/>
          <p:cNvSpPr/>
          <p:nvPr/>
        </p:nvSpPr>
        <p:spPr>
          <a:xfrm>
            <a:off x="5623560" y="2619247"/>
            <a:ext cx="1874520" cy="603504"/>
          </a:xfrm>
          <a:prstGeom prst="roundRect">
            <a:avLst>
              <a:gd name="adj" fmla="val 9091"/>
            </a:avLst>
          </a:prstGeom>
          <a:solidFill>
            <a:schemeClr val="accent1">
              <a:alpha val="20000"/>
            </a:schemeClr>
          </a:solidFill>
          <a:ln w="15875">
            <a:solidFill>
              <a:schemeClr val="accent1"/>
            </a:solidFill>
            <a:prstDash val="solid"/>
          </a:ln>
        </p:spPr>
        <p:txBody>
          <a:bodyPr/>
          <a:lstStyle/>
          <a:p>
            <a:endParaRPr lang="en-US"/>
          </a:p>
        </p:txBody>
      </p:sp>
      <p:sp>
        <p:nvSpPr>
          <p:cNvPr id="54" name="Text 51"/>
          <p:cNvSpPr txBox="1"/>
          <p:nvPr/>
        </p:nvSpPr>
        <p:spPr>
          <a:xfrm>
            <a:off x="5678424" y="2619247"/>
            <a:ext cx="1764792" cy="603504"/>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Worker 2 · running</a:t>
            </a:r>
            <a:endParaRPr lang="en-US" sz="1100" dirty="0"/>
          </a:p>
          <a:p>
            <a:pPr marL="0" indent="0" algn="ctr">
              <a:buNone/>
            </a:pPr>
            <a:r>
              <a:rPr lang="en-US" sz="900" dirty="0">
                <a:solidFill>
                  <a:schemeClr val="tx2"/>
                </a:solidFill>
                <a:latin typeface="Calibri" pitchFamily="34" charset="0"/>
                <a:ea typeface="Calibri" pitchFamily="34" charset="-122"/>
                <a:cs typeface="Calibri" pitchFamily="34" charset="-120"/>
              </a:rPr>
              <a:t>renews lease every heartbeat</a:t>
            </a:r>
            <a:endParaRPr lang="en-US" sz="1100" dirty="0"/>
          </a:p>
        </p:txBody>
      </p:sp>
      <p:sp>
        <p:nvSpPr>
          <p:cNvPr id="55" name="Shape 52"/>
          <p:cNvSpPr/>
          <p:nvPr/>
        </p:nvSpPr>
        <p:spPr>
          <a:xfrm>
            <a:off x="5623560" y="3323335"/>
            <a:ext cx="1874520" cy="603504"/>
          </a:xfrm>
          <a:prstGeom prst="roundRect">
            <a:avLst>
              <a:gd name="adj" fmla="val 9091"/>
            </a:avLst>
          </a:prstGeom>
          <a:solidFill>
            <a:schemeClr val="bg1"/>
          </a:solidFill>
          <a:ln/>
        </p:spPr>
        <p:txBody>
          <a:bodyPr/>
          <a:lstStyle/>
          <a:p>
            <a:endParaRPr lang="en-US"/>
          </a:p>
        </p:txBody>
      </p:sp>
      <p:sp>
        <p:nvSpPr>
          <p:cNvPr id="56" name="Shape 53"/>
          <p:cNvSpPr/>
          <p:nvPr/>
        </p:nvSpPr>
        <p:spPr>
          <a:xfrm>
            <a:off x="5623560" y="3323335"/>
            <a:ext cx="1874520" cy="603504"/>
          </a:xfrm>
          <a:prstGeom prst="roundRect">
            <a:avLst>
              <a:gd name="adj" fmla="val 9091"/>
            </a:avLst>
          </a:prstGeom>
          <a:solidFill>
            <a:schemeClr val="accent5">
              <a:alpha val="12000"/>
            </a:schemeClr>
          </a:solidFill>
          <a:ln w="15875">
            <a:solidFill>
              <a:schemeClr val="accent5"/>
            </a:solidFill>
            <a:prstDash val="solid"/>
          </a:ln>
        </p:spPr>
        <p:txBody>
          <a:bodyPr/>
          <a:lstStyle/>
          <a:p>
            <a:endParaRPr lang="en-US"/>
          </a:p>
        </p:txBody>
      </p:sp>
      <p:sp>
        <p:nvSpPr>
          <p:cNvPr id="57" name="Text 54"/>
          <p:cNvSpPr txBox="1"/>
          <p:nvPr/>
        </p:nvSpPr>
        <p:spPr>
          <a:xfrm>
            <a:off x="5678424" y="3323335"/>
            <a:ext cx="1764792" cy="603504"/>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Worker 3 · waiting</a:t>
            </a:r>
            <a:endParaRPr lang="en-US" sz="1100" dirty="0"/>
          </a:p>
          <a:p>
            <a:pPr marL="0" indent="0" algn="ctr">
              <a:buNone/>
            </a:pPr>
            <a:r>
              <a:rPr lang="en-US" sz="900" dirty="0">
                <a:solidFill>
                  <a:schemeClr val="tx2"/>
                </a:solidFill>
                <a:latin typeface="Calibri" pitchFamily="34" charset="0"/>
                <a:ea typeface="Calibri" pitchFamily="34" charset="-122"/>
                <a:cs typeface="Calibri" pitchFamily="34" charset="-120"/>
              </a:rPr>
              <a:t>long-poll parked ≤ 30 s</a:t>
            </a:r>
            <a:endParaRPr lang="en-US" sz="1100" dirty="0"/>
          </a:p>
        </p:txBody>
      </p:sp>
      <p:sp>
        <p:nvSpPr>
          <p:cNvPr id="58" name="Shape 55"/>
          <p:cNvSpPr/>
          <p:nvPr/>
        </p:nvSpPr>
        <p:spPr>
          <a:xfrm>
            <a:off x="5623560" y="4027423"/>
            <a:ext cx="1874520" cy="603504"/>
          </a:xfrm>
          <a:prstGeom prst="roundRect">
            <a:avLst>
              <a:gd name="adj" fmla="val 9091"/>
            </a:avLst>
          </a:prstGeom>
          <a:solidFill>
            <a:schemeClr val="bg1"/>
          </a:solidFill>
          <a:ln/>
        </p:spPr>
        <p:txBody>
          <a:bodyPr/>
          <a:lstStyle/>
          <a:p>
            <a:endParaRPr lang="en-US"/>
          </a:p>
        </p:txBody>
      </p:sp>
      <p:sp>
        <p:nvSpPr>
          <p:cNvPr id="59" name="Shape 56"/>
          <p:cNvSpPr/>
          <p:nvPr/>
        </p:nvSpPr>
        <p:spPr>
          <a:xfrm>
            <a:off x="5623560" y="4027423"/>
            <a:ext cx="1874520" cy="603504"/>
          </a:xfrm>
          <a:prstGeom prst="roundRect">
            <a:avLst>
              <a:gd name="adj" fmla="val 9091"/>
            </a:avLst>
          </a:prstGeom>
          <a:solidFill>
            <a:schemeClr val="accent5">
              <a:alpha val="12000"/>
            </a:schemeClr>
          </a:solidFill>
          <a:ln w="15875">
            <a:solidFill>
              <a:schemeClr val="accent5"/>
            </a:solidFill>
            <a:prstDash val="dash"/>
          </a:ln>
        </p:spPr>
        <p:txBody>
          <a:bodyPr/>
          <a:lstStyle/>
          <a:p>
            <a:endParaRPr lang="en-US"/>
          </a:p>
        </p:txBody>
      </p:sp>
      <p:sp>
        <p:nvSpPr>
          <p:cNvPr id="60" name="Text 57"/>
          <p:cNvSpPr txBox="1"/>
          <p:nvPr/>
        </p:nvSpPr>
        <p:spPr>
          <a:xfrm>
            <a:off x="5678424" y="4027423"/>
            <a:ext cx="1764792" cy="603504"/>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Worker 4 · gRPC stream</a:t>
            </a:r>
            <a:endParaRPr lang="en-US" sz="1100" dirty="0"/>
          </a:p>
          <a:p>
            <a:pPr marL="0" indent="0" algn="ctr">
              <a:buNone/>
            </a:pPr>
            <a:r>
              <a:rPr lang="en-US" sz="900" dirty="0">
                <a:solidFill>
                  <a:schemeClr val="tx2"/>
                </a:solidFill>
                <a:latin typeface="Calibri" pitchFamily="34" charset="0"/>
                <a:ea typeface="Calibri" pitchFamily="34" charset="-122"/>
                <a:cs typeface="Calibri" pitchFamily="34" charset="-120"/>
              </a:rPr>
              <a:t>tasks pushed (future, P3)</a:t>
            </a:r>
            <a:endParaRPr lang="en-US" sz="1100" dirty="0"/>
          </a:p>
        </p:txBody>
      </p:sp>
      <p:sp>
        <p:nvSpPr>
          <p:cNvPr id="61" name="Shape 58"/>
          <p:cNvSpPr/>
          <p:nvPr/>
        </p:nvSpPr>
        <p:spPr>
          <a:xfrm flipH="1">
            <a:off x="4865148" y="2216911"/>
            <a:ext cx="720000" cy="0"/>
          </a:xfrm>
          <a:prstGeom prst="line">
            <a:avLst/>
          </a:prstGeom>
          <a:noFill/>
          <a:ln w="15875">
            <a:solidFill>
              <a:schemeClr val="tx1"/>
            </a:solidFill>
            <a:prstDash val="solid"/>
            <a:headEnd type="none" w="med" len="med"/>
            <a:tailEnd type="triangle" w="med" len="med"/>
          </a:ln>
        </p:spPr>
        <p:txBody>
          <a:bodyPr/>
          <a:lstStyle/>
          <a:p>
            <a:endParaRPr lang="en-US"/>
          </a:p>
        </p:txBody>
      </p:sp>
      <p:sp>
        <p:nvSpPr>
          <p:cNvPr id="62" name="Text 59"/>
          <p:cNvSpPr txBox="1"/>
          <p:nvPr/>
        </p:nvSpPr>
        <p:spPr>
          <a:xfrm>
            <a:off x="4846320" y="2015743"/>
            <a:ext cx="749808" cy="182880"/>
          </a:xfrm>
          <a:prstGeom prst="rect">
            <a:avLst/>
          </a:prstGeom>
          <a:noFill/>
          <a:ln/>
        </p:spPr>
        <p:txBody>
          <a:bodyPr wrap="square" lIns="0" tIns="0" rIns="0" bIns="0" rtlCol="0" anchor="t"/>
          <a:lstStyle/>
          <a:p>
            <a:pPr marL="0" indent="0" algn="ctr">
              <a:buNone/>
            </a:pPr>
            <a:r>
              <a:rPr lang="en-US" sz="900" dirty="0">
                <a:solidFill>
                  <a:schemeClr val="tx1"/>
                </a:solidFill>
                <a:latin typeface="Calibri" pitchFamily="34" charset="0"/>
                <a:ea typeface="Calibri" pitchFamily="34" charset="-122"/>
                <a:cs typeface="Calibri" pitchFamily="34" charset="-120"/>
              </a:rPr>
              <a:t>heartbeat</a:t>
            </a:r>
            <a:endParaRPr lang="en-US" sz="900" dirty="0"/>
          </a:p>
        </p:txBody>
      </p:sp>
      <p:sp>
        <p:nvSpPr>
          <p:cNvPr id="63" name="Shape 60"/>
          <p:cNvSpPr/>
          <p:nvPr/>
        </p:nvSpPr>
        <p:spPr>
          <a:xfrm flipH="1" flipV="1">
            <a:off x="4865148" y="2911856"/>
            <a:ext cx="720000" cy="0"/>
          </a:xfrm>
          <a:prstGeom prst="line">
            <a:avLst/>
          </a:prstGeom>
          <a:noFill/>
          <a:ln w="15875">
            <a:solidFill>
              <a:schemeClr val="tx1"/>
            </a:solidFill>
            <a:prstDash val="solid"/>
            <a:headEnd type="none" w="med" len="med"/>
            <a:tailEnd type="triangle" w="med" len="med"/>
          </a:ln>
        </p:spPr>
        <p:txBody>
          <a:bodyPr/>
          <a:lstStyle/>
          <a:p>
            <a:endParaRPr lang="en-US"/>
          </a:p>
        </p:txBody>
      </p:sp>
      <p:sp>
        <p:nvSpPr>
          <p:cNvPr id="64" name="Text 61"/>
          <p:cNvSpPr txBox="1"/>
          <p:nvPr/>
        </p:nvSpPr>
        <p:spPr>
          <a:xfrm>
            <a:off x="4846320" y="2719831"/>
            <a:ext cx="749808" cy="182880"/>
          </a:xfrm>
          <a:prstGeom prst="rect">
            <a:avLst/>
          </a:prstGeom>
          <a:noFill/>
          <a:ln/>
        </p:spPr>
        <p:txBody>
          <a:bodyPr wrap="square" lIns="0" tIns="0" rIns="0" bIns="0" rtlCol="0" anchor="t"/>
          <a:lstStyle/>
          <a:p>
            <a:pPr marL="0" indent="0" algn="ctr">
              <a:buNone/>
            </a:pPr>
            <a:r>
              <a:rPr lang="en-US" sz="900" dirty="0">
                <a:solidFill>
                  <a:schemeClr val="tx1"/>
                </a:solidFill>
                <a:latin typeface="Calibri" pitchFamily="34" charset="0"/>
                <a:ea typeface="Calibri" pitchFamily="34" charset="-122"/>
                <a:cs typeface="Calibri" pitchFamily="34" charset="-120"/>
              </a:rPr>
              <a:t>heartbeat</a:t>
            </a:r>
            <a:endParaRPr lang="en-US" sz="900" dirty="0"/>
          </a:p>
        </p:txBody>
      </p:sp>
      <p:sp>
        <p:nvSpPr>
          <p:cNvPr id="65" name="Shape 62"/>
          <p:cNvSpPr/>
          <p:nvPr/>
        </p:nvSpPr>
        <p:spPr>
          <a:xfrm flipH="1">
            <a:off x="4865148" y="3625087"/>
            <a:ext cx="720000" cy="0"/>
          </a:xfrm>
          <a:prstGeom prst="line">
            <a:avLst/>
          </a:prstGeom>
          <a:noFill/>
          <a:ln w="15875">
            <a:solidFill>
              <a:schemeClr val="tx1"/>
            </a:solidFill>
            <a:prstDash val="dash"/>
            <a:headEnd type="none"/>
            <a:tailEnd type="triangle"/>
          </a:ln>
        </p:spPr>
        <p:txBody>
          <a:bodyPr/>
          <a:lstStyle/>
          <a:p>
            <a:endParaRPr lang="en-US"/>
          </a:p>
        </p:txBody>
      </p:sp>
      <p:sp>
        <p:nvSpPr>
          <p:cNvPr id="66" name="Text 63"/>
          <p:cNvSpPr txBox="1"/>
          <p:nvPr/>
        </p:nvSpPr>
        <p:spPr>
          <a:xfrm>
            <a:off x="4846320" y="3423919"/>
            <a:ext cx="749808" cy="182880"/>
          </a:xfrm>
          <a:prstGeom prst="rect">
            <a:avLst/>
          </a:prstGeom>
          <a:noFill/>
          <a:ln/>
        </p:spPr>
        <p:txBody>
          <a:bodyPr wrap="square" lIns="0" tIns="0" rIns="0" bIns="0" rtlCol="0" anchor="t"/>
          <a:lstStyle/>
          <a:p>
            <a:pPr marL="0" indent="0" algn="ctr">
              <a:buNone/>
            </a:pPr>
            <a:r>
              <a:rPr lang="en-US" sz="900" dirty="0">
                <a:solidFill>
                  <a:schemeClr val="tx1"/>
                </a:solidFill>
                <a:latin typeface="Calibri" pitchFamily="34" charset="0"/>
                <a:ea typeface="Calibri" pitchFamily="34" charset="-122"/>
                <a:cs typeface="Calibri" pitchFamily="34" charset="-120"/>
              </a:rPr>
              <a:t>long-poll</a:t>
            </a:r>
            <a:endParaRPr lang="en-US" sz="900" dirty="0"/>
          </a:p>
        </p:txBody>
      </p:sp>
      <p:sp>
        <p:nvSpPr>
          <p:cNvPr id="67" name="Shape 64"/>
          <p:cNvSpPr/>
          <p:nvPr/>
        </p:nvSpPr>
        <p:spPr>
          <a:xfrm flipH="1" flipV="1">
            <a:off x="4873752" y="3805937"/>
            <a:ext cx="749808" cy="523238"/>
          </a:xfrm>
          <a:prstGeom prst="line">
            <a:avLst/>
          </a:prstGeom>
          <a:noFill/>
          <a:ln w="15875">
            <a:solidFill>
              <a:schemeClr val="accent3"/>
            </a:solidFill>
            <a:prstDash val="dash"/>
            <a:headEnd type="triangle"/>
            <a:tailEnd type="triangle"/>
          </a:ln>
        </p:spPr>
        <p:txBody>
          <a:bodyPr/>
          <a:lstStyle/>
          <a:p>
            <a:endParaRPr lang="en-US"/>
          </a:p>
        </p:txBody>
      </p:sp>
      <p:sp>
        <p:nvSpPr>
          <p:cNvPr id="68" name="Text 65"/>
          <p:cNvSpPr txBox="1"/>
          <p:nvPr/>
        </p:nvSpPr>
        <p:spPr>
          <a:xfrm>
            <a:off x="5138928" y="4063999"/>
            <a:ext cx="457200" cy="182880"/>
          </a:xfrm>
          <a:prstGeom prst="rect">
            <a:avLst/>
          </a:prstGeom>
          <a:noFill/>
          <a:ln/>
        </p:spPr>
        <p:txBody>
          <a:bodyPr wrap="square" lIns="0" tIns="0" rIns="0" bIns="0" rtlCol="0" anchor="t"/>
          <a:lstStyle/>
          <a:p>
            <a:pPr marL="0" indent="0" algn="ctr">
              <a:buNone/>
            </a:pPr>
            <a:r>
              <a:rPr lang="en-US" sz="900" dirty="0">
                <a:solidFill>
                  <a:schemeClr val="accent3"/>
                </a:solidFill>
                <a:latin typeface="Calibri" pitchFamily="34" charset="0"/>
                <a:ea typeface="Calibri" pitchFamily="34" charset="-122"/>
                <a:cs typeface="Calibri" pitchFamily="34" charset="-120"/>
              </a:rPr>
              <a:t>gRPC</a:t>
            </a:r>
            <a:endParaRPr lang="en-US" sz="900" dirty="0"/>
          </a:p>
        </p:txBody>
      </p:sp>
      <p:sp>
        <p:nvSpPr>
          <p:cNvPr id="69" name="Text 66"/>
          <p:cNvSpPr txBox="1"/>
          <p:nvPr/>
        </p:nvSpPr>
        <p:spPr>
          <a:xfrm>
            <a:off x="5623560" y="4658359"/>
            <a:ext cx="1874520" cy="219456"/>
          </a:xfrm>
          <a:prstGeom prst="rect">
            <a:avLst/>
          </a:prstGeom>
          <a:noFill/>
          <a:ln/>
        </p:spPr>
        <p:txBody>
          <a:bodyPr wrap="square" lIns="0" tIns="0" rIns="0" bIns="0" rtlCol="0" anchor="t"/>
          <a:lstStyle/>
          <a:p>
            <a:pPr marL="0" indent="0" algn="ctr">
              <a:buNone/>
            </a:pPr>
            <a:r>
              <a:rPr lang="en-US" sz="900" i="1" dirty="0">
                <a:solidFill>
                  <a:schemeClr val="tx2"/>
                </a:solidFill>
                <a:latin typeface="Calibri" pitchFamily="34" charset="0"/>
                <a:ea typeface="Calibri" pitchFamily="34" charset="-122"/>
                <a:cs typeface="Calibri" pitchFamily="34" charset="-120"/>
              </a:rPr>
              <a:t>task workers (consumers)</a:t>
            </a:r>
            <a:endParaRPr lang="en-US" sz="900" dirty="0"/>
          </a:p>
        </p:txBody>
      </p:sp>
      <p:sp>
        <p:nvSpPr>
          <p:cNvPr id="70" name="Text 67"/>
          <p:cNvSpPr txBox="1"/>
          <p:nvPr/>
        </p:nvSpPr>
        <p:spPr>
          <a:xfrm>
            <a:off x="2606040" y="4950967"/>
            <a:ext cx="4937760" cy="237744"/>
          </a:xfrm>
          <a:prstGeom prst="rect">
            <a:avLst/>
          </a:prstGeom>
          <a:noFill/>
          <a:ln/>
        </p:spPr>
        <p:txBody>
          <a:bodyPr wrap="square" lIns="0" tIns="0" rIns="0" bIns="0" rtlCol="0" anchor="t"/>
          <a:lstStyle/>
          <a:p>
            <a:pPr marL="0" indent="0">
              <a:buNone/>
            </a:pPr>
            <a:r>
              <a:rPr lang="en-US" sz="1000" b="1" dirty="0">
                <a:solidFill>
                  <a:schemeClr val="tx1"/>
                </a:solidFill>
                <a:latin typeface="Calibri" pitchFamily="34" charset="0"/>
                <a:ea typeface="Calibri" pitchFamily="34" charset="-122"/>
                <a:cs typeface="Calibri" pitchFamily="34" charset="-120"/>
              </a:rPr>
              <a:t>Lease example — lease 30 s, heartbeat every 10 s, worker crashes at 25 s</a:t>
            </a:r>
            <a:endParaRPr lang="en-US" sz="1000" dirty="0"/>
          </a:p>
        </p:txBody>
      </p:sp>
      <p:sp>
        <p:nvSpPr>
          <p:cNvPr id="71" name="Shape 68"/>
          <p:cNvSpPr/>
          <p:nvPr/>
        </p:nvSpPr>
        <p:spPr>
          <a:xfrm>
            <a:off x="2606040" y="5527039"/>
            <a:ext cx="4892040" cy="91"/>
          </a:xfrm>
          <a:prstGeom prst="line">
            <a:avLst/>
          </a:prstGeom>
          <a:noFill/>
          <a:ln w="15875">
            <a:solidFill>
              <a:schemeClr val="tx2"/>
            </a:solidFill>
            <a:prstDash val="solid"/>
            <a:headEnd type="none"/>
            <a:tailEnd type="triangle"/>
          </a:ln>
        </p:spPr>
        <p:txBody>
          <a:bodyPr/>
          <a:lstStyle/>
          <a:p>
            <a:endParaRPr lang="en-US"/>
          </a:p>
        </p:txBody>
      </p:sp>
      <p:sp>
        <p:nvSpPr>
          <p:cNvPr id="72" name="Shape 69"/>
          <p:cNvSpPr/>
          <p:nvPr/>
        </p:nvSpPr>
        <p:spPr>
          <a:xfrm>
            <a:off x="2697480" y="5408167"/>
            <a:ext cx="3924300" cy="91440"/>
          </a:xfrm>
          <a:prstGeom prst="roundRect">
            <a:avLst>
              <a:gd name="adj" fmla="val 20000"/>
            </a:avLst>
          </a:prstGeom>
          <a:solidFill>
            <a:schemeClr val="accent1">
              <a:alpha val="45000"/>
            </a:schemeClr>
          </a:solidFill>
          <a:ln/>
        </p:spPr>
        <p:txBody>
          <a:bodyPr/>
          <a:lstStyle/>
          <a:p>
            <a:endParaRPr lang="en-US"/>
          </a:p>
        </p:txBody>
      </p:sp>
      <p:sp>
        <p:nvSpPr>
          <p:cNvPr id="73" name="Shape 70"/>
          <p:cNvSpPr/>
          <p:nvPr/>
        </p:nvSpPr>
        <p:spPr>
          <a:xfrm>
            <a:off x="2642616" y="5472175"/>
            <a:ext cx="109728" cy="109728"/>
          </a:xfrm>
          <a:prstGeom prst="ellipse">
            <a:avLst/>
          </a:prstGeom>
          <a:solidFill>
            <a:schemeClr val="tx1"/>
          </a:solidFill>
          <a:ln/>
        </p:spPr>
        <p:txBody>
          <a:bodyPr/>
          <a:lstStyle/>
          <a:p>
            <a:endParaRPr lang="en-US"/>
          </a:p>
        </p:txBody>
      </p:sp>
      <p:sp>
        <p:nvSpPr>
          <p:cNvPr id="74" name="Text 71"/>
          <p:cNvSpPr txBox="1"/>
          <p:nvPr/>
        </p:nvSpPr>
        <p:spPr>
          <a:xfrm>
            <a:off x="2377440" y="5600191"/>
            <a:ext cx="640080" cy="182880"/>
          </a:xfrm>
          <a:prstGeom prst="rect">
            <a:avLst/>
          </a:prstGeom>
          <a:noFill/>
          <a:ln/>
        </p:spPr>
        <p:txBody>
          <a:bodyPr wrap="square" lIns="0" tIns="0" rIns="0" bIns="0" rtlCol="0" anchor="t"/>
          <a:lstStyle/>
          <a:p>
            <a:pPr marL="0" indent="0" algn="ctr">
              <a:buNone/>
            </a:pPr>
            <a:r>
              <a:rPr lang="en-US" sz="900" dirty="0">
                <a:solidFill>
                  <a:schemeClr val="tx1"/>
                </a:solidFill>
                <a:latin typeface="Calibri" pitchFamily="34" charset="0"/>
                <a:ea typeface="Calibri" pitchFamily="34" charset="-122"/>
                <a:cs typeface="Calibri" pitchFamily="34" charset="-120"/>
              </a:rPr>
              <a:t>claim</a:t>
            </a:r>
            <a:endParaRPr lang="en-US" sz="900" dirty="0"/>
          </a:p>
        </p:txBody>
      </p:sp>
      <p:sp>
        <p:nvSpPr>
          <p:cNvPr id="75" name="Text 72"/>
          <p:cNvSpPr txBox="1"/>
          <p:nvPr/>
        </p:nvSpPr>
        <p:spPr>
          <a:xfrm>
            <a:off x="2423160" y="5764783"/>
            <a:ext cx="548640" cy="164592"/>
          </a:xfrm>
          <a:prstGeom prst="rect">
            <a:avLst/>
          </a:prstGeom>
          <a:noFill/>
          <a:ln/>
        </p:spPr>
        <p:txBody>
          <a:bodyPr wrap="square" lIns="0" tIns="0" rIns="0" bIns="0" rtlCol="0" anchor="t"/>
          <a:lstStyle/>
          <a:p>
            <a:pPr marL="0" indent="0" algn="ctr">
              <a:buNone/>
            </a:pPr>
            <a:r>
              <a:rPr lang="en-US" sz="900" dirty="0">
                <a:solidFill>
                  <a:schemeClr val="tx2"/>
                </a:solidFill>
                <a:latin typeface="Calibri" pitchFamily="34" charset="0"/>
                <a:ea typeface="Calibri" pitchFamily="34" charset="-122"/>
                <a:cs typeface="Calibri" pitchFamily="34" charset="-120"/>
              </a:rPr>
              <a:t>0s</a:t>
            </a:r>
            <a:endParaRPr lang="en-US" sz="900" dirty="0"/>
          </a:p>
        </p:txBody>
      </p:sp>
      <p:sp>
        <p:nvSpPr>
          <p:cNvPr id="76" name="Shape 73"/>
          <p:cNvSpPr/>
          <p:nvPr/>
        </p:nvSpPr>
        <p:spPr>
          <a:xfrm>
            <a:off x="3427476" y="5472175"/>
            <a:ext cx="109728" cy="109728"/>
          </a:xfrm>
          <a:prstGeom prst="ellipse">
            <a:avLst/>
          </a:prstGeom>
          <a:solidFill>
            <a:schemeClr val="tx1"/>
          </a:solidFill>
          <a:ln/>
        </p:spPr>
        <p:txBody>
          <a:bodyPr/>
          <a:lstStyle/>
          <a:p>
            <a:endParaRPr lang="en-US"/>
          </a:p>
        </p:txBody>
      </p:sp>
      <p:sp>
        <p:nvSpPr>
          <p:cNvPr id="77" name="Text 74"/>
          <p:cNvSpPr txBox="1"/>
          <p:nvPr/>
        </p:nvSpPr>
        <p:spPr>
          <a:xfrm>
            <a:off x="3162300" y="5600191"/>
            <a:ext cx="640080" cy="182880"/>
          </a:xfrm>
          <a:prstGeom prst="rect">
            <a:avLst/>
          </a:prstGeom>
          <a:noFill/>
          <a:ln/>
        </p:spPr>
        <p:txBody>
          <a:bodyPr wrap="square" lIns="0" tIns="0" rIns="0" bIns="0" rtlCol="0" anchor="t"/>
          <a:lstStyle/>
          <a:p>
            <a:pPr marL="0" indent="0" algn="ctr">
              <a:buNone/>
            </a:pPr>
            <a:r>
              <a:rPr lang="en-US" sz="900" dirty="0">
                <a:solidFill>
                  <a:schemeClr val="tx1"/>
                </a:solidFill>
                <a:latin typeface="Calibri" pitchFamily="34" charset="0"/>
                <a:ea typeface="Calibri" pitchFamily="34" charset="-122"/>
                <a:cs typeface="Calibri" pitchFamily="34" charset="-120"/>
              </a:rPr>
              <a:t>hb</a:t>
            </a:r>
            <a:endParaRPr lang="en-US" sz="900" dirty="0"/>
          </a:p>
        </p:txBody>
      </p:sp>
      <p:sp>
        <p:nvSpPr>
          <p:cNvPr id="78" name="Text 75"/>
          <p:cNvSpPr txBox="1"/>
          <p:nvPr/>
        </p:nvSpPr>
        <p:spPr>
          <a:xfrm>
            <a:off x="3208020" y="5764783"/>
            <a:ext cx="548640" cy="164592"/>
          </a:xfrm>
          <a:prstGeom prst="rect">
            <a:avLst/>
          </a:prstGeom>
          <a:noFill/>
          <a:ln/>
        </p:spPr>
        <p:txBody>
          <a:bodyPr wrap="square" lIns="0" tIns="0" rIns="0" bIns="0" rtlCol="0" anchor="t"/>
          <a:lstStyle/>
          <a:p>
            <a:pPr marL="0" indent="0" algn="ctr">
              <a:buNone/>
            </a:pPr>
            <a:r>
              <a:rPr lang="en-US" sz="900" dirty="0">
                <a:solidFill>
                  <a:schemeClr val="tx2"/>
                </a:solidFill>
                <a:latin typeface="Calibri" pitchFamily="34" charset="0"/>
                <a:ea typeface="Calibri" pitchFamily="34" charset="-122"/>
                <a:cs typeface="Calibri" pitchFamily="34" charset="-120"/>
              </a:rPr>
              <a:t>10s</a:t>
            </a:r>
            <a:endParaRPr lang="en-US" sz="900" dirty="0"/>
          </a:p>
        </p:txBody>
      </p:sp>
      <p:sp>
        <p:nvSpPr>
          <p:cNvPr id="79" name="Shape 76"/>
          <p:cNvSpPr/>
          <p:nvPr/>
        </p:nvSpPr>
        <p:spPr>
          <a:xfrm>
            <a:off x="4212336" y="5472175"/>
            <a:ext cx="109728" cy="109728"/>
          </a:xfrm>
          <a:prstGeom prst="ellipse">
            <a:avLst/>
          </a:prstGeom>
          <a:solidFill>
            <a:schemeClr val="tx1"/>
          </a:solidFill>
          <a:ln/>
        </p:spPr>
        <p:txBody>
          <a:bodyPr/>
          <a:lstStyle/>
          <a:p>
            <a:endParaRPr lang="en-US"/>
          </a:p>
        </p:txBody>
      </p:sp>
      <p:sp>
        <p:nvSpPr>
          <p:cNvPr id="80" name="Text 77"/>
          <p:cNvSpPr txBox="1"/>
          <p:nvPr/>
        </p:nvSpPr>
        <p:spPr>
          <a:xfrm>
            <a:off x="3947160" y="5600191"/>
            <a:ext cx="640080" cy="182880"/>
          </a:xfrm>
          <a:prstGeom prst="rect">
            <a:avLst/>
          </a:prstGeom>
          <a:noFill/>
          <a:ln/>
        </p:spPr>
        <p:txBody>
          <a:bodyPr wrap="square" lIns="0" tIns="0" rIns="0" bIns="0" rtlCol="0" anchor="t"/>
          <a:lstStyle/>
          <a:p>
            <a:pPr marL="0" indent="0" algn="ctr">
              <a:buNone/>
            </a:pPr>
            <a:r>
              <a:rPr lang="en-US" sz="900" dirty="0">
                <a:solidFill>
                  <a:schemeClr val="tx1"/>
                </a:solidFill>
                <a:latin typeface="Calibri" pitchFamily="34" charset="0"/>
                <a:ea typeface="Calibri" pitchFamily="34" charset="-122"/>
                <a:cs typeface="Calibri" pitchFamily="34" charset="-120"/>
              </a:rPr>
              <a:t>hb</a:t>
            </a:r>
            <a:endParaRPr lang="en-US" sz="900" dirty="0"/>
          </a:p>
        </p:txBody>
      </p:sp>
      <p:sp>
        <p:nvSpPr>
          <p:cNvPr id="81" name="Text 78"/>
          <p:cNvSpPr txBox="1"/>
          <p:nvPr/>
        </p:nvSpPr>
        <p:spPr>
          <a:xfrm>
            <a:off x="3992880" y="5764783"/>
            <a:ext cx="548640" cy="164592"/>
          </a:xfrm>
          <a:prstGeom prst="rect">
            <a:avLst/>
          </a:prstGeom>
          <a:noFill/>
          <a:ln/>
        </p:spPr>
        <p:txBody>
          <a:bodyPr wrap="square" lIns="0" tIns="0" rIns="0" bIns="0" rtlCol="0" anchor="t"/>
          <a:lstStyle/>
          <a:p>
            <a:pPr marL="0" indent="0" algn="ctr">
              <a:buNone/>
            </a:pPr>
            <a:r>
              <a:rPr lang="en-US" sz="900" dirty="0">
                <a:solidFill>
                  <a:schemeClr val="tx2"/>
                </a:solidFill>
                <a:latin typeface="Calibri" pitchFamily="34" charset="0"/>
                <a:ea typeface="Calibri" pitchFamily="34" charset="-122"/>
                <a:cs typeface="Calibri" pitchFamily="34" charset="-120"/>
              </a:rPr>
              <a:t>20s</a:t>
            </a:r>
            <a:endParaRPr lang="en-US" sz="900" dirty="0"/>
          </a:p>
        </p:txBody>
      </p:sp>
      <p:sp>
        <p:nvSpPr>
          <p:cNvPr id="82" name="Shape 79"/>
          <p:cNvSpPr/>
          <p:nvPr/>
        </p:nvSpPr>
        <p:spPr>
          <a:xfrm>
            <a:off x="4604766" y="5472175"/>
            <a:ext cx="109728" cy="109728"/>
          </a:xfrm>
          <a:prstGeom prst="ellipse">
            <a:avLst/>
          </a:prstGeom>
          <a:solidFill>
            <a:schemeClr val="accent4"/>
          </a:solidFill>
          <a:ln/>
        </p:spPr>
        <p:txBody>
          <a:bodyPr/>
          <a:lstStyle/>
          <a:p>
            <a:endParaRPr lang="en-US"/>
          </a:p>
        </p:txBody>
      </p:sp>
      <p:sp>
        <p:nvSpPr>
          <p:cNvPr id="83" name="Text 80"/>
          <p:cNvSpPr txBox="1"/>
          <p:nvPr/>
        </p:nvSpPr>
        <p:spPr>
          <a:xfrm>
            <a:off x="4339590" y="5600191"/>
            <a:ext cx="640080" cy="182880"/>
          </a:xfrm>
          <a:prstGeom prst="rect">
            <a:avLst/>
          </a:prstGeom>
          <a:noFill/>
          <a:ln/>
        </p:spPr>
        <p:txBody>
          <a:bodyPr wrap="square" lIns="0" tIns="0" rIns="0" bIns="0" rtlCol="0" anchor="t"/>
          <a:lstStyle/>
          <a:p>
            <a:pPr marL="0" indent="0" algn="ctr">
              <a:buNone/>
            </a:pPr>
            <a:r>
              <a:rPr lang="en-US" sz="900" b="1" dirty="0">
                <a:solidFill>
                  <a:schemeClr val="accent4"/>
                </a:solidFill>
                <a:latin typeface="Calibri" pitchFamily="34" charset="0"/>
                <a:ea typeface="Calibri" pitchFamily="34" charset="-122"/>
                <a:cs typeface="Calibri" pitchFamily="34" charset="-120"/>
              </a:rPr>
              <a:t>crash</a:t>
            </a:r>
            <a:endParaRPr lang="en-US" sz="900" dirty="0"/>
          </a:p>
        </p:txBody>
      </p:sp>
      <p:sp>
        <p:nvSpPr>
          <p:cNvPr id="84" name="Text 81"/>
          <p:cNvSpPr txBox="1"/>
          <p:nvPr/>
        </p:nvSpPr>
        <p:spPr>
          <a:xfrm>
            <a:off x="4385310" y="5764783"/>
            <a:ext cx="548640" cy="164592"/>
          </a:xfrm>
          <a:prstGeom prst="rect">
            <a:avLst/>
          </a:prstGeom>
          <a:noFill/>
          <a:ln/>
        </p:spPr>
        <p:txBody>
          <a:bodyPr wrap="square" lIns="0" tIns="0" rIns="0" bIns="0" rtlCol="0" anchor="t"/>
          <a:lstStyle/>
          <a:p>
            <a:pPr marL="0" indent="0" algn="ctr">
              <a:buNone/>
            </a:pPr>
            <a:r>
              <a:rPr lang="en-US" sz="900" dirty="0">
                <a:solidFill>
                  <a:schemeClr val="tx2"/>
                </a:solidFill>
                <a:latin typeface="Calibri" pitchFamily="34" charset="0"/>
                <a:ea typeface="Calibri" pitchFamily="34" charset="-122"/>
                <a:cs typeface="Calibri" pitchFamily="34" charset="-120"/>
              </a:rPr>
              <a:t>25s</a:t>
            </a:r>
            <a:endParaRPr lang="en-US" sz="900" dirty="0"/>
          </a:p>
        </p:txBody>
      </p:sp>
      <p:sp>
        <p:nvSpPr>
          <p:cNvPr id="85" name="Shape 82"/>
          <p:cNvSpPr/>
          <p:nvPr/>
        </p:nvSpPr>
        <p:spPr>
          <a:xfrm>
            <a:off x="6566916" y="5472175"/>
            <a:ext cx="109728" cy="109728"/>
          </a:xfrm>
          <a:prstGeom prst="ellipse">
            <a:avLst/>
          </a:prstGeom>
          <a:solidFill>
            <a:schemeClr val="accent4"/>
          </a:solidFill>
          <a:ln/>
        </p:spPr>
        <p:txBody>
          <a:bodyPr/>
          <a:lstStyle/>
          <a:p>
            <a:endParaRPr lang="en-US"/>
          </a:p>
        </p:txBody>
      </p:sp>
      <p:sp>
        <p:nvSpPr>
          <p:cNvPr id="86" name="Text 83"/>
          <p:cNvSpPr txBox="1"/>
          <p:nvPr/>
        </p:nvSpPr>
        <p:spPr>
          <a:xfrm>
            <a:off x="6301740" y="5600191"/>
            <a:ext cx="640080" cy="182880"/>
          </a:xfrm>
          <a:prstGeom prst="rect">
            <a:avLst/>
          </a:prstGeom>
          <a:noFill/>
          <a:ln/>
        </p:spPr>
        <p:txBody>
          <a:bodyPr wrap="square" lIns="0" tIns="0" rIns="0" bIns="0" rtlCol="0" anchor="t"/>
          <a:lstStyle/>
          <a:p>
            <a:pPr marL="0" indent="0" algn="ctr">
              <a:buNone/>
            </a:pPr>
            <a:r>
              <a:rPr lang="en-US" sz="900" b="1" dirty="0">
                <a:solidFill>
                  <a:schemeClr val="accent4"/>
                </a:solidFill>
                <a:latin typeface="Calibri" pitchFamily="34" charset="0"/>
                <a:ea typeface="Calibri" pitchFamily="34" charset="-122"/>
                <a:cs typeface="Calibri" pitchFamily="34" charset="-120"/>
              </a:rPr>
              <a:t>expired</a:t>
            </a:r>
            <a:endParaRPr lang="en-US" sz="900" dirty="0"/>
          </a:p>
        </p:txBody>
      </p:sp>
      <p:sp>
        <p:nvSpPr>
          <p:cNvPr id="87" name="Text 84"/>
          <p:cNvSpPr txBox="1"/>
          <p:nvPr/>
        </p:nvSpPr>
        <p:spPr>
          <a:xfrm>
            <a:off x="6347460" y="5764783"/>
            <a:ext cx="548640" cy="164592"/>
          </a:xfrm>
          <a:prstGeom prst="rect">
            <a:avLst/>
          </a:prstGeom>
          <a:noFill/>
          <a:ln/>
        </p:spPr>
        <p:txBody>
          <a:bodyPr wrap="square" lIns="0" tIns="0" rIns="0" bIns="0" rtlCol="0" anchor="t"/>
          <a:lstStyle/>
          <a:p>
            <a:pPr marL="0" indent="0" algn="ctr">
              <a:buNone/>
            </a:pPr>
            <a:r>
              <a:rPr lang="en-US" sz="900" dirty="0">
                <a:solidFill>
                  <a:schemeClr val="tx2"/>
                </a:solidFill>
                <a:latin typeface="Calibri" pitchFamily="34" charset="0"/>
                <a:ea typeface="Calibri" pitchFamily="34" charset="-122"/>
                <a:cs typeface="Calibri" pitchFamily="34" charset="-120"/>
              </a:rPr>
              <a:t>50s</a:t>
            </a:r>
            <a:endParaRPr lang="en-US" sz="900" dirty="0"/>
          </a:p>
        </p:txBody>
      </p:sp>
      <p:sp>
        <p:nvSpPr>
          <p:cNvPr id="88" name="Text 85"/>
          <p:cNvSpPr txBox="1"/>
          <p:nvPr/>
        </p:nvSpPr>
        <p:spPr>
          <a:xfrm>
            <a:off x="6347460" y="5227318"/>
            <a:ext cx="1463040" cy="182880"/>
          </a:xfrm>
          <a:prstGeom prst="rect">
            <a:avLst/>
          </a:prstGeom>
          <a:noFill/>
          <a:ln/>
        </p:spPr>
        <p:txBody>
          <a:bodyPr wrap="square" lIns="0" tIns="0" rIns="0" bIns="0" rtlCol="0" anchor="t"/>
          <a:lstStyle/>
          <a:p>
            <a:pPr marL="0" indent="0">
              <a:buNone/>
            </a:pPr>
            <a:r>
              <a:rPr lang="en-US" sz="900" b="1" dirty="0">
                <a:solidFill>
                  <a:schemeClr val="accent4"/>
                </a:solidFill>
                <a:latin typeface="Calibri" pitchFamily="34" charset="0"/>
                <a:ea typeface="Calibri" pitchFamily="34" charset="-122"/>
                <a:cs typeface="Calibri" pitchFamily="34" charset="-120"/>
              </a:rPr>
              <a:t>→ re-queued with backoff</a:t>
            </a:r>
            <a:endParaRPr lang="en-US" sz="900" dirty="0"/>
          </a:p>
        </p:txBody>
      </p:sp>
      <p:sp>
        <p:nvSpPr>
          <p:cNvPr id="89" name="Text 86"/>
          <p:cNvSpPr txBox="1"/>
          <p:nvPr/>
        </p:nvSpPr>
        <p:spPr>
          <a:xfrm>
            <a:off x="3325368" y="5216143"/>
            <a:ext cx="1737360" cy="182880"/>
          </a:xfrm>
          <a:prstGeom prst="rect">
            <a:avLst/>
          </a:prstGeom>
          <a:noFill/>
          <a:ln/>
        </p:spPr>
        <p:txBody>
          <a:bodyPr wrap="square" lIns="0" tIns="0" rIns="0" bIns="0" rtlCol="0" anchor="t"/>
          <a:lstStyle/>
          <a:p>
            <a:pPr marL="0" indent="0">
              <a:buNone/>
            </a:pPr>
            <a:r>
              <a:rPr lang="en-US" sz="900" dirty="0">
                <a:solidFill>
                  <a:schemeClr val="tx1"/>
                </a:solidFill>
                <a:latin typeface="Calibri" pitchFamily="34" charset="0"/>
                <a:ea typeface="Calibri" pitchFamily="34" charset="-122"/>
                <a:cs typeface="Calibri" pitchFamily="34" charset="-120"/>
              </a:rPr>
              <a:t>lease_until 30 → 40 → 50</a:t>
            </a:r>
            <a:endParaRPr lang="en-US" sz="900" dirty="0"/>
          </a:p>
        </p:txBody>
      </p:sp>
      <p:sp>
        <p:nvSpPr>
          <p:cNvPr id="90" name="Text 87"/>
          <p:cNvSpPr txBox="1"/>
          <p:nvPr/>
        </p:nvSpPr>
        <p:spPr>
          <a:xfrm>
            <a:off x="7818120" y="1549399"/>
            <a:ext cx="393192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Four kinds of background work</a:t>
            </a:r>
            <a:endParaRPr lang="en-US" sz="1300" dirty="0"/>
          </a:p>
        </p:txBody>
      </p:sp>
      <p:sp>
        <p:nvSpPr>
          <p:cNvPr id="91" name="Shape 88"/>
          <p:cNvSpPr/>
          <p:nvPr/>
        </p:nvSpPr>
        <p:spPr>
          <a:xfrm>
            <a:off x="7818120" y="1915159"/>
            <a:ext cx="3913632" cy="932688"/>
          </a:xfrm>
          <a:prstGeom prst="roundRect">
            <a:avLst>
              <a:gd name="adj" fmla="val 5882"/>
            </a:avLst>
          </a:prstGeom>
          <a:solidFill>
            <a:schemeClr val="bg1"/>
          </a:solidFill>
          <a:ln/>
        </p:spPr>
        <p:txBody>
          <a:bodyPr/>
          <a:lstStyle/>
          <a:p>
            <a:endParaRPr lang="en-US"/>
          </a:p>
        </p:txBody>
      </p:sp>
      <p:sp>
        <p:nvSpPr>
          <p:cNvPr id="92" name="Shape 89"/>
          <p:cNvSpPr/>
          <p:nvPr/>
        </p:nvSpPr>
        <p:spPr>
          <a:xfrm>
            <a:off x="7818120" y="1915159"/>
            <a:ext cx="3913632" cy="932688"/>
          </a:xfrm>
          <a:prstGeom prst="roundRect">
            <a:avLst>
              <a:gd name="adj" fmla="val 5882"/>
            </a:avLst>
          </a:prstGeom>
          <a:solidFill>
            <a:schemeClr val="bg2"/>
          </a:solidFill>
          <a:ln/>
        </p:spPr>
        <p:txBody>
          <a:bodyPr/>
          <a:lstStyle/>
          <a:p>
            <a:endParaRPr lang="en-US"/>
          </a:p>
        </p:txBody>
      </p:sp>
      <p:sp>
        <p:nvSpPr>
          <p:cNvPr id="93" name="Shape 90"/>
          <p:cNvSpPr/>
          <p:nvPr/>
        </p:nvSpPr>
        <p:spPr>
          <a:xfrm>
            <a:off x="7936992" y="2043175"/>
            <a:ext cx="420624" cy="420624"/>
          </a:xfrm>
          <a:prstGeom prst="ellipse">
            <a:avLst/>
          </a:prstGeom>
          <a:solidFill>
            <a:schemeClr val="accent1">
              <a:lumMod val="40000"/>
              <a:lumOff val="60000"/>
            </a:schemeClr>
          </a:solidFill>
          <a:ln/>
        </p:spPr>
        <p:txBody>
          <a:bodyPr/>
          <a:lstStyle/>
          <a:p>
            <a:endParaRPr lang="en-US"/>
          </a:p>
        </p:txBody>
      </p:sp>
      <p:pic>
        <p:nvPicPr>
          <p:cNvPr id="94" name="Image 0" descr="preencoded.png"/>
          <p:cNvPicPr>
            <a:picLocks noChangeAspect="1"/>
          </p:cNvPicPr>
          <p:nvPr/>
        </p:nvPicPr>
        <p:blipFill>
          <a:blip r:embed="rId3"/>
          <a:stretch>
            <a:fillRect/>
          </a:stretch>
        </p:blipFill>
        <p:spPr>
          <a:xfrm>
            <a:off x="8042148" y="2148331"/>
            <a:ext cx="210312" cy="210312"/>
          </a:xfrm>
          <a:prstGeom prst="rect">
            <a:avLst/>
          </a:prstGeom>
        </p:spPr>
      </p:pic>
      <p:sp>
        <p:nvSpPr>
          <p:cNvPr id="95" name="Text 91"/>
          <p:cNvSpPr txBox="1"/>
          <p:nvPr/>
        </p:nvSpPr>
        <p:spPr>
          <a:xfrm>
            <a:off x="8476488" y="1988311"/>
            <a:ext cx="2560320" cy="256032"/>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One-shot</a:t>
            </a:r>
            <a:endParaRPr lang="en-US" sz="1300" dirty="0"/>
          </a:p>
        </p:txBody>
      </p:sp>
      <p:sp>
        <p:nvSpPr>
          <p:cNvPr id="96" name="Shape 92"/>
          <p:cNvSpPr/>
          <p:nvPr/>
        </p:nvSpPr>
        <p:spPr>
          <a:xfrm>
            <a:off x="11274552" y="2006599"/>
            <a:ext cx="365760" cy="201168"/>
          </a:xfrm>
          <a:prstGeom prst="roundRect">
            <a:avLst>
              <a:gd name="adj" fmla="val 50000"/>
            </a:avLst>
          </a:prstGeom>
          <a:solidFill>
            <a:schemeClr val="tx1"/>
          </a:solidFill>
          <a:ln w="9525">
            <a:solidFill>
              <a:schemeClr val="tx1"/>
            </a:solidFill>
            <a:prstDash val="solid"/>
          </a:ln>
        </p:spPr>
        <p:txBody>
          <a:bodyPr/>
          <a:lstStyle/>
          <a:p>
            <a:endParaRPr lang="en-US"/>
          </a:p>
        </p:txBody>
      </p:sp>
      <p:sp>
        <p:nvSpPr>
          <p:cNvPr id="97" name="Text 93"/>
          <p:cNvSpPr txBox="1"/>
          <p:nvPr/>
        </p:nvSpPr>
        <p:spPr>
          <a:xfrm>
            <a:off x="11274552" y="2006599"/>
            <a:ext cx="365760"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P1</a:t>
            </a:r>
            <a:endParaRPr lang="en-US" sz="900" dirty="0"/>
          </a:p>
        </p:txBody>
      </p:sp>
      <p:sp>
        <p:nvSpPr>
          <p:cNvPr id="98" name="Text 94"/>
          <p:cNvSpPr txBox="1"/>
          <p:nvPr/>
        </p:nvSpPr>
        <p:spPr>
          <a:xfrm>
            <a:off x="8476488" y="2244343"/>
            <a:ext cx="3182112" cy="274320"/>
          </a:xfrm>
          <a:prstGeom prst="rect">
            <a:avLst/>
          </a:prstGeom>
          <a:noFill/>
          <a:ln/>
        </p:spPr>
        <p:txBody>
          <a:bodyPr wrap="square" lIns="0" tIns="0" rIns="0" bIns="0" rtlCol="0" anchor="t"/>
          <a:lstStyle/>
          <a:p>
            <a:pPr marL="0" indent="0">
              <a:buNone/>
            </a:pPr>
            <a:r>
              <a:rPr lang="en-US" sz="1000" dirty="0">
                <a:solidFill>
                  <a:schemeClr val="tx1"/>
                </a:solidFill>
                <a:latin typeface="Calibri" pitchFamily="34" charset="0"/>
                <a:ea typeface="Calibri" pitchFamily="34" charset="-122"/>
                <a:cs typeface="Calibri" pitchFamily="34" charset="-120"/>
              </a:rPr>
              <a:t>create → run once, retried on failure</a:t>
            </a:r>
            <a:endParaRPr lang="en-US" sz="1000" dirty="0"/>
          </a:p>
        </p:txBody>
      </p:sp>
      <p:sp>
        <p:nvSpPr>
          <p:cNvPr id="99" name="Text 95"/>
          <p:cNvSpPr txBox="1"/>
          <p:nvPr/>
        </p:nvSpPr>
        <p:spPr>
          <a:xfrm>
            <a:off x="8476488" y="2500375"/>
            <a:ext cx="3182112" cy="329184"/>
          </a:xfrm>
          <a:prstGeom prst="rect">
            <a:avLst/>
          </a:prstGeom>
          <a:noFill/>
          <a:ln/>
        </p:spPr>
        <p:txBody>
          <a:bodyPr wrap="square" lIns="0" tIns="0" rIns="0" bIns="0" rtlCol="0" anchor="t"/>
          <a:lstStyle/>
          <a:p>
            <a:pPr marL="0" indent="0">
              <a:buNone/>
            </a:pPr>
            <a:r>
              <a:rPr lang="en-US" sz="900" i="1" dirty="0">
                <a:solidFill>
                  <a:schemeClr val="tx2"/>
                </a:solidFill>
                <a:latin typeface="Calibri" pitchFamily="34" charset="0"/>
                <a:ea typeface="Calibri" pitchFamily="34" charset="-122"/>
                <a:cs typeface="Calibri" pitchFamily="34" charset="-120"/>
              </a:rPr>
              <a:t>e.g. invoice PDF · re-index a tenant after import · send a webhook</a:t>
            </a:r>
            <a:endParaRPr lang="en-US" sz="900" dirty="0"/>
          </a:p>
        </p:txBody>
      </p:sp>
      <p:sp>
        <p:nvSpPr>
          <p:cNvPr id="100" name="Shape 96"/>
          <p:cNvSpPr/>
          <p:nvPr/>
        </p:nvSpPr>
        <p:spPr>
          <a:xfrm>
            <a:off x="7818120" y="2939287"/>
            <a:ext cx="3913632" cy="932688"/>
          </a:xfrm>
          <a:prstGeom prst="roundRect">
            <a:avLst>
              <a:gd name="adj" fmla="val 5882"/>
            </a:avLst>
          </a:prstGeom>
          <a:solidFill>
            <a:schemeClr val="bg1"/>
          </a:solidFill>
          <a:ln/>
        </p:spPr>
        <p:txBody>
          <a:bodyPr/>
          <a:lstStyle/>
          <a:p>
            <a:endParaRPr lang="en-US"/>
          </a:p>
        </p:txBody>
      </p:sp>
      <p:sp>
        <p:nvSpPr>
          <p:cNvPr id="101" name="Shape 97"/>
          <p:cNvSpPr/>
          <p:nvPr/>
        </p:nvSpPr>
        <p:spPr>
          <a:xfrm>
            <a:off x="7818120" y="2939287"/>
            <a:ext cx="3913632" cy="932688"/>
          </a:xfrm>
          <a:prstGeom prst="roundRect">
            <a:avLst>
              <a:gd name="adj" fmla="val 5882"/>
            </a:avLst>
          </a:prstGeom>
          <a:solidFill>
            <a:schemeClr val="bg2"/>
          </a:solidFill>
          <a:ln/>
        </p:spPr>
        <p:txBody>
          <a:bodyPr/>
          <a:lstStyle/>
          <a:p>
            <a:endParaRPr lang="en-US"/>
          </a:p>
        </p:txBody>
      </p:sp>
      <p:sp>
        <p:nvSpPr>
          <p:cNvPr id="102" name="Shape 98"/>
          <p:cNvSpPr/>
          <p:nvPr/>
        </p:nvSpPr>
        <p:spPr>
          <a:xfrm>
            <a:off x="7936992" y="3067303"/>
            <a:ext cx="420624" cy="420624"/>
          </a:xfrm>
          <a:prstGeom prst="ellipse">
            <a:avLst/>
          </a:prstGeom>
          <a:solidFill>
            <a:schemeClr val="accent1">
              <a:lumMod val="40000"/>
              <a:lumOff val="60000"/>
            </a:schemeClr>
          </a:solidFill>
          <a:ln/>
        </p:spPr>
        <p:txBody>
          <a:bodyPr/>
          <a:lstStyle/>
          <a:p>
            <a:endParaRPr lang="en-US"/>
          </a:p>
        </p:txBody>
      </p:sp>
      <p:pic>
        <p:nvPicPr>
          <p:cNvPr id="103" name="Image 1" descr="preencoded.png"/>
          <p:cNvPicPr>
            <a:picLocks noChangeAspect="1"/>
          </p:cNvPicPr>
          <p:nvPr/>
        </p:nvPicPr>
        <p:blipFill>
          <a:blip r:embed="rId4"/>
          <a:stretch>
            <a:fillRect/>
          </a:stretch>
        </p:blipFill>
        <p:spPr>
          <a:xfrm>
            <a:off x="8042148" y="3172459"/>
            <a:ext cx="210312" cy="210312"/>
          </a:xfrm>
          <a:prstGeom prst="rect">
            <a:avLst/>
          </a:prstGeom>
        </p:spPr>
      </p:pic>
      <p:sp>
        <p:nvSpPr>
          <p:cNvPr id="104" name="Text 99"/>
          <p:cNvSpPr txBox="1"/>
          <p:nvPr/>
        </p:nvSpPr>
        <p:spPr>
          <a:xfrm>
            <a:off x="8476488" y="3012439"/>
            <a:ext cx="2560320" cy="256032"/>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Scheduled</a:t>
            </a:r>
            <a:endParaRPr lang="en-US" sz="1300" dirty="0"/>
          </a:p>
        </p:txBody>
      </p:sp>
      <p:sp>
        <p:nvSpPr>
          <p:cNvPr id="105" name="Shape 100"/>
          <p:cNvSpPr/>
          <p:nvPr/>
        </p:nvSpPr>
        <p:spPr>
          <a:xfrm>
            <a:off x="11274552" y="3030727"/>
            <a:ext cx="365760" cy="201168"/>
          </a:xfrm>
          <a:prstGeom prst="roundRect">
            <a:avLst>
              <a:gd name="adj" fmla="val 50000"/>
            </a:avLst>
          </a:prstGeom>
          <a:solidFill>
            <a:schemeClr val="tx1"/>
          </a:solidFill>
          <a:ln w="9525">
            <a:solidFill>
              <a:schemeClr val="tx1"/>
            </a:solidFill>
            <a:prstDash val="solid"/>
          </a:ln>
        </p:spPr>
        <p:txBody>
          <a:bodyPr/>
          <a:lstStyle/>
          <a:p>
            <a:endParaRPr lang="en-US"/>
          </a:p>
        </p:txBody>
      </p:sp>
      <p:sp>
        <p:nvSpPr>
          <p:cNvPr id="106" name="Text 101"/>
          <p:cNvSpPr txBox="1"/>
          <p:nvPr/>
        </p:nvSpPr>
        <p:spPr>
          <a:xfrm>
            <a:off x="11274552" y="3030727"/>
            <a:ext cx="365760"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P1</a:t>
            </a:r>
            <a:endParaRPr lang="en-US" sz="900" dirty="0"/>
          </a:p>
        </p:txBody>
      </p:sp>
      <p:sp>
        <p:nvSpPr>
          <p:cNvPr id="107" name="Text 102"/>
          <p:cNvSpPr txBox="1"/>
          <p:nvPr/>
        </p:nvSpPr>
        <p:spPr>
          <a:xfrm>
            <a:off x="8476488" y="3268471"/>
            <a:ext cx="3182112" cy="274320"/>
          </a:xfrm>
          <a:prstGeom prst="rect">
            <a:avLst/>
          </a:prstGeom>
          <a:noFill/>
          <a:ln/>
        </p:spPr>
        <p:txBody>
          <a:bodyPr wrap="square" lIns="0" tIns="0" rIns="0" bIns="0" rtlCol="0" anchor="t"/>
          <a:lstStyle/>
          <a:p>
            <a:pPr marL="0" indent="0">
              <a:buNone/>
            </a:pPr>
            <a:r>
              <a:rPr lang="en-US" sz="1000" dirty="0">
                <a:solidFill>
                  <a:schemeClr val="tx1"/>
                </a:solidFill>
                <a:latin typeface="Calibri" pitchFamily="34" charset="0"/>
                <a:ea typeface="Calibri" pitchFamily="34" charset="-122"/>
                <a:cs typeface="Calibri" pitchFamily="34" charset="-120"/>
              </a:rPr>
              <a:t>run_after: start at a time or after a delay</a:t>
            </a:r>
            <a:endParaRPr lang="en-US" sz="1000" dirty="0"/>
          </a:p>
        </p:txBody>
      </p:sp>
      <p:sp>
        <p:nvSpPr>
          <p:cNvPr id="108" name="Text 103"/>
          <p:cNvSpPr txBox="1"/>
          <p:nvPr/>
        </p:nvSpPr>
        <p:spPr>
          <a:xfrm>
            <a:off x="8476488" y="3524503"/>
            <a:ext cx="3182112" cy="329184"/>
          </a:xfrm>
          <a:prstGeom prst="rect">
            <a:avLst/>
          </a:prstGeom>
          <a:noFill/>
          <a:ln/>
        </p:spPr>
        <p:txBody>
          <a:bodyPr wrap="square" lIns="0" tIns="0" rIns="0" bIns="0" rtlCol="0" anchor="t"/>
          <a:lstStyle/>
          <a:p>
            <a:pPr marL="0" indent="0">
              <a:buNone/>
            </a:pPr>
            <a:r>
              <a:rPr lang="en-US" sz="900" i="1" dirty="0">
                <a:solidFill>
                  <a:schemeClr val="tx2"/>
                </a:solidFill>
                <a:latin typeface="Calibri" pitchFamily="34" charset="0"/>
                <a:ea typeface="Calibri" pitchFamily="34" charset="-122"/>
                <a:cs typeface="Calibri" pitchFamily="34" charset="-120"/>
              </a:rPr>
              <a:t>e.g. reminder email in 24 h · retry payment at 09:00 · expire a trial on its end date</a:t>
            </a:r>
            <a:endParaRPr lang="en-US" sz="900" dirty="0"/>
          </a:p>
        </p:txBody>
      </p:sp>
      <p:sp>
        <p:nvSpPr>
          <p:cNvPr id="109" name="Shape 104"/>
          <p:cNvSpPr/>
          <p:nvPr/>
        </p:nvSpPr>
        <p:spPr>
          <a:xfrm>
            <a:off x="7818120" y="3963415"/>
            <a:ext cx="3913632" cy="932688"/>
          </a:xfrm>
          <a:prstGeom prst="roundRect">
            <a:avLst>
              <a:gd name="adj" fmla="val 5882"/>
            </a:avLst>
          </a:prstGeom>
          <a:solidFill>
            <a:schemeClr val="bg1"/>
          </a:solidFill>
          <a:ln/>
        </p:spPr>
        <p:txBody>
          <a:bodyPr/>
          <a:lstStyle/>
          <a:p>
            <a:endParaRPr lang="en-US"/>
          </a:p>
        </p:txBody>
      </p:sp>
      <p:sp>
        <p:nvSpPr>
          <p:cNvPr id="110" name="Shape 105"/>
          <p:cNvSpPr/>
          <p:nvPr/>
        </p:nvSpPr>
        <p:spPr>
          <a:xfrm>
            <a:off x="7818120" y="3963415"/>
            <a:ext cx="3913632" cy="932688"/>
          </a:xfrm>
          <a:prstGeom prst="roundRect">
            <a:avLst>
              <a:gd name="adj" fmla="val 5882"/>
            </a:avLst>
          </a:prstGeom>
          <a:solidFill>
            <a:schemeClr val="bg2"/>
          </a:solidFill>
          <a:ln/>
        </p:spPr>
        <p:txBody>
          <a:bodyPr/>
          <a:lstStyle/>
          <a:p>
            <a:endParaRPr lang="en-US"/>
          </a:p>
        </p:txBody>
      </p:sp>
      <p:sp>
        <p:nvSpPr>
          <p:cNvPr id="111" name="Shape 106"/>
          <p:cNvSpPr/>
          <p:nvPr/>
        </p:nvSpPr>
        <p:spPr>
          <a:xfrm>
            <a:off x="7936992" y="4091431"/>
            <a:ext cx="420624" cy="420624"/>
          </a:xfrm>
          <a:prstGeom prst="ellipse">
            <a:avLst/>
          </a:prstGeom>
          <a:solidFill>
            <a:schemeClr val="accent1">
              <a:lumMod val="40000"/>
              <a:lumOff val="60000"/>
            </a:schemeClr>
          </a:solidFill>
          <a:ln/>
        </p:spPr>
        <p:txBody>
          <a:bodyPr/>
          <a:lstStyle/>
          <a:p>
            <a:endParaRPr lang="en-US"/>
          </a:p>
        </p:txBody>
      </p:sp>
      <p:pic>
        <p:nvPicPr>
          <p:cNvPr id="112" name="Image 2" descr="preencoded.png"/>
          <p:cNvPicPr>
            <a:picLocks noChangeAspect="1"/>
          </p:cNvPicPr>
          <p:nvPr/>
        </p:nvPicPr>
        <p:blipFill>
          <a:blip r:embed="rId5"/>
          <a:stretch>
            <a:fillRect/>
          </a:stretch>
        </p:blipFill>
        <p:spPr>
          <a:xfrm>
            <a:off x="8042148" y="4196587"/>
            <a:ext cx="210312" cy="210312"/>
          </a:xfrm>
          <a:prstGeom prst="rect">
            <a:avLst/>
          </a:prstGeom>
        </p:spPr>
      </p:pic>
      <p:sp>
        <p:nvSpPr>
          <p:cNvPr id="113" name="Text 107"/>
          <p:cNvSpPr txBox="1"/>
          <p:nvPr/>
        </p:nvSpPr>
        <p:spPr>
          <a:xfrm>
            <a:off x="8476488" y="4036567"/>
            <a:ext cx="2560320" cy="256032"/>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Recurring &amp; TTL</a:t>
            </a:r>
            <a:endParaRPr lang="en-US" sz="1300" dirty="0"/>
          </a:p>
        </p:txBody>
      </p:sp>
      <p:sp>
        <p:nvSpPr>
          <p:cNvPr id="114" name="Shape 108"/>
          <p:cNvSpPr/>
          <p:nvPr/>
        </p:nvSpPr>
        <p:spPr>
          <a:xfrm>
            <a:off x="11274552" y="4054855"/>
            <a:ext cx="365760" cy="201168"/>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115" name="Text 109"/>
          <p:cNvSpPr txBox="1"/>
          <p:nvPr/>
        </p:nvSpPr>
        <p:spPr>
          <a:xfrm>
            <a:off x="11274552" y="4054855"/>
            <a:ext cx="365760"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P2</a:t>
            </a:r>
            <a:endParaRPr lang="en-US" sz="900" dirty="0"/>
          </a:p>
        </p:txBody>
      </p:sp>
      <p:sp>
        <p:nvSpPr>
          <p:cNvPr id="116" name="Text 110"/>
          <p:cNvSpPr txBox="1"/>
          <p:nvPr/>
        </p:nvSpPr>
        <p:spPr>
          <a:xfrm>
            <a:off x="8476488" y="4292599"/>
            <a:ext cx="3182112" cy="274320"/>
          </a:xfrm>
          <a:prstGeom prst="rect">
            <a:avLst/>
          </a:prstGeom>
          <a:noFill/>
          <a:ln/>
        </p:spPr>
        <p:txBody>
          <a:bodyPr wrap="square" lIns="0" tIns="0" rIns="0" bIns="0" rtlCol="0" anchor="t"/>
          <a:lstStyle/>
          <a:p>
            <a:pPr marL="0" indent="0">
              <a:buNone/>
            </a:pPr>
            <a:r>
              <a:rPr lang="en-US" sz="1000" dirty="0">
                <a:solidFill>
                  <a:schemeClr val="tx1"/>
                </a:solidFill>
                <a:latin typeface="Calibri" pitchFamily="34" charset="0"/>
                <a:ea typeface="Calibri" pitchFamily="34" charset="-122"/>
                <a:cs typeface="Calibri" pitchFamily="34" charset="-120"/>
              </a:rPr>
              <a:t>cron schedule spawns a task per tick; a TTL is a task scheduled at created + TTL</a:t>
            </a:r>
            <a:endParaRPr lang="en-US" sz="1000" dirty="0"/>
          </a:p>
        </p:txBody>
      </p:sp>
      <p:sp>
        <p:nvSpPr>
          <p:cNvPr id="117" name="Text 111"/>
          <p:cNvSpPr txBox="1"/>
          <p:nvPr/>
        </p:nvSpPr>
        <p:spPr>
          <a:xfrm>
            <a:off x="8476488" y="4548631"/>
            <a:ext cx="3182112" cy="329184"/>
          </a:xfrm>
          <a:prstGeom prst="rect">
            <a:avLst/>
          </a:prstGeom>
          <a:noFill/>
          <a:ln/>
        </p:spPr>
        <p:txBody>
          <a:bodyPr wrap="square" lIns="0" tIns="0" rIns="0" bIns="0" rtlCol="0" anchor="t"/>
          <a:lstStyle/>
          <a:p>
            <a:pPr marL="0" indent="0">
              <a:buNone/>
            </a:pPr>
            <a:r>
              <a:rPr lang="en-US" sz="900" i="1" dirty="0">
                <a:solidFill>
                  <a:schemeClr val="tx2"/>
                </a:solidFill>
                <a:latin typeface="Calibri" pitchFamily="34" charset="0"/>
                <a:ea typeface="Calibri" pitchFamily="34" charset="-122"/>
                <a:cs typeface="Calibri" pitchFamily="34" charset="-120"/>
              </a:rPr>
              <a:t>e.g. nightly usage roll-up · hourly certificate check · purge data 30 days after deletion</a:t>
            </a:r>
            <a:endParaRPr lang="en-US" sz="900" dirty="0"/>
          </a:p>
        </p:txBody>
      </p:sp>
      <p:sp>
        <p:nvSpPr>
          <p:cNvPr id="118" name="Shape 112"/>
          <p:cNvSpPr/>
          <p:nvPr/>
        </p:nvSpPr>
        <p:spPr>
          <a:xfrm>
            <a:off x="7818120" y="4987543"/>
            <a:ext cx="3913632" cy="932688"/>
          </a:xfrm>
          <a:prstGeom prst="roundRect">
            <a:avLst>
              <a:gd name="adj" fmla="val 5882"/>
            </a:avLst>
          </a:prstGeom>
          <a:solidFill>
            <a:schemeClr val="bg1"/>
          </a:solidFill>
          <a:ln/>
        </p:spPr>
        <p:txBody>
          <a:bodyPr/>
          <a:lstStyle/>
          <a:p>
            <a:endParaRPr lang="en-US"/>
          </a:p>
        </p:txBody>
      </p:sp>
      <p:sp>
        <p:nvSpPr>
          <p:cNvPr id="119" name="Shape 113"/>
          <p:cNvSpPr/>
          <p:nvPr/>
        </p:nvSpPr>
        <p:spPr>
          <a:xfrm>
            <a:off x="7818120" y="4987543"/>
            <a:ext cx="3913632" cy="932688"/>
          </a:xfrm>
          <a:prstGeom prst="roundRect">
            <a:avLst>
              <a:gd name="adj" fmla="val 5882"/>
            </a:avLst>
          </a:prstGeom>
          <a:solidFill>
            <a:schemeClr val="bg2"/>
          </a:solidFill>
          <a:ln/>
        </p:spPr>
        <p:txBody>
          <a:bodyPr/>
          <a:lstStyle/>
          <a:p>
            <a:endParaRPr lang="en-US"/>
          </a:p>
        </p:txBody>
      </p:sp>
      <p:sp>
        <p:nvSpPr>
          <p:cNvPr id="120" name="Shape 114"/>
          <p:cNvSpPr/>
          <p:nvPr/>
        </p:nvSpPr>
        <p:spPr>
          <a:xfrm>
            <a:off x="7936992" y="5115559"/>
            <a:ext cx="420624" cy="420624"/>
          </a:xfrm>
          <a:prstGeom prst="ellipse">
            <a:avLst/>
          </a:prstGeom>
          <a:solidFill>
            <a:schemeClr val="accent1">
              <a:lumMod val="40000"/>
              <a:lumOff val="60000"/>
            </a:schemeClr>
          </a:solidFill>
          <a:ln/>
        </p:spPr>
        <p:txBody>
          <a:bodyPr/>
          <a:lstStyle/>
          <a:p>
            <a:endParaRPr lang="en-US"/>
          </a:p>
        </p:txBody>
      </p:sp>
      <p:pic>
        <p:nvPicPr>
          <p:cNvPr id="121" name="Image 3" descr="preencoded.png"/>
          <p:cNvPicPr>
            <a:picLocks noChangeAspect="1"/>
          </p:cNvPicPr>
          <p:nvPr/>
        </p:nvPicPr>
        <p:blipFill>
          <a:blip r:embed="rId6"/>
          <a:stretch>
            <a:fillRect/>
          </a:stretch>
        </p:blipFill>
        <p:spPr>
          <a:xfrm>
            <a:off x="8042148" y="5220715"/>
            <a:ext cx="210312" cy="210312"/>
          </a:xfrm>
          <a:prstGeom prst="rect">
            <a:avLst/>
          </a:prstGeom>
        </p:spPr>
      </p:pic>
      <p:sp>
        <p:nvSpPr>
          <p:cNvPr id="122" name="Text 115"/>
          <p:cNvSpPr txBox="1"/>
          <p:nvPr/>
        </p:nvSpPr>
        <p:spPr>
          <a:xfrm>
            <a:off x="8476488" y="5060695"/>
            <a:ext cx="2560320" cy="256032"/>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Upon event</a:t>
            </a:r>
            <a:endParaRPr lang="en-US" sz="1300" dirty="0"/>
          </a:p>
        </p:txBody>
      </p:sp>
      <p:sp>
        <p:nvSpPr>
          <p:cNvPr id="123" name="Shape 116"/>
          <p:cNvSpPr/>
          <p:nvPr/>
        </p:nvSpPr>
        <p:spPr>
          <a:xfrm>
            <a:off x="11274552" y="5078983"/>
            <a:ext cx="365760" cy="201168"/>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124" name="Text 117"/>
          <p:cNvSpPr txBox="1"/>
          <p:nvPr/>
        </p:nvSpPr>
        <p:spPr>
          <a:xfrm>
            <a:off x="11274552" y="5078983"/>
            <a:ext cx="365760"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P2</a:t>
            </a:r>
            <a:endParaRPr lang="en-US" sz="900" dirty="0"/>
          </a:p>
        </p:txBody>
      </p:sp>
      <p:sp>
        <p:nvSpPr>
          <p:cNvPr id="125" name="Text 118"/>
          <p:cNvSpPr txBox="1"/>
          <p:nvPr/>
        </p:nvSpPr>
        <p:spPr>
          <a:xfrm>
            <a:off x="8476488" y="5316727"/>
            <a:ext cx="3182112" cy="274320"/>
          </a:xfrm>
          <a:prstGeom prst="rect">
            <a:avLst/>
          </a:prstGeom>
          <a:noFill/>
          <a:ln/>
        </p:spPr>
        <p:txBody>
          <a:bodyPr wrap="square" lIns="0" tIns="0" rIns="0" bIns="0" rtlCol="0" anchor="t"/>
          <a:lstStyle/>
          <a:p>
            <a:pPr marL="0" indent="0">
              <a:buNone/>
            </a:pPr>
            <a:r>
              <a:rPr lang="en-US" sz="1000" dirty="0">
                <a:solidFill>
                  <a:schemeClr val="tx1"/>
                </a:solidFill>
                <a:latin typeface="Calibri" pitchFamily="34" charset="0"/>
                <a:ea typeface="Calibri" pitchFamily="34" charset="-122"/>
                <a:cs typeface="Calibri" pitchFamily="34" charset="-120"/>
              </a:rPr>
              <a:t>task parks on an event wait, resumes when it arrives</a:t>
            </a:r>
            <a:endParaRPr lang="en-US" sz="1000" dirty="0"/>
          </a:p>
        </p:txBody>
      </p:sp>
      <p:sp>
        <p:nvSpPr>
          <p:cNvPr id="126" name="Text 119"/>
          <p:cNvSpPr txBox="1"/>
          <p:nvPr/>
        </p:nvSpPr>
        <p:spPr>
          <a:xfrm>
            <a:off x="8476488" y="5572759"/>
            <a:ext cx="3182112" cy="329184"/>
          </a:xfrm>
          <a:prstGeom prst="rect">
            <a:avLst/>
          </a:prstGeom>
          <a:noFill/>
          <a:ln/>
        </p:spPr>
        <p:txBody>
          <a:bodyPr wrap="square" lIns="0" tIns="0" rIns="0" bIns="0" rtlCol="0" anchor="t"/>
          <a:lstStyle/>
          <a:p>
            <a:pPr marL="0" indent="0">
              <a:buNone/>
            </a:pPr>
            <a:r>
              <a:rPr lang="en-US" sz="900" i="1" dirty="0">
                <a:solidFill>
                  <a:schemeClr val="tx2"/>
                </a:solidFill>
                <a:latin typeface="Calibri" pitchFamily="34" charset="0"/>
                <a:ea typeface="Calibri" pitchFamily="34" charset="-122"/>
                <a:cs typeface="Calibri" pitchFamily="34" charset="-120"/>
              </a:rPr>
              <a:t>e.g. provision VM, resume on vm.ready · continue after an approval decision</a:t>
            </a:r>
            <a:endParaRPr lang="en-US" sz="9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
        <p:nvSpPr>
          <p:cNvPr id="129" name="Text 34">
            <a:extLst>
              <a:ext uri="{FF2B5EF4-FFF2-40B4-BE49-F238E27FC236}">
                <a16:creationId xmlns:a16="http://schemas.microsoft.com/office/drawing/2014/main" id="{6B7FF1BC-BF35-C48C-7E08-772AB2982F3A}"/>
              </a:ext>
            </a:extLst>
          </p:cNvPr>
          <p:cNvSpPr txBox="1"/>
          <p:nvPr/>
        </p:nvSpPr>
        <p:spPr>
          <a:xfrm>
            <a:off x="2278470" y="2799494"/>
            <a:ext cx="457200" cy="182880"/>
          </a:xfrm>
          <a:prstGeom prst="rect">
            <a:avLst/>
          </a:prstGeom>
          <a:noFill/>
          <a:ln/>
        </p:spPr>
        <p:txBody>
          <a:bodyPr wrap="square" lIns="0" tIns="0" rIns="0" bIns="0" rtlCol="0" anchor="t"/>
          <a:lstStyle/>
          <a:p>
            <a:pPr marL="0" indent="0">
              <a:buNone/>
            </a:pPr>
            <a:r>
              <a:rPr lang="en-US" sz="900" dirty="0">
                <a:solidFill>
                  <a:schemeClr val="tx2"/>
                </a:solidFill>
                <a:latin typeface="Calibri" pitchFamily="34" charset="0"/>
                <a:ea typeface="Calibri" pitchFamily="34" charset="-122"/>
                <a:cs typeface="Calibri" pitchFamily="34" charset="-120"/>
              </a:rPr>
              <a:t>create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Industry options vs. what our PRD needs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813653450"/>
              </p:ext>
            </p:extLst>
          </p:nvPr>
        </p:nvGraphicFramePr>
        <p:xfrm>
          <a:off x="457200" y="940816"/>
          <a:ext cx="11441092" cy="4956063"/>
        </p:xfrm>
        <a:graphic>
          <a:graphicData uri="http://schemas.openxmlformats.org/drawingml/2006/table">
            <a:tbl>
              <a:tblPr/>
              <a:tblGrid>
                <a:gridCol w="274320">
                  <a:extLst>
                    <a:ext uri="{9D8B030D-6E8A-4147-A177-3AD203B41FA5}">
                      <a16:colId xmlns:a16="http://schemas.microsoft.com/office/drawing/2014/main" val="20000"/>
                    </a:ext>
                  </a:extLst>
                </a:gridCol>
                <a:gridCol w="274320">
                  <a:extLst>
                    <a:ext uri="{9D8B030D-6E8A-4147-A177-3AD203B41FA5}">
                      <a16:colId xmlns:a16="http://schemas.microsoft.com/office/drawing/2014/main" val="20001"/>
                    </a:ext>
                  </a:extLst>
                </a:gridCol>
                <a:gridCol w="2279015">
                  <a:extLst>
                    <a:ext uri="{9D8B030D-6E8A-4147-A177-3AD203B41FA5}">
                      <a16:colId xmlns:a16="http://schemas.microsoft.com/office/drawing/2014/main" val="20002"/>
                    </a:ext>
                  </a:extLst>
                </a:gridCol>
                <a:gridCol w="2177415">
                  <a:extLst>
                    <a:ext uri="{9D8B030D-6E8A-4147-A177-3AD203B41FA5}">
                      <a16:colId xmlns:a16="http://schemas.microsoft.com/office/drawing/2014/main" val="20003"/>
                    </a:ext>
                  </a:extLst>
                </a:gridCol>
                <a:gridCol w="2152015">
                  <a:extLst>
                    <a:ext uri="{9D8B030D-6E8A-4147-A177-3AD203B41FA5}">
                      <a16:colId xmlns:a16="http://schemas.microsoft.com/office/drawing/2014/main" val="20004"/>
                    </a:ext>
                  </a:extLst>
                </a:gridCol>
                <a:gridCol w="2139315">
                  <a:extLst>
                    <a:ext uri="{9D8B030D-6E8A-4147-A177-3AD203B41FA5}">
                      <a16:colId xmlns:a16="http://schemas.microsoft.com/office/drawing/2014/main" val="20005"/>
                    </a:ext>
                  </a:extLst>
                </a:gridCol>
                <a:gridCol w="2144692">
                  <a:extLst>
                    <a:ext uri="{9D8B030D-6E8A-4147-A177-3AD203B41FA5}">
                      <a16:colId xmlns:a16="http://schemas.microsoft.com/office/drawing/2014/main" val="20006"/>
                    </a:ext>
                  </a:extLst>
                </a:gridCol>
              </a:tblGrid>
              <a:tr h="174993">
                <a:tc>
                  <a:txBody>
                    <a:bodyPr/>
                    <a:lstStyle/>
                    <a:p>
                      <a:pPr marL="0" indent="0" algn="ctr">
                        <a:buNone/>
                      </a:pPr>
                      <a:r>
                        <a:rPr lang="en-US" sz="1000" b="1" dirty="0">
                          <a:solidFill>
                            <a:schemeClr val="bg1"/>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A2332"/>
                    </a:solidFill>
                  </a:tcPr>
                </a:tc>
                <a:tc>
                  <a:txBody>
                    <a:bodyPr/>
                    <a:lstStyle/>
                    <a:p>
                      <a:pPr marL="0" indent="0" algn="ctr">
                        <a:buNone/>
                      </a:pPr>
                      <a:r>
                        <a:rPr lang="en-US" sz="1000" b="1" dirty="0">
                          <a:solidFill>
                            <a:schemeClr val="bg1"/>
                          </a:solidFill>
                          <a:latin typeface="Calibri" pitchFamily="34" charset="0"/>
                          <a:ea typeface="Calibri" pitchFamily="34" charset="-122"/>
                          <a:cs typeface="Calibri" pitchFamily="34" charset="-120"/>
                        </a:rPr>
                        <a:t>S</a:t>
                      </a:r>
                      <a:endParaRPr lang="en-US" sz="10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A2332"/>
                    </a:solidFill>
                  </a:tcPr>
                </a:tc>
                <a:tc>
                  <a:txBody>
                    <a:bodyPr/>
                    <a:lstStyle/>
                    <a:p>
                      <a:pPr marL="0" indent="0" algn="l">
                        <a:buNone/>
                      </a:pPr>
                      <a:r>
                        <a:rPr lang="en-US" sz="1000" b="1" dirty="0">
                          <a:solidFill>
                            <a:schemeClr val="bg1"/>
                          </a:solidFill>
                          <a:latin typeface="Calibri" pitchFamily="34" charset="0"/>
                          <a:ea typeface="Calibri" pitchFamily="34" charset="-122"/>
                          <a:cs typeface="Calibri" pitchFamily="34" charset="-120"/>
                        </a:rPr>
                        <a:t>Capability</a:t>
                      </a:r>
                      <a:endParaRPr lang="en-US" sz="10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A2332"/>
                    </a:solidFill>
                  </a:tcPr>
                </a:tc>
                <a:tc>
                  <a:txBody>
                    <a:bodyPr/>
                    <a:lstStyle/>
                    <a:p>
                      <a:pPr marL="0" indent="0" algn="l">
                        <a:buNone/>
                      </a:pPr>
                      <a:r>
                        <a:rPr lang="en-US" sz="1000" b="1" dirty="0">
                          <a:solidFill>
                            <a:schemeClr val="bg1"/>
                          </a:solidFill>
                          <a:latin typeface="Calibri" pitchFamily="34" charset="0"/>
                          <a:ea typeface="Calibri" pitchFamily="34" charset="-122"/>
                          <a:cs typeface="Calibri" pitchFamily="34" charset="-120"/>
                        </a:rPr>
                        <a:t>Temporal · MIT</a:t>
                      </a:r>
                      <a:endParaRPr lang="en-US" sz="10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A2332"/>
                    </a:solidFill>
                  </a:tcPr>
                </a:tc>
                <a:tc>
                  <a:txBody>
                    <a:bodyPr/>
                    <a:lstStyle/>
                    <a:p>
                      <a:pPr marL="0" indent="0" algn="l">
                        <a:buNone/>
                      </a:pPr>
                      <a:r>
                        <a:rPr lang="en-US" sz="1000" b="1" dirty="0">
                          <a:solidFill>
                            <a:schemeClr val="bg1"/>
                          </a:solidFill>
                          <a:latin typeface="Calibri" pitchFamily="34" charset="0"/>
                          <a:ea typeface="Calibri" pitchFamily="34" charset="-122"/>
                          <a:cs typeface="Calibri" pitchFamily="34" charset="-120"/>
                        </a:rPr>
                        <a:t>Hatchet · MIT</a:t>
                      </a:r>
                      <a:endParaRPr lang="en-US" sz="10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A2332"/>
                    </a:solidFill>
                  </a:tcPr>
                </a:tc>
                <a:tc>
                  <a:txBody>
                    <a:bodyPr/>
                    <a:lstStyle/>
                    <a:p>
                      <a:pPr marL="0" indent="0" algn="l">
                        <a:buNone/>
                      </a:pPr>
                      <a:r>
                        <a:rPr lang="en-US" sz="1000" b="1" dirty="0">
                          <a:solidFill>
                            <a:schemeClr val="bg1"/>
                          </a:solidFill>
                          <a:latin typeface="Calibri" pitchFamily="34" charset="0"/>
                          <a:ea typeface="Calibri" pitchFamily="34" charset="-122"/>
                          <a:cs typeface="Calibri" pitchFamily="34" charset="-120"/>
                        </a:rPr>
                        <a:t>Conductor OSS · Apache-2.0</a:t>
                      </a:r>
                      <a:endParaRPr lang="en-US" sz="10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A2332"/>
                    </a:solidFill>
                  </a:tcPr>
                </a:tc>
                <a:tc>
                  <a:txBody>
                    <a:bodyPr/>
                    <a:lstStyle/>
                    <a:p>
                      <a:pPr marL="0" indent="0" algn="l">
                        <a:buNone/>
                      </a:pPr>
                      <a:r>
                        <a:rPr lang="en-US" sz="1000" b="1" dirty="0">
                          <a:solidFill>
                            <a:schemeClr val="bg1"/>
                          </a:solidFill>
                          <a:latin typeface="Calibri" pitchFamily="34" charset="0"/>
                          <a:ea typeface="Calibri" pitchFamily="34" charset="-122"/>
                          <a:cs typeface="Calibri" pitchFamily="34" charset="-120"/>
                        </a:rPr>
                        <a:t>Gears Task Engine</a:t>
                      </a:r>
                      <a:endParaRPr lang="en-US" sz="10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0"/>
                  </a:ext>
                </a:extLst>
              </a:tr>
              <a:tr h="159369">
                <a:tc>
                  <a:txBody>
                    <a:bodyPr/>
                    <a:lstStyle/>
                    <a:p>
                      <a:pPr marL="0" indent="0" algn="ctr">
                        <a:buNone/>
                      </a:pPr>
                      <a:r>
                        <a:rPr lang="en-US" sz="900" dirty="0">
                          <a:latin typeface="Calibri" charset="0"/>
                          <a:ea typeface="Calibri" charset="0"/>
                          <a:cs typeface="Calibri" charset="0"/>
                        </a:rPr>
                        <a:t>1</a:t>
                      </a: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latin typeface="Calibri" charset="0"/>
                          <a:ea typeface="Calibri" charset="0"/>
                          <a:cs typeface="Calibri" charset="0"/>
                        </a:rPr>
                        <a:t>Distributed multi-worker task queue</a:t>
                      </a: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ru-RU" sz="900" b="1" dirty="0">
                          <a:solidFill>
                            <a:schemeClr val="accent6"/>
                          </a:solidFill>
                          <a:latin typeface="Calibri" pitchFamily="34" charset="0"/>
                          <a:ea typeface="Calibri" pitchFamily="34" charset="-122"/>
                          <a:cs typeface="Calibri" pitchFamily="34" charset="-120"/>
                        </a:rPr>
                        <a:t> </a:t>
                      </a:r>
                      <a:r>
                        <a:rPr lang="en-US" sz="900" b="0" dirty="0">
                          <a:solidFill>
                            <a:schemeClr val="tx1"/>
                          </a:solidFill>
                          <a:latin typeface="Calibri" pitchFamily="34" charset="0"/>
                          <a:ea typeface="Calibri" pitchFamily="34" charset="-122"/>
                          <a:cs typeface="Calibri" pitchFamily="34" charset="-120"/>
                        </a:rPr>
                        <a:t>yes</a:t>
                      </a:r>
                      <a:endParaRPr lang="en-US" sz="900" b="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ru-RU" sz="900" b="1" dirty="0">
                          <a:solidFill>
                            <a:schemeClr val="accent6"/>
                          </a:solidFill>
                          <a:latin typeface="Calibri" pitchFamily="34" charset="0"/>
                          <a:ea typeface="Calibri" pitchFamily="34" charset="-122"/>
                          <a:cs typeface="Calibri" pitchFamily="34" charset="-120"/>
                        </a:rPr>
                        <a:t> </a:t>
                      </a:r>
                      <a:r>
                        <a:rPr lang="en-US" sz="900" b="0" dirty="0">
                          <a:solidFill>
                            <a:schemeClr val="tx1"/>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ru-RU" sz="900" b="1" dirty="0">
                          <a:solidFill>
                            <a:schemeClr val="accent6"/>
                          </a:solidFill>
                          <a:latin typeface="Calibri" pitchFamily="34" charset="0"/>
                          <a:ea typeface="Calibri" pitchFamily="34" charset="-122"/>
                          <a:cs typeface="Calibri" pitchFamily="34" charset="-120"/>
                        </a:rPr>
                        <a:t> </a:t>
                      </a:r>
                      <a:r>
                        <a:rPr lang="en-US" sz="900" b="0" dirty="0">
                          <a:solidFill>
                            <a:schemeClr val="tx1"/>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ru-RU" sz="900" b="1" dirty="0">
                          <a:solidFill>
                            <a:schemeClr val="accent6"/>
                          </a:solidFill>
                          <a:latin typeface="Calibri" pitchFamily="34" charset="0"/>
                          <a:ea typeface="Calibri" pitchFamily="34" charset="-122"/>
                          <a:cs typeface="Calibri" pitchFamily="34" charset="-120"/>
                        </a:rPr>
                        <a:t> </a:t>
                      </a:r>
                      <a:r>
                        <a:rPr lang="en-US" sz="900" b="0" dirty="0">
                          <a:solidFill>
                            <a:schemeClr val="tx1"/>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3945212997"/>
                  </a:ext>
                </a:extLst>
              </a:tr>
              <a:tr h="159369">
                <a:tc>
                  <a:txBody>
                    <a:bodyPr/>
                    <a:lstStyle/>
                    <a:p>
                      <a:pPr marL="0" indent="0" algn="ctr">
                        <a:buNone/>
                      </a:pPr>
                      <a:r>
                        <a:rPr lang="en-US" sz="900" dirty="0">
                          <a:latin typeface="Calibri" charset="0"/>
                          <a:ea typeface="Calibri" charset="0"/>
                          <a:cs typeface="Calibri" charset="0"/>
                        </a:rPr>
                        <a:t>2</a:t>
                      </a: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Multi-tenancy &amp; authz</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namespaces, pluggable authorizer</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b="0" dirty="0">
                          <a:solidFill>
                            <a:schemeClr val="tx1"/>
                          </a:solidFill>
                          <a:latin typeface="Calibri" pitchFamily="34" charset="0"/>
                          <a:ea typeface="Calibri" pitchFamily="34" charset="-122"/>
                          <a:cs typeface="Calibri" pitchFamily="34" charset="-120"/>
                        </a:rPr>
                        <a:t>no per-user auth, only tenants</a:t>
                      </a:r>
                      <a:r>
                        <a:rPr lang="en-US" sz="900" b="1" dirty="0">
                          <a:solidFill>
                            <a:schemeClr val="tx1"/>
                          </a:solidFill>
                          <a:latin typeface="Calibri" pitchFamily="34" charset="0"/>
                          <a:ea typeface="Calibri" pitchFamily="34" charset="-122"/>
                          <a:cs typeface="Calibri" pitchFamily="34" charset="-120"/>
                        </a:rPr>
                        <a:t> </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none in OSS (RBAC in Orkes)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tenant hierarchy, PDP row scope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163849826"/>
                  </a:ext>
                </a:extLst>
              </a:tr>
              <a:tr h="159369">
                <a:tc>
                  <a:txBody>
                    <a:bodyPr/>
                    <a:lstStyle/>
                    <a:p>
                      <a:pPr marL="0" indent="0" algn="ctr">
                        <a:buNone/>
                      </a:pPr>
                      <a:r>
                        <a:rPr lang="en-US" sz="900" dirty="0">
                          <a:latin typeface="Calibri" charset="0"/>
                          <a:ea typeface="Calibri" charset="0"/>
                          <a:cs typeface="Calibri" charset="0"/>
                        </a:rPr>
                        <a:t>3</a:t>
                      </a: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CRUD REST API (for UI)</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b="0" dirty="0">
                          <a:solidFill>
                            <a:schemeClr val="tx1"/>
                          </a:solidFill>
                          <a:latin typeface="Calibri" pitchFamily="34" charset="0"/>
                          <a:ea typeface="Calibri" pitchFamily="34" charset="-122"/>
                          <a:cs typeface="Calibri" pitchFamily="34" charset="-120"/>
                        </a:rPr>
                        <a:t>HTTP/JSON API, </a:t>
                      </a:r>
                      <a:r>
                        <a:rPr lang="en-US" sz="900" b="0" dirty="0" err="1">
                          <a:solidFill>
                            <a:schemeClr val="tx1"/>
                          </a:solidFill>
                          <a:latin typeface="Calibri" pitchFamily="34" charset="0"/>
                          <a:ea typeface="Calibri" pitchFamily="34" charset="-122"/>
                          <a:cs typeface="Calibri" pitchFamily="34" charset="-120"/>
                        </a:rPr>
                        <a:t>gRPC</a:t>
                      </a:r>
                      <a:endParaRPr lang="en-US" sz="900" b="0" dirty="0">
                        <a:solidFill>
                          <a:schemeClr val="tx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b="0" dirty="0" err="1">
                          <a:solidFill>
                            <a:schemeClr val="tx1"/>
                          </a:solidFill>
                          <a:latin typeface="Calibri" pitchFamily="34" charset="0"/>
                          <a:ea typeface="Calibri" pitchFamily="34" charset="-122"/>
                          <a:cs typeface="Calibri" pitchFamily="34" charset="-120"/>
                        </a:rPr>
                        <a:t>gRPC</a:t>
                      </a:r>
                      <a:r>
                        <a:rPr lang="en-US" sz="900" b="0" dirty="0">
                          <a:solidFill>
                            <a:schemeClr val="tx1"/>
                          </a:solidFill>
                          <a:latin typeface="Calibri" pitchFamily="34" charset="0"/>
                          <a:ea typeface="Calibri" pitchFamily="34" charset="-122"/>
                          <a:cs typeface="Calibri" pitchFamily="34" charset="-120"/>
                        </a:rPr>
                        <a:t> only</a:t>
                      </a:r>
                      <a:endParaRPr lang="en-US" sz="900" b="0" dirty="0">
                        <a:solidFill>
                          <a:schemeClr val="tx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dirty="0">
                          <a:solidFill>
                            <a:schemeClr val="accent4"/>
                          </a:solidFill>
                          <a:latin typeface="Calibri" pitchFamily="34" charset="0"/>
                          <a:ea typeface="Calibri" pitchFamily="34" charset="-122"/>
                          <a:cs typeface="Calibri" pitchFamily="34" charset="-120"/>
                        </a:rPr>
                        <a:t>✓</a:t>
                      </a:r>
                      <a:r>
                        <a:rPr lang="ru-RU" sz="900" b="1" dirty="0">
                          <a:solidFill>
                            <a:schemeClr val="accent6"/>
                          </a:solidFill>
                          <a:latin typeface="Calibri" pitchFamily="34" charset="0"/>
                          <a:ea typeface="Calibri" pitchFamily="34" charset="-122"/>
                          <a:cs typeface="Calibri" pitchFamily="34" charset="-120"/>
                        </a:rPr>
                        <a:t> </a:t>
                      </a:r>
                      <a:r>
                        <a:rPr lang="en-US" sz="900" b="0" dirty="0">
                          <a:solidFill>
                            <a:schemeClr val="tx1"/>
                          </a:solidFill>
                          <a:latin typeface="Calibri" pitchFamily="34" charset="0"/>
                          <a:ea typeface="Calibri" pitchFamily="34" charset="-122"/>
                          <a:cs typeface="Calibri" pitchFamily="34" charset="-120"/>
                        </a:rPr>
                        <a:t>REST API</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ru-RU" sz="900" b="1" dirty="0">
                          <a:solidFill>
                            <a:schemeClr val="accent6"/>
                          </a:solidFill>
                          <a:latin typeface="Calibri" pitchFamily="34" charset="0"/>
                          <a:ea typeface="Calibri" pitchFamily="34" charset="-122"/>
                          <a:cs typeface="Calibri" pitchFamily="34" charset="-120"/>
                        </a:rPr>
                        <a:t> </a:t>
                      </a:r>
                      <a:r>
                        <a:rPr lang="en-US" sz="900" b="0" dirty="0">
                          <a:solidFill>
                            <a:schemeClr val="tx1"/>
                          </a:solidFill>
                          <a:latin typeface="Calibri" pitchFamily="34" charset="0"/>
                          <a:ea typeface="Calibri" pitchFamily="34" charset="-122"/>
                          <a:cs typeface="Calibri" pitchFamily="34" charset="-120"/>
                        </a:rPr>
                        <a:t>REST API</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2908818733"/>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4</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RBAC/ABAC (task or subject type)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not possible even with custom authorizer</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b="0" dirty="0">
                          <a:solidFill>
                            <a:schemeClr val="tx1"/>
                          </a:solidFill>
                          <a:latin typeface="Calibri" pitchFamily="34" charset="0"/>
                          <a:ea typeface="Calibri" pitchFamily="34" charset="-122"/>
                          <a:cs typeface="Calibri" pitchFamily="34" charset="-120"/>
                        </a:rPr>
                        <a:t>not supported</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not supported</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tenant hierarchy, PDP row scope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1"/>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5</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Noisy-neighbour isolation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fairness keys, namespace RPS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GROUP_ROUND_ROBIN, rate keys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per task-def limits, no tenant key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per-tenant slots + depth caps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02"/>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6</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Task parameters (input)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opaque payloads, SDK types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typed via SDK models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input templates, expressions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JSON input + context, 64 KiB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7</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Input/output/error schema check</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none server-side, can be added on top</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SDK-side (Pydantic / Zod)</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inputSchema on task/workflow</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GTS JSON Schema, server-side validation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40000"/>
                        <a:lumOff val="60000"/>
                        <a:alpha val="75000"/>
                      </a:schemeClr>
                    </a:solidFill>
                  </a:tcPr>
                </a:tc>
                <a:extLst>
                  <a:ext uri="{0D108BD9-81ED-4DB2-BD59-A6C34878D82A}">
                    <a16:rowId xmlns:a16="http://schemas.microsoft.com/office/drawing/2014/main" val="10004"/>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8</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Structured result &amp; errors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typed failures, non-retryable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output + error message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output + reasonForIncompletion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result code, error domain/code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5"/>
                  </a:ext>
                </a:extLst>
              </a:tr>
              <a:tr h="159369">
                <a:tc>
                  <a:txBody>
                    <a:bodyPr/>
                    <a:lstStyle/>
                    <a:p>
                      <a:pPr marL="0" indent="0" algn="ctr">
                        <a:buNone/>
                      </a:pPr>
                      <a:r>
                        <a:rPr lang="en-US" sz="900" dirty="0">
                          <a:latin typeface="Calibri" charset="0"/>
                          <a:ea typeface="Calibri" charset="0"/>
                          <a:cs typeface="Calibri" charset="0"/>
                        </a:rPr>
                        <a:t>9</a:t>
                      </a: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Multi-deployment (embedded, k8s, on-prem)</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 embedded, extra deployment needed </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 embedded, extra deployment needed</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 embedded, extra deployment needed</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GTS JSON Schema, server-side validation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40000"/>
                        <a:lumOff val="60000"/>
                        <a:alpha val="73154"/>
                      </a:schemeClr>
                    </a:solidFill>
                  </a:tcPr>
                </a:tc>
                <a:extLst>
                  <a:ext uri="{0D108BD9-81ED-4DB2-BD59-A6C34878D82A}">
                    <a16:rowId xmlns:a16="http://schemas.microsoft.com/office/drawing/2014/main" val="10006"/>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10</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Leases &amp; heartbeats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heartbeat timeout + details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worker heartbeat, refresh timeout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responseTimeout + task updates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lease + heartbeat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7"/>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11</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Idempotent create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workflow ID + conflict policy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dedup keys on child runs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idempotencyKey (Orkes docs)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Idempotency-Key; derived (P2)</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08"/>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12</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Concurrency limits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worker slots + queue rate limit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concurrency keys, rate limits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concurrentExecLimit, rate limit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queue/type × global/tenant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9"/>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Queue-depth admission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namespace RPS limits only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not documented</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not built in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queue / tenant / engine caps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10"/>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Priority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priority 1–5 + fairness keys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run priority 1–3</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workflow priority 0–99</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integer, across queues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1"/>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Zombie-worker fencing</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task token; no external epoch</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not documented</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new task ID per retry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lease_token + lease_epoch</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12"/>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Task entries / execution log API</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history only, no app records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plain-text task logs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task execution logs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GTS-typed immutable entries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3"/>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Progress reporting</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heartbeat details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result streaming</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in-progress output updates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percent, milestones, ETA, events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14"/>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C00000"/>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Performance &amp; 100K tenants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scales out, but not for 100K tenants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t>unlikely, tenant is a heavy workspace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not tenants support at all</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100K tenants/workers, 500M tasks in DB</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5"/>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C</a:t>
                      </a:r>
                      <a:endParaRPr lang="en-US" sz="900" dirty="0">
                        <a:solidFill>
                          <a:schemeClr val="bg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75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Events committed with state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emit from activities yourself</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inbound events only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async status listener</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transactional outbox → Broker</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16"/>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20</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C</a:t>
                      </a:r>
                      <a:endParaRPr lang="en-US" sz="900" dirty="0">
                        <a:solidFill>
                          <a:schemeClr val="bg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75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PostgreSQL, MariaDB, SQLite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PG, MySQL, Cassandra; SQLite dev</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PostgreSQL only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PG, MySQL, Redis; no SQLite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PG, MariaDB/MySQL, SQLite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7"/>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21</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C</a:t>
                      </a:r>
                      <a:endParaRPr lang="en-US" sz="900" dirty="0">
                        <a:solidFill>
                          <a:schemeClr val="bg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75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Supersede the older run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conflict policy TerminateExisting</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CANCEL_IN_PROGRESS strategy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not built in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2F5F9"/>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order value, e.g. revision (P2)</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18"/>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22</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C</a:t>
                      </a:r>
                      <a:endParaRPr lang="en-US" sz="900" dirty="0">
                        <a:solidFill>
                          <a:schemeClr val="bg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75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Timeout types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schedule/start/close, heartbeat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schedule + execution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timeout, response, poll</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6 kinds incl. SLA</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19"/>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C</a:t>
                      </a:r>
                      <a:endParaRPr lang="en-US" sz="900" dirty="0">
                        <a:solidFill>
                          <a:schemeClr val="bg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75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Retry &amp; dead-letter</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retry policy, no DLQ</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retries + backoff, replay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fixed/linear/exp + failure flow</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backoff + jitter, DLQ (P2)</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20"/>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24</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C</a:t>
                      </a:r>
                      <a:endParaRPr lang="en-US" sz="900" dirty="0">
                        <a:solidFill>
                          <a:schemeClr val="bg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75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Delayed &amp; recurring</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start delay, Schedules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scheduled runs, cron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WAIT task, built-in cron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run_after (P1), cron (P2)</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21"/>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C</a:t>
                      </a:r>
                      <a:endParaRPr lang="en-US" sz="900" dirty="0">
                        <a:solidFill>
                          <a:schemeClr val="bg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75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Waits: timer / event / input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timers, signals, updates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sleep, waitForEvent, triggers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WAIT, HUMAN, event handlers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timer (P1), event, input (P2)</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22"/>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C</a:t>
                      </a:r>
                      <a:endParaRPr lang="en-US" sz="900" dirty="0">
                        <a:solidFill>
                          <a:schemeClr val="bg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75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Dependencies &amp; sub-tasks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child workflows in code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DAG parents, child spawning</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fork/join, sub-workflows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ALL/ANY deps, parent/child (P2)</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23"/>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27</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C</a:t>
                      </a:r>
                      <a:endParaRPr lang="en-US" sz="900" dirty="0">
                        <a:solidFill>
                          <a:schemeClr val="bg1"/>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75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Cancellation</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cooperative + terminate</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cancel signal via context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terminate workflow / task</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requested / graceful / forced</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24"/>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28</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accent5">
                              <a:lumMod val="50000"/>
                            </a:schemeClr>
                          </a:solidFill>
                          <a:latin typeface="Calibri" pitchFamily="34" charset="0"/>
                          <a:ea typeface="Calibri" pitchFamily="34" charset="-122"/>
                          <a:cs typeface="Calibri" pitchFamily="34" charset="-120"/>
                        </a:rPr>
                        <a:t>M</a:t>
                      </a:r>
                      <a:endParaRPr lang="en-US" sz="900" dirty="0">
                        <a:solidFill>
                          <a:schemeClr val="accent5">
                            <a:lumMod val="50000"/>
                          </a:schemeClr>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60000"/>
                        <a:lumOff val="40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Worker transport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gRPC long-poll</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gRPC stream (push)</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HTTP / gRPC batch polling</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REST long-poll; gRPC (P3)</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25"/>
                  </a:ext>
                </a:extLst>
              </a:tr>
              <a:tr h="159369">
                <a:tc>
                  <a:txBody>
                    <a:bodyPr/>
                    <a:lstStyle/>
                    <a:p>
                      <a:pPr marL="0" indent="0" algn="ctr">
                        <a:buNone/>
                      </a:pPr>
                      <a:r>
                        <a:rPr lang="en-US" sz="900" dirty="0">
                          <a:solidFill>
                            <a:schemeClr val="tx2"/>
                          </a:solidFill>
                          <a:latin typeface="Calibri" pitchFamily="34" charset="0"/>
                          <a:ea typeface="Calibri" pitchFamily="34" charset="-122"/>
                          <a:cs typeface="Calibri" pitchFamily="34" charset="-120"/>
                        </a:rPr>
                        <a:t>29</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lgn="ctr">
                        <a:buNone/>
                      </a:pPr>
                      <a:r>
                        <a:rPr lang="en-US" sz="900" b="1" dirty="0">
                          <a:solidFill>
                            <a:schemeClr val="accent5">
                              <a:lumMod val="50000"/>
                            </a:schemeClr>
                          </a:solidFill>
                          <a:latin typeface="Calibri" pitchFamily="34" charset="0"/>
                          <a:ea typeface="Calibri" pitchFamily="34" charset="-122"/>
                          <a:cs typeface="Calibri" pitchFamily="34" charset="-120"/>
                        </a:rPr>
                        <a:t>M</a:t>
                      </a:r>
                      <a:endParaRPr lang="en-US" sz="900" dirty="0">
                        <a:solidFill>
                          <a:schemeClr val="accent5">
                            <a:lumMod val="50000"/>
                          </a:schemeClr>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60000"/>
                        <a:lumOff val="40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Search &amp; query</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exists, but doesn’t scale for 100K tenants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exists, but doesn’t scale for 100K tenants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Elasticsearch / OpenSearch / PG</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OData: metadata, tags, refs</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B9EBCC"/>
                    </a:solidFill>
                  </a:tcPr>
                </a:tc>
                <a:extLst>
                  <a:ext uri="{0D108BD9-81ED-4DB2-BD59-A6C34878D82A}">
                    <a16:rowId xmlns:a16="http://schemas.microsoft.com/office/drawing/2014/main" val="10026"/>
                  </a:ext>
                </a:extLst>
              </a:tr>
              <a:tr h="159369">
                <a:tc>
                  <a:txBody>
                    <a:bodyPr/>
                    <a:lstStyle/>
                    <a:p>
                      <a:pPr marL="0" indent="0" algn="ctr">
                        <a:buNone/>
                      </a:pPr>
                      <a:r>
                        <a:rPr lang="en-US" sz="900" dirty="0">
                          <a:solidFill>
                            <a:schemeClr val="tx2"/>
                          </a:solidFill>
                          <a:latin typeface="Calibri" pitchFamily="34" charset="0"/>
                          <a:ea typeface="Calibri" charset="0"/>
                          <a:cs typeface="Calibri" pitchFamily="34" charset="-120"/>
                        </a:rPr>
                        <a:t>30</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lgn="ctr">
                        <a:buNone/>
                      </a:pPr>
                      <a:r>
                        <a:rPr lang="en-US" sz="900" b="1" dirty="0">
                          <a:solidFill>
                            <a:schemeClr val="accent5">
                              <a:lumMod val="50000"/>
                            </a:schemeClr>
                          </a:solidFill>
                          <a:latin typeface="Calibri" pitchFamily="34" charset="0"/>
                          <a:ea typeface="Calibri" pitchFamily="34" charset="-122"/>
                          <a:cs typeface="Calibri" pitchFamily="34" charset="-120"/>
                        </a:rPr>
                        <a:t>M</a:t>
                      </a:r>
                      <a:endParaRPr lang="en-US" sz="900" dirty="0">
                        <a:solidFill>
                          <a:schemeClr val="accent5">
                            <a:lumMod val="50000"/>
                          </a:schemeClr>
                        </a:solidFill>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5">
                        <a:lumMod val="60000"/>
                        <a:lumOff val="40000"/>
                      </a:schemeClr>
                    </a:solidFill>
                  </a:tcPr>
                </a:tc>
                <a:tc>
                  <a:txBody>
                    <a:bodyPr/>
                    <a:lstStyle/>
                    <a:p>
                      <a:pPr marL="0" indent="0">
                        <a:buNone/>
                      </a:pPr>
                      <a:r>
                        <a:rPr lang="en-US" sz="900" b="1" dirty="0">
                          <a:solidFill>
                            <a:schemeClr val="tx1"/>
                          </a:solidFill>
                          <a:latin typeface="Calibri" pitchFamily="34" charset="0"/>
                          <a:ea typeface="Calibri" pitchFamily="34" charset="-122"/>
                          <a:cs typeface="Calibri" pitchFamily="34" charset="-120"/>
                        </a:rPr>
                        <a:t>Rust SDK</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public preview</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rgbClr val="FF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Go, Python, TypeScript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Java, Python, Go, JS, C#…</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native SDK + REST</a:t>
                      </a:r>
                      <a:endParaRPr lang="en-US" sz="900" dirty="0">
                        <a:latin typeface="Calibri" charset="0"/>
                        <a:ea typeface="Calibri" charset="0"/>
                        <a:cs typeface="Calibri" charset="0"/>
                      </a:endParaRPr>
                    </a:p>
                  </a:txBody>
                  <a:tcPr marL="45720" marR="45720" marT="9144" marB="9144"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27"/>
                  </a:ext>
                </a:extLst>
              </a:tr>
            </a:tbl>
          </a:graphicData>
        </a:graphic>
      </p:graphicFrame>
      <p:sp>
        <p:nvSpPr>
          <p:cNvPr id="6" name="Text 2"/>
          <p:cNvSpPr txBox="1"/>
          <p:nvPr/>
        </p:nvSpPr>
        <p:spPr>
          <a:xfrm>
            <a:off x="457200" y="6012688"/>
            <a:ext cx="201168" cy="201168"/>
          </a:xfrm>
          <a:prstGeom prst="rect">
            <a:avLst/>
          </a:prstGeom>
          <a:noFill/>
          <a:ln/>
        </p:spPr>
        <p:txBody>
          <a:bodyPr wrap="square" lIns="0" tIns="0" rIns="0" bIns="0" rtlCol="0" anchor="ctr"/>
          <a:lstStyle/>
          <a:p>
            <a:pPr marL="0" indent="0">
              <a:buNone/>
            </a:pPr>
            <a:r>
              <a:rPr lang="en-US" sz="900" b="1" dirty="0">
                <a:solidFill>
                  <a:schemeClr val="tx1"/>
                </a:solidFill>
                <a:latin typeface="Calibri" pitchFamily="34" charset="0"/>
                <a:ea typeface="Calibri" pitchFamily="34" charset="-122"/>
                <a:cs typeface="Calibri" pitchFamily="34" charset="-120"/>
              </a:rPr>
              <a:t>S:</a:t>
            </a:r>
            <a:endParaRPr lang="en-US" sz="900" dirty="0"/>
          </a:p>
        </p:txBody>
      </p:sp>
      <p:sp>
        <p:nvSpPr>
          <p:cNvPr id="7" name="Shape 3"/>
          <p:cNvSpPr/>
          <p:nvPr/>
        </p:nvSpPr>
        <p:spPr>
          <a:xfrm>
            <a:off x="676656" y="6022848"/>
            <a:ext cx="680611" cy="201168"/>
          </a:xfrm>
          <a:prstGeom prst="roundRect">
            <a:avLst>
              <a:gd name="adj" fmla="val 18182"/>
            </a:avLst>
          </a:prstGeom>
          <a:solidFill>
            <a:srgbClr val="C00000"/>
          </a:solidFill>
          <a:ln/>
        </p:spPr>
        <p:txBody>
          <a:bodyPr/>
          <a:lstStyle/>
          <a:p>
            <a:endParaRPr lang="en-US"/>
          </a:p>
        </p:txBody>
      </p:sp>
      <p:sp>
        <p:nvSpPr>
          <p:cNvPr id="8" name="Text 4"/>
          <p:cNvSpPr txBox="1"/>
          <p:nvPr/>
        </p:nvSpPr>
        <p:spPr>
          <a:xfrm>
            <a:off x="676656" y="6043168"/>
            <a:ext cx="680611" cy="144000"/>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B blocker</a:t>
            </a:r>
            <a:endParaRPr lang="en-US" sz="900" dirty="0"/>
          </a:p>
        </p:txBody>
      </p:sp>
      <p:sp>
        <p:nvSpPr>
          <p:cNvPr id="9" name="Shape 5"/>
          <p:cNvSpPr/>
          <p:nvPr/>
        </p:nvSpPr>
        <p:spPr>
          <a:xfrm>
            <a:off x="1412131" y="6022848"/>
            <a:ext cx="739978" cy="201168"/>
          </a:xfrm>
          <a:prstGeom prst="roundRect">
            <a:avLst>
              <a:gd name="adj" fmla="val 18182"/>
            </a:avLst>
          </a:prstGeom>
          <a:solidFill>
            <a:schemeClr val="accent5">
              <a:lumMod val="75000"/>
            </a:schemeClr>
          </a:solidFill>
          <a:ln/>
        </p:spPr>
        <p:txBody>
          <a:bodyPr/>
          <a:lstStyle/>
          <a:p>
            <a:endParaRPr lang="en-US"/>
          </a:p>
        </p:txBody>
      </p:sp>
      <p:sp>
        <p:nvSpPr>
          <p:cNvPr id="10" name="Text 6"/>
          <p:cNvSpPr txBox="1"/>
          <p:nvPr/>
        </p:nvSpPr>
        <p:spPr>
          <a:xfrm>
            <a:off x="1412131" y="6043168"/>
            <a:ext cx="739978" cy="144000"/>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C critical</a:t>
            </a:r>
            <a:endParaRPr lang="en-US" sz="900" dirty="0">
              <a:solidFill>
                <a:schemeClr val="bg1"/>
              </a:solidFill>
            </a:endParaRPr>
          </a:p>
        </p:txBody>
      </p:sp>
      <p:sp>
        <p:nvSpPr>
          <p:cNvPr id="11" name="Shape 7"/>
          <p:cNvSpPr/>
          <p:nvPr/>
        </p:nvSpPr>
        <p:spPr>
          <a:xfrm>
            <a:off x="2206973" y="6022848"/>
            <a:ext cx="561876" cy="201168"/>
          </a:xfrm>
          <a:prstGeom prst="roundRect">
            <a:avLst>
              <a:gd name="adj" fmla="val 18182"/>
            </a:avLst>
          </a:prstGeom>
          <a:solidFill>
            <a:schemeClr val="accent5">
              <a:lumMod val="60000"/>
              <a:lumOff val="40000"/>
            </a:schemeClr>
          </a:solidFill>
          <a:ln/>
        </p:spPr>
        <p:txBody>
          <a:bodyPr/>
          <a:lstStyle/>
          <a:p>
            <a:endParaRPr lang="en-US"/>
          </a:p>
        </p:txBody>
      </p:sp>
      <p:sp>
        <p:nvSpPr>
          <p:cNvPr id="12" name="Text 8"/>
          <p:cNvSpPr txBox="1"/>
          <p:nvPr/>
        </p:nvSpPr>
        <p:spPr>
          <a:xfrm>
            <a:off x="2206973" y="6043168"/>
            <a:ext cx="561876" cy="144000"/>
          </a:xfrm>
          <a:prstGeom prst="rect">
            <a:avLst/>
          </a:prstGeom>
          <a:noFill/>
          <a:ln/>
        </p:spPr>
        <p:txBody>
          <a:bodyPr wrap="square" lIns="0" tIns="0" rIns="0" bIns="0" rtlCol="0" anchor="ctr"/>
          <a:lstStyle/>
          <a:p>
            <a:pPr marL="0" indent="0" algn="ctr">
              <a:buNone/>
            </a:pPr>
            <a:r>
              <a:rPr lang="en-US" sz="900" b="1" dirty="0">
                <a:solidFill>
                  <a:schemeClr val="accent5">
                    <a:lumMod val="50000"/>
                  </a:schemeClr>
                </a:solidFill>
                <a:latin typeface="Calibri" pitchFamily="34" charset="0"/>
                <a:ea typeface="Calibri" pitchFamily="34" charset="-122"/>
                <a:cs typeface="Calibri" pitchFamily="34" charset="-120"/>
              </a:rPr>
              <a:t>M major</a:t>
            </a:r>
            <a:endParaRPr lang="en-US" sz="900" dirty="0">
              <a:solidFill>
                <a:schemeClr val="accent5">
                  <a:lumMod val="50000"/>
                </a:schemeClr>
              </a:solidFill>
            </a:endParaRPr>
          </a:p>
        </p:txBody>
      </p:sp>
      <p:sp>
        <p:nvSpPr>
          <p:cNvPr id="13" name="Text 9"/>
          <p:cNvSpPr txBox="1"/>
          <p:nvPr/>
        </p:nvSpPr>
        <p:spPr>
          <a:xfrm>
            <a:off x="3006593" y="6012688"/>
            <a:ext cx="8725159" cy="201168"/>
          </a:xfrm>
          <a:prstGeom prst="rect">
            <a:avLst/>
          </a:prstGeom>
          <a:noFill/>
          <a:ln/>
        </p:spPr>
        <p:txBody>
          <a:bodyPr wrap="square" lIns="0" tIns="0" rIns="0" bIns="0" rtlCol="0" anchor="ctr"/>
          <a:lstStyle/>
          <a:p>
            <a:pPr marL="0" indent="0">
              <a:buNone/>
            </a:pPr>
            <a:r>
              <a:rPr lang="en-US" sz="900" b="1" dirty="0">
                <a:solidFill>
                  <a:schemeClr val="accent4"/>
                </a:solidFill>
                <a:latin typeface="Calibri" pitchFamily="34" charset="0"/>
                <a:ea typeface="Calibri" pitchFamily="34" charset="-122"/>
                <a:cs typeface="Calibri" pitchFamily="34" charset="-120"/>
              </a:rPr>
              <a:t>✓</a:t>
            </a:r>
            <a:r>
              <a:rPr lang="en-US" sz="900" b="1" dirty="0">
                <a:solidFill>
                  <a:schemeClr val="accent6"/>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built in   </a:t>
            </a:r>
            <a:r>
              <a:rPr lang="en-US" sz="900" b="1" dirty="0">
                <a:solidFill>
                  <a:schemeClr val="accent5">
                    <a:lumMod val="75000"/>
                  </a:schemeClr>
                </a:solidFill>
                <a:latin typeface="Calibri" pitchFamily="34" charset="0"/>
                <a:ea typeface="Calibri" pitchFamily="34" charset="-122"/>
                <a:cs typeface="Calibri" pitchFamily="34" charset="-120"/>
              </a:rPr>
              <a:t>◐</a:t>
            </a:r>
            <a:r>
              <a:rPr lang="en-US" sz="900" b="1" dirty="0">
                <a:solidFill>
                  <a:schemeClr val="accent1"/>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partial, SDK-side only or commercial edition   </a:t>
            </a:r>
            <a:r>
              <a:rPr lang="en-US" sz="900" b="1" dirty="0">
                <a:solidFill>
                  <a:srgbClr val="C00000"/>
                </a:solidFill>
                <a:latin typeface="Calibri" pitchFamily="34" charset="0"/>
                <a:ea typeface="Calibri" pitchFamily="34" charset="-122"/>
                <a:cs typeface="Calibri" pitchFamily="34" charset="-120"/>
              </a:rPr>
              <a:t>✗</a:t>
            </a:r>
            <a:r>
              <a:rPr lang="en-US" sz="900" b="1" dirty="0">
                <a:solidFill>
                  <a:schemeClr val="accent4"/>
                </a:solidFill>
                <a:latin typeface="Calibri" pitchFamily="34" charset="0"/>
                <a:ea typeface="Calibri" pitchFamily="34" charset="-122"/>
                <a:cs typeface="Calibri" pitchFamily="34" charset="-120"/>
              </a:rPr>
              <a:t> </a:t>
            </a:r>
            <a:r>
              <a:rPr lang="en-US" sz="900" dirty="0">
                <a:solidFill>
                  <a:schemeClr val="tx1"/>
                </a:solidFill>
                <a:latin typeface="Calibri" pitchFamily="34" charset="0"/>
                <a:ea typeface="Calibri" pitchFamily="34" charset="-122"/>
                <a:cs typeface="Calibri" pitchFamily="34" charset="-120"/>
              </a:rPr>
              <a:t>not provided   ·   source: vendor docs, Oct 2026</a:t>
            </a:r>
            <a:endParaRPr lang="en-US" sz="900" dirty="0"/>
          </a:p>
        </p:txBody>
      </p:sp>
      <p:sp>
        <p:nvSpPr>
          <p:cNvPr id="14" name="Text 10"/>
          <p:cNvSpPr txBox="1"/>
          <p:nvPr/>
        </p:nvSpPr>
        <p:spPr>
          <a:xfrm>
            <a:off x="457200" y="6209792"/>
            <a:ext cx="11274552" cy="201168"/>
          </a:xfrm>
          <a:prstGeom prst="rect">
            <a:avLst/>
          </a:prstGeom>
          <a:noFill/>
          <a:ln/>
        </p:spPr>
        <p:txBody>
          <a:bodyPr wrap="square" lIns="0" tIns="0" rIns="0" bIns="0" rtlCol="0" anchor="ctr"/>
          <a:lstStyle/>
          <a:p>
            <a:pPr marL="0" indent="0">
              <a:buNone/>
            </a:pPr>
            <a:r>
              <a:rPr lang="en-US" sz="900" i="1" dirty="0">
                <a:solidFill>
                  <a:schemeClr val="tx2"/>
                </a:solidFill>
                <a:latin typeface="Calibri" pitchFamily="34" charset="0"/>
                <a:ea typeface="Calibri" pitchFamily="34" charset="-122"/>
                <a:cs typeface="Calibri" pitchFamily="34" charset="-120"/>
              </a:rPr>
              <a:t>Context: all three are workflow engines run as a separate cluster; the Task Engine is an in-process task engine with no workflows, by design.</a:t>
            </a:r>
            <a:endParaRPr lang="en-US" sz="900" dirty="0"/>
          </a:p>
        </p:txBody>
      </p:sp>
      <p:sp>
        <p:nvSpPr>
          <p:cNvPr id="25"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ADR-0001: four ways to build it — our own Gear is the winner</a:t>
            </a:r>
            <a:endParaRPr lang="en-US" sz="28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Considered options for where task execution lives, scored against the decision drivers</a:t>
            </a:r>
            <a:endParaRPr lang="en-US" sz="1600" dirty="0"/>
          </a:p>
        </p:txBody>
      </p:sp>
      <p:sp>
        <p:nvSpPr>
          <p:cNvPr id="5" name="Shape 2"/>
          <p:cNvSpPr/>
          <p:nvPr/>
        </p:nvSpPr>
        <p:spPr>
          <a:xfrm>
            <a:off x="457200" y="1508760"/>
            <a:ext cx="2697480" cy="4251960"/>
          </a:xfrm>
          <a:prstGeom prst="roundRect">
            <a:avLst>
              <a:gd name="adj" fmla="val 2034"/>
            </a:avLst>
          </a:prstGeom>
          <a:solidFill>
            <a:schemeClr val="bg1"/>
          </a:solidFill>
          <a:ln/>
        </p:spPr>
        <p:txBody>
          <a:bodyPr/>
          <a:lstStyle/>
          <a:p>
            <a:endParaRPr lang="en-US"/>
          </a:p>
        </p:txBody>
      </p:sp>
      <p:sp>
        <p:nvSpPr>
          <p:cNvPr id="6" name="Shape 3"/>
          <p:cNvSpPr/>
          <p:nvPr/>
        </p:nvSpPr>
        <p:spPr>
          <a:xfrm>
            <a:off x="457200" y="1508760"/>
            <a:ext cx="2697480" cy="4251960"/>
          </a:xfrm>
          <a:prstGeom prst="roundRect">
            <a:avLst>
              <a:gd name="adj" fmla="val 2034"/>
            </a:avLst>
          </a:prstGeom>
          <a:solidFill>
            <a:srgbClr val="F2F5F9"/>
          </a:solidFill>
          <a:ln/>
        </p:spPr>
        <p:txBody>
          <a:bodyPr/>
          <a:lstStyle/>
          <a:p>
            <a:endParaRPr lang="en-US"/>
          </a:p>
        </p:txBody>
      </p:sp>
      <p:sp>
        <p:nvSpPr>
          <p:cNvPr id="7" name="Shape 4"/>
          <p:cNvSpPr/>
          <p:nvPr/>
        </p:nvSpPr>
        <p:spPr>
          <a:xfrm>
            <a:off x="621792" y="1673352"/>
            <a:ext cx="457200" cy="457200"/>
          </a:xfrm>
          <a:prstGeom prst="ellipse">
            <a:avLst/>
          </a:prstGeom>
          <a:solidFill>
            <a:srgbClr val="6B7A8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36092" y="1787652"/>
            <a:ext cx="228600" cy="228600"/>
          </a:xfrm>
          <a:prstGeom prst="rect">
            <a:avLst/>
          </a:prstGeom>
        </p:spPr>
      </p:pic>
      <p:sp>
        <p:nvSpPr>
          <p:cNvPr id="9" name="Text 5"/>
          <p:cNvSpPr txBox="1"/>
          <p:nvPr/>
        </p:nvSpPr>
        <p:spPr>
          <a:xfrm>
            <a:off x="1188720" y="1664208"/>
            <a:ext cx="1737360" cy="22860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Option 1</a:t>
            </a:r>
            <a:endParaRPr lang="en-US" sz="1100" dirty="0"/>
          </a:p>
        </p:txBody>
      </p:sp>
      <p:sp>
        <p:nvSpPr>
          <p:cNvPr id="10" name="Text 6"/>
          <p:cNvSpPr txBox="1"/>
          <p:nvPr/>
        </p:nvSpPr>
        <p:spPr>
          <a:xfrm>
            <a:off x="1188720" y="1874520"/>
            <a:ext cx="1874520" cy="56692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Wrap an existing engine</a:t>
            </a:r>
            <a:endParaRPr lang="en-US" sz="1400" dirty="0"/>
          </a:p>
        </p:txBody>
      </p:sp>
      <p:sp>
        <p:nvSpPr>
          <p:cNvPr id="11" name="Text 7"/>
          <p:cNvSpPr txBox="1"/>
          <p:nvPr/>
        </p:nvSpPr>
        <p:spPr>
          <a:xfrm>
            <a:off x="621792" y="2496312"/>
            <a:ext cx="2368296" cy="457200"/>
          </a:xfrm>
          <a:prstGeom prst="rect">
            <a:avLst/>
          </a:prstGeom>
          <a:noFill/>
          <a:ln/>
        </p:spPr>
        <p:txBody>
          <a:bodyPr wrap="square" lIns="0" tIns="0" rIns="0" bIns="0" rtlCol="0" anchor="t"/>
          <a:lstStyle/>
          <a:p>
            <a:pPr marL="0" indent="0">
              <a:buNone/>
            </a:pPr>
            <a:r>
              <a:rPr lang="en-US" sz="1100" i="1" dirty="0">
                <a:solidFill>
                  <a:schemeClr val="tx2"/>
                </a:solidFill>
                <a:latin typeface="Calibri" pitchFamily="34" charset="0"/>
                <a:ea typeface="Calibri" pitchFamily="34" charset="-122"/>
                <a:cs typeface="Calibri" pitchFamily="34" charset="-120"/>
              </a:rPr>
              <a:t>Temporal, Hatchet, Conductor OSS behind a thin API</a:t>
            </a:r>
            <a:endParaRPr lang="en-US" sz="1100" dirty="0"/>
          </a:p>
        </p:txBody>
      </p:sp>
      <p:sp>
        <p:nvSpPr>
          <p:cNvPr id="12" name="Text 8"/>
          <p:cNvSpPr txBox="1"/>
          <p:nvPr/>
        </p:nvSpPr>
        <p:spPr>
          <a:xfrm>
            <a:off x="621792" y="3026664"/>
            <a:ext cx="182880" cy="237744"/>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a:t>
            </a:r>
            <a:endParaRPr lang="en-US" sz="1400" dirty="0"/>
          </a:p>
        </p:txBody>
      </p:sp>
      <p:sp>
        <p:nvSpPr>
          <p:cNvPr id="13" name="Text 9"/>
          <p:cNvSpPr txBox="1"/>
          <p:nvPr/>
        </p:nvSpPr>
        <p:spPr>
          <a:xfrm>
            <a:off x="841248" y="3044952"/>
            <a:ext cx="2148840" cy="23774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mature scheduler</a:t>
            </a:r>
            <a:endParaRPr lang="en-US" sz="1200" dirty="0"/>
          </a:p>
        </p:txBody>
      </p:sp>
      <p:sp>
        <p:nvSpPr>
          <p:cNvPr id="14" name="Text 10"/>
          <p:cNvSpPr txBox="1"/>
          <p:nvPr/>
        </p:nvSpPr>
        <p:spPr>
          <a:xfrm>
            <a:off x="621792" y="3323574"/>
            <a:ext cx="182880" cy="237744"/>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a:t>
            </a:r>
            <a:endParaRPr lang="en-US" sz="1400" dirty="0"/>
          </a:p>
        </p:txBody>
      </p:sp>
      <p:sp>
        <p:nvSpPr>
          <p:cNvPr id="15" name="Text 11"/>
          <p:cNvSpPr txBox="1"/>
          <p:nvPr/>
        </p:nvSpPr>
        <p:spPr>
          <a:xfrm>
            <a:off x="841248" y="3341862"/>
            <a:ext cx="2148840" cy="23774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less code to write</a:t>
            </a:r>
            <a:endParaRPr lang="en-US" sz="1200" dirty="0"/>
          </a:p>
        </p:txBody>
      </p:sp>
      <p:sp>
        <p:nvSpPr>
          <p:cNvPr id="16" name="Text 12"/>
          <p:cNvSpPr txBox="1"/>
          <p:nvPr/>
        </p:nvSpPr>
        <p:spPr>
          <a:xfrm>
            <a:off x="621792" y="3644150"/>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17" name="Text 13"/>
          <p:cNvSpPr txBox="1"/>
          <p:nvPr/>
        </p:nvSpPr>
        <p:spPr>
          <a:xfrm>
            <a:off x="841248" y="3662438"/>
            <a:ext cx="2295144" cy="420624"/>
          </a:xfrm>
          <a:prstGeom prst="rect">
            <a:avLst/>
          </a:prstGeom>
          <a:noFill/>
          <a:ln/>
        </p:spPr>
        <p:txBody>
          <a:bodyPr wrap="square" lIns="0" tIns="0" rIns="0" bIns="0" rtlCol="0" anchor="t"/>
          <a:lstStyle/>
          <a:p>
            <a:r>
              <a:rPr lang="en-US" sz="1200" dirty="0">
                <a:latin typeface="Calibri" pitchFamily="34" charset="0"/>
                <a:ea typeface="Calibri" pitchFamily="34" charset="-122"/>
                <a:cs typeface="Calibri" pitchFamily="34" charset="-120"/>
              </a:rPr>
              <a:t>our semantics require own DB in front – task entries, queue depth, </a:t>
            </a:r>
            <a:r>
              <a:rPr lang="en-US" sz="1200" dirty="0" err="1">
                <a:latin typeface="Calibri" pitchFamily="34" charset="0"/>
                <a:ea typeface="Calibri" pitchFamily="34" charset="-122"/>
                <a:cs typeface="Calibri" pitchFamily="34" charset="-120"/>
              </a:rPr>
              <a:t>dedup</a:t>
            </a:r>
            <a:r>
              <a:rPr lang="en-US" sz="1200" dirty="0">
                <a:latin typeface="Calibri" pitchFamily="34" charset="0"/>
                <a:ea typeface="Calibri" pitchFamily="34" charset="-122"/>
                <a:cs typeface="Calibri" pitchFamily="34" charset="-120"/>
              </a:rPr>
              <a:t> &amp; suspension records, tenant scoped queries/joins, lease epoch + outbox events</a:t>
            </a:r>
            <a:endParaRPr lang="en-US" sz="1200" dirty="0"/>
          </a:p>
        </p:txBody>
      </p:sp>
      <p:sp>
        <p:nvSpPr>
          <p:cNvPr id="18" name="Text 14"/>
          <p:cNvSpPr txBox="1"/>
          <p:nvPr/>
        </p:nvSpPr>
        <p:spPr>
          <a:xfrm>
            <a:off x="621792" y="4910295"/>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19" name="Text 15"/>
          <p:cNvSpPr txBox="1"/>
          <p:nvPr/>
        </p:nvSpPr>
        <p:spPr>
          <a:xfrm>
            <a:off x="841247" y="4939211"/>
            <a:ext cx="2338433" cy="227116"/>
          </a:xfrm>
          <a:prstGeom prst="rect">
            <a:avLst/>
          </a:prstGeom>
          <a:noFill/>
          <a:ln/>
        </p:spPr>
        <p:txBody>
          <a:bodyPr wrap="square" lIns="0" tIns="0" rIns="0" bIns="0" rtlCol="0" anchor="t"/>
          <a:lstStyle/>
          <a:p>
            <a:r>
              <a:rPr lang="en-US" sz="1200" dirty="0">
                <a:latin typeface="Calibri" pitchFamily="34" charset="0"/>
                <a:ea typeface="Calibri" pitchFamily="34" charset="-122"/>
                <a:cs typeface="Calibri" pitchFamily="34" charset="-120"/>
              </a:rPr>
              <a:t>two sources of truth + reconciliation</a:t>
            </a:r>
            <a:endParaRPr lang="en-US" sz="1200" dirty="0"/>
          </a:p>
        </p:txBody>
      </p:sp>
      <p:sp>
        <p:nvSpPr>
          <p:cNvPr id="24" name="Shape 20"/>
          <p:cNvSpPr/>
          <p:nvPr/>
        </p:nvSpPr>
        <p:spPr>
          <a:xfrm>
            <a:off x="3300984" y="1508760"/>
            <a:ext cx="2697480" cy="4251960"/>
          </a:xfrm>
          <a:prstGeom prst="roundRect">
            <a:avLst>
              <a:gd name="adj" fmla="val 2034"/>
            </a:avLst>
          </a:prstGeom>
          <a:solidFill>
            <a:schemeClr val="bg1"/>
          </a:solidFill>
          <a:ln/>
        </p:spPr>
        <p:txBody>
          <a:bodyPr/>
          <a:lstStyle/>
          <a:p>
            <a:endParaRPr lang="en-US"/>
          </a:p>
        </p:txBody>
      </p:sp>
      <p:sp>
        <p:nvSpPr>
          <p:cNvPr id="25" name="Shape 21"/>
          <p:cNvSpPr/>
          <p:nvPr/>
        </p:nvSpPr>
        <p:spPr>
          <a:xfrm>
            <a:off x="3300984" y="1508760"/>
            <a:ext cx="2697480" cy="4251960"/>
          </a:xfrm>
          <a:prstGeom prst="roundRect">
            <a:avLst>
              <a:gd name="adj" fmla="val 2034"/>
            </a:avLst>
          </a:prstGeom>
          <a:solidFill>
            <a:srgbClr val="F2F5F9"/>
          </a:solidFill>
          <a:ln/>
        </p:spPr>
        <p:txBody>
          <a:bodyPr/>
          <a:lstStyle/>
          <a:p>
            <a:endParaRPr lang="en-US"/>
          </a:p>
        </p:txBody>
      </p:sp>
      <p:sp>
        <p:nvSpPr>
          <p:cNvPr id="26" name="Shape 22"/>
          <p:cNvSpPr/>
          <p:nvPr/>
        </p:nvSpPr>
        <p:spPr>
          <a:xfrm>
            <a:off x="3465576" y="1673352"/>
            <a:ext cx="457200" cy="457200"/>
          </a:xfrm>
          <a:prstGeom prst="ellipse">
            <a:avLst/>
          </a:prstGeom>
          <a:solidFill>
            <a:srgbClr val="6B7A8C"/>
          </a:solidFill>
          <a:ln/>
        </p:spPr>
        <p:txBody>
          <a:bodyPr/>
          <a:lstStyle/>
          <a:p>
            <a:endParaRPr lang="en-US"/>
          </a:p>
        </p:txBody>
      </p:sp>
      <p:pic>
        <p:nvPicPr>
          <p:cNvPr id="27" name="Image 1" descr="preencoded.png"/>
          <p:cNvPicPr>
            <a:picLocks noChangeAspect="1"/>
          </p:cNvPicPr>
          <p:nvPr/>
        </p:nvPicPr>
        <p:blipFill>
          <a:blip r:embed="rId3"/>
          <a:stretch>
            <a:fillRect/>
          </a:stretch>
        </p:blipFill>
        <p:spPr>
          <a:xfrm>
            <a:off x="3579876" y="1787652"/>
            <a:ext cx="228600" cy="228600"/>
          </a:xfrm>
          <a:prstGeom prst="rect">
            <a:avLst/>
          </a:prstGeom>
        </p:spPr>
      </p:pic>
      <p:sp>
        <p:nvSpPr>
          <p:cNvPr id="28" name="Text 23"/>
          <p:cNvSpPr txBox="1"/>
          <p:nvPr/>
        </p:nvSpPr>
        <p:spPr>
          <a:xfrm>
            <a:off x="4032504" y="1664208"/>
            <a:ext cx="1737360" cy="22860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Option 2</a:t>
            </a:r>
            <a:endParaRPr lang="en-US" sz="1100" dirty="0"/>
          </a:p>
        </p:txBody>
      </p:sp>
      <p:sp>
        <p:nvSpPr>
          <p:cNvPr id="29" name="Text 24"/>
          <p:cNvSpPr txBox="1"/>
          <p:nvPr/>
        </p:nvSpPr>
        <p:spPr>
          <a:xfrm>
            <a:off x="4032504" y="1874520"/>
            <a:ext cx="1874520" cy="56692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Single gear</a:t>
            </a:r>
            <a:r>
              <a:rPr lang="en-US" sz="1400" b="1" dirty="0">
                <a:latin typeface="Calibri" pitchFamily="34" charset="0"/>
                <a:ea typeface="Calibri" pitchFamily="34" charset="-122"/>
                <a:cs typeface="Calibri" pitchFamily="34" charset="-120"/>
              </a:rPr>
              <a:t> </a:t>
            </a:r>
            <a:r>
              <a:rPr lang="en-US" sz="1400" b="1" dirty="0">
                <a:solidFill>
                  <a:schemeClr val="tx1"/>
                </a:solidFill>
                <a:latin typeface="Calibri" pitchFamily="34" charset="0"/>
                <a:ea typeface="Calibri" pitchFamily="34" charset="-122"/>
                <a:cs typeface="Calibri" pitchFamily="34" charset="-120"/>
              </a:rPr>
              <a:t>with infra adapters</a:t>
            </a:r>
            <a:endParaRPr lang="en-US" sz="1400" dirty="0"/>
          </a:p>
        </p:txBody>
      </p:sp>
      <p:sp>
        <p:nvSpPr>
          <p:cNvPr id="30" name="Text 25"/>
          <p:cNvSpPr txBox="1"/>
          <p:nvPr/>
        </p:nvSpPr>
        <p:spPr>
          <a:xfrm>
            <a:off x="3465576" y="2496312"/>
            <a:ext cx="2368296" cy="457200"/>
          </a:xfrm>
          <a:prstGeom prst="rect">
            <a:avLst/>
          </a:prstGeom>
          <a:noFill/>
          <a:ln/>
        </p:spPr>
        <p:txBody>
          <a:bodyPr wrap="square" lIns="0" tIns="0" rIns="0" bIns="0" rtlCol="0" anchor="t"/>
          <a:lstStyle/>
          <a:p>
            <a:pPr marL="0" indent="0">
              <a:buNone/>
            </a:pPr>
            <a:r>
              <a:rPr lang="en-US" sz="1100" i="1" dirty="0">
                <a:solidFill>
                  <a:schemeClr val="tx2"/>
                </a:solidFill>
                <a:latin typeface="Calibri" pitchFamily="34" charset="0"/>
                <a:ea typeface="Calibri" pitchFamily="34" charset="-122"/>
                <a:cs typeface="Calibri" pitchFamily="34" charset="-120"/>
              </a:rPr>
              <a:t>everything hard-wired to one SQL database</a:t>
            </a:r>
            <a:endParaRPr lang="en-US" sz="1100" dirty="0"/>
          </a:p>
        </p:txBody>
      </p:sp>
      <p:sp>
        <p:nvSpPr>
          <p:cNvPr id="31" name="Text 26"/>
          <p:cNvSpPr txBox="1"/>
          <p:nvPr/>
        </p:nvSpPr>
        <p:spPr>
          <a:xfrm>
            <a:off x="3465576" y="3026664"/>
            <a:ext cx="182880" cy="237744"/>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a:t>
            </a:r>
            <a:endParaRPr lang="en-US" sz="1400" dirty="0"/>
          </a:p>
        </p:txBody>
      </p:sp>
      <p:sp>
        <p:nvSpPr>
          <p:cNvPr id="32" name="Text 27"/>
          <p:cNvSpPr txBox="1"/>
          <p:nvPr/>
        </p:nvSpPr>
        <p:spPr>
          <a:xfrm>
            <a:off x="3685032" y="3044952"/>
            <a:ext cx="2148840" cy="23774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simplest to start</a:t>
            </a:r>
            <a:endParaRPr lang="en-US" sz="1200" dirty="0"/>
          </a:p>
        </p:txBody>
      </p:sp>
      <p:sp>
        <p:nvSpPr>
          <p:cNvPr id="33" name="Text 28"/>
          <p:cNvSpPr txBox="1"/>
          <p:nvPr/>
        </p:nvSpPr>
        <p:spPr>
          <a:xfrm>
            <a:off x="3465576" y="3355848"/>
            <a:ext cx="182880" cy="237744"/>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a:t>
            </a:r>
            <a:endParaRPr lang="en-US" sz="1400" dirty="0"/>
          </a:p>
        </p:txBody>
      </p:sp>
      <p:sp>
        <p:nvSpPr>
          <p:cNvPr id="34" name="Text 29"/>
          <p:cNvSpPr txBox="1"/>
          <p:nvPr/>
        </p:nvSpPr>
        <p:spPr>
          <a:xfrm>
            <a:off x="3685032" y="3374136"/>
            <a:ext cx="2148840" cy="237744"/>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s</a:t>
            </a:r>
            <a:r>
              <a:rPr lang="en-US" sz="1200" dirty="0">
                <a:solidFill>
                  <a:schemeClr val="tx1"/>
                </a:solidFill>
                <a:latin typeface="Calibri" pitchFamily="34" charset="0"/>
                <a:ea typeface="Calibri" pitchFamily="34" charset="-122"/>
                <a:cs typeface="Calibri" pitchFamily="34" charset="-120"/>
              </a:rPr>
              <a:t>tore payload, analytics, history as infrastructure ports within crate</a:t>
            </a:r>
            <a:endParaRPr lang="en-US" sz="1200" dirty="0"/>
          </a:p>
        </p:txBody>
      </p:sp>
      <p:sp>
        <p:nvSpPr>
          <p:cNvPr id="35" name="Text 30"/>
          <p:cNvSpPr txBox="1"/>
          <p:nvPr/>
        </p:nvSpPr>
        <p:spPr>
          <a:xfrm>
            <a:off x="3465576" y="3910507"/>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36" name="Text 31"/>
          <p:cNvSpPr txBox="1"/>
          <p:nvPr/>
        </p:nvSpPr>
        <p:spPr>
          <a:xfrm>
            <a:off x="3685032" y="3928795"/>
            <a:ext cx="2148840" cy="420624"/>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h</a:t>
            </a:r>
            <a:r>
              <a:rPr lang="en-US" sz="1200" dirty="0">
                <a:solidFill>
                  <a:schemeClr val="tx1"/>
                </a:solidFill>
                <a:latin typeface="Calibri" pitchFamily="34" charset="0"/>
                <a:ea typeface="Calibri" pitchFamily="34" charset="-122"/>
                <a:cs typeface="Calibri" pitchFamily="34" charset="-120"/>
              </a:rPr>
              <a:t>arder to customize, contribute, test coverage</a:t>
            </a:r>
            <a:endParaRPr lang="en-US" sz="1200" dirty="0"/>
          </a:p>
        </p:txBody>
      </p:sp>
      <p:sp>
        <p:nvSpPr>
          <p:cNvPr id="41" name="Shape 36"/>
          <p:cNvSpPr/>
          <p:nvPr/>
        </p:nvSpPr>
        <p:spPr>
          <a:xfrm>
            <a:off x="6144768" y="1508760"/>
            <a:ext cx="2697480" cy="4251960"/>
          </a:xfrm>
          <a:prstGeom prst="roundRect">
            <a:avLst>
              <a:gd name="adj" fmla="val 2034"/>
            </a:avLst>
          </a:prstGeom>
          <a:solidFill>
            <a:schemeClr val="bg1"/>
          </a:solidFill>
          <a:ln/>
        </p:spPr>
        <p:txBody>
          <a:bodyPr/>
          <a:lstStyle/>
          <a:p>
            <a:endParaRPr lang="en-US"/>
          </a:p>
        </p:txBody>
      </p:sp>
      <p:sp>
        <p:nvSpPr>
          <p:cNvPr id="42" name="Shape 37"/>
          <p:cNvSpPr/>
          <p:nvPr/>
        </p:nvSpPr>
        <p:spPr>
          <a:xfrm>
            <a:off x="6144768" y="1508760"/>
            <a:ext cx="2697480" cy="4251960"/>
          </a:xfrm>
          <a:prstGeom prst="roundRect">
            <a:avLst>
              <a:gd name="adj" fmla="val 2034"/>
            </a:avLst>
          </a:prstGeom>
          <a:solidFill>
            <a:srgbClr val="F2F5F9"/>
          </a:solidFill>
          <a:ln/>
        </p:spPr>
        <p:txBody>
          <a:bodyPr/>
          <a:lstStyle/>
          <a:p>
            <a:endParaRPr lang="en-US"/>
          </a:p>
        </p:txBody>
      </p:sp>
      <p:sp>
        <p:nvSpPr>
          <p:cNvPr id="43" name="Shape 38"/>
          <p:cNvSpPr/>
          <p:nvPr/>
        </p:nvSpPr>
        <p:spPr>
          <a:xfrm>
            <a:off x="6309360" y="1673352"/>
            <a:ext cx="457200" cy="457200"/>
          </a:xfrm>
          <a:prstGeom prst="ellipse">
            <a:avLst/>
          </a:prstGeom>
          <a:solidFill>
            <a:srgbClr val="6B7A8C"/>
          </a:solidFill>
          <a:ln/>
        </p:spPr>
        <p:txBody>
          <a:bodyPr/>
          <a:lstStyle/>
          <a:p>
            <a:endParaRPr lang="en-US"/>
          </a:p>
        </p:txBody>
      </p:sp>
      <p:pic>
        <p:nvPicPr>
          <p:cNvPr id="44" name="Image 2" descr="preencoded.png"/>
          <p:cNvPicPr>
            <a:picLocks noChangeAspect="1"/>
          </p:cNvPicPr>
          <p:nvPr/>
        </p:nvPicPr>
        <p:blipFill>
          <a:blip r:embed="rId3"/>
          <a:stretch>
            <a:fillRect/>
          </a:stretch>
        </p:blipFill>
        <p:spPr>
          <a:xfrm>
            <a:off x="6423660" y="1787652"/>
            <a:ext cx="228600" cy="228600"/>
          </a:xfrm>
          <a:prstGeom prst="rect">
            <a:avLst/>
          </a:prstGeom>
        </p:spPr>
      </p:pic>
      <p:sp>
        <p:nvSpPr>
          <p:cNvPr id="45" name="Text 39"/>
          <p:cNvSpPr txBox="1"/>
          <p:nvPr/>
        </p:nvSpPr>
        <p:spPr>
          <a:xfrm>
            <a:off x="6876288" y="1664208"/>
            <a:ext cx="1737360" cy="22860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Option 3</a:t>
            </a:r>
            <a:endParaRPr lang="en-US" sz="1100" dirty="0"/>
          </a:p>
        </p:txBody>
      </p:sp>
      <p:sp>
        <p:nvSpPr>
          <p:cNvPr id="46" name="Text 40"/>
          <p:cNvSpPr txBox="1"/>
          <p:nvPr/>
        </p:nvSpPr>
        <p:spPr>
          <a:xfrm>
            <a:off x="6876288" y="1874520"/>
            <a:ext cx="1874520" cy="56692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Tiny gateway + pluggable execution backends</a:t>
            </a:r>
            <a:endParaRPr lang="en-US" sz="1400" dirty="0"/>
          </a:p>
        </p:txBody>
      </p:sp>
      <p:sp>
        <p:nvSpPr>
          <p:cNvPr id="47" name="Text 41"/>
          <p:cNvSpPr txBox="1"/>
          <p:nvPr/>
        </p:nvSpPr>
        <p:spPr>
          <a:xfrm>
            <a:off x="6309360" y="2496312"/>
            <a:ext cx="2368296" cy="457200"/>
          </a:xfrm>
          <a:prstGeom prst="rect">
            <a:avLst/>
          </a:prstGeom>
          <a:noFill/>
          <a:ln/>
        </p:spPr>
        <p:txBody>
          <a:bodyPr wrap="square" lIns="0" tIns="0" rIns="0" bIns="0" rtlCol="0" anchor="t"/>
          <a:lstStyle/>
          <a:p>
            <a:pPr marL="0" indent="0">
              <a:buNone/>
            </a:pPr>
            <a:r>
              <a:rPr lang="en-US" sz="1100" i="1" dirty="0">
                <a:solidFill>
                  <a:schemeClr val="tx2"/>
                </a:solidFill>
                <a:latin typeface="Calibri" pitchFamily="34" charset="0"/>
                <a:ea typeface="Calibri" pitchFamily="34" charset="-122"/>
                <a:cs typeface="Calibri" pitchFamily="34" charset="-120"/>
              </a:rPr>
              <a:t>swap the executor per deployment</a:t>
            </a:r>
            <a:endParaRPr lang="en-US" sz="1100" dirty="0"/>
          </a:p>
        </p:txBody>
      </p:sp>
      <p:sp>
        <p:nvSpPr>
          <p:cNvPr id="48" name="Text 42"/>
          <p:cNvSpPr txBox="1"/>
          <p:nvPr/>
        </p:nvSpPr>
        <p:spPr>
          <a:xfrm>
            <a:off x="6309360" y="3026664"/>
            <a:ext cx="182880" cy="237744"/>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a:t>
            </a:r>
            <a:endParaRPr lang="en-US" sz="1400" dirty="0"/>
          </a:p>
        </p:txBody>
      </p:sp>
      <p:sp>
        <p:nvSpPr>
          <p:cNvPr id="49" name="Text 43"/>
          <p:cNvSpPr txBox="1"/>
          <p:nvPr/>
        </p:nvSpPr>
        <p:spPr>
          <a:xfrm>
            <a:off x="6528816" y="3044952"/>
            <a:ext cx="2148840" cy="23774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flexible on paper</a:t>
            </a:r>
            <a:endParaRPr lang="en-US" sz="1200" dirty="0"/>
          </a:p>
        </p:txBody>
      </p:sp>
      <p:sp>
        <p:nvSpPr>
          <p:cNvPr id="50" name="Text 44"/>
          <p:cNvSpPr txBox="1"/>
          <p:nvPr/>
        </p:nvSpPr>
        <p:spPr>
          <a:xfrm>
            <a:off x="6309360" y="3422544"/>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51" name="Text 45"/>
          <p:cNvSpPr txBox="1"/>
          <p:nvPr/>
        </p:nvSpPr>
        <p:spPr>
          <a:xfrm>
            <a:off x="6528816" y="3440832"/>
            <a:ext cx="2148840" cy="42062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lowest-common-denominator API</a:t>
            </a:r>
            <a:endParaRPr lang="en-US" sz="1200" dirty="0"/>
          </a:p>
        </p:txBody>
      </p:sp>
      <p:sp>
        <p:nvSpPr>
          <p:cNvPr id="52" name="Text 46"/>
          <p:cNvSpPr txBox="1"/>
          <p:nvPr/>
        </p:nvSpPr>
        <p:spPr>
          <a:xfrm>
            <a:off x="6309360" y="3848546"/>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53" name="Text 47"/>
          <p:cNvSpPr txBox="1"/>
          <p:nvPr/>
        </p:nvSpPr>
        <p:spPr>
          <a:xfrm>
            <a:off x="6528816" y="3866834"/>
            <a:ext cx="2148840" cy="42062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state machine duplicated per backend</a:t>
            </a:r>
            <a:endParaRPr lang="en-US" sz="1200" dirty="0"/>
          </a:p>
        </p:txBody>
      </p:sp>
      <p:sp>
        <p:nvSpPr>
          <p:cNvPr id="54" name="Text 48"/>
          <p:cNvSpPr txBox="1"/>
          <p:nvPr/>
        </p:nvSpPr>
        <p:spPr>
          <a:xfrm>
            <a:off x="6309360" y="4403641"/>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55" name="Text 49"/>
          <p:cNvSpPr txBox="1"/>
          <p:nvPr/>
        </p:nvSpPr>
        <p:spPr>
          <a:xfrm>
            <a:off x="6528816" y="4421929"/>
            <a:ext cx="2148840" cy="237744"/>
          </a:xfrm>
          <a:prstGeom prst="rect">
            <a:avLst/>
          </a:prstGeom>
          <a:noFill/>
          <a:ln/>
        </p:spPr>
        <p:txBody>
          <a:bodyPr wrap="square" lIns="0" tIns="0" rIns="0" bIns="0" rtlCol="0" anchor="t"/>
          <a:lstStyle/>
          <a:p>
            <a:pPr marL="0" indent="0">
              <a:buNone/>
            </a:pPr>
            <a:r>
              <a:rPr lang="en-US" sz="1200" dirty="0">
                <a:latin typeface="Calibri" pitchFamily="34" charset="0"/>
                <a:ea typeface="Calibri" pitchFamily="34" charset="-122"/>
                <a:cs typeface="Calibri" pitchFamily="34" charset="-120"/>
              </a:rPr>
              <a:t>complicated</a:t>
            </a:r>
            <a:r>
              <a:rPr lang="en-US" sz="1200" dirty="0">
                <a:solidFill>
                  <a:schemeClr val="tx1"/>
                </a:solidFill>
                <a:latin typeface="Calibri" pitchFamily="34" charset="0"/>
                <a:ea typeface="Calibri" pitchFamily="34" charset="-122"/>
                <a:cs typeface="Calibri" pitchFamily="34" charset="-120"/>
              </a:rPr>
              <a:t> plugin ABI</a:t>
            </a:r>
            <a:endParaRPr lang="en-US" sz="1200" dirty="0"/>
          </a:p>
        </p:txBody>
      </p:sp>
      <p:sp>
        <p:nvSpPr>
          <p:cNvPr id="56" name="Shape 50"/>
          <p:cNvSpPr/>
          <p:nvPr/>
        </p:nvSpPr>
        <p:spPr>
          <a:xfrm>
            <a:off x="6309360" y="5376672"/>
            <a:ext cx="1005840" cy="219456"/>
          </a:xfrm>
          <a:prstGeom prst="roundRect">
            <a:avLst>
              <a:gd name="adj" fmla="val 50000"/>
            </a:avLst>
          </a:prstGeom>
          <a:solidFill>
            <a:srgbClr val="6B7A8C"/>
          </a:solidFill>
          <a:ln w="9525">
            <a:noFill/>
            <a:prstDash val="solid"/>
          </a:ln>
        </p:spPr>
        <p:txBody>
          <a:bodyPr anchor="ctr"/>
          <a:lstStyle/>
          <a:p>
            <a:pPr algn="ctr"/>
            <a:r>
              <a:rPr lang="en-US" sz="1000" b="1" dirty="0">
                <a:solidFill>
                  <a:schemeClr val="bg1"/>
                </a:solidFill>
                <a:latin typeface="Calibri" pitchFamily="34" charset="0"/>
                <a:ea typeface="Calibri" pitchFamily="34" charset="-122"/>
                <a:cs typeface="Calibri" pitchFamily="34" charset="-120"/>
              </a:rPr>
              <a:t>REJECTED</a:t>
            </a:r>
            <a:endParaRPr lang="en-US" sz="1000" dirty="0"/>
          </a:p>
        </p:txBody>
      </p:sp>
      <p:sp>
        <p:nvSpPr>
          <p:cNvPr id="58" name="Shape 52"/>
          <p:cNvSpPr/>
          <p:nvPr/>
        </p:nvSpPr>
        <p:spPr>
          <a:xfrm>
            <a:off x="8988552" y="1508760"/>
            <a:ext cx="2697480" cy="4251960"/>
          </a:xfrm>
          <a:prstGeom prst="roundRect">
            <a:avLst>
              <a:gd name="adj" fmla="val 2034"/>
            </a:avLst>
          </a:prstGeom>
          <a:solidFill>
            <a:schemeClr val="bg1"/>
          </a:solidFill>
          <a:ln/>
        </p:spPr>
        <p:txBody>
          <a:bodyPr/>
          <a:lstStyle/>
          <a:p>
            <a:endParaRPr lang="en-US"/>
          </a:p>
        </p:txBody>
      </p:sp>
      <p:sp>
        <p:nvSpPr>
          <p:cNvPr id="59" name="Shape 53"/>
          <p:cNvSpPr/>
          <p:nvPr/>
        </p:nvSpPr>
        <p:spPr>
          <a:xfrm>
            <a:off x="8988552" y="1508760"/>
            <a:ext cx="2697480" cy="4251960"/>
          </a:xfrm>
          <a:prstGeom prst="roundRect">
            <a:avLst>
              <a:gd name="adj" fmla="val 2034"/>
            </a:avLst>
          </a:prstGeom>
          <a:solidFill>
            <a:schemeClr val="accent4">
              <a:lumMod val="40000"/>
              <a:lumOff val="60000"/>
              <a:alpha val="14000"/>
            </a:schemeClr>
          </a:solidFill>
          <a:ln w="28575">
            <a:solidFill>
              <a:srgbClr val="00B050"/>
            </a:solidFill>
            <a:prstDash val="solid"/>
          </a:ln>
        </p:spPr>
        <p:txBody>
          <a:bodyPr/>
          <a:lstStyle/>
          <a:p>
            <a:endParaRPr lang="en-US"/>
          </a:p>
        </p:txBody>
      </p:sp>
      <p:sp>
        <p:nvSpPr>
          <p:cNvPr id="60" name="Shape 54"/>
          <p:cNvSpPr/>
          <p:nvPr/>
        </p:nvSpPr>
        <p:spPr>
          <a:xfrm>
            <a:off x="9153144" y="1673352"/>
            <a:ext cx="457200" cy="457200"/>
          </a:xfrm>
          <a:prstGeom prst="ellipse">
            <a:avLst/>
          </a:prstGeom>
          <a:solidFill>
            <a:srgbClr val="00B050"/>
          </a:solidFill>
          <a:ln/>
        </p:spPr>
        <p:txBody>
          <a:bodyPr/>
          <a:lstStyle/>
          <a:p>
            <a:endParaRPr lang="en-US"/>
          </a:p>
        </p:txBody>
      </p:sp>
      <p:pic>
        <p:nvPicPr>
          <p:cNvPr id="61" name="Image 3" descr="preencoded.png"/>
          <p:cNvPicPr>
            <a:picLocks noChangeAspect="1"/>
          </p:cNvPicPr>
          <p:nvPr/>
        </p:nvPicPr>
        <p:blipFill>
          <a:blip r:embed="rId4"/>
          <a:stretch>
            <a:fillRect/>
          </a:stretch>
        </p:blipFill>
        <p:spPr>
          <a:xfrm>
            <a:off x="9267444" y="1787652"/>
            <a:ext cx="228600" cy="228600"/>
          </a:xfrm>
          <a:prstGeom prst="rect">
            <a:avLst/>
          </a:prstGeom>
        </p:spPr>
      </p:pic>
      <p:sp>
        <p:nvSpPr>
          <p:cNvPr id="62" name="Text 55"/>
          <p:cNvSpPr txBox="1"/>
          <p:nvPr/>
        </p:nvSpPr>
        <p:spPr>
          <a:xfrm>
            <a:off x="9720072" y="1664208"/>
            <a:ext cx="1737360" cy="228600"/>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Option 4</a:t>
            </a:r>
            <a:endParaRPr lang="en-US" sz="1100" dirty="0"/>
          </a:p>
        </p:txBody>
      </p:sp>
      <p:sp>
        <p:nvSpPr>
          <p:cNvPr id="63" name="Text 56"/>
          <p:cNvSpPr txBox="1"/>
          <p:nvPr/>
        </p:nvSpPr>
        <p:spPr>
          <a:xfrm>
            <a:off x="9720072" y="1874520"/>
            <a:ext cx="1874520" cy="566928"/>
          </a:xfrm>
          <a:prstGeom prst="rect">
            <a:avLst/>
          </a:prstGeom>
          <a:noFill/>
          <a:ln/>
        </p:spPr>
        <p:txBody>
          <a:bodyPr wrap="square" lIns="0" tIns="0" rIns="0" bIns="0" rtlCol="0" anchor="t"/>
          <a:lstStyle/>
          <a:p>
            <a:pPr marL="0" indent="0">
              <a:buNone/>
            </a:pPr>
            <a:r>
              <a:rPr lang="en-US" sz="1400" b="1" dirty="0">
                <a:latin typeface="Calibri" pitchFamily="34" charset="0"/>
                <a:cs typeface="Calibri" pitchFamily="34" charset="-120"/>
              </a:rPr>
              <a:t>Operational data core and plugins for </a:t>
            </a:r>
            <a:endParaRPr lang="en-US" sz="1400" dirty="0"/>
          </a:p>
        </p:txBody>
      </p:sp>
      <p:sp>
        <p:nvSpPr>
          <p:cNvPr id="64" name="Text 57"/>
          <p:cNvSpPr txBox="1"/>
          <p:nvPr/>
        </p:nvSpPr>
        <p:spPr>
          <a:xfrm>
            <a:off x="9153144" y="2496312"/>
            <a:ext cx="2368296" cy="457200"/>
          </a:xfrm>
          <a:prstGeom prst="rect">
            <a:avLst/>
          </a:prstGeom>
          <a:noFill/>
          <a:ln/>
        </p:spPr>
        <p:txBody>
          <a:bodyPr wrap="square" lIns="0" tIns="0" rIns="0" bIns="0" rtlCol="0" anchor="t"/>
          <a:lstStyle/>
          <a:p>
            <a:pPr marL="0" indent="0">
              <a:buNone/>
            </a:pPr>
            <a:r>
              <a:rPr lang="en-US" sz="1100" i="1" dirty="0">
                <a:solidFill>
                  <a:schemeClr val="tx2"/>
                </a:solidFill>
                <a:latin typeface="Calibri" pitchFamily="34" charset="0"/>
                <a:ea typeface="Calibri" pitchFamily="34" charset="-122"/>
                <a:cs typeface="Calibri" pitchFamily="34" charset="-120"/>
              </a:rPr>
              <a:t>own execution; supports custom storages for different content in the future</a:t>
            </a:r>
            <a:endParaRPr lang="en-US" sz="1100" dirty="0"/>
          </a:p>
        </p:txBody>
      </p:sp>
      <p:sp>
        <p:nvSpPr>
          <p:cNvPr id="65" name="Text 58"/>
          <p:cNvSpPr txBox="1"/>
          <p:nvPr/>
        </p:nvSpPr>
        <p:spPr>
          <a:xfrm>
            <a:off x="9153144" y="3026664"/>
            <a:ext cx="182880" cy="237744"/>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a:t>
            </a:r>
            <a:endParaRPr lang="en-US" sz="1400" dirty="0"/>
          </a:p>
        </p:txBody>
      </p:sp>
      <p:sp>
        <p:nvSpPr>
          <p:cNvPr id="66" name="Text 59"/>
          <p:cNvSpPr txBox="1"/>
          <p:nvPr/>
        </p:nvSpPr>
        <p:spPr>
          <a:xfrm>
            <a:off x="9372600" y="3044952"/>
            <a:ext cx="2148840" cy="23774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one authoritative state</a:t>
            </a:r>
            <a:endParaRPr lang="en-US" sz="1200" dirty="0"/>
          </a:p>
        </p:txBody>
      </p:sp>
      <p:sp>
        <p:nvSpPr>
          <p:cNvPr id="67" name="Text 60"/>
          <p:cNvSpPr txBox="1"/>
          <p:nvPr/>
        </p:nvSpPr>
        <p:spPr>
          <a:xfrm>
            <a:off x="9153144" y="3355848"/>
            <a:ext cx="182880" cy="237744"/>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a:t>
            </a:r>
            <a:endParaRPr lang="en-US" sz="1400" dirty="0"/>
          </a:p>
        </p:txBody>
      </p:sp>
      <p:sp>
        <p:nvSpPr>
          <p:cNvPr id="68" name="Text 61"/>
          <p:cNvSpPr txBox="1"/>
          <p:nvPr/>
        </p:nvSpPr>
        <p:spPr>
          <a:xfrm>
            <a:off x="9372600" y="3374136"/>
            <a:ext cx="2148840" cy="42062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atomic txns: admission, claim, leases, outbox</a:t>
            </a:r>
            <a:endParaRPr lang="en-US" sz="1200" dirty="0"/>
          </a:p>
        </p:txBody>
      </p:sp>
      <p:sp>
        <p:nvSpPr>
          <p:cNvPr id="69" name="Text 62"/>
          <p:cNvSpPr txBox="1"/>
          <p:nvPr/>
        </p:nvSpPr>
        <p:spPr>
          <a:xfrm>
            <a:off x="9153144" y="3867912"/>
            <a:ext cx="182880" cy="237744"/>
          </a:xfrm>
          <a:prstGeom prst="rect">
            <a:avLst/>
          </a:prstGeom>
          <a:noFill/>
          <a:ln/>
        </p:spPr>
        <p:txBody>
          <a:bodyPr wrap="square" lIns="0" tIns="0" rIns="0" bIns="0" rtlCol="0" anchor="t"/>
          <a:lstStyle/>
          <a:p>
            <a:pPr marL="0" indent="0">
              <a:buNone/>
            </a:pPr>
            <a:r>
              <a:rPr lang="en-US" sz="1400" b="1" dirty="0">
                <a:solidFill>
                  <a:schemeClr val="accent6"/>
                </a:solidFill>
                <a:latin typeface="Calibri" pitchFamily="34" charset="0"/>
                <a:ea typeface="Calibri" pitchFamily="34" charset="-122"/>
                <a:cs typeface="Calibri" pitchFamily="34" charset="-120"/>
              </a:rPr>
              <a:t>+</a:t>
            </a:r>
            <a:endParaRPr lang="en-US" sz="1400" dirty="0"/>
          </a:p>
        </p:txBody>
      </p:sp>
      <p:sp>
        <p:nvSpPr>
          <p:cNvPr id="70" name="Text 63"/>
          <p:cNvSpPr txBox="1"/>
          <p:nvPr/>
        </p:nvSpPr>
        <p:spPr>
          <a:xfrm>
            <a:off x="9372600" y="3886200"/>
            <a:ext cx="2148840" cy="23774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default = gear + one SQL DB, offload payload, analytics, search to separate storages</a:t>
            </a:r>
            <a:endParaRPr lang="en-US" sz="1200" dirty="0"/>
          </a:p>
        </p:txBody>
      </p:sp>
      <p:sp>
        <p:nvSpPr>
          <p:cNvPr id="71" name="Text 64"/>
          <p:cNvSpPr txBox="1"/>
          <p:nvPr/>
        </p:nvSpPr>
        <p:spPr>
          <a:xfrm>
            <a:off x="9153144" y="4532738"/>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72" name="Text 65"/>
          <p:cNvSpPr txBox="1"/>
          <p:nvPr/>
        </p:nvSpPr>
        <p:spPr>
          <a:xfrm>
            <a:off x="9372600" y="4551026"/>
            <a:ext cx="2148840" cy="42062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we build and run the scheduler ourselves</a:t>
            </a:r>
            <a:endParaRPr lang="en-US" sz="1200" dirty="0"/>
          </a:p>
        </p:txBody>
      </p:sp>
      <p:sp>
        <p:nvSpPr>
          <p:cNvPr id="73" name="Shape 66"/>
          <p:cNvSpPr/>
          <p:nvPr/>
        </p:nvSpPr>
        <p:spPr>
          <a:xfrm>
            <a:off x="9153144" y="5376672"/>
            <a:ext cx="1005840" cy="219456"/>
          </a:xfrm>
          <a:prstGeom prst="roundRect">
            <a:avLst>
              <a:gd name="adj" fmla="val 50000"/>
            </a:avLst>
          </a:prstGeom>
          <a:solidFill>
            <a:srgbClr val="00B050"/>
          </a:solidFill>
          <a:ln w="9525">
            <a:noFill/>
            <a:prstDash val="solid"/>
          </a:ln>
        </p:spPr>
        <p:txBody>
          <a:bodyPr anchor="ctr"/>
          <a:lstStyle/>
          <a:p>
            <a:pPr algn="ctr"/>
            <a:r>
              <a:rPr lang="en-US" sz="1100" b="1" dirty="0">
                <a:solidFill>
                  <a:schemeClr val="bg1"/>
                </a:solidFill>
                <a:latin typeface="Calibri" panose="020F0502020204030204" pitchFamily="34" charset="0"/>
                <a:cs typeface="Calibri" panose="020F0502020204030204" pitchFamily="34" charset="0"/>
              </a:rPr>
              <a:t>CHOSEN</a:t>
            </a:r>
          </a:p>
        </p:txBody>
      </p:sp>
      <p:sp>
        <p:nvSpPr>
          <p:cNvPr id="75" name="Text 68"/>
          <p:cNvSpPr txBox="1"/>
          <p:nvPr/>
        </p:nvSpPr>
        <p:spPr>
          <a:xfrm>
            <a:off x="457200" y="5897880"/>
            <a:ext cx="11274552" cy="274320"/>
          </a:xfrm>
          <a:prstGeom prst="rect">
            <a:avLst/>
          </a:prstGeom>
          <a:noFill/>
          <a:ln/>
        </p:spPr>
        <p:txBody>
          <a:bodyPr wrap="square" lIns="0" tIns="0" rIns="0" bIns="0" rtlCol="0" anchor="t"/>
          <a:lstStyle/>
          <a:p>
            <a:pPr marL="0" indent="0">
              <a:buNone/>
            </a:pPr>
            <a:r>
              <a:rPr lang="en-US" sz="1200" i="1" dirty="0">
                <a:solidFill>
                  <a:schemeClr val="tx2"/>
                </a:solidFill>
                <a:latin typeface="Calibri" pitchFamily="34" charset="0"/>
                <a:ea typeface="Calibri" pitchFamily="34" charset="-122"/>
                <a:cs typeface="Calibri" pitchFamily="34" charset="-120"/>
              </a:rPr>
              <a:t>Decision drivers: one source of truth · atomic transactions · lightweight default deployment · 500M retained / 100K active tasks · no runtime plugin ABI</a:t>
            </a:r>
            <a:endParaRPr lang="en-US" sz="12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
        <p:nvSpPr>
          <p:cNvPr id="76" name="Text 14">
            <a:extLst>
              <a:ext uri="{FF2B5EF4-FFF2-40B4-BE49-F238E27FC236}">
                <a16:creationId xmlns:a16="http://schemas.microsoft.com/office/drawing/2014/main" id="{D314405B-6ED7-78D1-E52D-36B573028832}"/>
              </a:ext>
            </a:extLst>
          </p:cNvPr>
          <p:cNvSpPr txBox="1"/>
          <p:nvPr/>
        </p:nvSpPr>
        <p:spPr>
          <a:xfrm>
            <a:off x="612824" y="4630756"/>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77" name="Text 15">
            <a:extLst>
              <a:ext uri="{FF2B5EF4-FFF2-40B4-BE49-F238E27FC236}">
                <a16:creationId xmlns:a16="http://schemas.microsoft.com/office/drawing/2014/main" id="{5D3595B7-B7ED-E7F6-5F7F-EA4C2B42FB79}"/>
              </a:ext>
            </a:extLst>
          </p:cNvPr>
          <p:cNvSpPr txBox="1"/>
          <p:nvPr/>
        </p:nvSpPr>
        <p:spPr>
          <a:xfrm>
            <a:off x="832280" y="4659672"/>
            <a:ext cx="2368296" cy="227115"/>
          </a:xfrm>
          <a:prstGeom prst="rect">
            <a:avLst/>
          </a:prstGeom>
          <a:noFill/>
          <a:ln/>
        </p:spPr>
        <p:txBody>
          <a:bodyPr wrap="square" lIns="0" tIns="0" rIns="0" bIns="0" rtlCol="0" anchor="t"/>
          <a:lstStyle/>
          <a:p>
            <a:r>
              <a:rPr lang="en-US" sz="1200" dirty="0">
                <a:latin typeface="Calibri" pitchFamily="34" charset="0"/>
                <a:ea typeface="Calibri" pitchFamily="34" charset="-122"/>
                <a:cs typeface="Calibri" pitchFamily="34" charset="-120"/>
              </a:rPr>
              <a:t>extra deployment, no edge support</a:t>
            </a:r>
            <a:endParaRPr lang="en-US" sz="1200" dirty="0"/>
          </a:p>
        </p:txBody>
      </p:sp>
      <p:sp>
        <p:nvSpPr>
          <p:cNvPr id="78" name="Text 64">
            <a:extLst>
              <a:ext uri="{FF2B5EF4-FFF2-40B4-BE49-F238E27FC236}">
                <a16:creationId xmlns:a16="http://schemas.microsoft.com/office/drawing/2014/main" id="{674C2DE0-6CDB-587C-53CA-4AAB9F9011EE}"/>
              </a:ext>
            </a:extLst>
          </p:cNvPr>
          <p:cNvSpPr txBox="1"/>
          <p:nvPr/>
        </p:nvSpPr>
        <p:spPr>
          <a:xfrm>
            <a:off x="6318504" y="4754880"/>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79" name="Text 65">
            <a:extLst>
              <a:ext uri="{FF2B5EF4-FFF2-40B4-BE49-F238E27FC236}">
                <a16:creationId xmlns:a16="http://schemas.microsoft.com/office/drawing/2014/main" id="{65DA6F39-59FD-31BD-D058-D3423399D1A6}"/>
              </a:ext>
            </a:extLst>
          </p:cNvPr>
          <p:cNvSpPr txBox="1"/>
          <p:nvPr/>
        </p:nvSpPr>
        <p:spPr>
          <a:xfrm>
            <a:off x="6526385" y="4773168"/>
            <a:ext cx="2148840" cy="42062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we build and run the scheduler ourselves in different storages</a:t>
            </a:r>
            <a:endParaRPr lang="en-US" sz="1200" dirty="0"/>
          </a:p>
        </p:txBody>
      </p:sp>
      <p:sp>
        <p:nvSpPr>
          <p:cNvPr id="80" name="Text 64">
            <a:extLst>
              <a:ext uri="{FF2B5EF4-FFF2-40B4-BE49-F238E27FC236}">
                <a16:creationId xmlns:a16="http://schemas.microsoft.com/office/drawing/2014/main" id="{827622FF-7574-34E5-376F-DE6D60AE1285}"/>
              </a:ext>
            </a:extLst>
          </p:cNvPr>
          <p:cNvSpPr txBox="1"/>
          <p:nvPr/>
        </p:nvSpPr>
        <p:spPr>
          <a:xfrm>
            <a:off x="3465576" y="4432901"/>
            <a:ext cx="182880" cy="237744"/>
          </a:xfrm>
          <a:prstGeom prst="rect">
            <a:avLst/>
          </a:prstGeom>
          <a:noFill/>
          <a:ln/>
        </p:spPr>
        <p:txBody>
          <a:bodyPr wrap="square" lIns="0" tIns="0" rIns="0" bIns="0" rtlCol="0" anchor="t"/>
          <a:lstStyle/>
          <a:p>
            <a:pPr marL="0" indent="0">
              <a:buNone/>
            </a:pPr>
            <a:r>
              <a:rPr lang="en-US" sz="1400" b="1" dirty="0">
                <a:solidFill>
                  <a:schemeClr val="accent4"/>
                </a:solidFill>
                <a:latin typeface="Calibri" pitchFamily="34" charset="0"/>
                <a:ea typeface="Calibri" pitchFamily="34" charset="-122"/>
                <a:cs typeface="Calibri" pitchFamily="34" charset="-120"/>
              </a:rPr>
              <a:t>–</a:t>
            </a:r>
            <a:endParaRPr lang="en-US" sz="1400" dirty="0"/>
          </a:p>
        </p:txBody>
      </p:sp>
      <p:sp>
        <p:nvSpPr>
          <p:cNvPr id="81" name="Text 65">
            <a:extLst>
              <a:ext uri="{FF2B5EF4-FFF2-40B4-BE49-F238E27FC236}">
                <a16:creationId xmlns:a16="http://schemas.microsoft.com/office/drawing/2014/main" id="{40113AA2-76C7-0CFB-B3E7-8D1DC677A17B}"/>
              </a:ext>
            </a:extLst>
          </p:cNvPr>
          <p:cNvSpPr txBox="1"/>
          <p:nvPr/>
        </p:nvSpPr>
        <p:spPr>
          <a:xfrm>
            <a:off x="3685032" y="4451189"/>
            <a:ext cx="2148840" cy="420624"/>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we build and run the scheduler ourselves</a:t>
            </a:r>
            <a:endParaRPr lang="en-US" sz="1200" dirty="0"/>
          </a:p>
        </p:txBody>
      </p:sp>
      <p:sp>
        <p:nvSpPr>
          <p:cNvPr id="20" name="Shape 50">
            <a:extLst>
              <a:ext uri="{FF2B5EF4-FFF2-40B4-BE49-F238E27FC236}">
                <a16:creationId xmlns:a16="http://schemas.microsoft.com/office/drawing/2014/main" id="{00D8A191-F832-8D0D-2AD7-EA72C979AF17}"/>
              </a:ext>
            </a:extLst>
          </p:cNvPr>
          <p:cNvSpPr/>
          <p:nvPr/>
        </p:nvSpPr>
        <p:spPr>
          <a:xfrm>
            <a:off x="3450078" y="5376672"/>
            <a:ext cx="1005840" cy="219456"/>
          </a:xfrm>
          <a:prstGeom prst="roundRect">
            <a:avLst>
              <a:gd name="adj" fmla="val 50000"/>
            </a:avLst>
          </a:prstGeom>
          <a:solidFill>
            <a:srgbClr val="6B7A8C"/>
          </a:solidFill>
          <a:ln w="9525">
            <a:noFill/>
            <a:prstDash val="solid"/>
          </a:ln>
        </p:spPr>
        <p:txBody>
          <a:bodyPr anchor="ctr"/>
          <a:lstStyle/>
          <a:p>
            <a:pPr algn="ctr"/>
            <a:r>
              <a:rPr lang="en-US" sz="1000" b="1" dirty="0">
                <a:solidFill>
                  <a:schemeClr val="bg1"/>
                </a:solidFill>
                <a:latin typeface="Calibri" pitchFamily="34" charset="0"/>
                <a:ea typeface="Calibri" pitchFamily="34" charset="-122"/>
                <a:cs typeface="Calibri" pitchFamily="34" charset="-120"/>
              </a:rPr>
              <a:t>REJECTED</a:t>
            </a:r>
            <a:endParaRPr lang="en-US" sz="1000" dirty="0"/>
          </a:p>
        </p:txBody>
      </p:sp>
      <p:sp>
        <p:nvSpPr>
          <p:cNvPr id="21" name="Shape 50">
            <a:extLst>
              <a:ext uri="{FF2B5EF4-FFF2-40B4-BE49-F238E27FC236}">
                <a16:creationId xmlns:a16="http://schemas.microsoft.com/office/drawing/2014/main" id="{B44AD0DD-B980-6C78-C9D7-F55E0CBA5B1F}"/>
              </a:ext>
            </a:extLst>
          </p:cNvPr>
          <p:cNvSpPr/>
          <p:nvPr/>
        </p:nvSpPr>
        <p:spPr>
          <a:xfrm>
            <a:off x="576072" y="5371591"/>
            <a:ext cx="1005840" cy="219456"/>
          </a:xfrm>
          <a:prstGeom prst="roundRect">
            <a:avLst>
              <a:gd name="adj" fmla="val 50000"/>
            </a:avLst>
          </a:prstGeom>
          <a:solidFill>
            <a:srgbClr val="6B7A8C"/>
          </a:solidFill>
          <a:ln w="9525">
            <a:noFill/>
            <a:prstDash val="solid"/>
          </a:ln>
        </p:spPr>
        <p:txBody>
          <a:bodyPr anchor="ctr"/>
          <a:lstStyle/>
          <a:p>
            <a:pPr algn="ctr"/>
            <a:r>
              <a:rPr lang="en-US" sz="1000" b="1" dirty="0">
                <a:solidFill>
                  <a:schemeClr val="bg1"/>
                </a:solidFill>
                <a:latin typeface="Calibri" pitchFamily="34" charset="0"/>
                <a:ea typeface="Calibri" pitchFamily="34" charset="-122"/>
                <a:cs typeface="Calibri" pitchFamily="34" charset="-120"/>
              </a:rPr>
              <a:t>REJECTED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One engine for all background work in Gears</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Replaces ad-hoc job tables, cron loops and status columns with one multi-tenant lifecycle</a:t>
            </a:r>
            <a:endParaRPr lang="en-US" sz="1600" dirty="0"/>
          </a:p>
        </p:txBody>
      </p:sp>
      <p:sp>
        <p:nvSpPr>
          <p:cNvPr id="5" name="Shape 2"/>
          <p:cNvSpPr/>
          <p:nvPr/>
        </p:nvSpPr>
        <p:spPr>
          <a:xfrm>
            <a:off x="457200" y="1508760"/>
            <a:ext cx="3611880" cy="1417320"/>
          </a:xfrm>
          <a:prstGeom prst="roundRect">
            <a:avLst>
              <a:gd name="adj" fmla="val 3871"/>
            </a:avLst>
          </a:prstGeom>
          <a:solidFill>
            <a:schemeClr val="bg1"/>
          </a:solidFill>
          <a:ln/>
        </p:spPr>
        <p:txBody>
          <a:bodyPr/>
          <a:lstStyle/>
          <a:p>
            <a:endParaRPr lang="en-US"/>
          </a:p>
        </p:txBody>
      </p:sp>
      <p:sp>
        <p:nvSpPr>
          <p:cNvPr id="6" name="Shape 3"/>
          <p:cNvSpPr/>
          <p:nvPr/>
        </p:nvSpPr>
        <p:spPr>
          <a:xfrm>
            <a:off x="457200" y="1508760"/>
            <a:ext cx="3611880" cy="1417320"/>
          </a:xfrm>
          <a:prstGeom prst="roundRect">
            <a:avLst>
              <a:gd name="adj" fmla="val 3871"/>
            </a:avLst>
          </a:prstGeom>
          <a:solidFill>
            <a:schemeClr val="bg2"/>
          </a:solidFill>
          <a:ln/>
        </p:spPr>
        <p:txBody>
          <a:bodyPr/>
          <a:lstStyle/>
          <a:p>
            <a:endParaRPr lang="en-US"/>
          </a:p>
        </p:txBody>
      </p:sp>
      <p:sp>
        <p:nvSpPr>
          <p:cNvPr id="7" name="Shape 4"/>
          <p:cNvSpPr/>
          <p:nvPr/>
        </p:nvSpPr>
        <p:spPr>
          <a:xfrm>
            <a:off x="658368" y="1783080"/>
            <a:ext cx="566928" cy="566928"/>
          </a:xfrm>
          <a:prstGeom prst="ellipse">
            <a:avLst/>
          </a:prstGeom>
          <a:solidFill>
            <a:srgbClr val="92D05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00100" y="1924812"/>
            <a:ext cx="283464" cy="283464"/>
          </a:xfrm>
          <a:prstGeom prst="rect">
            <a:avLst/>
          </a:prstGeom>
        </p:spPr>
      </p:pic>
      <p:sp>
        <p:nvSpPr>
          <p:cNvPr id="9" name="Text 5"/>
          <p:cNvSpPr txBox="1"/>
          <p:nvPr/>
        </p:nvSpPr>
        <p:spPr>
          <a:xfrm>
            <a:off x="1371600" y="1709928"/>
            <a:ext cx="2560320" cy="45720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Unified task lifecycle</a:t>
            </a:r>
            <a:endParaRPr lang="en-US" sz="1500" dirty="0"/>
          </a:p>
        </p:txBody>
      </p:sp>
      <p:sp>
        <p:nvSpPr>
          <p:cNvPr id="10" name="Text 6"/>
          <p:cNvSpPr txBox="1"/>
          <p:nvPr/>
        </p:nvSpPr>
        <p:spPr>
          <a:xfrm>
            <a:off x="1371600" y="2185416"/>
            <a:ext cx="2560320" cy="56692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Problem: every gear builds its own job queue and status table</a:t>
            </a:r>
            <a:endParaRPr lang="en-US" sz="1200" dirty="0"/>
          </a:p>
        </p:txBody>
      </p:sp>
      <p:sp>
        <p:nvSpPr>
          <p:cNvPr id="11" name="Shape 7"/>
          <p:cNvSpPr/>
          <p:nvPr/>
        </p:nvSpPr>
        <p:spPr>
          <a:xfrm>
            <a:off x="4206240" y="1508760"/>
            <a:ext cx="3611880" cy="1417320"/>
          </a:xfrm>
          <a:prstGeom prst="roundRect">
            <a:avLst>
              <a:gd name="adj" fmla="val 3871"/>
            </a:avLst>
          </a:prstGeom>
          <a:solidFill>
            <a:schemeClr val="bg1"/>
          </a:solidFill>
          <a:ln/>
        </p:spPr>
        <p:txBody>
          <a:bodyPr/>
          <a:lstStyle/>
          <a:p>
            <a:endParaRPr lang="en-US"/>
          </a:p>
        </p:txBody>
      </p:sp>
      <p:sp>
        <p:nvSpPr>
          <p:cNvPr id="12" name="Shape 8"/>
          <p:cNvSpPr/>
          <p:nvPr/>
        </p:nvSpPr>
        <p:spPr>
          <a:xfrm>
            <a:off x="4206240" y="1508760"/>
            <a:ext cx="3611880" cy="1417320"/>
          </a:xfrm>
          <a:prstGeom prst="roundRect">
            <a:avLst>
              <a:gd name="adj" fmla="val 3871"/>
            </a:avLst>
          </a:prstGeom>
          <a:solidFill>
            <a:schemeClr val="bg2"/>
          </a:solidFill>
          <a:ln/>
        </p:spPr>
        <p:txBody>
          <a:bodyPr/>
          <a:lstStyle/>
          <a:p>
            <a:endParaRPr lang="en-US"/>
          </a:p>
        </p:txBody>
      </p:sp>
      <p:sp>
        <p:nvSpPr>
          <p:cNvPr id="13" name="Shape 9"/>
          <p:cNvSpPr/>
          <p:nvPr/>
        </p:nvSpPr>
        <p:spPr>
          <a:xfrm>
            <a:off x="4407408" y="1783080"/>
            <a:ext cx="566928" cy="566928"/>
          </a:xfrm>
          <a:prstGeom prst="ellipse">
            <a:avLst/>
          </a:prstGeom>
          <a:solidFill>
            <a:srgbClr val="92D050"/>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549140" y="1924812"/>
            <a:ext cx="283464" cy="283464"/>
          </a:xfrm>
          <a:prstGeom prst="rect">
            <a:avLst/>
          </a:prstGeom>
        </p:spPr>
      </p:pic>
      <p:sp>
        <p:nvSpPr>
          <p:cNvPr id="15" name="Text 10"/>
          <p:cNvSpPr txBox="1"/>
          <p:nvPr/>
        </p:nvSpPr>
        <p:spPr>
          <a:xfrm>
            <a:off x="5120640" y="1709928"/>
            <a:ext cx="2560320" cy="45720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Tenant isolation everywhere</a:t>
            </a:r>
            <a:endParaRPr lang="en-US" sz="1500" dirty="0"/>
          </a:p>
        </p:txBody>
      </p:sp>
      <p:sp>
        <p:nvSpPr>
          <p:cNvPr id="16" name="Text 11"/>
          <p:cNvSpPr txBox="1"/>
          <p:nvPr/>
        </p:nvSpPr>
        <p:spPr>
          <a:xfrm>
            <a:off x="5120640" y="2185416"/>
            <a:ext cx="2560320" cy="56692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Problem: job frameworks assume a single namespace</a:t>
            </a:r>
            <a:endParaRPr lang="en-US" sz="1200" dirty="0"/>
          </a:p>
        </p:txBody>
      </p:sp>
      <p:sp>
        <p:nvSpPr>
          <p:cNvPr id="17" name="Shape 12"/>
          <p:cNvSpPr/>
          <p:nvPr/>
        </p:nvSpPr>
        <p:spPr>
          <a:xfrm>
            <a:off x="457200" y="3081528"/>
            <a:ext cx="3611880" cy="1417320"/>
          </a:xfrm>
          <a:prstGeom prst="roundRect">
            <a:avLst>
              <a:gd name="adj" fmla="val 3871"/>
            </a:avLst>
          </a:prstGeom>
          <a:solidFill>
            <a:schemeClr val="bg1"/>
          </a:solidFill>
          <a:ln/>
        </p:spPr>
        <p:txBody>
          <a:bodyPr/>
          <a:lstStyle/>
          <a:p>
            <a:endParaRPr lang="en-US"/>
          </a:p>
        </p:txBody>
      </p:sp>
      <p:sp>
        <p:nvSpPr>
          <p:cNvPr id="18" name="Shape 13"/>
          <p:cNvSpPr/>
          <p:nvPr/>
        </p:nvSpPr>
        <p:spPr>
          <a:xfrm>
            <a:off x="457200" y="3081528"/>
            <a:ext cx="3611880" cy="1417320"/>
          </a:xfrm>
          <a:prstGeom prst="roundRect">
            <a:avLst>
              <a:gd name="adj" fmla="val 3871"/>
            </a:avLst>
          </a:prstGeom>
          <a:solidFill>
            <a:schemeClr val="bg2"/>
          </a:solidFill>
          <a:ln/>
        </p:spPr>
        <p:txBody>
          <a:bodyPr/>
          <a:lstStyle/>
          <a:p>
            <a:endParaRPr lang="en-US"/>
          </a:p>
        </p:txBody>
      </p:sp>
      <p:sp>
        <p:nvSpPr>
          <p:cNvPr id="19" name="Shape 14"/>
          <p:cNvSpPr/>
          <p:nvPr/>
        </p:nvSpPr>
        <p:spPr>
          <a:xfrm>
            <a:off x="658368" y="3355848"/>
            <a:ext cx="566928" cy="566928"/>
          </a:xfrm>
          <a:prstGeom prst="ellipse">
            <a:avLst/>
          </a:prstGeom>
          <a:solidFill>
            <a:srgbClr val="92D050"/>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00100" y="3497580"/>
            <a:ext cx="283464" cy="283464"/>
          </a:xfrm>
          <a:prstGeom prst="rect">
            <a:avLst/>
          </a:prstGeom>
        </p:spPr>
      </p:pic>
      <p:sp>
        <p:nvSpPr>
          <p:cNvPr id="21" name="Text 15"/>
          <p:cNvSpPr txBox="1"/>
          <p:nvPr/>
        </p:nvSpPr>
        <p:spPr>
          <a:xfrm>
            <a:off x="1371600" y="3282696"/>
            <a:ext cx="2560320" cy="45720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Durable wait conditions</a:t>
            </a:r>
            <a:endParaRPr lang="en-US" sz="1500" dirty="0"/>
          </a:p>
        </p:txBody>
      </p:sp>
      <p:sp>
        <p:nvSpPr>
          <p:cNvPr id="22" name="Text 16"/>
          <p:cNvSpPr txBox="1"/>
          <p:nvPr/>
        </p:nvSpPr>
        <p:spPr>
          <a:xfrm>
            <a:off x="1371600" y="3758184"/>
            <a:ext cx="2560320" cy="56692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Problem: polling loops and callback hacks to pause work</a:t>
            </a:r>
            <a:endParaRPr lang="en-US" sz="1200" dirty="0"/>
          </a:p>
        </p:txBody>
      </p:sp>
      <p:sp>
        <p:nvSpPr>
          <p:cNvPr id="23" name="Shape 17"/>
          <p:cNvSpPr/>
          <p:nvPr/>
        </p:nvSpPr>
        <p:spPr>
          <a:xfrm>
            <a:off x="4206240" y="3081528"/>
            <a:ext cx="3611880" cy="1417320"/>
          </a:xfrm>
          <a:prstGeom prst="roundRect">
            <a:avLst>
              <a:gd name="adj" fmla="val 3871"/>
            </a:avLst>
          </a:prstGeom>
          <a:solidFill>
            <a:schemeClr val="bg1"/>
          </a:solidFill>
          <a:ln/>
        </p:spPr>
        <p:txBody>
          <a:bodyPr/>
          <a:lstStyle/>
          <a:p>
            <a:endParaRPr lang="en-US"/>
          </a:p>
        </p:txBody>
      </p:sp>
      <p:sp>
        <p:nvSpPr>
          <p:cNvPr id="24" name="Shape 18"/>
          <p:cNvSpPr/>
          <p:nvPr/>
        </p:nvSpPr>
        <p:spPr>
          <a:xfrm>
            <a:off x="4206240" y="3081528"/>
            <a:ext cx="3611880" cy="1417320"/>
          </a:xfrm>
          <a:prstGeom prst="roundRect">
            <a:avLst>
              <a:gd name="adj" fmla="val 3871"/>
            </a:avLst>
          </a:prstGeom>
          <a:solidFill>
            <a:schemeClr val="bg2"/>
          </a:solidFill>
          <a:ln/>
        </p:spPr>
        <p:txBody>
          <a:bodyPr/>
          <a:lstStyle/>
          <a:p>
            <a:endParaRPr lang="en-US"/>
          </a:p>
        </p:txBody>
      </p:sp>
      <p:sp>
        <p:nvSpPr>
          <p:cNvPr id="25" name="Shape 19"/>
          <p:cNvSpPr/>
          <p:nvPr/>
        </p:nvSpPr>
        <p:spPr>
          <a:xfrm>
            <a:off x="4407408" y="3355848"/>
            <a:ext cx="566928" cy="566928"/>
          </a:xfrm>
          <a:prstGeom prst="ellipse">
            <a:avLst/>
          </a:prstGeom>
          <a:solidFill>
            <a:srgbClr val="92D050"/>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4549140" y="3497580"/>
            <a:ext cx="283464" cy="283464"/>
          </a:xfrm>
          <a:prstGeom prst="rect">
            <a:avLst/>
          </a:prstGeom>
        </p:spPr>
      </p:pic>
      <p:sp>
        <p:nvSpPr>
          <p:cNvPr id="27" name="Text 20"/>
          <p:cNvSpPr txBox="1"/>
          <p:nvPr/>
        </p:nvSpPr>
        <p:spPr>
          <a:xfrm>
            <a:off x="5120640" y="3282696"/>
            <a:ext cx="2560320" cy="45720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GTS-typed tasks</a:t>
            </a:r>
            <a:endParaRPr lang="en-US" sz="1500" dirty="0"/>
          </a:p>
        </p:txBody>
      </p:sp>
      <p:sp>
        <p:nvSpPr>
          <p:cNvPr id="28" name="Text 21"/>
          <p:cNvSpPr txBox="1"/>
          <p:nvPr/>
        </p:nvSpPr>
        <p:spPr>
          <a:xfrm>
            <a:off x="5120640" y="3758184"/>
            <a:ext cx="2560320" cy="56692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Problem: new task kinds need schema changes and releases</a:t>
            </a:r>
            <a:endParaRPr lang="en-US" sz="1200" dirty="0"/>
          </a:p>
        </p:txBody>
      </p:sp>
      <p:sp>
        <p:nvSpPr>
          <p:cNvPr id="29" name="Shape 22"/>
          <p:cNvSpPr/>
          <p:nvPr/>
        </p:nvSpPr>
        <p:spPr>
          <a:xfrm>
            <a:off x="457200" y="4654296"/>
            <a:ext cx="3611880" cy="1417320"/>
          </a:xfrm>
          <a:prstGeom prst="roundRect">
            <a:avLst>
              <a:gd name="adj" fmla="val 3871"/>
            </a:avLst>
          </a:prstGeom>
          <a:solidFill>
            <a:schemeClr val="bg1"/>
          </a:solidFill>
          <a:ln/>
        </p:spPr>
        <p:txBody>
          <a:bodyPr/>
          <a:lstStyle/>
          <a:p>
            <a:endParaRPr lang="en-US"/>
          </a:p>
        </p:txBody>
      </p:sp>
      <p:sp>
        <p:nvSpPr>
          <p:cNvPr id="30" name="Shape 23"/>
          <p:cNvSpPr/>
          <p:nvPr/>
        </p:nvSpPr>
        <p:spPr>
          <a:xfrm>
            <a:off x="457200" y="4654296"/>
            <a:ext cx="3611880" cy="1417320"/>
          </a:xfrm>
          <a:prstGeom prst="roundRect">
            <a:avLst>
              <a:gd name="adj" fmla="val 3871"/>
            </a:avLst>
          </a:prstGeom>
          <a:solidFill>
            <a:schemeClr val="bg2"/>
          </a:solidFill>
          <a:ln/>
        </p:spPr>
        <p:txBody>
          <a:bodyPr/>
          <a:lstStyle/>
          <a:p>
            <a:endParaRPr lang="en-US"/>
          </a:p>
        </p:txBody>
      </p:sp>
      <p:sp>
        <p:nvSpPr>
          <p:cNvPr id="31" name="Shape 24"/>
          <p:cNvSpPr/>
          <p:nvPr/>
        </p:nvSpPr>
        <p:spPr>
          <a:xfrm>
            <a:off x="658368" y="4928616"/>
            <a:ext cx="566928" cy="566928"/>
          </a:xfrm>
          <a:prstGeom prst="ellipse">
            <a:avLst/>
          </a:prstGeom>
          <a:solidFill>
            <a:srgbClr val="92D050"/>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800100" y="5070348"/>
            <a:ext cx="283464" cy="283464"/>
          </a:xfrm>
          <a:prstGeom prst="rect">
            <a:avLst/>
          </a:prstGeom>
        </p:spPr>
      </p:pic>
      <p:sp>
        <p:nvSpPr>
          <p:cNvPr id="33" name="Text 25"/>
          <p:cNvSpPr txBox="1"/>
          <p:nvPr/>
        </p:nvSpPr>
        <p:spPr>
          <a:xfrm>
            <a:off x="1371600" y="4855464"/>
            <a:ext cx="2560320" cy="45720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Six enforced timeouts</a:t>
            </a:r>
            <a:endParaRPr lang="en-US" sz="1500" dirty="0"/>
          </a:p>
        </p:txBody>
      </p:sp>
      <p:sp>
        <p:nvSpPr>
          <p:cNvPr id="34" name="Text 26"/>
          <p:cNvSpPr txBox="1"/>
          <p:nvPr/>
        </p:nvSpPr>
        <p:spPr>
          <a:xfrm>
            <a:off x="1371600" y="5330952"/>
            <a:ext cx="2560320" cy="56692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Problem: stalled tasks hang forever, nobody notices</a:t>
            </a:r>
            <a:endParaRPr lang="en-US" sz="1200" dirty="0"/>
          </a:p>
        </p:txBody>
      </p:sp>
      <p:sp>
        <p:nvSpPr>
          <p:cNvPr id="35" name="Shape 27"/>
          <p:cNvSpPr/>
          <p:nvPr/>
        </p:nvSpPr>
        <p:spPr>
          <a:xfrm>
            <a:off x="4206240" y="4654296"/>
            <a:ext cx="3611880" cy="1417320"/>
          </a:xfrm>
          <a:prstGeom prst="roundRect">
            <a:avLst>
              <a:gd name="adj" fmla="val 3871"/>
            </a:avLst>
          </a:prstGeom>
          <a:solidFill>
            <a:schemeClr val="bg1"/>
          </a:solidFill>
          <a:ln/>
        </p:spPr>
        <p:txBody>
          <a:bodyPr/>
          <a:lstStyle/>
          <a:p>
            <a:endParaRPr lang="en-US"/>
          </a:p>
        </p:txBody>
      </p:sp>
      <p:sp>
        <p:nvSpPr>
          <p:cNvPr id="36" name="Shape 28"/>
          <p:cNvSpPr/>
          <p:nvPr/>
        </p:nvSpPr>
        <p:spPr>
          <a:xfrm>
            <a:off x="4206240" y="4654296"/>
            <a:ext cx="3611880" cy="1417320"/>
          </a:xfrm>
          <a:prstGeom prst="roundRect">
            <a:avLst>
              <a:gd name="adj" fmla="val 3871"/>
            </a:avLst>
          </a:prstGeom>
          <a:solidFill>
            <a:schemeClr val="bg2"/>
          </a:solidFill>
          <a:ln/>
        </p:spPr>
        <p:txBody>
          <a:bodyPr/>
          <a:lstStyle/>
          <a:p>
            <a:endParaRPr lang="en-US"/>
          </a:p>
        </p:txBody>
      </p:sp>
      <p:sp>
        <p:nvSpPr>
          <p:cNvPr id="37" name="Shape 29"/>
          <p:cNvSpPr/>
          <p:nvPr/>
        </p:nvSpPr>
        <p:spPr>
          <a:xfrm>
            <a:off x="4407408" y="4928616"/>
            <a:ext cx="566928" cy="566928"/>
          </a:xfrm>
          <a:prstGeom prst="ellipse">
            <a:avLst/>
          </a:prstGeom>
          <a:solidFill>
            <a:srgbClr val="92D050"/>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4549140" y="5070348"/>
            <a:ext cx="283464" cy="283464"/>
          </a:xfrm>
          <a:prstGeom prst="rect">
            <a:avLst/>
          </a:prstGeom>
        </p:spPr>
      </p:pic>
      <p:sp>
        <p:nvSpPr>
          <p:cNvPr id="39" name="Text 30"/>
          <p:cNvSpPr txBox="1"/>
          <p:nvPr/>
        </p:nvSpPr>
        <p:spPr>
          <a:xfrm>
            <a:off x="5120640" y="4855464"/>
            <a:ext cx="2560320" cy="45720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Retry policies with backoff</a:t>
            </a:r>
            <a:endParaRPr lang="en-US" sz="1500" dirty="0"/>
          </a:p>
        </p:txBody>
      </p:sp>
      <p:sp>
        <p:nvSpPr>
          <p:cNvPr id="40" name="Text 31"/>
          <p:cNvSpPr txBox="1"/>
          <p:nvPr/>
        </p:nvSpPr>
        <p:spPr>
          <a:xfrm>
            <a:off x="5120640" y="5330952"/>
            <a:ext cx="2560320" cy="56692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Problem: lost work or unbounded retry storms</a:t>
            </a:r>
            <a:endParaRPr lang="en-US" sz="1200" dirty="0"/>
          </a:p>
        </p:txBody>
      </p:sp>
      <p:sp>
        <p:nvSpPr>
          <p:cNvPr id="41" name="Shape 32"/>
          <p:cNvSpPr/>
          <p:nvPr/>
        </p:nvSpPr>
        <p:spPr>
          <a:xfrm>
            <a:off x="8092440" y="1508760"/>
            <a:ext cx="3639312" cy="4562856"/>
          </a:xfrm>
          <a:prstGeom prst="roundRect">
            <a:avLst>
              <a:gd name="adj" fmla="val 1508"/>
            </a:avLst>
          </a:prstGeom>
          <a:solidFill>
            <a:schemeClr val="bg1"/>
          </a:solidFill>
          <a:ln/>
        </p:spPr>
        <p:txBody>
          <a:bodyPr/>
          <a:lstStyle/>
          <a:p>
            <a:endParaRPr lang="en-US"/>
          </a:p>
        </p:txBody>
      </p:sp>
      <p:sp>
        <p:nvSpPr>
          <p:cNvPr id="42" name="Shape 33"/>
          <p:cNvSpPr/>
          <p:nvPr/>
        </p:nvSpPr>
        <p:spPr>
          <a:xfrm>
            <a:off x="8092440" y="1508760"/>
            <a:ext cx="3639312" cy="4562856"/>
          </a:xfrm>
          <a:prstGeom prst="roundRect">
            <a:avLst>
              <a:gd name="adj" fmla="val 1508"/>
            </a:avLst>
          </a:prstGeom>
          <a:solidFill>
            <a:schemeClr val="bg1">
              <a:lumMod val="95000"/>
              <a:alpha val="78965"/>
            </a:schemeClr>
          </a:solidFill>
          <a:ln w="15875">
            <a:solidFill>
              <a:schemeClr val="accent4"/>
            </a:solidFill>
            <a:prstDash val="dash"/>
          </a:ln>
        </p:spPr>
        <p:txBody>
          <a:bodyPr/>
          <a:lstStyle/>
          <a:p>
            <a:endParaRPr lang="en-US"/>
          </a:p>
        </p:txBody>
      </p:sp>
      <p:sp>
        <p:nvSpPr>
          <p:cNvPr id="43" name="Text 34"/>
          <p:cNvSpPr txBox="1"/>
          <p:nvPr/>
        </p:nvSpPr>
        <p:spPr>
          <a:xfrm>
            <a:off x="8321040" y="1645920"/>
            <a:ext cx="3200400" cy="365760"/>
          </a:xfrm>
          <a:prstGeom prst="rect">
            <a:avLst/>
          </a:prstGeom>
          <a:noFill/>
          <a:ln/>
        </p:spPr>
        <p:txBody>
          <a:bodyPr wrap="square" lIns="0" tIns="0" rIns="0" bIns="0" rtlCol="0" anchor="t"/>
          <a:lstStyle/>
          <a:p>
            <a:pPr marL="0" indent="0">
              <a:buNone/>
            </a:pPr>
            <a:r>
              <a:rPr lang="en-US" sz="1500" b="1" dirty="0">
                <a:latin typeface="Calibri" pitchFamily="34" charset="0"/>
                <a:ea typeface="Calibri" pitchFamily="34" charset="-122"/>
                <a:cs typeface="Calibri" pitchFamily="34" charset="-120"/>
              </a:rPr>
              <a:t>Deliberately NOT in scope</a:t>
            </a:r>
            <a:endParaRPr lang="en-US" sz="1500" dirty="0"/>
          </a:p>
        </p:txBody>
      </p:sp>
      <p:pic>
        <p:nvPicPr>
          <p:cNvPr id="44" name="Image 6" descr="preencoded.png"/>
          <p:cNvPicPr>
            <a:picLocks noChangeAspect="1"/>
          </p:cNvPicPr>
          <p:nvPr/>
        </p:nvPicPr>
        <p:blipFill>
          <a:blip r:embed="rId9"/>
          <a:stretch>
            <a:fillRect/>
          </a:stretch>
        </p:blipFill>
        <p:spPr>
          <a:xfrm>
            <a:off x="8321040" y="2176272"/>
            <a:ext cx="182880" cy="182880"/>
          </a:xfrm>
          <a:prstGeom prst="rect">
            <a:avLst/>
          </a:prstGeom>
        </p:spPr>
      </p:pic>
      <p:sp>
        <p:nvSpPr>
          <p:cNvPr id="45" name="Text 35"/>
          <p:cNvSpPr txBox="1"/>
          <p:nvPr/>
        </p:nvSpPr>
        <p:spPr>
          <a:xfrm>
            <a:off x="8641080" y="2121408"/>
            <a:ext cx="29260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Workflow orchestration</a:t>
            </a:r>
            <a:endParaRPr lang="en-US" sz="1300" dirty="0"/>
          </a:p>
        </p:txBody>
      </p:sp>
      <p:sp>
        <p:nvSpPr>
          <p:cNvPr id="46" name="Text 36"/>
          <p:cNvSpPr txBox="1"/>
          <p:nvPr/>
        </p:nvSpPr>
        <p:spPr>
          <a:xfrm>
            <a:off x="8641080" y="2386584"/>
            <a:ext cx="29260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no branches, loops, sagas or DAG definitions</a:t>
            </a:r>
            <a:endParaRPr lang="en-US" sz="1100" dirty="0"/>
          </a:p>
        </p:txBody>
      </p:sp>
      <p:pic>
        <p:nvPicPr>
          <p:cNvPr id="47" name="Image 7" descr="preencoded.png"/>
          <p:cNvPicPr>
            <a:picLocks noChangeAspect="1"/>
          </p:cNvPicPr>
          <p:nvPr/>
        </p:nvPicPr>
        <p:blipFill>
          <a:blip r:embed="rId9"/>
          <a:stretch>
            <a:fillRect/>
          </a:stretch>
        </p:blipFill>
        <p:spPr>
          <a:xfrm>
            <a:off x="8321040" y="2825496"/>
            <a:ext cx="182880" cy="182880"/>
          </a:xfrm>
          <a:prstGeom prst="rect">
            <a:avLst/>
          </a:prstGeom>
        </p:spPr>
      </p:pic>
      <p:sp>
        <p:nvSpPr>
          <p:cNvPr id="48" name="Text 37"/>
          <p:cNvSpPr txBox="1"/>
          <p:nvPr/>
        </p:nvSpPr>
        <p:spPr>
          <a:xfrm>
            <a:off x="8641080" y="2770632"/>
            <a:ext cx="29260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OLAP</a:t>
            </a:r>
            <a:endParaRPr lang="en-US" sz="1300" dirty="0"/>
          </a:p>
        </p:txBody>
      </p:sp>
      <p:sp>
        <p:nvSpPr>
          <p:cNvPr id="49" name="Text 38"/>
          <p:cNvSpPr txBox="1"/>
          <p:nvPr/>
        </p:nvSpPr>
        <p:spPr>
          <a:xfrm>
            <a:off x="8641080" y="3035808"/>
            <a:ext cx="29260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use analytics</a:t>
            </a:r>
            <a:endParaRPr lang="en-US" sz="1100" dirty="0"/>
          </a:p>
        </p:txBody>
      </p:sp>
      <p:pic>
        <p:nvPicPr>
          <p:cNvPr id="50" name="Image 8" descr="preencoded.png"/>
          <p:cNvPicPr>
            <a:picLocks noChangeAspect="1"/>
          </p:cNvPicPr>
          <p:nvPr/>
        </p:nvPicPr>
        <p:blipFill>
          <a:blip r:embed="rId9"/>
          <a:stretch>
            <a:fillRect/>
          </a:stretch>
        </p:blipFill>
        <p:spPr>
          <a:xfrm>
            <a:off x="8321040" y="3474720"/>
            <a:ext cx="182880" cy="182880"/>
          </a:xfrm>
          <a:prstGeom prst="rect">
            <a:avLst/>
          </a:prstGeom>
        </p:spPr>
      </p:pic>
      <p:sp>
        <p:nvSpPr>
          <p:cNvPr id="51" name="Text 39"/>
          <p:cNvSpPr txBox="1"/>
          <p:nvPr/>
        </p:nvSpPr>
        <p:spPr>
          <a:xfrm>
            <a:off x="8641080" y="3419856"/>
            <a:ext cx="29260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Message broker</a:t>
            </a:r>
            <a:endParaRPr lang="en-US" sz="1300" dirty="0"/>
          </a:p>
        </p:txBody>
      </p:sp>
      <p:sp>
        <p:nvSpPr>
          <p:cNvPr id="52" name="Text 40"/>
          <p:cNvSpPr txBox="1"/>
          <p:nvPr/>
        </p:nvSpPr>
        <p:spPr>
          <a:xfrm>
            <a:off x="8641080" y="3685032"/>
            <a:ext cx="29260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pub/sub stays in Event Broker</a:t>
            </a:r>
            <a:endParaRPr lang="en-US" sz="1100" dirty="0"/>
          </a:p>
        </p:txBody>
      </p:sp>
      <p:pic>
        <p:nvPicPr>
          <p:cNvPr id="53" name="Image 9" descr="preencoded.png"/>
          <p:cNvPicPr>
            <a:picLocks noChangeAspect="1"/>
          </p:cNvPicPr>
          <p:nvPr/>
        </p:nvPicPr>
        <p:blipFill>
          <a:blip r:embed="rId9"/>
          <a:stretch>
            <a:fillRect/>
          </a:stretch>
        </p:blipFill>
        <p:spPr>
          <a:xfrm>
            <a:off x="8321040" y="4123944"/>
            <a:ext cx="182880" cy="182880"/>
          </a:xfrm>
          <a:prstGeom prst="rect">
            <a:avLst/>
          </a:prstGeom>
        </p:spPr>
      </p:pic>
      <p:sp>
        <p:nvSpPr>
          <p:cNvPr id="54" name="Text 41"/>
          <p:cNvSpPr txBox="1"/>
          <p:nvPr/>
        </p:nvSpPr>
        <p:spPr>
          <a:xfrm>
            <a:off x="8641080" y="4069080"/>
            <a:ext cx="29260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Large blobs</a:t>
            </a:r>
            <a:endParaRPr lang="en-US" sz="1300" dirty="0"/>
          </a:p>
        </p:txBody>
      </p:sp>
      <p:sp>
        <p:nvSpPr>
          <p:cNvPr id="55" name="Text 42"/>
          <p:cNvSpPr txBox="1"/>
          <p:nvPr/>
        </p:nvSpPr>
        <p:spPr>
          <a:xfrm>
            <a:off x="8641080" y="4334256"/>
            <a:ext cx="29260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64 KiB payload cap — pass a URI</a:t>
            </a:r>
            <a:endParaRPr lang="en-US" sz="1100" dirty="0"/>
          </a:p>
        </p:txBody>
      </p:sp>
      <p:pic>
        <p:nvPicPr>
          <p:cNvPr id="56" name="Image 10" descr="preencoded.png"/>
          <p:cNvPicPr>
            <a:picLocks noChangeAspect="1"/>
          </p:cNvPicPr>
          <p:nvPr/>
        </p:nvPicPr>
        <p:blipFill>
          <a:blip r:embed="rId9"/>
          <a:stretch>
            <a:fillRect/>
          </a:stretch>
        </p:blipFill>
        <p:spPr>
          <a:xfrm>
            <a:off x="8321040" y="4773168"/>
            <a:ext cx="182880" cy="182880"/>
          </a:xfrm>
          <a:prstGeom prst="rect">
            <a:avLst/>
          </a:prstGeom>
        </p:spPr>
      </p:pic>
      <p:sp>
        <p:nvSpPr>
          <p:cNvPr id="57" name="Text 43"/>
          <p:cNvSpPr txBox="1"/>
          <p:nvPr/>
        </p:nvSpPr>
        <p:spPr>
          <a:xfrm>
            <a:off x="8641080" y="4718304"/>
            <a:ext cx="29260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In-process task execution workers</a:t>
            </a:r>
            <a:endParaRPr lang="en-US" sz="1300" dirty="0"/>
          </a:p>
        </p:txBody>
      </p:sp>
      <p:sp>
        <p:nvSpPr>
          <p:cNvPr id="58" name="Text 44"/>
          <p:cNvSpPr txBox="1"/>
          <p:nvPr/>
        </p:nvSpPr>
        <p:spPr>
          <a:xfrm>
            <a:off x="8641080" y="4983480"/>
            <a:ext cx="29260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no local executor </a:t>
            </a:r>
            <a:r>
              <a:rPr lang="en-US" sz="1100" dirty="0" err="1">
                <a:solidFill>
                  <a:schemeClr val="tx2"/>
                </a:solidFill>
                <a:latin typeface="Calibri" pitchFamily="34" charset="0"/>
                <a:ea typeface="Calibri" pitchFamily="34" charset="-122"/>
                <a:cs typeface="Calibri" pitchFamily="34" charset="-120"/>
              </a:rPr>
              <a:t>herlps</a:t>
            </a:r>
            <a:r>
              <a:rPr lang="en-US" sz="1100" dirty="0">
                <a:solidFill>
                  <a:schemeClr val="tx2"/>
                </a:solidFill>
                <a:latin typeface="Calibri" pitchFamily="34" charset="0"/>
                <a:ea typeface="Calibri" pitchFamily="34" charset="-122"/>
                <a:cs typeface="Calibri" pitchFamily="34" charset="-120"/>
              </a:rPr>
              <a:t> with durable storage</a:t>
            </a:r>
            <a:endParaRPr lang="en-US" sz="1100" dirty="0"/>
          </a:p>
        </p:txBody>
      </p:sp>
      <p:pic>
        <p:nvPicPr>
          <p:cNvPr id="59" name="Image 11" descr="preencoded.png"/>
          <p:cNvPicPr>
            <a:picLocks noChangeAspect="1"/>
          </p:cNvPicPr>
          <p:nvPr/>
        </p:nvPicPr>
        <p:blipFill>
          <a:blip r:embed="rId9"/>
          <a:stretch>
            <a:fillRect/>
          </a:stretch>
        </p:blipFill>
        <p:spPr>
          <a:xfrm>
            <a:off x="8321040" y="5422392"/>
            <a:ext cx="182880" cy="182880"/>
          </a:xfrm>
          <a:prstGeom prst="rect">
            <a:avLst/>
          </a:prstGeom>
        </p:spPr>
      </p:pic>
      <p:sp>
        <p:nvSpPr>
          <p:cNvPr id="60" name="Text 45"/>
          <p:cNvSpPr txBox="1"/>
          <p:nvPr/>
        </p:nvSpPr>
        <p:spPr>
          <a:xfrm>
            <a:off x="8641080" y="5367528"/>
            <a:ext cx="29260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Distributed transactions</a:t>
            </a:r>
            <a:endParaRPr lang="en-US" sz="1300" dirty="0"/>
          </a:p>
        </p:txBody>
      </p:sp>
      <p:sp>
        <p:nvSpPr>
          <p:cNvPr id="61" name="Text 46"/>
          <p:cNvSpPr txBox="1"/>
          <p:nvPr/>
        </p:nvSpPr>
        <p:spPr>
          <a:xfrm>
            <a:off x="8641080" y="5632704"/>
            <a:ext cx="2926080" cy="274320"/>
          </a:xfrm>
          <a:prstGeom prst="rect">
            <a:avLst/>
          </a:prstGeom>
          <a:noFill/>
          <a:ln/>
        </p:spPr>
        <p:txBody>
          <a:bodyPr wrap="square" lIns="0" tIns="0" rIns="0" bIns="0" rtlCol="0" anchor="t"/>
          <a:lstStyle/>
          <a:p>
            <a:r>
              <a:rPr lang="en-US" sz="1100" dirty="0">
                <a:solidFill>
                  <a:schemeClr val="tx2"/>
                </a:solidFill>
                <a:latin typeface="Calibri" pitchFamily="34" charset="0"/>
                <a:ea typeface="Calibri" pitchFamily="34" charset="-122"/>
                <a:cs typeface="Calibri" pitchFamily="34" charset="-120"/>
              </a:rPr>
              <a:t>no cross-service atomicity or automatic rollback</a:t>
            </a:r>
            <a:endParaRPr lang="en-US" sz="11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Eight words you need before anything else</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Every later slide uses these terms</a:t>
            </a:r>
            <a:endParaRPr lang="en-US" sz="1600" dirty="0"/>
          </a:p>
        </p:txBody>
      </p:sp>
      <p:sp>
        <p:nvSpPr>
          <p:cNvPr id="5" name="Shape 2"/>
          <p:cNvSpPr/>
          <p:nvPr/>
        </p:nvSpPr>
        <p:spPr>
          <a:xfrm>
            <a:off x="457200" y="1508760"/>
            <a:ext cx="2679192" cy="2212848"/>
          </a:xfrm>
          <a:prstGeom prst="roundRect">
            <a:avLst>
              <a:gd name="adj" fmla="val 2479"/>
            </a:avLst>
          </a:prstGeom>
          <a:solidFill>
            <a:schemeClr val="bg1"/>
          </a:solidFill>
          <a:ln/>
        </p:spPr>
        <p:txBody>
          <a:bodyPr/>
          <a:lstStyle/>
          <a:p>
            <a:endParaRPr lang="en-US"/>
          </a:p>
        </p:txBody>
      </p:sp>
      <p:sp>
        <p:nvSpPr>
          <p:cNvPr id="6" name="Shape 3"/>
          <p:cNvSpPr/>
          <p:nvPr/>
        </p:nvSpPr>
        <p:spPr>
          <a:xfrm>
            <a:off x="457200" y="1508760"/>
            <a:ext cx="2679192" cy="2212848"/>
          </a:xfrm>
          <a:prstGeom prst="roundRect">
            <a:avLst>
              <a:gd name="adj" fmla="val 2479"/>
            </a:avLst>
          </a:prstGeom>
          <a:solidFill>
            <a:schemeClr val="accent1">
              <a:alpha val="10000"/>
            </a:schemeClr>
          </a:solidFill>
          <a:ln/>
        </p:spPr>
        <p:txBody>
          <a:bodyPr/>
          <a:lstStyle/>
          <a:p>
            <a:endParaRPr lang="en-US"/>
          </a:p>
        </p:txBody>
      </p:sp>
      <p:sp>
        <p:nvSpPr>
          <p:cNvPr id="7" name="Shape 4"/>
          <p:cNvSpPr/>
          <p:nvPr/>
        </p:nvSpPr>
        <p:spPr>
          <a:xfrm>
            <a:off x="658368" y="1709928"/>
            <a:ext cx="548640" cy="548640"/>
          </a:xfrm>
          <a:prstGeom prst="ellipse">
            <a:avLst/>
          </a:prstGeom>
          <a:solidFill>
            <a:schemeClr val="accent1">
              <a:lumMod val="40000"/>
              <a:lumOff val="60000"/>
            </a:schemeClr>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95528" y="1847088"/>
            <a:ext cx="274320" cy="274320"/>
          </a:xfrm>
          <a:prstGeom prst="rect">
            <a:avLst/>
          </a:prstGeom>
        </p:spPr>
      </p:pic>
      <p:sp>
        <p:nvSpPr>
          <p:cNvPr id="9" name="Text 5"/>
          <p:cNvSpPr txBox="1"/>
          <p:nvPr/>
        </p:nvSpPr>
        <p:spPr>
          <a:xfrm>
            <a:off x="1325880" y="1709928"/>
            <a:ext cx="1691640" cy="54864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Task</a:t>
            </a:r>
            <a:endParaRPr lang="en-US" sz="1700" dirty="0"/>
          </a:p>
        </p:txBody>
      </p:sp>
      <p:sp>
        <p:nvSpPr>
          <p:cNvPr id="10" name="Text 6"/>
          <p:cNvSpPr txBox="1"/>
          <p:nvPr/>
        </p:nvSpPr>
        <p:spPr>
          <a:xfrm>
            <a:off x="658368" y="2404872"/>
            <a:ext cx="2286000" cy="11887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Unit of work: GTS type and input and result schema, queue, priority. Moves through 10 states.</a:t>
            </a:r>
            <a:endParaRPr lang="en-US" sz="1300" dirty="0"/>
          </a:p>
        </p:txBody>
      </p:sp>
      <p:sp>
        <p:nvSpPr>
          <p:cNvPr id="11" name="Shape 7"/>
          <p:cNvSpPr/>
          <p:nvPr/>
        </p:nvSpPr>
        <p:spPr>
          <a:xfrm>
            <a:off x="3319272" y="1508760"/>
            <a:ext cx="2679192" cy="2212848"/>
          </a:xfrm>
          <a:prstGeom prst="roundRect">
            <a:avLst>
              <a:gd name="adj" fmla="val 2479"/>
            </a:avLst>
          </a:prstGeom>
          <a:solidFill>
            <a:schemeClr val="bg1"/>
          </a:solidFill>
          <a:ln/>
        </p:spPr>
        <p:txBody>
          <a:bodyPr/>
          <a:lstStyle/>
          <a:p>
            <a:endParaRPr lang="en-US"/>
          </a:p>
        </p:txBody>
      </p:sp>
      <p:sp>
        <p:nvSpPr>
          <p:cNvPr id="12" name="Shape 8"/>
          <p:cNvSpPr/>
          <p:nvPr/>
        </p:nvSpPr>
        <p:spPr>
          <a:xfrm>
            <a:off x="3319272" y="1508760"/>
            <a:ext cx="2679192" cy="2212848"/>
          </a:xfrm>
          <a:prstGeom prst="roundRect">
            <a:avLst>
              <a:gd name="adj" fmla="val 2479"/>
            </a:avLst>
          </a:prstGeom>
          <a:solidFill>
            <a:schemeClr val="accent1">
              <a:alpha val="10000"/>
            </a:schemeClr>
          </a:solidFill>
          <a:ln/>
        </p:spPr>
        <p:txBody>
          <a:bodyPr/>
          <a:lstStyle/>
          <a:p>
            <a:endParaRPr lang="en-US"/>
          </a:p>
        </p:txBody>
      </p:sp>
      <p:sp>
        <p:nvSpPr>
          <p:cNvPr id="13" name="Shape 9"/>
          <p:cNvSpPr/>
          <p:nvPr/>
        </p:nvSpPr>
        <p:spPr>
          <a:xfrm>
            <a:off x="3520440" y="1709928"/>
            <a:ext cx="548640" cy="548640"/>
          </a:xfrm>
          <a:prstGeom prst="ellipse">
            <a:avLst/>
          </a:prstGeom>
          <a:solidFill>
            <a:schemeClr val="accent1">
              <a:lumMod val="40000"/>
              <a:lumOff val="60000"/>
            </a:schemeClr>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657600" y="1847088"/>
            <a:ext cx="274320" cy="274320"/>
          </a:xfrm>
          <a:prstGeom prst="rect">
            <a:avLst/>
          </a:prstGeom>
        </p:spPr>
      </p:pic>
      <p:sp>
        <p:nvSpPr>
          <p:cNvPr id="15" name="Text 10"/>
          <p:cNvSpPr txBox="1"/>
          <p:nvPr/>
        </p:nvSpPr>
        <p:spPr>
          <a:xfrm>
            <a:off x="4187952" y="1709928"/>
            <a:ext cx="1691640" cy="54864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Queue</a:t>
            </a:r>
            <a:endParaRPr lang="en-US" sz="1700" dirty="0"/>
          </a:p>
        </p:txBody>
      </p:sp>
      <p:sp>
        <p:nvSpPr>
          <p:cNvPr id="16" name="Text 11"/>
          <p:cNvSpPr txBox="1"/>
          <p:nvPr/>
        </p:nvSpPr>
        <p:spPr>
          <a:xfrm>
            <a:off x="3520440" y="2404872"/>
            <a:ext cx="2286000" cy="11887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GTS instance with concurrency limits, depth limit, timeouts, retry policy and optional DLQ defined in traits.</a:t>
            </a:r>
            <a:endParaRPr lang="en-US" sz="1300" dirty="0"/>
          </a:p>
        </p:txBody>
      </p:sp>
      <p:sp>
        <p:nvSpPr>
          <p:cNvPr id="17" name="Shape 12"/>
          <p:cNvSpPr/>
          <p:nvPr/>
        </p:nvSpPr>
        <p:spPr>
          <a:xfrm>
            <a:off x="6181344" y="1508760"/>
            <a:ext cx="2679192" cy="2212848"/>
          </a:xfrm>
          <a:prstGeom prst="roundRect">
            <a:avLst>
              <a:gd name="adj" fmla="val 2479"/>
            </a:avLst>
          </a:prstGeom>
          <a:solidFill>
            <a:schemeClr val="bg1"/>
          </a:solidFill>
          <a:ln/>
        </p:spPr>
        <p:txBody>
          <a:bodyPr/>
          <a:lstStyle/>
          <a:p>
            <a:endParaRPr lang="en-US"/>
          </a:p>
        </p:txBody>
      </p:sp>
      <p:sp>
        <p:nvSpPr>
          <p:cNvPr id="18" name="Shape 13"/>
          <p:cNvSpPr/>
          <p:nvPr/>
        </p:nvSpPr>
        <p:spPr>
          <a:xfrm>
            <a:off x="6181344" y="1508760"/>
            <a:ext cx="2679192" cy="2212848"/>
          </a:xfrm>
          <a:prstGeom prst="roundRect">
            <a:avLst>
              <a:gd name="adj" fmla="val 2479"/>
            </a:avLst>
          </a:prstGeom>
          <a:solidFill>
            <a:schemeClr val="accent1">
              <a:alpha val="10000"/>
            </a:schemeClr>
          </a:solidFill>
          <a:ln/>
        </p:spPr>
        <p:txBody>
          <a:bodyPr/>
          <a:lstStyle/>
          <a:p>
            <a:endParaRPr lang="en-US"/>
          </a:p>
        </p:txBody>
      </p:sp>
      <p:sp>
        <p:nvSpPr>
          <p:cNvPr id="19" name="Shape 14"/>
          <p:cNvSpPr/>
          <p:nvPr/>
        </p:nvSpPr>
        <p:spPr>
          <a:xfrm>
            <a:off x="6382512" y="1709928"/>
            <a:ext cx="548640" cy="548640"/>
          </a:xfrm>
          <a:prstGeom prst="ellipse">
            <a:avLst/>
          </a:prstGeom>
          <a:solidFill>
            <a:schemeClr val="accent1">
              <a:lumMod val="40000"/>
              <a:lumOff val="60000"/>
            </a:schemeClr>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519672" y="1847088"/>
            <a:ext cx="274320" cy="274320"/>
          </a:xfrm>
          <a:prstGeom prst="rect">
            <a:avLst/>
          </a:prstGeom>
        </p:spPr>
      </p:pic>
      <p:sp>
        <p:nvSpPr>
          <p:cNvPr id="21" name="Text 15"/>
          <p:cNvSpPr txBox="1"/>
          <p:nvPr/>
        </p:nvSpPr>
        <p:spPr>
          <a:xfrm>
            <a:off x="7050024" y="1709928"/>
            <a:ext cx="1691640" cy="54864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Worker</a:t>
            </a:r>
            <a:endParaRPr lang="en-US" sz="1700" dirty="0"/>
          </a:p>
        </p:txBody>
      </p:sp>
      <p:sp>
        <p:nvSpPr>
          <p:cNvPr id="22" name="Text 16"/>
          <p:cNvSpPr txBox="1"/>
          <p:nvPr/>
        </p:nvSpPr>
        <p:spPr>
          <a:xfrm>
            <a:off x="6382512" y="2404872"/>
            <a:ext cx="2286000" cy="11887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Any external gear/service that claims tasks, heartbeats, reports progress and completes them. </a:t>
            </a:r>
            <a:br>
              <a:rPr lang="en-US" sz="1300" dirty="0">
                <a:solidFill>
                  <a:schemeClr val="tx1"/>
                </a:solidFill>
                <a:latin typeface="Calibri" pitchFamily="34" charset="0"/>
                <a:ea typeface="Calibri" pitchFamily="34" charset="-122"/>
                <a:cs typeface="Calibri" pitchFamily="34" charset="-120"/>
              </a:rPr>
            </a:br>
            <a:br>
              <a:rPr lang="en-US" sz="1300" dirty="0">
                <a:solidFill>
                  <a:schemeClr val="tx1"/>
                </a:solidFill>
                <a:latin typeface="Calibri" pitchFamily="34" charset="0"/>
                <a:ea typeface="Calibri" pitchFamily="34" charset="-122"/>
                <a:cs typeface="Calibri" pitchFamily="34" charset="-120"/>
              </a:rPr>
            </a:br>
            <a:r>
              <a:rPr lang="en-US" sz="1300" dirty="0">
                <a:solidFill>
                  <a:schemeClr val="tx1"/>
                </a:solidFill>
                <a:latin typeface="Calibri" pitchFamily="34" charset="0"/>
                <a:ea typeface="Calibri" pitchFamily="34" charset="-122"/>
                <a:cs typeface="Calibri" pitchFamily="34" charset="-120"/>
              </a:rPr>
              <a:t>NOTE: durable worker with Rust worker callba</a:t>
            </a:r>
            <a:r>
              <a:rPr lang="en-US" sz="1300" dirty="0">
                <a:latin typeface="Calibri" pitchFamily="34" charset="0"/>
                <a:ea typeface="Calibri" pitchFamily="34" charset="-122"/>
                <a:cs typeface="Calibri" pitchFamily="34" charset="-120"/>
              </a:rPr>
              <a:t>ck is a separate gear</a:t>
            </a:r>
            <a:r>
              <a:rPr lang="en-US" sz="1300" dirty="0">
                <a:solidFill>
                  <a:schemeClr val="tx1"/>
                </a:solidFill>
                <a:latin typeface="Calibri" pitchFamily="34" charset="0"/>
                <a:ea typeface="Calibri" pitchFamily="34" charset="-122"/>
                <a:cs typeface="Calibri" pitchFamily="34" charset="-120"/>
              </a:rPr>
              <a:t> </a:t>
            </a:r>
            <a:endParaRPr lang="en-US" sz="1300" dirty="0"/>
          </a:p>
        </p:txBody>
      </p:sp>
      <p:sp>
        <p:nvSpPr>
          <p:cNvPr id="23" name="Shape 17"/>
          <p:cNvSpPr/>
          <p:nvPr/>
        </p:nvSpPr>
        <p:spPr>
          <a:xfrm>
            <a:off x="9043416" y="1508760"/>
            <a:ext cx="2679192" cy="2212848"/>
          </a:xfrm>
          <a:prstGeom prst="roundRect">
            <a:avLst>
              <a:gd name="adj" fmla="val 2479"/>
            </a:avLst>
          </a:prstGeom>
          <a:solidFill>
            <a:schemeClr val="bg1"/>
          </a:solidFill>
          <a:ln/>
        </p:spPr>
        <p:txBody>
          <a:bodyPr/>
          <a:lstStyle/>
          <a:p>
            <a:endParaRPr lang="en-US"/>
          </a:p>
        </p:txBody>
      </p:sp>
      <p:sp>
        <p:nvSpPr>
          <p:cNvPr id="24" name="Shape 18"/>
          <p:cNvSpPr/>
          <p:nvPr/>
        </p:nvSpPr>
        <p:spPr>
          <a:xfrm>
            <a:off x="9043416" y="1508760"/>
            <a:ext cx="2679192" cy="2212848"/>
          </a:xfrm>
          <a:prstGeom prst="roundRect">
            <a:avLst>
              <a:gd name="adj" fmla="val 2479"/>
            </a:avLst>
          </a:prstGeom>
          <a:solidFill>
            <a:schemeClr val="accent1">
              <a:alpha val="10000"/>
            </a:schemeClr>
          </a:solidFill>
          <a:ln/>
        </p:spPr>
        <p:txBody>
          <a:bodyPr/>
          <a:lstStyle/>
          <a:p>
            <a:endParaRPr lang="en-US"/>
          </a:p>
        </p:txBody>
      </p:sp>
      <p:sp>
        <p:nvSpPr>
          <p:cNvPr id="25" name="Shape 19"/>
          <p:cNvSpPr/>
          <p:nvPr/>
        </p:nvSpPr>
        <p:spPr>
          <a:xfrm>
            <a:off x="9244584" y="1709928"/>
            <a:ext cx="548640" cy="548640"/>
          </a:xfrm>
          <a:prstGeom prst="ellipse">
            <a:avLst/>
          </a:prstGeom>
          <a:solidFill>
            <a:schemeClr val="accent1">
              <a:lumMod val="40000"/>
              <a:lumOff val="60000"/>
            </a:schemeClr>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9381744" y="1847088"/>
            <a:ext cx="274320" cy="274320"/>
          </a:xfrm>
          <a:prstGeom prst="rect">
            <a:avLst/>
          </a:prstGeom>
        </p:spPr>
      </p:pic>
      <p:sp>
        <p:nvSpPr>
          <p:cNvPr id="27" name="Text 20"/>
          <p:cNvSpPr txBox="1"/>
          <p:nvPr/>
        </p:nvSpPr>
        <p:spPr>
          <a:xfrm>
            <a:off x="9912096" y="1709928"/>
            <a:ext cx="1691640" cy="54864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Lease</a:t>
            </a:r>
            <a:endParaRPr lang="en-US" sz="1700" dirty="0"/>
          </a:p>
        </p:txBody>
      </p:sp>
      <p:sp>
        <p:nvSpPr>
          <p:cNvPr id="28" name="Text 21"/>
          <p:cNvSpPr txBox="1"/>
          <p:nvPr/>
        </p:nvSpPr>
        <p:spPr>
          <a:xfrm>
            <a:off x="9244584" y="2404872"/>
            <a:ext cx="2286000" cy="11887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Time-bounded ownership from a claim. lease_token fences task writes; lease_epoch only grows.</a:t>
            </a:r>
            <a:endParaRPr lang="en-US" sz="1300" dirty="0"/>
          </a:p>
        </p:txBody>
      </p:sp>
      <p:sp>
        <p:nvSpPr>
          <p:cNvPr id="29" name="Shape 22"/>
          <p:cNvSpPr/>
          <p:nvPr/>
        </p:nvSpPr>
        <p:spPr>
          <a:xfrm>
            <a:off x="457200" y="3886200"/>
            <a:ext cx="2679192" cy="2212848"/>
          </a:xfrm>
          <a:prstGeom prst="roundRect">
            <a:avLst>
              <a:gd name="adj" fmla="val 2479"/>
            </a:avLst>
          </a:prstGeom>
          <a:solidFill>
            <a:schemeClr val="bg1"/>
          </a:solidFill>
          <a:ln/>
        </p:spPr>
        <p:txBody>
          <a:bodyPr/>
          <a:lstStyle/>
          <a:p>
            <a:endParaRPr lang="en-US"/>
          </a:p>
        </p:txBody>
      </p:sp>
      <p:sp>
        <p:nvSpPr>
          <p:cNvPr id="30" name="Shape 23"/>
          <p:cNvSpPr/>
          <p:nvPr/>
        </p:nvSpPr>
        <p:spPr>
          <a:xfrm>
            <a:off x="457200" y="3886200"/>
            <a:ext cx="2679192" cy="2212848"/>
          </a:xfrm>
          <a:prstGeom prst="roundRect">
            <a:avLst>
              <a:gd name="adj" fmla="val 2479"/>
            </a:avLst>
          </a:prstGeom>
          <a:solidFill>
            <a:schemeClr val="accent1">
              <a:alpha val="10000"/>
            </a:schemeClr>
          </a:solidFill>
          <a:ln/>
        </p:spPr>
        <p:txBody>
          <a:bodyPr/>
          <a:lstStyle/>
          <a:p>
            <a:endParaRPr lang="en-US"/>
          </a:p>
        </p:txBody>
      </p:sp>
      <p:sp>
        <p:nvSpPr>
          <p:cNvPr id="31" name="Shape 24"/>
          <p:cNvSpPr/>
          <p:nvPr/>
        </p:nvSpPr>
        <p:spPr>
          <a:xfrm>
            <a:off x="658368" y="4087368"/>
            <a:ext cx="548640" cy="548640"/>
          </a:xfrm>
          <a:prstGeom prst="ellipse">
            <a:avLst/>
          </a:prstGeom>
          <a:solidFill>
            <a:schemeClr val="accent1">
              <a:lumMod val="40000"/>
              <a:lumOff val="60000"/>
            </a:schemeClr>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795528" y="4224528"/>
            <a:ext cx="274320" cy="274320"/>
          </a:xfrm>
          <a:prstGeom prst="rect">
            <a:avLst/>
          </a:prstGeom>
        </p:spPr>
      </p:pic>
      <p:sp>
        <p:nvSpPr>
          <p:cNvPr id="33" name="Text 25"/>
          <p:cNvSpPr txBox="1"/>
          <p:nvPr/>
        </p:nvSpPr>
        <p:spPr>
          <a:xfrm>
            <a:off x="1325880" y="4087368"/>
            <a:ext cx="1691640" cy="54864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Wait condition</a:t>
            </a:r>
            <a:endParaRPr lang="en-US" sz="1700" dirty="0"/>
          </a:p>
        </p:txBody>
      </p:sp>
      <p:sp>
        <p:nvSpPr>
          <p:cNvPr id="34" name="Text 26"/>
          <p:cNvSpPr txBox="1"/>
          <p:nvPr/>
        </p:nvSpPr>
        <p:spPr>
          <a:xfrm>
            <a:off x="658368" y="4782312"/>
            <a:ext cx="2286000" cy="11887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Durable pause on a timer, event or input. The task is parked: no worker, no slot.</a:t>
            </a:r>
            <a:endParaRPr lang="en-US" sz="1300" dirty="0"/>
          </a:p>
        </p:txBody>
      </p:sp>
      <p:sp>
        <p:nvSpPr>
          <p:cNvPr id="35" name="Shape 27"/>
          <p:cNvSpPr/>
          <p:nvPr/>
        </p:nvSpPr>
        <p:spPr>
          <a:xfrm>
            <a:off x="3319272" y="3886200"/>
            <a:ext cx="2679192" cy="2212848"/>
          </a:xfrm>
          <a:prstGeom prst="roundRect">
            <a:avLst>
              <a:gd name="adj" fmla="val 2479"/>
            </a:avLst>
          </a:prstGeom>
          <a:solidFill>
            <a:schemeClr val="bg1"/>
          </a:solidFill>
          <a:ln/>
        </p:spPr>
        <p:txBody>
          <a:bodyPr/>
          <a:lstStyle/>
          <a:p>
            <a:endParaRPr lang="en-US"/>
          </a:p>
        </p:txBody>
      </p:sp>
      <p:sp>
        <p:nvSpPr>
          <p:cNvPr id="36" name="Shape 28"/>
          <p:cNvSpPr/>
          <p:nvPr/>
        </p:nvSpPr>
        <p:spPr>
          <a:xfrm>
            <a:off x="3319272" y="3886200"/>
            <a:ext cx="2679192" cy="2212848"/>
          </a:xfrm>
          <a:prstGeom prst="roundRect">
            <a:avLst>
              <a:gd name="adj" fmla="val 2479"/>
            </a:avLst>
          </a:prstGeom>
          <a:solidFill>
            <a:schemeClr val="accent1">
              <a:alpha val="10000"/>
            </a:schemeClr>
          </a:solidFill>
          <a:ln/>
        </p:spPr>
        <p:txBody>
          <a:bodyPr/>
          <a:lstStyle/>
          <a:p>
            <a:endParaRPr lang="en-US"/>
          </a:p>
        </p:txBody>
      </p:sp>
      <p:sp>
        <p:nvSpPr>
          <p:cNvPr id="37" name="Shape 29"/>
          <p:cNvSpPr/>
          <p:nvPr/>
        </p:nvSpPr>
        <p:spPr>
          <a:xfrm>
            <a:off x="3520440" y="4087368"/>
            <a:ext cx="548640" cy="548640"/>
          </a:xfrm>
          <a:prstGeom prst="ellipse">
            <a:avLst/>
          </a:prstGeom>
          <a:solidFill>
            <a:schemeClr val="accent1">
              <a:lumMod val="40000"/>
              <a:lumOff val="60000"/>
            </a:schemeClr>
          </a:solidFill>
          <a:ln/>
        </p:spPr>
        <p:txBody>
          <a:bodyPr/>
          <a:lstStyle/>
          <a:p>
            <a:endParaRPr lang="en-US"/>
          </a:p>
        </p:txBody>
      </p:sp>
      <p:pic>
        <p:nvPicPr>
          <p:cNvPr id="38" name="Image 5" descr="preencoded.png"/>
          <p:cNvPicPr>
            <a:picLocks noChangeAspect="1"/>
          </p:cNvPicPr>
          <p:nvPr/>
        </p:nvPicPr>
        <p:blipFill>
          <a:blip r:embed="rId8"/>
          <a:stretch>
            <a:fillRect/>
          </a:stretch>
        </p:blipFill>
        <p:spPr>
          <a:xfrm>
            <a:off x="3657600" y="4224528"/>
            <a:ext cx="274320" cy="274320"/>
          </a:xfrm>
          <a:prstGeom prst="rect">
            <a:avLst/>
          </a:prstGeom>
        </p:spPr>
      </p:pic>
      <p:sp>
        <p:nvSpPr>
          <p:cNvPr id="39" name="Text 30"/>
          <p:cNvSpPr txBox="1"/>
          <p:nvPr/>
        </p:nvSpPr>
        <p:spPr>
          <a:xfrm>
            <a:off x="4187952" y="4087368"/>
            <a:ext cx="1691640" cy="54864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Task entry</a:t>
            </a:r>
            <a:endParaRPr lang="en-US" sz="1700" dirty="0"/>
          </a:p>
        </p:txBody>
      </p:sp>
      <p:sp>
        <p:nvSpPr>
          <p:cNvPr id="40" name="Text 31"/>
          <p:cNvSpPr txBox="1"/>
          <p:nvPr/>
        </p:nvSpPr>
        <p:spPr>
          <a:xfrm>
            <a:off x="3520440" y="4782312"/>
            <a:ext cx="2286000" cy="11887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Immutable, GTS-typed record </a:t>
            </a:r>
            <a:r>
              <a:rPr lang="en-US" sz="1300" dirty="0">
                <a:latin typeface="Calibri" pitchFamily="34" charset="0"/>
                <a:ea typeface="Calibri" pitchFamily="34" charset="-122"/>
                <a:cs typeface="Calibri" pitchFamily="34" charset="-120"/>
              </a:rPr>
              <a:t>within a task</a:t>
            </a:r>
            <a:r>
              <a:rPr lang="en-US" sz="1300" dirty="0">
                <a:solidFill>
                  <a:schemeClr val="tx1"/>
                </a:solidFill>
                <a:latin typeface="Calibri" pitchFamily="34" charset="0"/>
                <a:ea typeface="Calibri" pitchFamily="34" charset="-122"/>
                <a:cs typeface="Calibri" pitchFamily="34" charset="-120"/>
              </a:rPr>
              <a:t>: work, observation, issue, note or measurement.</a:t>
            </a:r>
            <a:endParaRPr lang="en-US" sz="1300" dirty="0"/>
          </a:p>
        </p:txBody>
      </p:sp>
      <p:sp>
        <p:nvSpPr>
          <p:cNvPr id="41" name="Shape 32"/>
          <p:cNvSpPr/>
          <p:nvPr/>
        </p:nvSpPr>
        <p:spPr>
          <a:xfrm>
            <a:off x="6181344" y="3886200"/>
            <a:ext cx="2679192" cy="2212848"/>
          </a:xfrm>
          <a:prstGeom prst="roundRect">
            <a:avLst>
              <a:gd name="adj" fmla="val 2479"/>
            </a:avLst>
          </a:prstGeom>
          <a:solidFill>
            <a:schemeClr val="bg1"/>
          </a:solidFill>
          <a:ln/>
        </p:spPr>
        <p:txBody>
          <a:bodyPr/>
          <a:lstStyle/>
          <a:p>
            <a:endParaRPr lang="en-US"/>
          </a:p>
        </p:txBody>
      </p:sp>
      <p:sp>
        <p:nvSpPr>
          <p:cNvPr id="42" name="Shape 33"/>
          <p:cNvSpPr/>
          <p:nvPr/>
        </p:nvSpPr>
        <p:spPr>
          <a:xfrm>
            <a:off x="6181344" y="3886200"/>
            <a:ext cx="2679192" cy="2212848"/>
          </a:xfrm>
          <a:prstGeom prst="roundRect">
            <a:avLst>
              <a:gd name="adj" fmla="val 2479"/>
            </a:avLst>
          </a:prstGeom>
          <a:solidFill>
            <a:schemeClr val="accent1">
              <a:alpha val="10000"/>
            </a:schemeClr>
          </a:solidFill>
          <a:ln/>
        </p:spPr>
        <p:txBody>
          <a:bodyPr/>
          <a:lstStyle/>
          <a:p>
            <a:endParaRPr lang="en-US"/>
          </a:p>
        </p:txBody>
      </p:sp>
      <p:sp>
        <p:nvSpPr>
          <p:cNvPr id="43" name="Shape 34"/>
          <p:cNvSpPr/>
          <p:nvPr/>
        </p:nvSpPr>
        <p:spPr>
          <a:xfrm>
            <a:off x="6382512" y="4087368"/>
            <a:ext cx="548640" cy="548640"/>
          </a:xfrm>
          <a:prstGeom prst="ellipse">
            <a:avLst/>
          </a:prstGeom>
          <a:solidFill>
            <a:schemeClr val="accent1">
              <a:lumMod val="40000"/>
              <a:lumOff val="60000"/>
            </a:schemeClr>
          </a:solidFill>
          <a:ln/>
        </p:spPr>
        <p:txBody>
          <a:bodyPr/>
          <a:lstStyle/>
          <a:p>
            <a:endParaRPr lang="en-US"/>
          </a:p>
        </p:txBody>
      </p:sp>
      <p:pic>
        <p:nvPicPr>
          <p:cNvPr id="44" name="Image 6" descr="preencoded.png"/>
          <p:cNvPicPr>
            <a:picLocks noChangeAspect="1"/>
          </p:cNvPicPr>
          <p:nvPr/>
        </p:nvPicPr>
        <p:blipFill>
          <a:blip r:embed="rId9"/>
          <a:stretch>
            <a:fillRect/>
          </a:stretch>
        </p:blipFill>
        <p:spPr>
          <a:xfrm>
            <a:off x="6519672" y="4224528"/>
            <a:ext cx="274320" cy="274320"/>
          </a:xfrm>
          <a:prstGeom prst="rect">
            <a:avLst/>
          </a:prstGeom>
        </p:spPr>
      </p:pic>
      <p:sp>
        <p:nvSpPr>
          <p:cNvPr id="45" name="Text 35"/>
          <p:cNvSpPr txBox="1"/>
          <p:nvPr/>
        </p:nvSpPr>
        <p:spPr>
          <a:xfrm>
            <a:off x="7050024" y="4087368"/>
            <a:ext cx="1691640" cy="54864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Idempotency</a:t>
            </a:r>
            <a:endParaRPr lang="en-US" sz="1700" dirty="0"/>
          </a:p>
        </p:txBody>
      </p:sp>
      <p:sp>
        <p:nvSpPr>
          <p:cNvPr id="46" name="Text 36"/>
          <p:cNvSpPr txBox="1"/>
          <p:nvPr/>
        </p:nvSpPr>
        <p:spPr>
          <a:xfrm>
            <a:off x="6382512" y="4782312"/>
            <a:ext cx="2286000" cy="11887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Caller Idempotency-Key (P1) or an identity derived from input fields (P2).</a:t>
            </a:r>
            <a:endParaRPr lang="en-US" sz="1300" dirty="0"/>
          </a:p>
        </p:txBody>
      </p:sp>
      <p:sp>
        <p:nvSpPr>
          <p:cNvPr id="47" name="Shape 37"/>
          <p:cNvSpPr/>
          <p:nvPr/>
        </p:nvSpPr>
        <p:spPr>
          <a:xfrm>
            <a:off x="9043416" y="3886200"/>
            <a:ext cx="2679192" cy="2212848"/>
          </a:xfrm>
          <a:prstGeom prst="roundRect">
            <a:avLst>
              <a:gd name="adj" fmla="val 2479"/>
            </a:avLst>
          </a:prstGeom>
          <a:solidFill>
            <a:schemeClr val="bg1"/>
          </a:solidFill>
          <a:ln/>
        </p:spPr>
        <p:txBody>
          <a:bodyPr/>
          <a:lstStyle/>
          <a:p>
            <a:endParaRPr lang="en-US"/>
          </a:p>
        </p:txBody>
      </p:sp>
      <p:sp>
        <p:nvSpPr>
          <p:cNvPr id="48" name="Shape 38"/>
          <p:cNvSpPr/>
          <p:nvPr/>
        </p:nvSpPr>
        <p:spPr>
          <a:xfrm>
            <a:off x="9043416" y="3886200"/>
            <a:ext cx="2679192" cy="2212848"/>
          </a:xfrm>
          <a:prstGeom prst="roundRect">
            <a:avLst>
              <a:gd name="adj" fmla="val 2479"/>
            </a:avLst>
          </a:prstGeom>
          <a:solidFill>
            <a:schemeClr val="accent1">
              <a:alpha val="10000"/>
            </a:schemeClr>
          </a:solidFill>
          <a:ln/>
        </p:spPr>
        <p:txBody>
          <a:bodyPr/>
          <a:lstStyle/>
          <a:p>
            <a:endParaRPr lang="en-US"/>
          </a:p>
        </p:txBody>
      </p:sp>
      <p:sp>
        <p:nvSpPr>
          <p:cNvPr id="49" name="Shape 39"/>
          <p:cNvSpPr/>
          <p:nvPr/>
        </p:nvSpPr>
        <p:spPr>
          <a:xfrm>
            <a:off x="9244584" y="4087368"/>
            <a:ext cx="548640" cy="548640"/>
          </a:xfrm>
          <a:prstGeom prst="ellipse">
            <a:avLst/>
          </a:prstGeom>
          <a:solidFill>
            <a:schemeClr val="accent1">
              <a:lumMod val="40000"/>
              <a:lumOff val="60000"/>
            </a:schemeClr>
          </a:solidFill>
          <a:ln/>
        </p:spPr>
        <p:txBody>
          <a:bodyPr/>
          <a:lstStyle/>
          <a:p>
            <a:endParaRPr lang="en-US"/>
          </a:p>
        </p:txBody>
      </p:sp>
      <p:pic>
        <p:nvPicPr>
          <p:cNvPr id="50" name="Image 7" descr="preencoded.png"/>
          <p:cNvPicPr>
            <a:picLocks noChangeAspect="1"/>
          </p:cNvPicPr>
          <p:nvPr/>
        </p:nvPicPr>
        <p:blipFill>
          <a:blip r:embed="rId10"/>
          <a:stretch>
            <a:fillRect/>
          </a:stretch>
        </p:blipFill>
        <p:spPr>
          <a:xfrm>
            <a:off x="9381744" y="4224528"/>
            <a:ext cx="274320" cy="274320"/>
          </a:xfrm>
          <a:prstGeom prst="rect">
            <a:avLst/>
          </a:prstGeom>
        </p:spPr>
      </p:pic>
      <p:sp>
        <p:nvSpPr>
          <p:cNvPr id="51" name="Text 40"/>
          <p:cNvSpPr txBox="1"/>
          <p:nvPr/>
        </p:nvSpPr>
        <p:spPr>
          <a:xfrm>
            <a:off x="9912096" y="4087368"/>
            <a:ext cx="1691640" cy="548640"/>
          </a:xfrm>
          <a:prstGeom prst="rect">
            <a:avLst/>
          </a:prstGeom>
          <a:noFill/>
          <a:ln/>
        </p:spPr>
        <p:txBody>
          <a:bodyPr wrap="square" lIns="0" tIns="0" rIns="0" bIns="0" rtlCol="0" anchor="ctr"/>
          <a:lstStyle/>
          <a:p>
            <a:pPr marL="0" indent="0">
              <a:buNone/>
            </a:pPr>
            <a:r>
              <a:rPr lang="en-US" sz="1700" b="1" dirty="0">
                <a:solidFill>
                  <a:schemeClr val="tx1"/>
                </a:solidFill>
                <a:latin typeface="Calibri" pitchFamily="34" charset="0"/>
                <a:ea typeface="Calibri" pitchFamily="34" charset="-122"/>
                <a:cs typeface="Calibri" pitchFamily="34" charset="-120"/>
              </a:rPr>
              <a:t>Task storage</a:t>
            </a:r>
            <a:endParaRPr lang="en-US" sz="1700" dirty="0"/>
          </a:p>
        </p:txBody>
      </p:sp>
      <p:sp>
        <p:nvSpPr>
          <p:cNvPr id="52" name="Text 41"/>
          <p:cNvSpPr txBox="1"/>
          <p:nvPr/>
        </p:nvSpPr>
        <p:spPr>
          <a:xfrm>
            <a:off x="9244584" y="4782312"/>
            <a:ext cx="2286000" cy="1188720"/>
          </a:xfrm>
          <a:prstGeom prst="rect">
            <a:avLst/>
          </a:prstGeom>
          <a:noFill/>
          <a:ln/>
        </p:spPr>
        <p:txBody>
          <a:bodyPr wrap="square" lIns="0" tIns="0" rIns="0" bIns="0" rtlCol="0" anchor="t"/>
          <a:lstStyle/>
          <a:p>
            <a:pPr marL="0" indent="0">
              <a:buNone/>
            </a:pPr>
            <a:r>
              <a:rPr lang="en-US" sz="1300" dirty="0">
                <a:latin typeface="Calibri" pitchFamily="34" charset="0"/>
                <a:ea typeface="Calibri" pitchFamily="34" charset="-122"/>
                <a:cs typeface="Calibri" pitchFamily="34" charset="-120"/>
              </a:rPr>
              <a:t>P1 – store everything in a database</a:t>
            </a:r>
          </a:p>
          <a:p>
            <a:pPr marL="0" indent="0">
              <a:buNone/>
            </a:pPr>
            <a:endParaRPr lang="en-US" sz="1300" dirty="0">
              <a:latin typeface="Calibri" pitchFamily="34" charset="0"/>
              <a:ea typeface="Calibri" pitchFamily="34" charset="-122"/>
              <a:cs typeface="Calibri" pitchFamily="34" charset="-120"/>
            </a:endParaRPr>
          </a:p>
          <a:p>
            <a:pPr marL="0" indent="0">
              <a:buNone/>
            </a:pPr>
            <a:r>
              <a:rPr lang="en-US" sz="1300" dirty="0">
                <a:latin typeface="Calibri" pitchFamily="34" charset="0"/>
                <a:ea typeface="Calibri" pitchFamily="34" charset="-122"/>
                <a:cs typeface="Calibri" pitchFamily="34" charset="-120"/>
              </a:rPr>
              <a:t>FUTURE</a:t>
            </a:r>
            <a:r>
              <a:rPr lang="en-US" sz="1300" dirty="0">
                <a:solidFill>
                  <a:schemeClr val="tx1"/>
                </a:solidFill>
                <a:latin typeface="Calibri" pitchFamily="34" charset="0"/>
                <a:ea typeface="Calibri" pitchFamily="34" charset="-122"/>
                <a:cs typeface="Calibri" pitchFamily="34" charset="-120"/>
              </a:rPr>
              <a:t>: separate per task types storages in both SQL and NoSQL (Elasticsearch, </a:t>
            </a:r>
            <a:r>
              <a:rPr lang="en-US" sz="1300" dirty="0" err="1">
                <a:solidFill>
                  <a:schemeClr val="tx1"/>
                </a:solidFill>
                <a:latin typeface="Calibri" pitchFamily="34" charset="0"/>
                <a:ea typeface="Calibri" pitchFamily="34" charset="-122"/>
                <a:cs typeface="Calibri" pitchFamily="34" charset="-120"/>
              </a:rPr>
              <a:t>ClickHouse</a:t>
            </a:r>
            <a:r>
              <a:rPr lang="en-US" sz="1300" dirty="0">
                <a:solidFill>
                  <a:schemeClr val="tx1"/>
                </a:solidFill>
                <a:latin typeface="Calibri" pitchFamily="34" charset="0"/>
                <a:ea typeface="Calibri" pitchFamily="34" charset="-122"/>
                <a:cs typeface="Calibri" pitchFamily="34" charset="-120"/>
              </a:rPr>
              <a:t>).</a:t>
            </a:r>
            <a:endParaRPr lang="en-US" sz="13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
        <p:nvSpPr>
          <p:cNvPr id="53" name="Rectangle 52">
            <a:extLst>
              <a:ext uri="{FF2B5EF4-FFF2-40B4-BE49-F238E27FC236}">
                <a16:creationId xmlns:a16="http://schemas.microsoft.com/office/drawing/2014/main" id="{A6BAB2B3-AE44-A376-6853-9DB54BADC4A7}"/>
              </a:ext>
            </a:extLst>
          </p:cNvPr>
          <p:cNvSpPr/>
          <p:nvPr/>
        </p:nvSpPr>
        <p:spPr>
          <a:xfrm>
            <a:off x="10372344" y="22860"/>
            <a:ext cx="1819656" cy="384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checkpoint?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What ships when: P1 core, then P2 and P3</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P1 is a complete, production-grade task engine; P2 and P3 add relationships, finer control and scale-out</a:t>
            </a:r>
            <a:endParaRPr lang="en-US" sz="1600" dirty="0"/>
          </a:p>
        </p:txBody>
      </p:sp>
      <p:sp>
        <p:nvSpPr>
          <p:cNvPr id="5" name="Shape 2"/>
          <p:cNvSpPr/>
          <p:nvPr/>
        </p:nvSpPr>
        <p:spPr>
          <a:xfrm>
            <a:off x="457200" y="1463040"/>
            <a:ext cx="5760720" cy="4754880"/>
          </a:xfrm>
          <a:prstGeom prst="roundRect">
            <a:avLst>
              <a:gd name="adj" fmla="val 1154"/>
            </a:avLst>
          </a:prstGeom>
          <a:solidFill>
            <a:schemeClr val="bg1"/>
          </a:solidFill>
          <a:ln/>
        </p:spPr>
        <p:txBody>
          <a:bodyPr/>
          <a:lstStyle/>
          <a:p>
            <a:endParaRPr lang="en-US"/>
          </a:p>
        </p:txBody>
      </p:sp>
      <p:sp>
        <p:nvSpPr>
          <p:cNvPr id="6" name="Shape 3"/>
          <p:cNvSpPr/>
          <p:nvPr/>
        </p:nvSpPr>
        <p:spPr>
          <a:xfrm>
            <a:off x="457200" y="1463040"/>
            <a:ext cx="5760720" cy="4754880"/>
          </a:xfrm>
          <a:prstGeom prst="roundRect">
            <a:avLst>
              <a:gd name="adj" fmla="val 1154"/>
            </a:avLst>
          </a:prstGeom>
          <a:solidFill>
            <a:schemeClr val="tx1">
              <a:alpha val="5000"/>
            </a:schemeClr>
          </a:solidFill>
          <a:ln/>
        </p:spPr>
        <p:txBody>
          <a:bodyPr/>
          <a:lstStyle/>
          <a:p>
            <a:endParaRPr lang="en-US"/>
          </a:p>
        </p:txBody>
      </p:sp>
      <p:sp>
        <p:nvSpPr>
          <p:cNvPr id="7" name="Shape 4"/>
          <p:cNvSpPr/>
          <p:nvPr/>
        </p:nvSpPr>
        <p:spPr>
          <a:xfrm>
            <a:off x="640080" y="1600200"/>
            <a:ext cx="384048" cy="219456"/>
          </a:xfrm>
          <a:prstGeom prst="roundRect">
            <a:avLst>
              <a:gd name="adj" fmla="val 50000"/>
            </a:avLst>
          </a:prstGeom>
          <a:solidFill>
            <a:schemeClr val="tx1"/>
          </a:solidFill>
          <a:ln w="9525">
            <a:solidFill>
              <a:schemeClr val="tx1"/>
            </a:solidFill>
            <a:prstDash val="solid"/>
          </a:ln>
        </p:spPr>
        <p:txBody>
          <a:bodyPr/>
          <a:lstStyle/>
          <a:p>
            <a:endParaRPr lang="en-US"/>
          </a:p>
        </p:txBody>
      </p:sp>
      <p:sp>
        <p:nvSpPr>
          <p:cNvPr id="8" name="Text 5"/>
          <p:cNvSpPr txBox="1"/>
          <p:nvPr/>
        </p:nvSpPr>
        <p:spPr>
          <a:xfrm>
            <a:off x="640080" y="1600200"/>
            <a:ext cx="384048" cy="21945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P1</a:t>
            </a:r>
            <a:endParaRPr lang="en-US" sz="1000" dirty="0"/>
          </a:p>
        </p:txBody>
      </p:sp>
      <p:sp>
        <p:nvSpPr>
          <p:cNvPr id="9" name="Text 6"/>
          <p:cNvSpPr txBox="1"/>
          <p:nvPr/>
        </p:nvSpPr>
        <p:spPr>
          <a:xfrm>
            <a:off x="1143000" y="1572768"/>
            <a:ext cx="4114800" cy="27432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Core — first release</a:t>
            </a:r>
            <a:endParaRPr lang="en-US" sz="1500" dirty="0"/>
          </a:p>
        </p:txBody>
      </p:sp>
      <p:sp>
        <p:nvSpPr>
          <p:cNvPr id="10" name="Shape 7"/>
          <p:cNvSpPr/>
          <p:nvPr/>
        </p:nvSpPr>
        <p:spPr>
          <a:xfrm>
            <a:off x="640080" y="2011680"/>
            <a:ext cx="2606040" cy="1938528"/>
          </a:xfrm>
          <a:prstGeom prst="roundRect">
            <a:avLst>
              <a:gd name="adj" fmla="val 2830"/>
            </a:avLst>
          </a:prstGeom>
          <a:solidFill>
            <a:schemeClr val="bg1"/>
          </a:solidFill>
          <a:ln/>
        </p:spPr>
        <p:txBody>
          <a:bodyPr/>
          <a:lstStyle/>
          <a:p>
            <a:endParaRPr lang="en-US"/>
          </a:p>
        </p:txBody>
      </p:sp>
      <p:sp>
        <p:nvSpPr>
          <p:cNvPr id="11" name="Shape 8"/>
          <p:cNvSpPr/>
          <p:nvPr/>
        </p:nvSpPr>
        <p:spPr>
          <a:xfrm>
            <a:off x="640080" y="2011680"/>
            <a:ext cx="2606040" cy="1938528"/>
          </a:xfrm>
          <a:prstGeom prst="roundRect">
            <a:avLst>
              <a:gd name="adj" fmla="val 2830"/>
            </a:avLst>
          </a:prstGeom>
          <a:solidFill>
            <a:schemeClr val="bg1"/>
          </a:solidFill>
          <a:ln/>
        </p:spPr>
        <p:txBody>
          <a:bodyPr/>
          <a:lstStyle/>
          <a:p>
            <a:endParaRPr lang="en-US"/>
          </a:p>
        </p:txBody>
      </p:sp>
      <p:sp>
        <p:nvSpPr>
          <p:cNvPr id="12" name="Shape 9"/>
          <p:cNvSpPr/>
          <p:nvPr/>
        </p:nvSpPr>
        <p:spPr>
          <a:xfrm>
            <a:off x="777240" y="2148840"/>
            <a:ext cx="420624" cy="420624"/>
          </a:xfrm>
          <a:prstGeom prst="ellipse">
            <a:avLst/>
          </a:prstGeom>
          <a:solidFill>
            <a:schemeClr val="accent1">
              <a:lumMod val="40000"/>
              <a:lumOff val="60000"/>
            </a:schemeClr>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882396" y="2253996"/>
            <a:ext cx="210312" cy="210312"/>
          </a:xfrm>
          <a:prstGeom prst="rect">
            <a:avLst/>
          </a:prstGeom>
        </p:spPr>
      </p:pic>
      <p:sp>
        <p:nvSpPr>
          <p:cNvPr id="14" name="Text 10"/>
          <p:cNvSpPr txBox="1"/>
          <p:nvPr/>
        </p:nvSpPr>
        <p:spPr>
          <a:xfrm>
            <a:off x="1298448" y="2148840"/>
            <a:ext cx="1828800" cy="42062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Lifecycle</a:t>
            </a:r>
            <a:endParaRPr lang="en-US" sz="1400" dirty="0"/>
          </a:p>
        </p:txBody>
      </p:sp>
      <p:sp>
        <p:nvSpPr>
          <p:cNvPr id="15" name="Text 11"/>
          <p:cNvSpPr txBox="1"/>
          <p:nvPr/>
        </p:nvSpPr>
        <p:spPr>
          <a:xfrm>
            <a:off x="777240" y="2670048"/>
            <a:ext cx="2377440" cy="120700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create · structured I/O · Idempotency-Key · cancel (requested / graceful / forced) · delayed run_after</a:t>
            </a:r>
            <a:endParaRPr lang="en-US" sz="1300" dirty="0"/>
          </a:p>
        </p:txBody>
      </p:sp>
      <p:sp>
        <p:nvSpPr>
          <p:cNvPr id="16" name="Shape 12"/>
          <p:cNvSpPr/>
          <p:nvPr/>
        </p:nvSpPr>
        <p:spPr>
          <a:xfrm>
            <a:off x="3383280" y="2011680"/>
            <a:ext cx="2606040" cy="1938528"/>
          </a:xfrm>
          <a:prstGeom prst="roundRect">
            <a:avLst>
              <a:gd name="adj" fmla="val 2830"/>
            </a:avLst>
          </a:prstGeom>
          <a:solidFill>
            <a:schemeClr val="bg1"/>
          </a:solidFill>
          <a:ln/>
        </p:spPr>
        <p:txBody>
          <a:bodyPr/>
          <a:lstStyle/>
          <a:p>
            <a:endParaRPr lang="en-US"/>
          </a:p>
        </p:txBody>
      </p:sp>
      <p:sp>
        <p:nvSpPr>
          <p:cNvPr id="17" name="Shape 13"/>
          <p:cNvSpPr/>
          <p:nvPr/>
        </p:nvSpPr>
        <p:spPr>
          <a:xfrm>
            <a:off x="3383280" y="2011680"/>
            <a:ext cx="2606040" cy="1938528"/>
          </a:xfrm>
          <a:prstGeom prst="roundRect">
            <a:avLst>
              <a:gd name="adj" fmla="val 2830"/>
            </a:avLst>
          </a:prstGeom>
          <a:solidFill>
            <a:schemeClr val="bg1"/>
          </a:solidFill>
          <a:ln/>
        </p:spPr>
        <p:txBody>
          <a:bodyPr/>
          <a:lstStyle/>
          <a:p>
            <a:endParaRPr lang="en-US"/>
          </a:p>
        </p:txBody>
      </p:sp>
      <p:sp>
        <p:nvSpPr>
          <p:cNvPr id="18" name="Shape 14"/>
          <p:cNvSpPr/>
          <p:nvPr/>
        </p:nvSpPr>
        <p:spPr>
          <a:xfrm>
            <a:off x="3520440" y="2148840"/>
            <a:ext cx="420624" cy="420624"/>
          </a:xfrm>
          <a:prstGeom prst="ellipse">
            <a:avLst/>
          </a:prstGeom>
          <a:solidFill>
            <a:schemeClr val="accent1">
              <a:lumMod val="40000"/>
              <a:lumOff val="60000"/>
            </a:schemeClr>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3625596" y="2253996"/>
            <a:ext cx="210312" cy="210312"/>
          </a:xfrm>
          <a:prstGeom prst="rect">
            <a:avLst/>
          </a:prstGeom>
        </p:spPr>
      </p:pic>
      <p:sp>
        <p:nvSpPr>
          <p:cNvPr id="20" name="Text 15"/>
          <p:cNvSpPr txBox="1"/>
          <p:nvPr/>
        </p:nvSpPr>
        <p:spPr>
          <a:xfrm>
            <a:off x="4041648" y="2148840"/>
            <a:ext cx="1828800" cy="42062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Dispatch</a:t>
            </a:r>
            <a:endParaRPr lang="en-US" sz="1400" dirty="0"/>
          </a:p>
        </p:txBody>
      </p:sp>
      <p:sp>
        <p:nvSpPr>
          <p:cNvPr id="21" name="Text 16"/>
          <p:cNvSpPr txBox="1"/>
          <p:nvPr/>
        </p:nvSpPr>
        <p:spPr>
          <a:xfrm>
            <a:off x="3520440" y="2670048"/>
            <a:ext cx="2377440" cy="120700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priority queues · queue concurrency &amp; depth limits · atomic claim + lease + heartbeat · lease fencing</a:t>
            </a:r>
            <a:endParaRPr lang="en-US" sz="1300" dirty="0"/>
          </a:p>
        </p:txBody>
      </p:sp>
      <p:sp>
        <p:nvSpPr>
          <p:cNvPr id="22" name="Shape 17"/>
          <p:cNvSpPr/>
          <p:nvPr/>
        </p:nvSpPr>
        <p:spPr>
          <a:xfrm>
            <a:off x="640080" y="4096512"/>
            <a:ext cx="2606040" cy="1938528"/>
          </a:xfrm>
          <a:prstGeom prst="roundRect">
            <a:avLst>
              <a:gd name="adj" fmla="val 2830"/>
            </a:avLst>
          </a:prstGeom>
          <a:solidFill>
            <a:schemeClr val="bg1"/>
          </a:solidFill>
          <a:ln/>
        </p:spPr>
        <p:txBody>
          <a:bodyPr/>
          <a:lstStyle/>
          <a:p>
            <a:endParaRPr lang="en-US"/>
          </a:p>
        </p:txBody>
      </p:sp>
      <p:sp>
        <p:nvSpPr>
          <p:cNvPr id="23" name="Shape 18"/>
          <p:cNvSpPr/>
          <p:nvPr/>
        </p:nvSpPr>
        <p:spPr>
          <a:xfrm>
            <a:off x="640080" y="4096512"/>
            <a:ext cx="2606040" cy="1938528"/>
          </a:xfrm>
          <a:prstGeom prst="roundRect">
            <a:avLst>
              <a:gd name="adj" fmla="val 2830"/>
            </a:avLst>
          </a:prstGeom>
          <a:solidFill>
            <a:schemeClr val="bg1"/>
          </a:solidFill>
          <a:ln/>
        </p:spPr>
        <p:txBody>
          <a:bodyPr/>
          <a:lstStyle/>
          <a:p>
            <a:endParaRPr lang="en-US"/>
          </a:p>
        </p:txBody>
      </p:sp>
      <p:sp>
        <p:nvSpPr>
          <p:cNvPr id="24" name="Shape 19"/>
          <p:cNvSpPr/>
          <p:nvPr/>
        </p:nvSpPr>
        <p:spPr>
          <a:xfrm>
            <a:off x="777240" y="4233672"/>
            <a:ext cx="420624" cy="420624"/>
          </a:xfrm>
          <a:prstGeom prst="ellipse">
            <a:avLst/>
          </a:prstGeom>
          <a:solidFill>
            <a:schemeClr val="accent1">
              <a:lumMod val="40000"/>
              <a:lumOff val="60000"/>
            </a:schemeClr>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882396" y="4338828"/>
            <a:ext cx="210312" cy="210312"/>
          </a:xfrm>
          <a:prstGeom prst="rect">
            <a:avLst/>
          </a:prstGeom>
        </p:spPr>
      </p:pic>
      <p:sp>
        <p:nvSpPr>
          <p:cNvPr id="26" name="Text 20"/>
          <p:cNvSpPr txBox="1"/>
          <p:nvPr/>
        </p:nvSpPr>
        <p:spPr>
          <a:xfrm>
            <a:off x="1298448" y="4233672"/>
            <a:ext cx="1828800" cy="42062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Reliability</a:t>
            </a:r>
            <a:endParaRPr lang="en-US" sz="1400" dirty="0"/>
          </a:p>
        </p:txBody>
      </p:sp>
      <p:sp>
        <p:nvSpPr>
          <p:cNvPr id="27" name="Text 21"/>
          <p:cNvSpPr txBox="1"/>
          <p:nvPr/>
        </p:nvSpPr>
        <p:spPr>
          <a:xfrm>
            <a:off x="777240" y="4754880"/>
            <a:ext cx="2377440" cy="120700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6 timeout types · retry + backoff · timer wait condition · progress · task entries</a:t>
            </a:r>
            <a:endParaRPr lang="en-US" sz="1300" dirty="0"/>
          </a:p>
        </p:txBody>
      </p:sp>
      <p:sp>
        <p:nvSpPr>
          <p:cNvPr id="28" name="Shape 22"/>
          <p:cNvSpPr/>
          <p:nvPr/>
        </p:nvSpPr>
        <p:spPr>
          <a:xfrm>
            <a:off x="3383280" y="4096512"/>
            <a:ext cx="2606040" cy="1938528"/>
          </a:xfrm>
          <a:prstGeom prst="roundRect">
            <a:avLst>
              <a:gd name="adj" fmla="val 2830"/>
            </a:avLst>
          </a:prstGeom>
          <a:solidFill>
            <a:schemeClr val="bg1"/>
          </a:solidFill>
          <a:ln/>
        </p:spPr>
        <p:txBody>
          <a:bodyPr/>
          <a:lstStyle/>
          <a:p>
            <a:endParaRPr lang="en-US"/>
          </a:p>
        </p:txBody>
      </p:sp>
      <p:sp>
        <p:nvSpPr>
          <p:cNvPr id="29" name="Shape 23"/>
          <p:cNvSpPr/>
          <p:nvPr/>
        </p:nvSpPr>
        <p:spPr>
          <a:xfrm>
            <a:off x="3383280" y="4096512"/>
            <a:ext cx="2606040" cy="1938528"/>
          </a:xfrm>
          <a:prstGeom prst="roundRect">
            <a:avLst>
              <a:gd name="adj" fmla="val 2830"/>
            </a:avLst>
          </a:prstGeom>
          <a:solidFill>
            <a:schemeClr val="bg1"/>
          </a:solidFill>
          <a:ln/>
        </p:spPr>
        <p:txBody>
          <a:bodyPr/>
          <a:lstStyle/>
          <a:p>
            <a:endParaRPr lang="en-US"/>
          </a:p>
        </p:txBody>
      </p:sp>
      <p:sp>
        <p:nvSpPr>
          <p:cNvPr id="30" name="Shape 24"/>
          <p:cNvSpPr/>
          <p:nvPr/>
        </p:nvSpPr>
        <p:spPr>
          <a:xfrm>
            <a:off x="3520440" y="4233672"/>
            <a:ext cx="420624" cy="420624"/>
          </a:xfrm>
          <a:prstGeom prst="ellipse">
            <a:avLst/>
          </a:prstGeom>
          <a:solidFill>
            <a:schemeClr val="accent1">
              <a:lumMod val="40000"/>
              <a:lumOff val="60000"/>
            </a:schemeClr>
          </a:solidFill>
          <a:ln/>
        </p:spPr>
        <p:txBody>
          <a:bodyPr/>
          <a:lstStyle/>
          <a:p>
            <a:endParaRPr lang="en-US"/>
          </a:p>
        </p:txBody>
      </p:sp>
      <p:pic>
        <p:nvPicPr>
          <p:cNvPr id="31" name="Image 3" descr="preencoded.png"/>
          <p:cNvPicPr>
            <a:picLocks noChangeAspect="1"/>
          </p:cNvPicPr>
          <p:nvPr/>
        </p:nvPicPr>
        <p:blipFill>
          <a:blip r:embed="rId6"/>
          <a:stretch>
            <a:fillRect/>
          </a:stretch>
        </p:blipFill>
        <p:spPr>
          <a:xfrm>
            <a:off x="3625596" y="4338828"/>
            <a:ext cx="210312" cy="210312"/>
          </a:xfrm>
          <a:prstGeom prst="rect">
            <a:avLst/>
          </a:prstGeom>
        </p:spPr>
      </p:pic>
      <p:sp>
        <p:nvSpPr>
          <p:cNvPr id="32" name="Text 25"/>
          <p:cNvSpPr txBox="1"/>
          <p:nvPr/>
        </p:nvSpPr>
        <p:spPr>
          <a:xfrm>
            <a:off x="4041648" y="4233672"/>
            <a:ext cx="1828800" cy="420624"/>
          </a:xfrm>
          <a:prstGeom prst="rect">
            <a:avLst/>
          </a:prstGeom>
          <a:noFill/>
          <a:ln/>
        </p:spPr>
        <p:txBody>
          <a:bodyPr wrap="square" lIns="0" tIns="0" rIns="0" bIns="0" rtlCol="0" anchor="ctr"/>
          <a:lstStyle/>
          <a:p>
            <a:pPr marL="0" indent="0">
              <a:buNone/>
            </a:pPr>
            <a:r>
              <a:rPr lang="en-US" sz="1400" b="1" dirty="0">
                <a:solidFill>
                  <a:schemeClr val="tx1"/>
                </a:solidFill>
                <a:latin typeface="Calibri" pitchFamily="34" charset="0"/>
                <a:ea typeface="Calibri" pitchFamily="34" charset="-122"/>
                <a:cs typeface="Calibri" pitchFamily="34" charset="-120"/>
              </a:rPr>
              <a:t>Platform</a:t>
            </a:r>
            <a:endParaRPr lang="en-US" sz="1400" dirty="0"/>
          </a:p>
        </p:txBody>
      </p:sp>
      <p:sp>
        <p:nvSpPr>
          <p:cNvPr id="33" name="Text 26"/>
          <p:cNvSpPr txBox="1"/>
          <p:nvPr/>
        </p:nvSpPr>
        <p:spPr>
          <a:xfrm>
            <a:off x="3520440" y="4754880"/>
            <a:ext cx="2377440" cy="1207008"/>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AuthN / AuthZ / tenant scope · GTS types · REST + Rust SDK · OData search · event log &amp; publishing · retention · metrics</a:t>
            </a:r>
            <a:endParaRPr lang="en-US" sz="1300" dirty="0"/>
          </a:p>
        </p:txBody>
      </p:sp>
      <p:sp>
        <p:nvSpPr>
          <p:cNvPr id="34" name="Shape 27"/>
          <p:cNvSpPr/>
          <p:nvPr/>
        </p:nvSpPr>
        <p:spPr>
          <a:xfrm>
            <a:off x="6400800" y="1463040"/>
            <a:ext cx="2743200" cy="4754880"/>
          </a:xfrm>
          <a:prstGeom prst="roundRect">
            <a:avLst>
              <a:gd name="adj" fmla="val 2000"/>
            </a:avLst>
          </a:prstGeom>
          <a:solidFill>
            <a:schemeClr val="bg1"/>
          </a:solidFill>
          <a:ln/>
        </p:spPr>
        <p:txBody>
          <a:bodyPr/>
          <a:lstStyle/>
          <a:p>
            <a:endParaRPr lang="en-US"/>
          </a:p>
        </p:txBody>
      </p:sp>
      <p:sp>
        <p:nvSpPr>
          <p:cNvPr id="35" name="Shape 28"/>
          <p:cNvSpPr/>
          <p:nvPr/>
        </p:nvSpPr>
        <p:spPr>
          <a:xfrm>
            <a:off x="6400800" y="1463040"/>
            <a:ext cx="2743200" cy="4754880"/>
          </a:xfrm>
          <a:prstGeom prst="roundRect">
            <a:avLst>
              <a:gd name="adj" fmla="val 2000"/>
            </a:avLst>
          </a:prstGeom>
          <a:solidFill>
            <a:schemeClr val="bg1">
              <a:lumMod val="95000"/>
            </a:schemeClr>
          </a:solidFill>
          <a:ln/>
        </p:spPr>
        <p:txBody>
          <a:bodyPr/>
          <a:lstStyle/>
          <a:p>
            <a:endParaRPr lang="en-US"/>
          </a:p>
        </p:txBody>
      </p:sp>
      <p:sp>
        <p:nvSpPr>
          <p:cNvPr id="36" name="Shape 29"/>
          <p:cNvSpPr/>
          <p:nvPr/>
        </p:nvSpPr>
        <p:spPr>
          <a:xfrm>
            <a:off x="6583680" y="1600200"/>
            <a:ext cx="384048" cy="219456"/>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37" name="Text 30"/>
          <p:cNvSpPr txBox="1"/>
          <p:nvPr/>
        </p:nvSpPr>
        <p:spPr>
          <a:xfrm>
            <a:off x="6583680" y="1600200"/>
            <a:ext cx="384048" cy="219456"/>
          </a:xfrm>
          <a:prstGeom prst="rect">
            <a:avLst/>
          </a:prstGeom>
          <a:no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P2</a:t>
            </a:r>
            <a:endParaRPr lang="en-US" sz="1000" dirty="0"/>
          </a:p>
        </p:txBody>
      </p:sp>
      <p:sp>
        <p:nvSpPr>
          <p:cNvPr id="38" name="Text 31"/>
          <p:cNvSpPr txBox="1"/>
          <p:nvPr/>
        </p:nvSpPr>
        <p:spPr>
          <a:xfrm>
            <a:off x="7086600" y="1572768"/>
            <a:ext cx="1920240" cy="27432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Next</a:t>
            </a:r>
            <a:endParaRPr lang="en-US" sz="1500" dirty="0"/>
          </a:p>
        </p:txBody>
      </p:sp>
      <p:sp>
        <p:nvSpPr>
          <p:cNvPr id="39" name="Text 32"/>
          <p:cNvSpPr txBox="1"/>
          <p:nvPr/>
        </p:nvSpPr>
        <p:spPr>
          <a:xfrm>
            <a:off x="6583680" y="2011680"/>
            <a:ext cx="2468880" cy="4023360"/>
          </a:xfrm>
          <a:prstGeom prst="rect">
            <a:avLst/>
          </a:prstGeom>
          <a:noFill/>
          <a:ln/>
        </p:spPr>
        <p:txBody>
          <a:bodyPr wrap="square" lIns="0" tIns="0" rIns="0" bIns="0" rtlCol="0" anchor="t"/>
          <a:lstStyle/>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derived dedup &amp; supersession</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event &amp; input waits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dead-letter queue</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parent/child &amp; ALL/ANY deps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type concurrency + overrides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tags &amp; resource refs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bulk operations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progress events &amp; event policies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rate limits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recurring (cron) tasks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Cluster ready-task cache</a:t>
            </a:r>
            <a:endParaRPr lang="en-US" sz="1200" dirty="0"/>
          </a:p>
        </p:txBody>
      </p:sp>
      <p:sp>
        <p:nvSpPr>
          <p:cNvPr id="40" name="Shape 33"/>
          <p:cNvSpPr/>
          <p:nvPr/>
        </p:nvSpPr>
        <p:spPr>
          <a:xfrm>
            <a:off x="9326880" y="1463040"/>
            <a:ext cx="2404872" cy="4754880"/>
          </a:xfrm>
          <a:prstGeom prst="roundRect">
            <a:avLst>
              <a:gd name="adj" fmla="val 2281"/>
            </a:avLst>
          </a:prstGeom>
          <a:solidFill>
            <a:schemeClr val="bg1"/>
          </a:solidFill>
          <a:ln/>
        </p:spPr>
        <p:txBody>
          <a:bodyPr/>
          <a:lstStyle/>
          <a:p>
            <a:endParaRPr lang="en-US"/>
          </a:p>
        </p:txBody>
      </p:sp>
      <p:sp>
        <p:nvSpPr>
          <p:cNvPr id="41" name="Shape 34"/>
          <p:cNvSpPr/>
          <p:nvPr/>
        </p:nvSpPr>
        <p:spPr>
          <a:xfrm>
            <a:off x="9326880" y="1463040"/>
            <a:ext cx="2404872" cy="2875788"/>
          </a:xfrm>
          <a:prstGeom prst="roundRect">
            <a:avLst>
              <a:gd name="adj" fmla="val 2281"/>
            </a:avLst>
          </a:prstGeom>
          <a:solidFill>
            <a:schemeClr val="bg1">
              <a:lumMod val="95000"/>
              <a:alpha val="63000"/>
            </a:schemeClr>
          </a:solidFill>
          <a:ln w="12700">
            <a:solidFill>
              <a:schemeClr val="bg1">
                <a:lumMod val="50000"/>
              </a:schemeClr>
            </a:solidFill>
            <a:prstDash val="dash"/>
          </a:ln>
        </p:spPr>
        <p:txBody>
          <a:bodyPr/>
          <a:lstStyle/>
          <a:p>
            <a:endParaRPr lang="en-US"/>
          </a:p>
        </p:txBody>
      </p:sp>
      <p:sp>
        <p:nvSpPr>
          <p:cNvPr id="42" name="Shape 35"/>
          <p:cNvSpPr/>
          <p:nvPr/>
        </p:nvSpPr>
        <p:spPr>
          <a:xfrm>
            <a:off x="9509760" y="1600200"/>
            <a:ext cx="384048" cy="219456"/>
          </a:xfrm>
          <a:prstGeom prst="roundRect">
            <a:avLst>
              <a:gd name="adj" fmla="val 50000"/>
            </a:avLst>
          </a:prstGeom>
          <a:solidFill>
            <a:schemeClr val="bg1"/>
          </a:solidFill>
          <a:ln w="9525">
            <a:solidFill>
              <a:schemeClr val="tx2"/>
            </a:solidFill>
            <a:prstDash val="solid"/>
          </a:ln>
        </p:spPr>
        <p:txBody>
          <a:bodyPr/>
          <a:lstStyle/>
          <a:p>
            <a:endParaRPr lang="en-US"/>
          </a:p>
        </p:txBody>
      </p:sp>
      <p:sp>
        <p:nvSpPr>
          <p:cNvPr id="43" name="Text 36"/>
          <p:cNvSpPr txBox="1"/>
          <p:nvPr/>
        </p:nvSpPr>
        <p:spPr>
          <a:xfrm>
            <a:off x="9509760" y="1600200"/>
            <a:ext cx="384048" cy="219456"/>
          </a:xfrm>
          <a:prstGeom prst="rect">
            <a:avLst/>
          </a:prstGeom>
          <a:noFill/>
          <a:ln/>
        </p:spPr>
        <p:txBody>
          <a:bodyPr wrap="square" lIns="0" tIns="0" rIns="0" bIns="0" rtlCol="0" anchor="ctr"/>
          <a:lstStyle/>
          <a:p>
            <a:pPr marL="0" indent="0" algn="ctr">
              <a:buNone/>
            </a:pPr>
            <a:r>
              <a:rPr lang="en-US" sz="1000" b="1" dirty="0">
                <a:solidFill>
                  <a:schemeClr val="tx1"/>
                </a:solidFill>
                <a:latin typeface="Calibri" pitchFamily="34" charset="0"/>
                <a:ea typeface="Calibri" pitchFamily="34" charset="-122"/>
                <a:cs typeface="Calibri" pitchFamily="34" charset="-120"/>
              </a:rPr>
              <a:t>P3</a:t>
            </a:r>
            <a:endParaRPr lang="en-US" sz="1000" dirty="0"/>
          </a:p>
        </p:txBody>
      </p:sp>
      <p:sp>
        <p:nvSpPr>
          <p:cNvPr id="44" name="Text 37"/>
          <p:cNvSpPr txBox="1"/>
          <p:nvPr/>
        </p:nvSpPr>
        <p:spPr>
          <a:xfrm>
            <a:off x="10012680" y="1572768"/>
            <a:ext cx="1645920" cy="27432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Advanced</a:t>
            </a:r>
            <a:endParaRPr lang="en-US" sz="1500" dirty="0"/>
          </a:p>
        </p:txBody>
      </p:sp>
      <p:sp>
        <p:nvSpPr>
          <p:cNvPr id="45" name="Text 38"/>
          <p:cNvSpPr txBox="1"/>
          <p:nvPr/>
        </p:nvSpPr>
        <p:spPr>
          <a:xfrm>
            <a:off x="9509760" y="2011680"/>
            <a:ext cx="2148840" cy="1938528"/>
          </a:xfrm>
          <a:prstGeom prst="rect">
            <a:avLst/>
          </a:prstGeom>
          <a:noFill/>
          <a:ln/>
        </p:spPr>
        <p:txBody>
          <a:bodyPr wrap="square" lIns="0" tIns="0" rIns="0" bIns="0" rtlCol="0" anchor="t"/>
          <a:lstStyle/>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checkpoint</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CEL match expressions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worker blacklisting</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reassignment / handoff</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priority aging</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runtime config updates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resource-path policies</a:t>
            </a:r>
            <a:endParaRPr lang="en-US" sz="1200" dirty="0"/>
          </a:p>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multi-DB task domains</a:t>
            </a:r>
            <a:endParaRPr lang="en-US" sz="12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9</a:t>
            </a:fld>
            <a:endParaRPr lang="en-US"/>
          </a:p>
        </p:txBody>
      </p:sp>
      <p:sp>
        <p:nvSpPr>
          <p:cNvPr id="46" name="Shape 34">
            <a:extLst>
              <a:ext uri="{FF2B5EF4-FFF2-40B4-BE49-F238E27FC236}">
                <a16:creationId xmlns:a16="http://schemas.microsoft.com/office/drawing/2014/main" id="{45B84C57-BEC7-EA37-1109-7957C980FCD8}"/>
              </a:ext>
            </a:extLst>
          </p:cNvPr>
          <p:cNvSpPr/>
          <p:nvPr/>
        </p:nvSpPr>
        <p:spPr>
          <a:xfrm>
            <a:off x="9326880" y="4530852"/>
            <a:ext cx="2404872" cy="1668780"/>
          </a:xfrm>
          <a:prstGeom prst="roundRect">
            <a:avLst>
              <a:gd name="adj" fmla="val 2281"/>
            </a:avLst>
          </a:prstGeom>
          <a:solidFill>
            <a:schemeClr val="bg1">
              <a:lumMod val="95000"/>
              <a:alpha val="44000"/>
            </a:schemeClr>
          </a:solidFill>
          <a:ln w="12700">
            <a:solidFill>
              <a:schemeClr val="bg1">
                <a:lumMod val="50000"/>
              </a:schemeClr>
            </a:solidFill>
            <a:prstDash val="dash"/>
          </a:ln>
        </p:spPr>
        <p:txBody>
          <a:bodyPr/>
          <a:lstStyle/>
          <a:p>
            <a:endParaRPr lang="en-US"/>
          </a:p>
        </p:txBody>
      </p:sp>
      <p:sp>
        <p:nvSpPr>
          <p:cNvPr id="48" name="Text 37">
            <a:extLst>
              <a:ext uri="{FF2B5EF4-FFF2-40B4-BE49-F238E27FC236}">
                <a16:creationId xmlns:a16="http://schemas.microsoft.com/office/drawing/2014/main" id="{81825165-F586-572C-721E-A309B1D8BCE9}"/>
              </a:ext>
            </a:extLst>
          </p:cNvPr>
          <p:cNvSpPr txBox="1"/>
          <p:nvPr/>
        </p:nvSpPr>
        <p:spPr>
          <a:xfrm>
            <a:off x="9509760" y="4654296"/>
            <a:ext cx="1645920" cy="27432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Future</a:t>
            </a:r>
            <a:endParaRPr lang="en-US" sz="1500" dirty="0"/>
          </a:p>
        </p:txBody>
      </p:sp>
      <p:sp>
        <p:nvSpPr>
          <p:cNvPr id="49" name="Text 38">
            <a:extLst>
              <a:ext uri="{FF2B5EF4-FFF2-40B4-BE49-F238E27FC236}">
                <a16:creationId xmlns:a16="http://schemas.microsoft.com/office/drawing/2014/main" id="{6A47F16B-F779-F192-7B04-903A0582D06E}"/>
              </a:ext>
            </a:extLst>
          </p:cNvPr>
          <p:cNvSpPr txBox="1"/>
          <p:nvPr/>
        </p:nvSpPr>
        <p:spPr>
          <a:xfrm>
            <a:off x="9509760" y="4992624"/>
            <a:ext cx="2148840" cy="1225296"/>
          </a:xfrm>
          <a:prstGeom prst="rect">
            <a:avLst/>
          </a:prstGeom>
          <a:noFill/>
          <a:ln/>
        </p:spPr>
        <p:txBody>
          <a:bodyPr wrap="square" lIns="0" tIns="0" rIns="0" bIns="0" rtlCol="0" anchor="t"/>
          <a:lstStyle/>
          <a:p>
            <a:pPr marL="0" indent="0">
              <a:spcAft>
                <a:spcPts val="300"/>
              </a:spcAft>
              <a:buNone/>
            </a:pPr>
            <a:r>
              <a:rPr lang="en-US" sz="1200" dirty="0">
                <a:solidFill>
                  <a:schemeClr val="tx1"/>
                </a:solidFill>
                <a:latin typeface="Calibri" pitchFamily="34" charset="0"/>
                <a:ea typeface="Calibri" pitchFamily="34" charset="-122"/>
                <a:cs typeface="Calibri" pitchFamily="34" charset="-120"/>
              </a:rPr>
              <a:t>Per- GTS type storage</a:t>
            </a:r>
            <a:br>
              <a:rPr lang="en-US" sz="1200" dirty="0">
                <a:solidFill>
                  <a:schemeClr val="tx1"/>
                </a:solidFill>
                <a:latin typeface="Calibri" pitchFamily="34" charset="0"/>
                <a:ea typeface="Calibri" pitchFamily="34" charset="-122"/>
                <a:cs typeface="Calibri" pitchFamily="34" charset="-120"/>
              </a:rPr>
            </a:br>
            <a:endParaRPr lang="en-US" sz="1200" dirty="0">
              <a:solidFill>
                <a:schemeClr val="tx1"/>
              </a:solidFill>
              <a:latin typeface="Calibri" pitchFamily="34" charset="0"/>
              <a:ea typeface="Calibri" pitchFamily="34" charset="-122"/>
              <a:cs typeface="Calibri" pitchFamily="34" charset="-120"/>
            </a:endParaRPr>
          </a:p>
          <a:p>
            <a:pPr marL="0" indent="0">
              <a:spcAft>
                <a:spcPts val="300"/>
              </a:spcAft>
              <a:buNone/>
            </a:pPr>
            <a:r>
              <a:rPr lang="en-US" sz="1200" dirty="0">
                <a:latin typeface="Calibri" pitchFamily="34" charset="0"/>
                <a:cs typeface="Calibri" pitchFamily="34" charset="-120"/>
              </a:rPr>
              <a:t>Alternative storages support (</a:t>
            </a:r>
            <a:r>
              <a:rPr lang="en-US" sz="1200" dirty="0" err="1">
                <a:latin typeface="Calibri" pitchFamily="34" charset="0"/>
                <a:cs typeface="Calibri" pitchFamily="34" charset="-120"/>
              </a:rPr>
              <a:t>ClickHouse</a:t>
            </a:r>
            <a:r>
              <a:rPr lang="en-US" sz="1200" dirty="0">
                <a:latin typeface="Calibri" pitchFamily="34" charset="0"/>
                <a:cs typeface="Calibri" pitchFamily="34" charset="-120"/>
              </a:rPr>
              <a:t>, Elasticsearch) for blobs payload storage, analytics, advanced search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Correctness lives in one place: the operational store</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ADR-0001 outcome: the core owns all execution logic; other storage roles are optional and never authoritative</a:t>
            </a:r>
            <a:endParaRPr lang="en-US" sz="1600" dirty="0"/>
          </a:p>
        </p:txBody>
      </p:sp>
      <p:sp>
        <p:nvSpPr>
          <p:cNvPr id="5" name="Shape 2"/>
          <p:cNvSpPr/>
          <p:nvPr/>
        </p:nvSpPr>
        <p:spPr>
          <a:xfrm>
            <a:off x="457200" y="1463040"/>
            <a:ext cx="5257800" cy="2697480"/>
          </a:xfrm>
          <a:prstGeom prst="roundRect">
            <a:avLst>
              <a:gd name="adj" fmla="val 2034"/>
            </a:avLst>
          </a:prstGeom>
          <a:solidFill>
            <a:schemeClr val="bg1"/>
          </a:solidFill>
          <a:ln/>
        </p:spPr>
        <p:txBody>
          <a:bodyPr/>
          <a:lstStyle/>
          <a:p>
            <a:endParaRPr lang="en-US"/>
          </a:p>
        </p:txBody>
      </p:sp>
      <p:sp>
        <p:nvSpPr>
          <p:cNvPr id="6" name="Shape 3"/>
          <p:cNvSpPr/>
          <p:nvPr/>
        </p:nvSpPr>
        <p:spPr>
          <a:xfrm>
            <a:off x="457200" y="1463040"/>
            <a:ext cx="5257800" cy="2697480"/>
          </a:xfrm>
          <a:prstGeom prst="roundRect">
            <a:avLst>
              <a:gd name="adj" fmla="val 2034"/>
            </a:avLst>
          </a:prstGeom>
          <a:solidFill>
            <a:schemeClr val="accent1">
              <a:alpha val="14000"/>
            </a:schemeClr>
          </a:solidFill>
          <a:ln w="15875">
            <a:solidFill>
              <a:schemeClr val="accent1"/>
            </a:solidFill>
            <a:prstDash val="solid"/>
          </a:ln>
        </p:spPr>
        <p:txBody>
          <a:bodyPr/>
          <a:lstStyle/>
          <a:p>
            <a:endParaRPr lang="en-US"/>
          </a:p>
        </p:txBody>
      </p:sp>
      <p:sp>
        <p:nvSpPr>
          <p:cNvPr id="7" name="Shape 4"/>
          <p:cNvSpPr/>
          <p:nvPr/>
        </p:nvSpPr>
        <p:spPr>
          <a:xfrm>
            <a:off x="640080" y="1600200"/>
            <a:ext cx="457200" cy="457200"/>
          </a:xfrm>
          <a:prstGeom prst="ellipse">
            <a:avLst/>
          </a:prstGeom>
          <a:solidFill>
            <a:schemeClr val="accent1">
              <a:lumMod val="40000"/>
              <a:lumOff val="60000"/>
            </a:schemeClr>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54380" y="1714500"/>
            <a:ext cx="228600" cy="228600"/>
          </a:xfrm>
          <a:prstGeom prst="rect">
            <a:avLst/>
          </a:prstGeom>
        </p:spPr>
      </p:pic>
      <p:sp>
        <p:nvSpPr>
          <p:cNvPr id="9" name="Text 5"/>
          <p:cNvSpPr txBox="1"/>
          <p:nvPr/>
        </p:nvSpPr>
        <p:spPr>
          <a:xfrm>
            <a:off x="1207008" y="1600200"/>
            <a:ext cx="4114800" cy="45720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Task Engine core — owns</a:t>
            </a:r>
            <a:endParaRPr lang="en-US" sz="1600" dirty="0"/>
          </a:p>
        </p:txBody>
      </p:sp>
      <p:sp>
        <p:nvSpPr>
          <p:cNvPr id="10" name="Shape 6"/>
          <p:cNvSpPr/>
          <p:nvPr/>
        </p:nvSpPr>
        <p:spPr>
          <a:xfrm>
            <a:off x="640080" y="22128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11" name="Text 7"/>
          <p:cNvSpPr txBox="1"/>
          <p:nvPr/>
        </p:nvSpPr>
        <p:spPr>
          <a:xfrm>
            <a:off x="640080" y="22128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lifecycle</a:t>
            </a:r>
            <a:endParaRPr lang="en-US" sz="1100" dirty="0"/>
          </a:p>
        </p:txBody>
      </p:sp>
      <p:sp>
        <p:nvSpPr>
          <p:cNvPr id="12" name="Shape 8"/>
          <p:cNvSpPr/>
          <p:nvPr/>
        </p:nvSpPr>
        <p:spPr>
          <a:xfrm>
            <a:off x="2322576" y="22128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13" name="Text 9"/>
          <p:cNvSpPr txBox="1"/>
          <p:nvPr/>
        </p:nvSpPr>
        <p:spPr>
          <a:xfrm>
            <a:off x="2322576" y="22128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admission &amp; depth</a:t>
            </a:r>
            <a:endParaRPr lang="en-US" sz="1100" dirty="0"/>
          </a:p>
        </p:txBody>
      </p:sp>
      <p:sp>
        <p:nvSpPr>
          <p:cNvPr id="14" name="Shape 10"/>
          <p:cNvSpPr/>
          <p:nvPr/>
        </p:nvSpPr>
        <p:spPr>
          <a:xfrm>
            <a:off x="4005072" y="22128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15" name="Text 11"/>
          <p:cNvSpPr txBox="1"/>
          <p:nvPr/>
        </p:nvSpPr>
        <p:spPr>
          <a:xfrm>
            <a:off x="4005072" y="22128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concurrency</a:t>
            </a:r>
            <a:endParaRPr lang="en-US" sz="1100" dirty="0"/>
          </a:p>
        </p:txBody>
      </p:sp>
      <p:sp>
        <p:nvSpPr>
          <p:cNvPr id="16" name="Shape 12"/>
          <p:cNvSpPr/>
          <p:nvPr/>
        </p:nvSpPr>
        <p:spPr>
          <a:xfrm>
            <a:off x="640080" y="26700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17" name="Text 13"/>
          <p:cNvSpPr txBox="1"/>
          <p:nvPr/>
        </p:nvSpPr>
        <p:spPr>
          <a:xfrm>
            <a:off x="640080" y="26700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atomic claim</a:t>
            </a:r>
            <a:endParaRPr lang="en-US" sz="1100" dirty="0"/>
          </a:p>
        </p:txBody>
      </p:sp>
      <p:sp>
        <p:nvSpPr>
          <p:cNvPr id="18" name="Shape 14"/>
          <p:cNvSpPr/>
          <p:nvPr/>
        </p:nvSpPr>
        <p:spPr>
          <a:xfrm>
            <a:off x="2322576" y="26700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19" name="Text 15"/>
          <p:cNvSpPr txBox="1"/>
          <p:nvPr/>
        </p:nvSpPr>
        <p:spPr>
          <a:xfrm>
            <a:off x="2322576" y="26700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leases &amp; fencing</a:t>
            </a:r>
            <a:endParaRPr lang="en-US" sz="1100" dirty="0"/>
          </a:p>
        </p:txBody>
      </p:sp>
      <p:sp>
        <p:nvSpPr>
          <p:cNvPr id="20" name="Shape 16"/>
          <p:cNvSpPr/>
          <p:nvPr/>
        </p:nvSpPr>
        <p:spPr>
          <a:xfrm>
            <a:off x="4005072" y="26700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21" name="Text 17"/>
          <p:cNvSpPr txBox="1"/>
          <p:nvPr/>
        </p:nvSpPr>
        <p:spPr>
          <a:xfrm>
            <a:off x="4005072" y="26700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timers</a:t>
            </a:r>
            <a:endParaRPr lang="en-US" sz="1100" dirty="0"/>
          </a:p>
        </p:txBody>
      </p:sp>
      <p:sp>
        <p:nvSpPr>
          <p:cNvPr id="22" name="Shape 18"/>
          <p:cNvSpPr/>
          <p:nvPr/>
        </p:nvSpPr>
        <p:spPr>
          <a:xfrm>
            <a:off x="640080" y="31272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23" name="Text 19"/>
          <p:cNvSpPr txBox="1"/>
          <p:nvPr/>
        </p:nvSpPr>
        <p:spPr>
          <a:xfrm>
            <a:off x="640080" y="31272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retries &amp; DLQ</a:t>
            </a:r>
            <a:endParaRPr lang="en-US" sz="1100" dirty="0"/>
          </a:p>
        </p:txBody>
      </p:sp>
      <p:sp>
        <p:nvSpPr>
          <p:cNvPr id="24" name="Shape 20"/>
          <p:cNvSpPr/>
          <p:nvPr/>
        </p:nvSpPr>
        <p:spPr>
          <a:xfrm>
            <a:off x="2322576" y="31272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25" name="Text 21"/>
          <p:cNvSpPr txBox="1"/>
          <p:nvPr/>
        </p:nvSpPr>
        <p:spPr>
          <a:xfrm>
            <a:off x="2322576" y="31272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wait conditions</a:t>
            </a:r>
            <a:endParaRPr lang="en-US" sz="1100" dirty="0"/>
          </a:p>
        </p:txBody>
      </p:sp>
      <p:sp>
        <p:nvSpPr>
          <p:cNvPr id="26" name="Shape 22"/>
          <p:cNvSpPr/>
          <p:nvPr/>
        </p:nvSpPr>
        <p:spPr>
          <a:xfrm>
            <a:off x="4005072" y="31272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27" name="Text 23"/>
          <p:cNvSpPr txBox="1"/>
          <p:nvPr/>
        </p:nvSpPr>
        <p:spPr>
          <a:xfrm>
            <a:off x="4005072" y="31272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dependencies</a:t>
            </a:r>
            <a:endParaRPr lang="en-US" sz="1100" dirty="0"/>
          </a:p>
        </p:txBody>
      </p:sp>
      <p:sp>
        <p:nvSpPr>
          <p:cNvPr id="28" name="Shape 24"/>
          <p:cNvSpPr/>
          <p:nvPr/>
        </p:nvSpPr>
        <p:spPr>
          <a:xfrm>
            <a:off x="640080" y="35844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29" name="Text 25"/>
          <p:cNvSpPr txBox="1"/>
          <p:nvPr/>
        </p:nvSpPr>
        <p:spPr>
          <a:xfrm>
            <a:off x="640080" y="35844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dedup &amp; supersede</a:t>
            </a:r>
            <a:endParaRPr lang="en-US" sz="1100" dirty="0"/>
          </a:p>
        </p:txBody>
      </p:sp>
      <p:sp>
        <p:nvSpPr>
          <p:cNvPr id="30" name="Shape 26"/>
          <p:cNvSpPr/>
          <p:nvPr/>
        </p:nvSpPr>
        <p:spPr>
          <a:xfrm>
            <a:off x="2322576" y="35844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31" name="Text 27"/>
          <p:cNvSpPr txBox="1"/>
          <p:nvPr/>
        </p:nvSpPr>
        <p:spPr>
          <a:xfrm>
            <a:off x="2322576" y="35844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progress &amp; entries</a:t>
            </a:r>
            <a:endParaRPr lang="en-US" sz="1100" dirty="0"/>
          </a:p>
        </p:txBody>
      </p:sp>
      <p:sp>
        <p:nvSpPr>
          <p:cNvPr id="32" name="Shape 28"/>
          <p:cNvSpPr/>
          <p:nvPr/>
        </p:nvSpPr>
        <p:spPr>
          <a:xfrm>
            <a:off x="4005072" y="3584448"/>
            <a:ext cx="1591056" cy="365760"/>
          </a:xfrm>
          <a:prstGeom prst="roundRect">
            <a:avLst>
              <a:gd name="adj" fmla="val 15000"/>
            </a:avLst>
          </a:prstGeom>
          <a:solidFill>
            <a:schemeClr val="bg1"/>
          </a:solidFill>
          <a:ln w="9525">
            <a:noFill/>
            <a:prstDash val="solid"/>
          </a:ln>
        </p:spPr>
        <p:txBody>
          <a:bodyPr/>
          <a:lstStyle/>
          <a:p>
            <a:endParaRPr lang="en-US"/>
          </a:p>
        </p:txBody>
      </p:sp>
      <p:sp>
        <p:nvSpPr>
          <p:cNvPr id="33" name="Text 29"/>
          <p:cNvSpPr txBox="1"/>
          <p:nvPr/>
        </p:nvSpPr>
        <p:spPr>
          <a:xfrm>
            <a:off x="4005072" y="3584448"/>
            <a:ext cx="1591056" cy="365760"/>
          </a:xfrm>
          <a:prstGeom prst="rect">
            <a:avLst/>
          </a:prstGeom>
          <a:noFill/>
          <a:ln>
            <a:noFill/>
          </a:ln>
        </p:spPr>
        <p:txBody>
          <a:bodyPr wrap="square" lIns="0" tIns="0" rIns="0" bIns="0" rtlCol="0" anchor="ctr"/>
          <a:lstStyle/>
          <a:p>
            <a:pPr marL="0" indent="0" algn="ctr">
              <a:buNone/>
            </a:pPr>
            <a:r>
              <a:rPr lang="en-US" sz="1100" dirty="0">
                <a:solidFill>
                  <a:schemeClr val="tx1"/>
                </a:solidFill>
                <a:latin typeface="Calibri" pitchFamily="34" charset="0"/>
                <a:ea typeface="Calibri" pitchFamily="34" charset="-122"/>
                <a:cs typeface="Calibri" pitchFamily="34" charset="-120"/>
              </a:rPr>
              <a:t>events &amp; audit</a:t>
            </a:r>
            <a:endParaRPr lang="en-US" sz="1100" dirty="0"/>
          </a:p>
        </p:txBody>
      </p:sp>
      <p:sp>
        <p:nvSpPr>
          <p:cNvPr id="34" name="Shape 30"/>
          <p:cNvSpPr/>
          <p:nvPr/>
        </p:nvSpPr>
        <p:spPr>
          <a:xfrm>
            <a:off x="3081528" y="4160520"/>
            <a:ext cx="91" cy="411480"/>
          </a:xfrm>
          <a:prstGeom prst="line">
            <a:avLst/>
          </a:prstGeom>
          <a:noFill/>
          <a:ln w="28575">
            <a:solidFill>
              <a:schemeClr val="accent2"/>
            </a:solidFill>
            <a:prstDash val="solid"/>
            <a:headEnd type="triangle"/>
            <a:tailEnd type="triangle"/>
          </a:ln>
        </p:spPr>
        <p:txBody>
          <a:bodyPr/>
          <a:lstStyle/>
          <a:p>
            <a:endParaRPr lang="en-US"/>
          </a:p>
        </p:txBody>
      </p:sp>
      <p:sp>
        <p:nvSpPr>
          <p:cNvPr id="35" name="Text 31"/>
          <p:cNvSpPr txBox="1"/>
          <p:nvPr/>
        </p:nvSpPr>
        <p:spPr>
          <a:xfrm>
            <a:off x="3200400" y="4224528"/>
            <a:ext cx="2468880" cy="274320"/>
          </a:xfrm>
          <a:prstGeom prst="rect">
            <a:avLst/>
          </a:prstGeom>
          <a:noFill/>
          <a:ln/>
        </p:spPr>
        <p:txBody>
          <a:bodyPr wrap="square" lIns="0" tIns="0" rIns="0" bIns="0" rtlCol="0" anchor="t"/>
          <a:lstStyle/>
          <a:p>
            <a:pPr marL="0" indent="0">
              <a:buNone/>
            </a:pPr>
            <a:r>
              <a:rPr lang="en-US" sz="1100" b="1" dirty="0">
                <a:solidFill>
                  <a:schemeClr val="accent2"/>
                </a:solidFill>
                <a:latin typeface="Calibri" pitchFamily="34" charset="0"/>
                <a:ea typeface="Calibri" pitchFamily="34" charset="-122"/>
                <a:cs typeface="Calibri" pitchFamily="34" charset="-120"/>
              </a:rPr>
              <a:t>every decision, in one transaction</a:t>
            </a:r>
            <a:endParaRPr lang="en-US" sz="1100" dirty="0"/>
          </a:p>
        </p:txBody>
      </p:sp>
      <p:sp>
        <p:nvSpPr>
          <p:cNvPr id="36" name="Shape 32"/>
          <p:cNvSpPr/>
          <p:nvPr/>
        </p:nvSpPr>
        <p:spPr>
          <a:xfrm>
            <a:off x="1463040" y="4572000"/>
            <a:ext cx="3246120" cy="1600200"/>
          </a:xfrm>
          <a:prstGeom prst="can">
            <a:avLst/>
          </a:prstGeom>
          <a:solidFill>
            <a:srgbClr val="BBD2F9"/>
          </a:solidFill>
          <a:ln w="15875">
            <a:solidFill>
              <a:schemeClr val="accent2"/>
            </a:solidFill>
            <a:prstDash val="solid"/>
          </a:ln>
        </p:spPr>
        <p:txBody>
          <a:bodyPr/>
          <a:lstStyle/>
          <a:p>
            <a:endParaRPr lang="en-US"/>
          </a:p>
        </p:txBody>
      </p:sp>
      <p:sp>
        <p:nvSpPr>
          <p:cNvPr id="37" name="Text 33"/>
          <p:cNvSpPr txBox="1"/>
          <p:nvPr/>
        </p:nvSpPr>
        <p:spPr>
          <a:xfrm>
            <a:off x="1554480" y="4860036"/>
            <a:ext cx="3063240" cy="1312164"/>
          </a:xfrm>
          <a:prstGeom prst="rect">
            <a:avLst/>
          </a:prstGeom>
          <a:noFill/>
          <a:ln/>
        </p:spPr>
        <p:txBody>
          <a:bodyPr wrap="square" lIns="0" tIns="0" rIns="0" bIns="0" rtlCol="0" anchor="ctr"/>
          <a:lstStyle/>
          <a:p>
            <a:pPr marL="0" indent="0" algn="ctr">
              <a:buNone/>
            </a:pPr>
            <a:r>
              <a:rPr lang="en-US" sz="1300" b="1" dirty="0">
                <a:latin typeface="Calibri" pitchFamily="34" charset="0"/>
                <a:ea typeface="Calibri" pitchFamily="34" charset="-122"/>
                <a:cs typeface="Calibri" pitchFamily="34" charset="-120"/>
              </a:rPr>
              <a:t>Operational store</a:t>
            </a:r>
            <a:endParaRPr lang="en-US" sz="1300" dirty="0"/>
          </a:p>
          <a:p>
            <a:pPr marL="0" indent="0" algn="ctr">
              <a:buNone/>
            </a:pPr>
            <a:r>
              <a:rPr lang="en-US" sz="1000" dirty="0">
                <a:latin typeface="Calibri" pitchFamily="34" charset="0"/>
                <a:ea typeface="Calibri" pitchFamily="34" charset="-122"/>
                <a:cs typeface="Calibri" pitchFamily="34" charset="-120"/>
              </a:rPr>
              <a:t>authoritative · PostgreSQL / MySQL / SQLite</a:t>
            </a:r>
            <a:endParaRPr lang="en-US" sz="1300" dirty="0"/>
          </a:p>
        </p:txBody>
      </p:sp>
      <p:sp>
        <p:nvSpPr>
          <p:cNvPr id="38" name="Shape 34"/>
          <p:cNvSpPr/>
          <p:nvPr/>
        </p:nvSpPr>
        <p:spPr>
          <a:xfrm>
            <a:off x="6400800" y="1463040"/>
            <a:ext cx="5330952" cy="749808"/>
          </a:xfrm>
          <a:prstGeom prst="roundRect">
            <a:avLst>
              <a:gd name="adj" fmla="val 7317"/>
            </a:avLst>
          </a:prstGeom>
          <a:solidFill>
            <a:schemeClr val="bg1"/>
          </a:solidFill>
          <a:ln/>
        </p:spPr>
        <p:txBody>
          <a:bodyPr/>
          <a:lstStyle/>
          <a:p>
            <a:endParaRPr lang="en-US"/>
          </a:p>
        </p:txBody>
      </p:sp>
      <p:sp>
        <p:nvSpPr>
          <p:cNvPr id="39" name="Shape 35"/>
          <p:cNvSpPr/>
          <p:nvPr/>
        </p:nvSpPr>
        <p:spPr>
          <a:xfrm>
            <a:off x="6400800" y="1463040"/>
            <a:ext cx="5330952" cy="749808"/>
          </a:xfrm>
          <a:prstGeom prst="roundRect">
            <a:avLst>
              <a:gd name="adj" fmla="val 7317"/>
            </a:avLst>
          </a:prstGeom>
          <a:solidFill>
            <a:srgbClr val="F2F5F9">
              <a:alpha val="6000"/>
            </a:srgbClr>
          </a:solidFill>
          <a:ln w="12700">
            <a:solidFill>
              <a:schemeClr val="tx1">
                <a:lumMod val="50000"/>
                <a:lumOff val="50000"/>
              </a:schemeClr>
            </a:solidFill>
            <a:prstDash val="dash"/>
          </a:ln>
        </p:spPr>
        <p:txBody>
          <a:bodyPr/>
          <a:lstStyle/>
          <a:p>
            <a:endParaRPr lang="en-US"/>
          </a:p>
        </p:txBody>
      </p:sp>
      <p:sp>
        <p:nvSpPr>
          <p:cNvPr id="40" name="Shape 36"/>
          <p:cNvSpPr/>
          <p:nvPr/>
        </p:nvSpPr>
        <p:spPr>
          <a:xfrm>
            <a:off x="6537960" y="1609344"/>
            <a:ext cx="457200" cy="457200"/>
          </a:xfrm>
          <a:prstGeom prst="ellipse">
            <a:avLst/>
          </a:prstGeom>
          <a:solidFill>
            <a:srgbClr val="6B7A8C"/>
          </a:solidFill>
          <a:ln/>
        </p:spPr>
        <p:txBody>
          <a:bodyPr/>
          <a:lstStyle/>
          <a:p>
            <a:endParaRPr lang="en-US"/>
          </a:p>
        </p:txBody>
      </p:sp>
      <p:pic>
        <p:nvPicPr>
          <p:cNvPr id="41" name="Image 1" descr="preencoded.png"/>
          <p:cNvPicPr>
            <a:picLocks noChangeAspect="1"/>
          </p:cNvPicPr>
          <p:nvPr/>
        </p:nvPicPr>
        <p:blipFill>
          <a:blip r:embed="rId4"/>
          <a:stretch>
            <a:fillRect/>
          </a:stretch>
        </p:blipFill>
        <p:spPr>
          <a:xfrm>
            <a:off x="6652260" y="1723644"/>
            <a:ext cx="228600" cy="228600"/>
          </a:xfrm>
          <a:prstGeom prst="rect">
            <a:avLst/>
          </a:prstGeom>
        </p:spPr>
      </p:pic>
      <p:sp>
        <p:nvSpPr>
          <p:cNvPr id="42" name="Text 37"/>
          <p:cNvSpPr txBox="1"/>
          <p:nvPr/>
        </p:nvSpPr>
        <p:spPr>
          <a:xfrm>
            <a:off x="7132320" y="1536192"/>
            <a:ext cx="20116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Payload store</a:t>
            </a:r>
            <a:endParaRPr lang="en-US" sz="1300" dirty="0"/>
          </a:p>
        </p:txBody>
      </p:sp>
      <p:sp>
        <p:nvSpPr>
          <p:cNvPr id="43" name="Text 38"/>
          <p:cNvSpPr txBox="1"/>
          <p:nvPr/>
        </p:nvSpPr>
        <p:spPr>
          <a:xfrm>
            <a:off x="7132320" y="1847088"/>
            <a:ext cx="20116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object storage</a:t>
            </a:r>
            <a:endParaRPr lang="en-US" sz="1100" dirty="0"/>
          </a:p>
        </p:txBody>
      </p:sp>
      <p:sp>
        <p:nvSpPr>
          <p:cNvPr id="44" name="Text 39"/>
          <p:cNvSpPr txBox="1"/>
          <p:nvPr/>
        </p:nvSpPr>
        <p:spPr>
          <a:xfrm>
            <a:off x="9052560" y="1517904"/>
            <a:ext cx="2560320" cy="640080"/>
          </a:xfrm>
          <a:prstGeom prst="rect">
            <a:avLst/>
          </a:prstGeom>
          <a:noFill/>
          <a:ln/>
        </p:spPr>
        <p:txBody>
          <a:bodyPr wrap="square" lIns="0" tIns="0" rIns="0" bIns="0" rtlCol="0" anchor="ctr"/>
          <a:lstStyle/>
          <a:p>
            <a:pPr marL="0" indent="0">
              <a:buNone/>
            </a:pPr>
            <a:r>
              <a:rPr lang="en-US" sz="1100" dirty="0">
                <a:solidFill>
                  <a:schemeClr val="tx1"/>
                </a:solidFill>
                <a:latin typeface="Calibri" pitchFamily="34" charset="0"/>
                <a:ea typeface="Calibri" pitchFamily="34" charset="-122"/>
                <a:cs typeface="Calibri" pitchFamily="34" charset="-120"/>
              </a:rPr>
              <a:t>large opaque input / output / entries; written before the reference commits</a:t>
            </a:r>
            <a:endParaRPr lang="en-US" sz="1100" dirty="0"/>
          </a:p>
        </p:txBody>
      </p:sp>
      <p:sp>
        <p:nvSpPr>
          <p:cNvPr id="45" name="Shape 40"/>
          <p:cNvSpPr/>
          <p:nvPr/>
        </p:nvSpPr>
        <p:spPr>
          <a:xfrm flipV="1">
            <a:off x="5715000" y="1837944"/>
            <a:ext cx="685800" cy="950976"/>
          </a:xfrm>
          <a:prstGeom prst="line">
            <a:avLst/>
          </a:prstGeom>
          <a:noFill/>
          <a:ln w="12700">
            <a:solidFill>
              <a:schemeClr val="tx1">
                <a:lumMod val="50000"/>
                <a:lumOff val="50000"/>
              </a:schemeClr>
            </a:solidFill>
            <a:prstDash val="dash"/>
            <a:headEnd type="none"/>
            <a:tailEnd type="triangle"/>
          </a:ln>
        </p:spPr>
        <p:txBody>
          <a:bodyPr/>
          <a:lstStyle/>
          <a:p>
            <a:endParaRPr lang="en-US"/>
          </a:p>
        </p:txBody>
      </p:sp>
      <p:sp>
        <p:nvSpPr>
          <p:cNvPr id="46" name="Shape 41"/>
          <p:cNvSpPr/>
          <p:nvPr/>
        </p:nvSpPr>
        <p:spPr>
          <a:xfrm>
            <a:off x="6400800" y="2331720"/>
            <a:ext cx="5330952" cy="749808"/>
          </a:xfrm>
          <a:prstGeom prst="roundRect">
            <a:avLst>
              <a:gd name="adj" fmla="val 7317"/>
            </a:avLst>
          </a:prstGeom>
          <a:solidFill>
            <a:schemeClr val="bg1"/>
          </a:solidFill>
          <a:ln/>
        </p:spPr>
        <p:txBody>
          <a:bodyPr/>
          <a:lstStyle/>
          <a:p>
            <a:endParaRPr lang="en-US"/>
          </a:p>
        </p:txBody>
      </p:sp>
      <p:sp>
        <p:nvSpPr>
          <p:cNvPr id="47" name="Shape 42"/>
          <p:cNvSpPr/>
          <p:nvPr/>
        </p:nvSpPr>
        <p:spPr>
          <a:xfrm>
            <a:off x="6400800" y="2331720"/>
            <a:ext cx="5330952" cy="749808"/>
          </a:xfrm>
          <a:prstGeom prst="roundRect">
            <a:avLst>
              <a:gd name="adj" fmla="val 7317"/>
            </a:avLst>
          </a:prstGeom>
          <a:solidFill>
            <a:srgbClr val="F2F5F9">
              <a:alpha val="6000"/>
            </a:srgbClr>
          </a:solidFill>
          <a:ln w="12700">
            <a:solidFill>
              <a:schemeClr val="tx1">
                <a:lumMod val="50000"/>
                <a:lumOff val="50000"/>
              </a:schemeClr>
            </a:solidFill>
            <a:prstDash val="dash"/>
          </a:ln>
        </p:spPr>
        <p:txBody>
          <a:bodyPr/>
          <a:lstStyle/>
          <a:p>
            <a:endParaRPr lang="en-US"/>
          </a:p>
        </p:txBody>
      </p:sp>
      <p:sp>
        <p:nvSpPr>
          <p:cNvPr id="48" name="Shape 43"/>
          <p:cNvSpPr/>
          <p:nvPr/>
        </p:nvSpPr>
        <p:spPr>
          <a:xfrm>
            <a:off x="6537960" y="2478024"/>
            <a:ext cx="457200" cy="457200"/>
          </a:xfrm>
          <a:prstGeom prst="ellipse">
            <a:avLst/>
          </a:prstGeom>
          <a:solidFill>
            <a:srgbClr val="6B7A8C"/>
          </a:solidFill>
          <a:ln/>
        </p:spPr>
        <p:txBody>
          <a:bodyPr/>
          <a:lstStyle/>
          <a:p>
            <a:endParaRPr lang="en-US"/>
          </a:p>
        </p:txBody>
      </p:sp>
      <p:pic>
        <p:nvPicPr>
          <p:cNvPr id="49" name="Image 2" descr="preencoded.png"/>
          <p:cNvPicPr>
            <a:picLocks noChangeAspect="1"/>
          </p:cNvPicPr>
          <p:nvPr/>
        </p:nvPicPr>
        <p:blipFill>
          <a:blip r:embed="rId5"/>
          <a:stretch>
            <a:fillRect/>
          </a:stretch>
        </p:blipFill>
        <p:spPr>
          <a:xfrm>
            <a:off x="6652260" y="2592324"/>
            <a:ext cx="228600" cy="228600"/>
          </a:xfrm>
          <a:prstGeom prst="rect">
            <a:avLst/>
          </a:prstGeom>
        </p:spPr>
      </p:pic>
      <p:sp>
        <p:nvSpPr>
          <p:cNvPr id="50" name="Text 44"/>
          <p:cNvSpPr txBox="1"/>
          <p:nvPr/>
        </p:nvSpPr>
        <p:spPr>
          <a:xfrm>
            <a:off x="7132320" y="2404872"/>
            <a:ext cx="20116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Search store</a:t>
            </a:r>
            <a:endParaRPr lang="en-US" sz="1300" dirty="0"/>
          </a:p>
        </p:txBody>
      </p:sp>
      <p:sp>
        <p:nvSpPr>
          <p:cNvPr id="51" name="Text 45"/>
          <p:cNvSpPr txBox="1"/>
          <p:nvPr/>
        </p:nvSpPr>
        <p:spPr>
          <a:xfrm>
            <a:off x="7132320" y="2715768"/>
            <a:ext cx="20116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OpenSearch</a:t>
            </a:r>
            <a:endParaRPr lang="en-US" sz="1100" dirty="0"/>
          </a:p>
        </p:txBody>
      </p:sp>
      <p:sp>
        <p:nvSpPr>
          <p:cNvPr id="52" name="Text 46"/>
          <p:cNvSpPr txBox="1"/>
          <p:nvPr/>
        </p:nvSpPr>
        <p:spPr>
          <a:xfrm>
            <a:off x="9052560" y="2386584"/>
            <a:ext cx="2560320" cy="640080"/>
          </a:xfrm>
          <a:prstGeom prst="rect">
            <a:avLst/>
          </a:prstGeom>
          <a:noFill/>
          <a:ln/>
        </p:spPr>
        <p:txBody>
          <a:bodyPr wrap="square" lIns="0" tIns="0" rIns="0" bIns="0" rtlCol="0" anchor="ctr"/>
          <a:lstStyle/>
          <a:p>
            <a:pPr marL="0" indent="0">
              <a:buNone/>
            </a:pPr>
            <a:r>
              <a:rPr lang="en-US" sz="1100" dirty="0">
                <a:solidFill>
                  <a:schemeClr val="tx1"/>
                </a:solidFill>
                <a:latin typeface="Calibri" pitchFamily="34" charset="0"/>
                <a:ea typeface="Calibri" pitchFamily="34" charset="-122"/>
                <a:cs typeface="Calibri" pitchFamily="34" charset="-120"/>
              </a:rPr>
              <a:t>derived index, eventually consistent, never authoritative</a:t>
            </a:r>
            <a:endParaRPr lang="en-US" sz="1100" dirty="0"/>
          </a:p>
        </p:txBody>
      </p:sp>
      <p:sp>
        <p:nvSpPr>
          <p:cNvPr id="53" name="Shape 47"/>
          <p:cNvSpPr/>
          <p:nvPr/>
        </p:nvSpPr>
        <p:spPr>
          <a:xfrm flipV="1">
            <a:off x="5715000" y="2706624"/>
            <a:ext cx="685800" cy="82296"/>
          </a:xfrm>
          <a:prstGeom prst="line">
            <a:avLst/>
          </a:prstGeom>
          <a:noFill/>
          <a:ln w="12700">
            <a:solidFill>
              <a:schemeClr val="tx1">
                <a:lumMod val="50000"/>
                <a:lumOff val="50000"/>
              </a:schemeClr>
            </a:solidFill>
            <a:prstDash val="dash"/>
            <a:headEnd type="none"/>
            <a:tailEnd type="triangle"/>
          </a:ln>
        </p:spPr>
        <p:txBody>
          <a:bodyPr/>
          <a:lstStyle/>
          <a:p>
            <a:endParaRPr lang="en-US"/>
          </a:p>
        </p:txBody>
      </p:sp>
      <p:sp>
        <p:nvSpPr>
          <p:cNvPr id="54" name="Shape 48"/>
          <p:cNvSpPr/>
          <p:nvPr/>
        </p:nvSpPr>
        <p:spPr>
          <a:xfrm>
            <a:off x="6400800" y="3200400"/>
            <a:ext cx="5330952" cy="749808"/>
          </a:xfrm>
          <a:prstGeom prst="roundRect">
            <a:avLst>
              <a:gd name="adj" fmla="val 7317"/>
            </a:avLst>
          </a:prstGeom>
          <a:solidFill>
            <a:schemeClr val="bg1"/>
          </a:solidFill>
          <a:ln/>
        </p:spPr>
        <p:txBody>
          <a:bodyPr/>
          <a:lstStyle/>
          <a:p>
            <a:endParaRPr lang="en-US"/>
          </a:p>
        </p:txBody>
      </p:sp>
      <p:sp>
        <p:nvSpPr>
          <p:cNvPr id="55" name="Shape 49"/>
          <p:cNvSpPr/>
          <p:nvPr/>
        </p:nvSpPr>
        <p:spPr>
          <a:xfrm>
            <a:off x="6400800" y="3200400"/>
            <a:ext cx="5330952" cy="749808"/>
          </a:xfrm>
          <a:prstGeom prst="roundRect">
            <a:avLst>
              <a:gd name="adj" fmla="val 7317"/>
            </a:avLst>
          </a:prstGeom>
          <a:solidFill>
            <a:srgbClr val="F2F5F9">
              <a:alpha val="6000"/>
            </a:srgbClr>
          </a:solidFill>
          <a:ln w="12700">
            <a:solidFill>
              <a:schemeClr val="tx1">
                <a:lumMod val="50000"/>
                <a:lumOff val="50000"/>
              </a:schemeClr>
            </a:solidFill>
            <a:prstDash val="dash"/>
          </a:ln>
        </p:spPr>
        <p:txBody>
          <a:bodyPr/>
          <a:lstStyle/>
          <a:p>
            <a:endParaRPr lang="en-US"/>
          </a:p>
        </p:txBody>
      </p:sp>
      <p:sp>
        <p:nvSpPr>
          <p:cNvPr id="56" name="Shape 50"/>
          <p:cNvSpPr/>
          <p:nvPr/>
        </p:nvSpPr>
        <p:spPr>
          <a:xfrm>
            <a:off x="6537960" y="3346704"/>
            <a:ext cx="457200" cy="457200"/>
          </a:xfrm>
          <a:prstGeom prst="ellipse">
            <a:avLst/>
          </a:prstGeom>
          <a:solidFill>
            <a:srgbClr val="6B7A8C"/>
          </a:solidFill>
          <a:ln/>
        </p:spPr>
        <p:txBody>
          <a:bodyPr/>
          <a:lstStyle/>
          <a:p>
            <a:endParaRPr lang="en-US"/>
          </a:p>
        </p:txBody>
      </p:sp>
      <p:pic>
        <p:nvPicPr>
          <p:cNvPr id="57" name="Image 3" descr="preencoded.png"/>
          <p:cNvPicPr>
            <a:picLocks noChangeAspect="1"/>
          </p:cNvPicPr>
          <p:nvPr/>
        </p:nvPicPr>
        <p:blipFill>
          <a:blip r:embed="rId6"/>
          <a:stretch>
            <a:fillRect/>
          </a:stretch>
        </p:blipFill>
        <p:spPr>
          <a:xfrm>
            <a:off x="6652260" y="3461004"/>
            <a:ext cx="228600" cy="228600"/>
          </a:xfrm>
          <a:prstGeom prst="rect">
            <a:avLst/>
          </a:prstGeom>
        </p:spPr>
      </p:pic>
      <p:sp>
        <p:nvSpPr>
          <p:cNvPr id="58" name="Text 51"/>
          <p:cNvSpPr txBox="1"/>
          <p:nvPr/>
        </p:nvSpPr>
        <p:spPr>
          <a:xfrm>
            <a:off x="7132320" y="3273552"/>
            <a:ext cx="20116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Analytics store</a:t>
            </a:r>
            <a:endParaRPr lang="en-US" sz="1300" dirty="0"/>
          </a:p>
        </p:txBody>
      </p:sp>
      <p:sp>
        <p:nvSpPr>
          <p:cNvPr id="59" name="Text 52"/>
          <p:cNvSpPr txBox="1"/>
          <p:nvPr/>
        </p:nvSpPr>
        <p:spPr>
          <a:xfrm>
            <a:off x="7132320" y="3584448"/>
            <a:ext cx="20116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ClickHouse</a:t>
            </a:r>
            <a:endParaRPr lang="en-US" sz="1100" dirty="0"/>
          </a:p>
        </p:txBody>
      </p:sp>
      <p:sp>
        <p:nvSpPr>
          <p:cNvPr id="60" name="Text 53"/>
          <p:cNvSpPr txBox="1"/>
          <p:nvPr/>
        </p:nvSpPr>
        <p:spPr>
          <a:xfrm>
            <a:off x="9052560" y="3255264"/>
            <a:ext cx="2560320" cy="640080"/>
          </a:xfrm>
          <a:prstGeom prst="rect">
            <a:avLst/>
          </a:prstGeom>
          <a:noFill/>
          <a:ln/>
        </p:spPr>
        <p:txBody>
          <a:bodyPr wrap="square" lIns="0" tIns="0" rIns="0" bIns="0" rtlCol="0" anchor="ctr"/>
          <a:lstStyle/>
          <a:p>
            <a:pPr marL="0" indent="0">
              <a:buNone/>
            </a:pPr>
            <a:r>
              <a:rPr lang="en-US" sz="1100" dirty="0">
                <a:solidFill>
                  <a:schemeClr val="tx1"/>
                </a:solidFill>
                <a:latin typeface="Calibri" pitchFamily="34" charset="0"/>
                <a:ea typeface="Calibri" pitchFamily="34" charset="-122"/>
                <a:cs typeface="Calibri" pitchFamily="34" charset="-120"/>
              </a:rPr>
              <a:t>aggregations &amp; history; never in claim or lease paths</a:t>
            </a:r>
            <a:endParaRPr lang="en-US" sz="1100" dirty="0"/>
          </a:p>
        </p:txBody>
      </p:sp>
      <p:sp>
        <p:nvSpPr>
          <p:cNvPr id="61" name="Shape 54"/>
          <p:cNvSpPr/>
          <p:nvPr/>
        </p:nvSpPr>
        <p:spPr>
          <a:xfrm>
            <a:off x="5715000" y="2788920"/>
            <a:ext cx="685800" cy="786384"/>
          </a:xfrm>
          <a:prstGeom prst="line">
            <a:avLst/>
          </a:prstGeom>
          <a:noFill/>
          <a:ln w="12700">
            <a:solidFill>
              <a:schemeClr val="tx1">
                <a:lumMod val="50000"/>
                <a:lumOff val="50000"/>
              </a:schemeClr>
            </a:solidFill>
            <a:prstDash val="dash"/>
            <a:headEnd type="none"/>
            <a:tailEnd type="triangle"/>
          </a:ln>
        </p:spPr>
        <p:txBody>
          <a:bodyPr/>
          <a:lstStyle/>
          <a:p>
            <a:endParaRPr lang="en-US"/>
          </a:p>
        </p:txBody>
      </p:sp>
      <p:sp>
        <p:nvSpPr>
          <p:cNvPr id="62" name="Shape 55"/>
          <p:cNvSpPr/>
          <p:nvPr/>
        </p:nvSpPr>
        <p:spPr>
          <a:xfrm>
            <a:off x="6400800" y="4069080"/>
            <a:ext cx="5330952" cy="749808"/>
          </a:xfrm>
          <a:prstGeom prst="roundRect">
            <a:avLst>
              <a:gd name="adj" fmla="val 7317"/>
            </a:avLst>
          </a:prstGeom>
          <a:solidFill>
            <a:schemeClr val="bg1"/>
          </a:solidFill>
          <a:ln/>
        </p:spPr>
        <p:txBody>
          <a:bodyPr/>
          <a:lstStyle/>
          <a:p>
            <a:endParaRPr lang="en-US"/>
          </a:p>
        </p:txBody>
      </p:sp>
      <p:sp>
        <p:nvSpPr>
          <p:cNvPr id="63" name="Shape 56"/>
          <p:cNvSpPr/>
          <p:nvPr/>
        </p:nvSpPr>
        <p:spPr>
          <a:xfrm>
            <a:off x="6400800" y="4069080"/>
            <a:ext cx="5330952" cy="749808"/>
          </a:xfrm>
          <a:prstGeom prst="roundRect">
            <a:avLst>
              <a:gd name="adj" fmla="val 7317"/>
            </a:avLst>
          </a:prstGeom>
          <a:solidFill>
            <a:srgbClr val="F2F5F9">
              <a:alpha val="6000"/>
            </a:srgbClr>
          </a:solidFill>
          <a:ln w="12700">
            <a:solidFill>
              <a:schemeClr val="tx1">
                <a:lumMod val="50000"/>
                <a:lumOff val="50000"/>
              </a:schemeClr>
            </a:solidFill>
            <a:prstDash val="dash"/>
          </a:ln>
        </p:spPr>
        <p:txBody>
          <a:bodyPr/>
          <a:lstStyle/>
          <a:p>
            <a:endParaRPr lang="en-US"/>
          </a:p>
        </p:txBody>
      </p:sp>
      <p:sp>
        <p:nvSpPr>
          <p:cNvPr id="64" name="Shape 57"/>
          <p:cNvSpPr/>
          <p:nvPr/>
        </p:nvSpPr>
        <p:spPr>
          <a:xfrm>
            <a:off x="6537960" y="4215384"/>
            <a:ext cx="457200" cy="457200"/>
          </a:xfrm>
          <a:prstGeom prst="ellipse">
            <a:avLst/>
          </a:prstGeom>
          <a:solidFill>
            <a:srgbClr val="6B7A8C"/>
          </a:solidFill>
          <a:ln/>
        </p:spPr>
        <p:txBody>
          <a:bodyPr/>
          <a:lstStyle/>
          <a:p>
            <a:endParaRPr lang="en-US"/>
          </a:p>
        </p:txBody>
      </p:sp>
      <p:pic>
        <p:nvPicPr>
          <p:cNvPr id="65" name="Image 4" descr="preencoded.png"/>
          <p:cNvPicPr>
            <a:picLocks noChangeAspect="1"/>
          </p:cNvPicPr>
          <p:nvPr/>
        </p:nvPicPr>
        <p:blipFill>
          <a:blip r:embed="rId7"/>
          <a:stretch>
            <a:fillRect/>
          </a:stretch>
        </p:blipFill>
        <p:spPr>
          <a:xfrm>
            <a:off x="6652260" y="4329684"/>
            <a:ext cx="228600" cy="228600"/>
          </a:xfrm>
          <a:prstGeom prst="rect">
            <a:avLst/>
          </a:prstGeom>
        </p:spPr>
      </p:pic>
      <p:sp>
        <p:nvSpPr>
          <p:cNvPr id="66" name="Text 58"/>
          <p:cNvSpPr txBox="1"/>
          <p:nvPr/>
        </p:nvSpPr>
        <p:spPr>
          <a:xfrm>
            <a:off x="7132320" y="4142232"/>
            <a:ext cx="20116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History archive</a:t>
            </a:r>
            <a:endParaRPr lang="en-US" sz="1300" dirty="0"/>
          </a:p>
        </p:txBody>
      </p:sp>
      <p:sp>
        <p:nvSpPr>
          <p:cNvPr id="67" name="Text 59"/>
          <p:cNvSpPr txBox="1"/>
          <p:nvPr/>
        </p:nvSpPr>
        <p:spPr>
          <a:xfrm>
            <a:off x="7132320" y="4453128"/>
            <a:ext cx="20116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cold storage</a:t>
            </a:r>
            <a:endParaRPr lang="en-US" sz="1100" dirty="0"/>
          </a:p>
        </p:txBody>
      </p:sp>
      <p:sp>
        <p:nvSpPr>
          <p:cNvPr id="68" name="Text 60"/>
          <p:cNvSpPr txBox="1"/>
          <p:nvPr/>
        </p:nvSpPr>
        <p:spPr>
          <a:xfrm>
            <a:off x="9052560" y="4123944"/>
            <a:ext cx="2560320" cy="640080"/>
          </a:xfrm>
          <a:prstGeom prst="rect">
            <a:avLst/>
          </a:prstGeom>
          <a:noFill/>
          <a:ln/>
        </p:spPr>
        <p:txBody>
          <a:bodyPr wrap="square" lIns="0" tIns="0" rIns="0" bIns="0" rtlCol="0" anchor="ctr"/>
          <a:lstStyle/>
          <a:p>
            <a:pPr marL="0" indent="0">
              <a:buNone/>
            </a:pPr>
            <a:r>
              <a:rPr lang="en-US" sz="1100" dirty="0">
                <a:solidFill>
                  <a:schemeClr val="tx1"/>
                </a:solidFill>
                <a:latin typeface="Calibri" pitchFamily="34" charset="0"/>
                <a:ea typeface="Calibri" pitchFamily="34" charset="-122"/>
                <a:cs typeface="Calibri" pitchFamily="34" charset="-120"/>
              </a:rPr>
              <a:t>terminal tasks moved out to shrink the working set</a:t>
            </a:r>
            <a:endParaRPr lang="en-US" sz="1100" dirty="0"/>
          </a:p>
        </p:txBody>
      </p:sp>
      <p:sp>
        <p:nvSpPr>
          <p:cNvPr id="69" name="Shape 61"/>
          <p:cNvSpPr/>
          <p:nvPr/>
        </p:nvSpPr>
        <p:spPr>
          <a:xfrm>
            <a:off x="5715000" y="2788920"/>
            <a:ext cx="685800" cy="1655064"/>
          </a:xfrm>
          <a:prstGeom prst="line">
            <a:avLst/>
          </a:prstGeom>
          <a:noFill/>
          <a:ln w="12700">
            <a:solidFill>
              <a:schemeClr val="tx1">
                <a:lumMod val="50000"/>
                <a:lumOff val="50000"/>
              </a:schemeClr>
            </a:solidFill>
            <a:prstDash val="dash"/>
            <a:headEnd type="none"/>
            <a:tailEnd type="triangle"/>
          </a:ln>
        </p:spPr>
        <p:txBody>
          <a:bodyPr/>
          <a:lstStyle/>
          <a:p>
            <a:endParaRPr lang="en-US"/>
          </a:p>
        </p:txBody>
      </p:sp>
      <p:sp>
        <p:nvSpPr>
          <p:cNvPr id="70" name="Shape 62"/>
          <p:cNvSpPr/>
          <p:nvPr/>
        </p:nvSpPr>
        <p:spPr>
          <a:xfrm>
            <a:off x="6400800" y="4937760"/>
            <a:ext cx="5330952" cy="749808"/>
          </a:xfrm>
          <a:prstGeom prst="roundRect">
            <a:avLst>
              <a:gd name="adj" fmla="val 7317"/>
            </a:avLst>
          </a:prstGeom>
          <a:solidFill>
            <a:schemeClr val="bg1"/>
          </a:solidFill>
          <a:ln/>
        </p:spPr>
        <p:txBody>
          <a:bodyPr/>
          <a:lstStyle/>
          <a:p>
            <a:endParaRPr lang="en-US"/>
          </a:p>
        </p:txBody>
      </p:sp>
      <p:sp>
        <p:nvSpPr>
          <p:cNvPr id="71" name="Shape 63"/>
          <p:cNvSpPr/>
          <p:nvPr/>
        </p:nvSpPr>
        <p:spPr>
          <a:xfrm>
            <a:off x="6400800" y="4937760"/>
            <a:ext cx="5330952" cy="749808"/>
          </a:xfrm>
          <a:prstGeom prst="roundRect">
            <a:avLst>
              <a:gd name="adj" fmla="val 7317"/>
            </a:avLst>
          </a:prstGeom>
          <a:solidFill>
            <a:srgbClr val="F2F5F9">
              <a:alpha val="6000"/>
            </a:srgbClr>
          </a:solidFill>
          <a:ln w="12700">
            <a:solidFill>
              <a:schemeClr val="tx1">
                <a:lumMod val="50000"/>
                <a:lumOff val="50000"/>
              </a:schemeClr>
            </a:solidFill>
            <a:prstDash val="dash"/>
          </a:ln>
        </p:spPr>
        <p:txBody>
          <a:bodyPr/>
          <a:lstStyle/>
          <a:p>
            <a:endParaRPr lang="en-US"/>
          </a:p>
        </p:txBody>
      </p:sp>
      <p:sp>
        <p:nvSpPr>
          <p:cNvPr id="72" name="Shape 64"/>
          <p:cNvSpPr/>
          <p:nvPr/>
        </p:nvSpPr>
        <p:spPr>
          <a:xfrm>
            <a:off x="6537960" y="5084064"/>
            <a:ext cx="457200" cy="457200"/>
          </a:xfrm>
          <a:prstGeom prst="ellipse">
            <a:avLst/>
          </a:prstGeom>
          <a:solidFill>
            <a:srgbClr val="6B7A8C"/>
          </a:solidFill>
          <a:ln/>
        </p:spPr>
        <p:txBody>
          <a:bodyPr/>
          <a:lstStyle/>
          <a:p>
            <a:endParaRPr lang="en-US"/>
          </a:p>
        </p:txBody>
      </p:sp>
      <p:pic>
        <p:nvPicPr>
          <p:cNvPr id="73" name="Image 5" descr="preencoded.png"/>
          <p:cNvPicPr>
            <a:picLocks noChangeAspect="1"/>
          </p:cNvPicPr>
          <p:nvPr/>
        </p:nvPicPr>
        <p:blipFill>
          <a:blip r:embed="rId8"/>
          <a:stretch>
            <a:fillRect/>
          </a:stretch>
        </p:blipFill>
        <p:spPr>
          <a:xfrm>
            <a:off x="6652260" y="5198364"/>
            <a:ext cx="228600" cy="228600"/>
          </a:xfrm>
          <a:prstGeom prst="rect">
            <a:avLst/>
          </a:prstGeom>
        </p:spPr>
      </p:pic>
      <p:sp>
        <p:nvSpPr>
          <p:cNvPr id="74" name="Text 65"/>
          <p:cNvSpPr txBox="1"/>
          <p:nvPr/>
        </p:nvSpPr>
        <p:spPr>
          <a:xfrm>
            <a:off x="7132320" y="5010912"/>
            <a:ext cx="201168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Cache / notify</a:t>
            </a:r>
            <a:endParaRPr lang="en-US" sz="1300" dirty="0"/>
          </a:p>
        </p:txBody>
      </p:sp>
      <p:sp>
        <p:nvSpPr>
          <p:cNvPr id="75" name="Text 66"/>
          <p:cNvSpPr txBox="1"/>
          <p:nvPr/>
        </p:nvSpPr>
        <p:spPr>
          <a:xfrm>
            <a:off x="7132320" y="5321808"/>
            <a:ext cx="2011680" cy="27432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Cluster gear</a:t>
            </a:r>
            <a:endParaRPr lang="en-US" sz="1100" dirty="0"/>
          </a:p>
        </p:txBody>
      </p:sp>
      <p:sp>
        <p:nvSpPr>
          <p:cNvPr id="76" name="Text 67"/>
          <p:cNvSpPr txBox="1"/>
          <p:nvPr/>
        </p:nvSpPr>
        <p:spPr>
          <a:xfrm>
            <a:off x="9052560" y="4992624"/>
            <a:ext cx="2560320" cy="640080"/>
          </a:xfrm>
          <a:prstGeom prst="rect">
            <a:avLst/>
          </a:prstGeom>
          <a:noFill/>
          <a:ln/>
        </p:spPr>
        <p:txBody>
          <a:bodyPr wrap="square" lIns="0" tIns="0" rIns="0" bIns="0" rtlCol="0" anchor="ctr"/>
          <a:lstStyle/>
          <a:p>
            <a:pPr marL="0" indent="0">
              <a:buNone/>
            </a:pPr>
            <a:r>
              <a:rPr lang="en-US" sz="1100" dirty="0">
                <a:solidFill>
                  <a:schemeClr val="tx1"/>
                </a:solidFill>
                <a:latin typeface="Calibri" pitchFamily="34" charset="0"/>
                <a:ea typeface="Calibri" pitchFamily="34" charset="-122"/>
                <a:cs typeface="Calibri" pitchFamily="34" charset="-120"/>
              </a:rPr>
              <a:t>acceleration only — e.g. ready-task cache (P2)</a:t>
            </a:r>
            <a:endParaRPr lang="en-US" sz="1100" dirty="0"/>
          </a:p>
        </p:txBody>
      </p:sp>
      <p:sp>
        <p:nvSpPr>
          <p:cNvPr id="77" name="Shape 68"/>
          <p:cNvSpPr/>
          <p:nvPr/>
        </p:nvSpPr>
        <p:spPr>
          <a:xfrm>
            <a:off x="5715000" y="2788920"/>
            <a:ext cx="685800" cy="2523744"/>
          </a:xfrm>
          <a:prstGeom prst="line">
            <a:avLst/>
          </a:prstGeom>
          <a:noFill/>
          <a:ln w="12700">
            <a:solidFill>
              <a:schemeClr val="tx1">
                <a:lumMod val="50000"/>
                <a:lumOff val="50000"/>
              </a:schemeClr>
            </a:solidFill>
            <a:prstDash val="dash"/>
            <a:headEnd type="none"/>
            <a:tailEnd type="triangle"/>
          </a:ln>
        </p:spPr>
        <p:txBody>
          <a:bodyPr/>
          <a:lstStyle/>
          <a:p>
            <a:endParaRPr lang="en-US"/>
          </a:p>
        </p:txBody>
      </p:sp>
      <p:sp>
        <p:nvSpPr>
          <p:cNvPr id="78" name="Text 69"/>
          <p:cNvSpPr txBox="1"/>
          <p:nvPr/>
        </p:nvSpPr>
        <p:spPr>
          <a:xfrm>
            <a:off x="6400800" y="5870448"/>
            <a:ext cx="5330952" cy="274320"/>
          </a:xfrm>
          <a:prstGeom prst="rect">
            <a:avLst/>
          </a:prstGeom>
          <a:noFill/>
          <a:ln/>
        </p:spPr>
        <p:txBody>
          <a:bodyPr wrap="square" lIns="0" tIns="0" rIns="0" bIns="0" rtlCol="0" anchor="t"/>
          <a:lstStyle/>
          <a:p>
            <a:pPr marL="0" indent="0">
              <a:buNone/>
            </a:pPr>
            <a:r>
              <a:rPr lang="en-US" sz="1100" i="1" dirty="0">
                <a:solidFill>
                  <a:schemeClr val="tx2"/>
                </a:solidFill>
                <a:latin typeface="Calibri" pitchFamily="34" charset="0"/>
                <a:ea typeface="Calibri" pitchFamily="34" charset="-122"/>
                <a:cs typeface="Calibri" pitchFamily="34" charset="-120"/>
              </a:rPr>
              <a:t>Optional / future · compile-time modules · introduced only for a measured need</a:t>
            </a:r>
            <a:endParaRPr lang="en-US" sz="11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1DE7C-FE94-4631-B6FB-A0AF4AEB7FAB}"/>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A38021B1-BB43-BC24-53C4-E7412FE4FAC1}"/>
              </a:ext>
            </a:extLst>
          </p:cNvPr>
          <p:cNvSpPr txBox="1">
            <a:spLocks/>
          </p:cNvSpPr>
          <p:nvPr/>
        </p:nvSpPr>
        <p:spPr>
          <a:xfrm>
            <a:off x="731520" y="1828800"/>
            <a:ext cx="2743200" cy="640080"/>
          </a:xfrm>
          <a:prstGeom prst="rect">
            <a:avLst/>
          </a:prstGeom>
          <a:noFill/>
          <a:ln/>
        </p:spPr>
        <p:txBody>
          <a:bodyPr wrap="square" lIns="0" tIns="0" rIns="0" bIns="0" rtlCol="0"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800" b="1" dirty="0">
                <a:solidFill>
                  <a:srgbClr val="6BA5F0"/>
                </a:solidFill>
              </a:rPr>
              <a:t>02</a:t>
            </a:r>
            <a:endParaRPr lang="en-US" sz="2800" dirty="0">
              <a:solidFill>
                <a:srgbClr val="6BA5F0"/>
              </a:solidFill>
            </a:endParaRPr>
          </a:p>
        </p:txBody>
      </p:sp>
      <p:sp>
        <p:nvSpPr>
          <p:cNvPr id="7" name="Text 0">
            <a:extLst>
              <a:ext uri="{FF2B5EF4-FFF2-40B4-BE49-F238E27FC236}">
                <a16:creationId xmlns:a16="http://schemas.microsoft.com/office/drawing/2014/main" id="{E80D1C72-6AE3-6501-657D-319280B18F03}"/>
              </a:ext>
            </a:extLst>
          </p:cNvPr>
          <p:cNvSpPr>
            <a:spLocks noGrp="1"/>
          </p:cNvSpPr>
          <p:nvPr>
            <p:ph type="title" idx="101" hasCustomPrompt="1"/>
          </p:nvPr>
        </p:nvSpPr>
        <p:spPr>
          <a:xfrm>
            <a:off x="731520" y="2514600"/>
            <a:ext cx="10058400" cy="1005840"/>
          </a:xfrm>
          <a:prstGeom prst="rect">
            <a:avLst/>
          </a:prstGeom>
          <a:noFill/>
          <a:ln/>
        </p:spPr>
        <p:txBody>
          <a:bodyPr wrap="square" lIns="0" tIns="0" rIns="0" bIns="0" rtlCol="0" anchor="t"/>
          <a:lstStyle/>
          <a:p>
            <a:pPr marL="0" indent="0" algn="l">
              <a:buNone/>
            </a:pPr>
            <a:r>
              <a:rPr lang="en-US" sz="4400" b="1" dirty="0">
                <a:solidFill>
                  <a:schemeClr val="bg1"/>
                </a:solidFill>
                <a:latin typeface="Arial" pitchFamily="34" charset="0"/>
                <a:ea typeface="Arial" pitchFamily="34" charset="-122"/>
                <a:cs typeface="Arial" pitchFamily="34" charset="-120"/>
              </a:rPr>
              <a:t>Architecture</a:t>
            </a:r>
            <a:endParaRPr lang="en-US" sz="4400" dirty="0"/>
          </a:p>
        </p:txBody>
      </p:sp>
      <p:sp>
        <p:nvSpPr>
          <p:cNvPr id="8" name="Text 0">
            <a:extLst>
              <a:ext uri="{FF2B5EF4-FFF2-40B4-BE49-F238E27FC236}">
                <a16:creationId xmlns:a16="http://schemas.microsoft.com/office/drawing/2014/main" id="{7F091FDA-3393-67FD-BA37-881DA61E069B}"/>
              </a:ext>
            </a:extLst>
          </p:cNvPr>
          <p:cNvSpPr>
            <a:spLocks noGrp="1"/>
          </p:cNvSpPr>
          <p:nvPr>
            <p:ph type="body" idx="102" hasCustomPrompt="1"/>
          </p:nvPr>
        </p:nvSpPr>
        <p:spPr>
          <a:xfrm>
            <a:off x="731520" y="3611880"/>
            <a:ext cx="9144000" cy="822960"/>
          </a:xfrm>
          <a:prstGeom prst="rect">
            <a:avLst/>
          </a:prstGeom>
          <a:noFill/>
          <a:ln/>
        </p:spPr>
        <p:txBody>
          <a:bodyPr wrap="square" lIns="0" tIns="0" rIns="0" bIns="0" rtlCol="0" anchor="t"/>
          <a:lstStyle/>
          <a:p>
            <a:pPr marL="0" indent="0">
              <a:buNone/>
            </a:pPr>
            <a:r>
              <a:rPr lang="en-US" sz="2000" dirty="0"/>
              <a:t>Components, layers, domain model, state machine and storage</a:t>
            </a:r>
          </a:p>
        </p:txBody>
      </p:sp>
      <p:pic>
        <p:nvPicPr>
          <p:cNvPr id="9" name="Image 0" descr="preencoded.png">
            <a:extLst>
              <a:ext uri="{FF2B5EF4-FFF2-40B4-BE49-F238E27FC236}">
                <a16:creationId xmlns:a16="http://schemas.microsoft.com/office/drawing/2014/main" id="{137DA50B-4C42-A983-0060-485B43F043CF}"/>
              </a:ext>
            </a:extLst>
          </p:cNvPr>
          <p:cNvPicPr>
            <a:picLocks noChangeAspect="1"/>
          </p:cNvPicPr>
          <p:nvPr/>
        </p:nvPicPr>
        <p:blipFill>
          <a:blip r:embed="rId3">
            <a:alphaModFix amt="25000"/>
          </a:blip>
          <a:stretch>
            <a:fillRect/>
          </a:stretch>
        </p:blipFill>
        <p:spPr>
          <a:xfrm>
            <a:off x="9509760" y="1920240"/>
            <a:ext cx="1828800" cy="1828800"/>
          </a:xfrm>
          <a:prstGeom prst="rect">
            <a:avLst/>
          </a:prstGeom>
        </p:spPr>
      </p:pic>
      <p:sp>
        <p:nvSpPr>
          <p:cNvPr id="10" name="Shape 3">
            <a:extLst>
              <a:ext uri="{FF2B5EF4-FFF2-40B4-BE49-F238E27FC236}">
                <a16:creationId xmlns:a16="http://schemas.microsoft.com/office/drawing/2014/main" id="{233219B9-8FB0-BE5A-C780-F073E3909E07}"/>
              </a:ext>
            </a:extLst>
          </p:cNvPr>
          <p:cNvSpPr/>
          <p:nvPr/>
        </p:nvSpPr>
        <p:spPr>
          <a:xfrm>
            <a:off x="731520" y="4937760"/>
            <a:ext cx="1255649" cy="384048"/>
          </a:xfrm>
          <a:prstGeom prst="roundRect">
            <a:avLst>
              <a:gd name="adj" fmla="val 50000"/>
            </a:avLst>
          </a:prstGeom>
          <a:solidFill>
            <a:schemeClr val="bg1">
              <a:alpha val="10000"/>
            </a:schemeClr>
          </a:solidFill>
          <a:ln w="12700">
            <a:noFill/>
            <a:prstDash val="solid"/>
          </a:ln>
          <a:effectLst>
            <a:outerShdw blurRad="63500" sx="102000" sy="102000" algn="ctr" rotWithShape="0">
              <a:prstClr val="black">
                <a:alpha val="40000"/>
              </a:prstClr>
            </a:outerShdw>
          </a:effectLst>
        </p:spPr>
        <p:txBody>
          <a:bodyPr/>
          <a:lstStyle/>
          <a:p>
            <a:endParaRPr lang="en-US"/>
          </a:p>
        </p:txBody>
      </p:sp>
      <p:sp>
        <p:nvSpPr>
          <p:cNvPr id="11" name="Text 4">
            <a:extLst>
              <a:ext uri="{FF2B5EF4-FFF2-40B4-BE49-F238E27FC236}">
                <a16:creationId xmlns:a16="http://schemas.microsoft.com/office/drawing/2014/main" id="{69C6C11E-A1B2-272E-5AED-105F75CBA61F}"/>
              </a:ext>
            </a:extLst>
          </p:cNvPr>
          <p:cNvSpPr txBox="1"/>
          <p:nvPr/>
        </p:nvSpPr>
        <p:spPr>
          <a:xfrm>
            <a:off x="731520" y="4938886"/>
            <a:ext cx="1255649"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Big picture</a:t>
            </a:r>
            <a:endParaRPr lang="en-US" sz="1300" dirty="0"/>
          </a:p>
        </p:txBody>
      </p:sp>
      <p:sp>
        <p:nvSpPr>
          <p:cNvPr id="12" name="Shape 5">
            <a:extLst>
              <a:ext uri="{FF2B5EF4-FFF2-40B4-BE49-F238E27FC236}">
                <a16:creationId xmlns:a16="http://schemas.microsoft.com/office/drawing/2014/main" id="{043D78A3-D72E-CFD4-9F9F-E527258AC619}"/>
              </a:ext>
            </a:extLst>
          </p:cNvPr>
          <p:cNvSpPr/>
          <p:nvPr/>
        </p:nvSpPr>
        <p:spPr>
          <a:xfrm>
            <a:off x="2124329" y="4937760"/>
            <a:ext cx="1579245" cy="384048"/>
          </a:xfrm>
          <a:prstGeom prst="roundRect">
            <a:avLst>
              <a:gd name="adj" fmla="val 50000"/>
            </a:avLst>
          </a:prstGeom>
          <a:solidFill>
            <a:schemeClr val="bg1">
              <a:alpha val="10000"/>
            </a:schemeClr>
          </a:solidFill>
          <a:ln w="12700">
            <a:noFill/>
            <a:prstDash val="solid"/>
          </a:ln>
          <a:effectLst>
            <a:outerShdw blurRad="63500" sx="102000" sy="102000" algn="ctr" rotWithShape="0">
              <a:prstClr val="black">
                <a:alpha val="40000"/>
              </a:prstClr>
            </a:outerShdw>
          </a:effectLst>
        </p:spPr>
        <p:txBody>
          <a:bodyPr/>
          <a:lstStyle/>
          <a:p>
            <a:endParaRPr lang="en-US"/>
          </a:p>
        </p:txBody>
      </p:sp>
      <p:sp>
        <p:nvSpPr>
          <p:cNvPr id="13" name="Text 6">
            <a:extLst>
              <a:ext uri="{FF2B5EF4-FFF2-40B4-BE49-F238E27FC236}">
                <a16:creationId xmlns:a16="http://schemas.microsoft.com/office/drawing/2014/main" id="{600C3262-FB90-6A8D-7360-9D1F999EF565}"/>
              </a:ext>
            </a:extLst>
          </p:cNvPr>
          <p:cNvSpPr txBox="1"/>
          <p:nvPr/>
        </p:nvSpPr>
        <p:spPr>
          <a:xfrm>
            <a:off x="2124329" y="4938886"/>
            <a:ext cx="1579245"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Layers &amp; crates</a:t>
            </a:r>
            <a:endParaRPr lang="en-US" sz="1300" dirty="0"/>
          </a:p>
        </p:txBody>
      </p:sp>
      <p:sp>
        <p:nvSpPr>
          <p:cNvPr id="14" name="Shape 7">
            <a:extLst>
              <a:ext uri="{FF2B5EF4-FFF2-40B4-BE49-F238E27FC236}">
                <a16:creationId xmlns:a16="http://schemas.microsoft.com/office/drawing/2014/main" id="{D209AA6A-C073-745B-6C2B-33D80C804F85}"/>
              </a:ext>
            </a:extLst>
          </p:cNvPr>
          <p:cNvSpPr/>
          <p:nvPr/>
        </p:nvSpPr>
        <p:spPr>
          <a:xfrm>
            <a:off x="3840734" y="4937760"/>
            <a:ext cx="1336548" cy="384048"/>
          </a:xfrm>
          <a:prstGeom prst="roundRect">
            <a:avLst>
              <a:gd name="adj" fmla="val 50000"/>
            </a:avLst>
          </a:prstGeom>
          <a:solidFill>
            <a:schemeClr val="bg1">
              <a:alpha val="10000"/>
            </a:schemeClr>
          </a:solidFill>
          <a:ln w="12700">
            <a:noFill/>
            <a:prstDash val="solid"/>
          </a:ln>
          <a:effectLst>
            <a:outerShdw blurRad="63500" sx="102000" sy="102000" algn="ctr" rotWithShape="0">
              <a:prstClr val="black">
                <a:alpha val="40000"/>
              </a:prstClr>
            </a:outerShdw>
          </a:effectLst>
        </p:spPr>
        <p:txBody>
          <a:bodyPr/>
          <a:lstStyle/>
          <a:p>
            <a:endParaRPr lang="en-US"/>
          </a:p>
        </p:txBody>
      </p:sp>
      <p:sp>
        <p:nvSpPr>
          <p:cNvPr id="15" name="Text 8">
            <a:extLst>
              <a:ext uri="{FF2B5EF4-FFF2-40B4-BE49-F238E27FC236}">
                <a16:creationId xmlns:a16="http://schemas.microsoft.com/office/drawing/2014/main" id="{B6572C44-48F6-D38F-57CF-AB16116D78D0}"/>
              </a:ext>
            </a:extLst>
          </p:cNvPr>
          <p:cNvSpPr txBox="1"/>
          <p:nvPr/>
        </p:nvSpPr>
        <p:spPr>
          <a:xfrm>
            <a:off x="3840734" y="4938886"/>
            <a:ext cx="1336548"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Domain model</a:t>
            </a:r>
            <a:endParaRPr lang="en-US" sz="1300" dirty="0"/>
          </a:p>
        </p:txBody>
      </p:sp>
      <p:sp>
        <p:nvSpPr>
          <p:cNvPr id="16" name="Shape 9">
            <a:extLst>
              <a:ext uri="{FF2B5EF4-FFF2-40B4-BE49-F238E27FC236}">
                <a16:creationId xmlns:a16="http://schemas.microsoft.com/office/drawing/2014/main" id="{F8616A86-26B2-ED16-B3F5-4B339D01948F}"/>
              </a:ext>
            </a:extLst>
          </p:cNvPr>
          <p:cNvSpPr/>
          <p:nvPr/>
        </p:nvSpPr>
        <p:spPr>
          <a:xfrm>
            <a:off x="5314442" y="4937760"/>
            <a:ext cx="1417447" cy="384048"/>
          </a:xfrm>
          <a:prstGeom prst="roundRect">
            <a:avLst>
              <a:gd name="adj" fmla="val 50000"/>
            </a:avLst>
          </a:prstGeom>
          <a:solidFill>
            <a:schemeClr val="bg1">
              <a:alpha val="10000"/>
            </a:schemeClr>
          </a:solidFill>
          <a:ln w="12700">
            <a:noFill/>
            <a:prstDash val="solid"/>
          </a:ln>
          <a:effectLst>
            <a:outerShdw blurRad="63500" sx="102000" sy="102000" algn="ctr" rotWithShape="0">
              <a:prstClr val="black">
                <a:alpha val="40000"/>
              </a:prstClr>
            </a:outerShdw>
          </a:effectLst>
        </p:spPr>
        <p:txBody>
          <a:bodyPr/>
          <a:lstStyle/>
          <a:p>
            <a:endParaRPr lang="en-US"/>
          </a:p>
        </p:txBody>
      </p:sp>
      <p:sp>
        <p:nvSpPr>
          <p:cNvPr id="17" name="Text 10">
            <a:extLst>
              <a:ext uri="{FF2B5EF4-FFF2-40B4-BE49-F238E27FC236}">
                <a16:creationId xmlns:a16="http://schemas.microsoft.com/office/drawing/2014/main" id="{1970855A-F834-76B9-9A98-3AC8E214A44B}"/>
              </a:ext>
            </a:extLst>
          </p:cNvPr>
          <p:cNvSpPr txBox="1"/>
          <p:nvPr/>
        </p:nvSpPr>
        <p:spPr>
          <a:xfrm>
            <a:off x="5314442" y="4938886"/>
            <a:ext cx="1417447"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State machine</a:t>
            </a:r>
            <a:endParaRPr lang="en-US" sz="1300" dirty="0"/>
          </a:p>
        </p:txBody>
      </p:sp>
      <p:sp>
        <p:nvSpPr>
          <p:cNvPr id="18" name="Shape 11">
            <a:extLst>
              <a:ext uri="{FF2B5EF4-FFF2-40B4-BE49-F238E27FC236}">
                <a16:creationId xmlns:a16="http://schemas.microsoft.com/office/drawing/2014/main" id="{D495C53A-6561-8F06-0D42-0EFDC317A1BE}"/>
              </a:ext>
            </a:extLst>
          </p:cNvPr>
          <p:cNvSpPr/>
          <p:nvPr/>
        </p:nvSpPr>
        <p:spPr>
          <a:xfrm>
            <a:off x="6869049" y="4937760"/>
            <a:ext cx="932053" cy="384048"/>
          </a:xfrm>
          <a:prstGeom prst="roundRect">
            <a:avLst>
              <a:gd name="adj" fmla="val 50000"/>
            </a:avLst>
          </a:prstGeom>
          <a:solidFill>
            <a:schemeClr val="bg1">
              <a:alpha val="10000"/>
            </a:schemeClr>
          </a:solidFill>
          <a:ln w="12700">
            <a:noFill/>
            <a:prstDash val="solid"/>
          </a:ln>
          <a:effectLst>
            <a:outerShdw blurRad="63500" sx="102000" sy="102000" algn="ctr" rotWithShape="0">
              <a:prstClr val="black">
                <a:alpha val="40000"/>
              </a:prstClr>
            </a:outerShdw>
          </a:effectLst>
        </p:spPr>
        <p:txBody>
          <a:bodyPr/>
          <a:lstStyle/>
          <a:p>
            <a:endParaRPr lang="en-US"/>
          </a:p>
        </p:txBody>
      </p:sp>
      <p:sp>
        <p:nvSpPr>
          <p:cNvPr id="19" name="Text 12">
            <a:extLst>
              <a:ext uri="{FF2B5EF4-FFF2-40B4-BE49-F238E27FC236}">
                <a16:creationId xmlns:a16="http://schemas.microsoft.com/office/drawing/2014/main" id="{317A89D9-27A6-E234-E556-0BE94182E4FB}"/>
              </a:ext>
            </a:extLst>
          </p:cNvPr>
          <p:cNvSpPr txBox="1"/>
          <p:nvPr/>
        </p:nvSpPr>
        <p:spPr>
          <a:xfrm>
            <a:off x="6869049" y="4938886"/>
            <a:ext cx="932053"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Storage</a:t>
            </a:r>
            <a:endParaRPr lang="en-US" sz="1300" dirty="0"/>
          </a:p>
        </p:txBody>
      </p:sp>
    </p:spTree>
    <p:extLst>
      <p:ext uri="{BB962C8B-B14F-4D97-AF65-F5344CB8AC3E}">
        <p14:creationId xmlns:p14="http://schemas.microsoft.com/office/powerpoint/2010/main" val="3762545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Big picture: one gear, one database, platform gears</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Every entry point funnels through the same authorization chain into five domain services</a:t>
            </a:r>
            <a:endParaRPr lang="en-US" sz="1600" dirty="0"/>
          </a:p>
        </p:txBody>
      </p:sp>
      <p:sp>
        <p:nvSpPr>
          <p:cNvPr id="5" name="Shape 2"/>
          <p:cNvSpPr/>
          <p:nvPr/>
        </p:nvSpPr>
        <p:spPr>
          <a:xfrm>
            <a:off x="457200" y="1691640"/>
            <a:ext cx="1645920" cy="566928"/>
          </a:xfrm>
          <a:prstGeom prst="roundRect">
            <a:avLst>
              <a:gd name="adj" fmla="val 9677"/>
            </a:avLst>
          </a:prstGeom>
          <a:solidFill>
            <a:schemeClr val="bg1"/>
          </a:solidFill>
          <a:ln/>
        </p:spPr>
        <p:txBody>
          <a:bodyPr/>
          <a:lstStyle/>
          <a:p>
            <a:endParaRPr lang="en-US"/>
          </a:p>
        </p:txBody>
      </p:sp>
      <p:sp>
        <p:nvSpPr>
          <p:cNvPr id="6" name="Shape 3"/>
          <p:cNvSpPr/>
          <p:nvPr/>
        </p:nvSpPr>
        <p:spPr>
          <a:xfrm>
            <a:off x="457200" y="1691640"/>
            <a:ext cx="1645920" cy="566928"/>
          </a:xfrm>
          <a:prstGeom prst="roundRect">
            <a:avLst>
              <a:gd name="adj" fmla="val 9677"/>
            </a:avLst>
          </a:prstGeom>
          <a:solidFill>
            <a:schemeClr val="bg1">
              <a:lumMod val="85000"/>
              <a:alpha val="16000"/>
            </a:schemeClr>
          </a:solidFill>
          <a:ln w="15875">
            <a:solidFill>
              <a:schemeClr val="tx1">
                <a:lumMod val="50000"/>
                <a:lumOff val="50000"/>
              </a:schemeClr>
            </a:solidFill>
            <a:prstDash val="solid"/>
          </a:ln>
        </p:spPr>
        <p:txBody>
          <a:bodyPr/>
          <a:lstStyle/>
          <a:p>
            <a:endParaRPr lang="en-US"/>
          </a:p>
        </p:txBody>
      </p:sp>
      <p:sp>
        <p:nvSpPr>
          <p:cNvPr id="7" name="Text 4"/>
          <p:cNvSpPr txBox="1"/>
          <p:nvPr/>
        </p:nvSpPr>
        <p:spPr>
          <a:xfrm>
            <a:off x="512064" y="1691640"/>
            <a:ext cx="1536192" cy="566928"/>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API consumer</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REST</a:t>
            </a:r>
            <a:endParaRPr lang="en-US" sz="1200" dirty="0"/>
          </a:p>
        </p:txBody>
      </p:sp>
      <p:sp>
        <p:nvSpPr>
          <p:cNvPr id="8" name="Shape 5"/>
          <p:cNvSpPr/>
          <p:nvPr/>
        </p:nvSpPr>
        <p:spPr>
          <a:xfrm>
            <a:off x="457200" y="2395728"/>
            <a:ext cx="1645920" cy="566928"/>
          </a:xfrm>
          <a:prstGeom prst="roundRect">
            <a:avLst>
              <a:gd name="adj" fmla="val 9677"/>
            </a:avLst>
          </a:prstGeom>
          <a:solidFill>
            <a:schemeClr val="bg1"/>
          </a:solidFill>
          <a:ln/>
        </p:spPr>
        <p:txBody>
          <a:bodyPr/>
          <a:lstStyle/>
          <a:p>
            <a:endParaRPr lang="en-US"/>
          </a:p>
        </p:txBody>
      </p:sp>
      <p:sp>
        <p:nvSpPr>
          <p:cNvPr id="9" name="Shape 6"/>
          <p:cNvSpPr/>
          <p:nvPr/>
        </p:nvSpPr>
        <p:spPr>
          <a:xfrm>
            <a:off x="457200" y="2395728"/>
            <a:ext cx="1645920" cy="566928"/>
          </a:xfrm>
          <a:prstGeom prst="roundRect">
            <a:avLst>
              <a:gd name="adj" fmla="val 9677"/>
            </a:avLst>
          </a:prstGeom>
          <a:solidFill>
            <a:schemeClr val="bg1">
              <a:lumMod val="85000"/>
              <a:alpha val="16000"/>
            </a:schemeClr>
          </a:solidFill>
          <a:ln w="15875">
            <a:solidFill>
              <a:schemeClr val="tx1">
                <a:lumMod val="50000"/>
                <a:lumOff val="50000"/>
              </a:schemeClr>
            </a:solidFill>
            <a:prstDash val="solid"/>
          </a:ln>
        </p:spPr>
        <p:txBody>
          <a:bodyPr/>
          <a:lstStyle/>
          <a:p>
            <a:endParaRPr lang="en-US"/>
          </a:p>
        </p:txBody>
      </p:sp>
      <p:sp>
        <p:nvSpPr>
          <p:cNvPr id="10" name="Text 7"/>
          <p:cNvSpPr txBox="1"/>
          <p:nvPr/>
        </p:nvSpPr>
        <p:spPr>
          <a:xfrm>
            <a:off x="512064" y="2395728"/>
            <a:ext cx="1536192" cy="566928"/>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Worker</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REST / SDK</a:t>
            </a:r>
            <a:endParaRPr lang="en-US" sz="1200" dirty="0"/>
          </a:p>
        </p:txBody>
      </p:sp>
      <p:sp>
        <p:nvSpPr>
          <p:cNvPr id="11" name="Shape 8"/>
          <p:cNvSpPr/>
          <p:nvPr/>
        </p:nvSpPr>
        <p:spPr>
          <a:xfrm>
            <a:off x="457200" y="3154680"/>
            <a:ext cx="1645920" cy="566928"/>
          </a:xfrm>
          <a:prstGeom prst="roundRect">
            <a:avLst>
              <a:gd name="adj" fmla="val 9677"/>
            </a:avLst>
          </a:prstGeom>
          <a:solidFill>
            <a:schemeClr val="bg1"/>
          </a:solidFill>
          <a:ln/>
        </p:spPr>
        <p:txBody>
          <a:bodyPr/>
          <a:lstStyle/>
          <a:p>
            <a:endParaRPr lang="en-US"/>
          </a:p>
        </p:txBody>
      </p:sp>
      <p:sp>
        <p:nvSpPr>
          <p:cNvPr id="12" name="Shape 9"/>
          <p:cNvSpPr/>
          <p:nvPr/>
        </p:nvSpPr>
        <p:spPr>
          <a:xfrm>
            <a:off x="457200" y="3154680"/>
            <a:ext cx="1645920" cy="566928"/>
          </a:xfrm>
          <a:prstGeom prst="roundRect">
            <a:avLst>
              <a:gd name="adj" fmla="val 9677"/>
            </a:avLst>
          </a:prstGeom>
          <a:solidFill>
            <a:schemeClr val="bg1">
              <a:lumMod val="85000"/>
              <a:alpha val="16000"/>
            </a:schemeClr>
          </a:solidFill>
          <a:ln w="15875">
            <a:solidFill>
              <a:schemeClr val="tx1">
                <a:lumMod val="50000"/>
                <a:lumOff val="50000"/>
              </a:schemeClr>
            </a:solidFill>
            <a:prstDash val="solid"/>
          </a:ln>
        </p:spPr>
        <p:txBody>
          <a:bodyPr/>
          <a:lstStyle/>
          <a:p>
            <a:endParaRPr lang="en-US"/>
          </a:p>
        </p:txBody>
      </p:sp>
      <p:sp>
        <p:nvSpPr>
          <p:cNvPr id="13" name="Text 10"/>
          <p:cNvSpPr txBox="1"/>
          <p:nvPr/>
        </p:nvSpPr>
        <p:spPr>
          <a:xfrm>
            <a:off x="512064" y="3154680"/>
            <a:ext cx="1536192" cy="566928"/>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Other gear</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in-process SDK</a:t>
            </a:r>
            <a:endParaRPr lang="en-US" sz="1200" dirty="0"/>
          </a:p>
        </p:txBody>
      </p:sp>
      <p:sp>
        <p:nvSpPr>
          <p:cNvPr id="14" name="Shape 11"/>
          <p:cNvSpPr/>
          <p:nvPr/>
        </p:nvSpPr>
        <p:spPr>
          <a:xfrm>
            <a:off x="2423160" y="1417320"/>
            <a:ext cx="6675120" cy="3840480"/>
          </a:xfrm>
          <a:prstGeom prst="roundRect">
            <a:avLst>
              <a:gd name="adj" fmla="val 952"/>
            </a:avLst>
          </a:prstGeom>
          <a:solidFill>
            <a:schemeClr val="accent1">
              <a:alpha val="5000"/>
            </a:schemeClr>
          </a:solidFill>
          <a:ln w="19050">
            <a:solidFill>
              <a:schemeClr val="bg2">
                <a:lumMod val="50000"/>
                <a:alpha val="49867"/>
              </a:schemeClr>
            </a:solidFill>
            <a:prstDash val="dash"/>
          </a:ln>
        </p:spPr>
        <p:txBody>
          <a:bodyPr/>
          <a:lstStyle/>
          <a:p>
            <a:endParaRPr lang="en-US"/>
          </a:p>
        </p:txBody>
      </p:sp>
      <p:sp>
        <p:nvSpPr>
          <p:cNvPr id="15" name="Text 12"/>
          <p:cNvSpPr txBox="1"/>
          <p:nvPr/>
        </p:nvSpPr>
        <p:spPr>
          <a:xfrm>
            <a:off x="2560320" y="1463040"/>
            <a:ext cx="4572000" cy="256032"/>
          </a:xfrm>
          <a:prstGeom prst="rect">
            <a:avLst/>
          </a:prstGeom>
          <a:noFill/>
          <a:ln/>
        </p:spPr>
        <p:txBody>
          <a:bodyPr wrap="square" lIns="0" tIns="0" rIns="0" bIns="0" rtlCol="0" anchor="t"/>
          <a:lstStyle/>
          <a:p>
            <a:pPr marL="0" indent="0">
              <a:buNone/>
            </a:pPr>
            <a:r>
              <a:rPr lang="en-US" sz="1100" b="1" dirty="0">
                <a:solidFill>
                  <a:schemeClr val="tx2"/>
                </a:solidFill>
                <a:latin typeface="Calibri" pitchFamily="34" charset="0"/>
                <a:ea typeface="Calibri" pitchFamily="34" charset="-122"/>
                <a:cs typeface="Calibri" pitchFamily="34" charset="-120"/>
              </a:rPr>
              <a:t>task-engine gear  (single binary · N instances)</a:t>
            </a:r>
            <a:endParaRPr lang="en-US" sz="1100" dirty="0"/>
          </a:p>
        </p:txBody>
      </p:sp>
      <p:sp>
        <p:nvSpPr>
          <p:cNvPr id="16" name="Shape 13"/>
          <p:cNvSpPr/>
          <p:nvPr/>
        </p:nvSpPr>
        <p:spPr>
          <a:xfrm>
            <a:off x="2606040" y="1783080"/>
            <a:ext cx="1600200" cy="868680"/>
          </a:xfrm>
          <a:prstGeom prst="roundRect">
            <a:avLst>
              <a:gd name="adj" fmla="val 6316"/>
            </a:avLst>
          </a:prstGeom>
          <a:solidFill>
            <a:schemeClr val="bg1"/>
          </a:solidFill>
          <a:ln/>
        </p:spPr>
        <p:txBody>
          <a:bodyPr/>
          <a:lstStyle/>
          <a:p>
            <a:endParaRPr lang="en-US"/>
          </a:p>
        </p:txBody>
      </p:sp>
      <p:sp>
        <p:nvSpPr>
          <p:cNvPr id="17" name="Shape 14"/>
          <p:cNvSpPr/>
          <p:nvPr/>
        </p:nvSpPr>
        <p:spPr>
          <a:xfrm>
            <a:off x="2606040" y="1783080"/>
            <a:ext cx="1600200" cy="868680"/>
          </a:xfrm>
          <a:prstGeom prst="roundRect">
            <a:avLst>
              <a:gd name="adj" fmla="val 6316"/>
            </a:avLst>
          </a:prstGeom>
          <a:solidFill>
            <a:srgbClr val="BBD2F9"/>
          </a:solidFill>
          <a:ln w="15875">
            <a:solidFill>
              <a:schemeClr val="accent1"/>
            </a:solidFill>
            <a:prstDash val="solid"/>
          </a:ln>
        </p:spPr>
        <p:txBody>
          <a:bodyPr/>
          <a:lstStyle/>
          <a:p>
            <a:endParaRPr lang="en-US"/>
          </a:p>
        </p:txBody>
      </p:sp>
      <p:sp>
        <p:nvSpPr>
          <p:cNvPr id="18" name="Text 15"/>
          <p:cNvSpPr txBox="1"/>
          <p:nvPr/>
        </p:nvSpPr>
        <p:spPr>
          <a:xfrm>
            <a:off x="2660904" y="1783080"/>
            <a:ext cx="1490472" cy="86868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REST API</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Axum · OperationBuilder</a:t>
            </a:r>
            <a:endParaRPr lang="en-US" sz="1200" dirty="0"/>
          </a:p>
        </p:txBody>
      </p:sp>
      <p:sp>
        <p:nvSpPr>
          <p:cNvPr id="19" name="Shape 16"/>
          <p:cNvSpPr/>
          <p:nvPr/>
        </p:nvSpPr>
        <p:spPr>
          <a:xfrm>
            <a:off x="2606040" y="2834640"/>
            <a:ext cx="1600200" cy="868680"/>
          </a:xfrm>
          <a:prstGeom prst="roundRect">
            <a:avLst>
              <a:gd name="adj" fmla="val 6316"/>
            </a:avLst>
          </a:prstGeom>
          <a:solidFill>
            <a:schemeClr val="bg1"/>
          </a:solidFill>
          <a:ln/>
        </p:spPr>
        <p:txBody>
          <a:bodyPr/>
          <a:lstStyle/>
          <a:p>
            <a:endParaRPr lang="en-US"/>
          </a:p>
        </p:txBody>
      </p:sp>
      <p:sp>
        <p:nvSpPr>
          <p:cNvPr id="20" name="Shape 17"/>
          <p:cNvSpPr/>
          <p:nvPr/>
        </p:nvSpPr>
        <p:spPr>
          <a:xfrm>
            <a:off x="2606040" y="2834640"/>
            <a:ext cx="1600200" cy="868680"/>
          </a:xfrm>
          <a:prstGeom prst="roundRect">
            <a:avLst>
              <a:gd name="adj" fmla="val 6316"/>
            </a:avLst>
          </a:prstGeom>
          <a:solidFill>
            <a:schemeClr val="accent1">
              <a:alpha val="30000"/>
            </a:schemeClr>
          </a:solidFill>
          <a:ln w="15875">
            <a:solidFill>
              <a:schemeClr val="accent1"/>
            </a:solidFill>
            <a:prstDash val="solid"/>
          </a:ln>
        </p:spPr>
        <p:txBody>
          <a:bodyPr/>
          <a:lstStyle/>
          <a:p>
            <a:endParaRPr lang="en-US"/>
          </a:p>
        </p:txBody>
      </p:sp>
      <p:sp>
        <p:nvSpPr>
          <p:cNvPr id="21" name="Text 18"/>
          <p:cNvSpPr txBox="1"/>
          <p:nvPr/>
        </p:nvSpPr>
        <p:spPr>
          <a:xfrm>
            <a:off x="2660904" y="2834640"/>
            <a:ext cx="1490472" cy="86868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SDK LocalClient</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dyn TaskEngineApi</a:t>
            </a:r>
            <a:endParaRPr lang="en-US" sz="1200" dirty="0"/>
          </a:p>
        </p:txBody>
      </p:sp>
      <p:sp>
        <p:nvSpPr>
          <p:cNvPr id="22" name="Shape 19"/>
          <p:cNvSpPr/>
          <p:nvPr/>
        </p:nvSpPr>
        <p:spPr>
          <a:xfrm>
            <a:off x="2103120" y="1975104"/>
            <a:ext cx="502920" cy="128016"/>
          </a:xfrm>
          <a:prstGeom prst="line">
            <a:avLst/>
          </a:prstGeom>
          <a:noFill/>
          <a:ln w="15875">
            <a:solidFill>
              <a:schemeClr val="tx2"/>
            </a:solidFill>
            <a:prstDash val="solid"/>
            <a:headEnd type="none"/>
            <a:tailEnd type="triangle"/>
          </a:ln>
        </p:spPr>
        <p:txBody>
          <a:bodyPr/>
          <a:lstStyle/>
          <a:p>
            <a:endParaRPr lang="en-US"/>
          </a:p>
        </p:txBody>
      </p:sp>
      <p:sp>
        <p:nvSpPr>
          <p:cNvPr id="23" name="Shape 20"/>
          <p:cNvSpPr/>
          <p:nvPr/>
        </p:nvSpPr>
        <p:spPr>
          <a:xfrm flipV="1">
            <a:off x="2103120" y="2377440"/>
            <a:ext cx="502920" cy="301752"/>
          </a:xfrm>
          <a:prstGeom prst="line">
            <a:avLst/>
          </a:prstGeom>
          <a:noFill/>
          <a:ln w="15875">
            <a:solidFill>
              <a:schemeClr val="tx2"/>
            </a:solidFill>
            <a:prstDash val="solid"/>
            <a:headEnd type="none"/>
            <a:tailEnd type="triangle"/>
          </a:ln>
        </p:spPr>
        <p:txBody>
          <a:bodyPr/>
          <a:lstStyle/>
          <a:p>
            <a:endParaRPr lang="en-US"/>
          </a:p>
        </p:txBody>
      </p:sp>
      <p:sp>
        <p:nvSpPr>
          <p:cNvPr id="24" name="Shape 21"/>
          <p:cNvSpPr/>
          <p:nvPr/>
        </p:nvSpPr>
        <p:spPr>
          <a:xfrm flipV="1">
            <a:off x="2103120" y="3291840"/>
            <a:ext cx="502920" cy="146304"/>
          </a:xfrm>
          <a:prstGeom prst="line">
            <a:avLst/>
          </a:prstGeom>
          <a:noFill/>
          <a:ln w="15875">
            <a:solidFill>
              <a:schemeClr val="tx2"/>
            </a:solidFill>
            <a:prstDash val="solid"/>
            <a:headEnd type="none"/>
            <a:tailEnd type="triangle"/>
          </a:ln>
        </p:spPr>
        <p:txBody>
          <a:bodyPr/>
          <a:lstStyle/>
          <a:p>
            <a:endParaRPr lang="en-US"/>
          </a:p>
        </p:txBody>
      </p:sp>
      <p:sp>
        <p:nvSpPr>
          <p:cNvPr id="25" name="Shape 22"/>
          <p:cNvSpPr/>
          <p:nvPr/>
        </p:nvSpPr>
        <p:spPr>
          <a:xfrm>
            <a:off x="4343400" y="1783080"/>
            <a:ext cx="384048" cy="1920240"/>
          </a:xfrm>
          <a:prstGeom prst="roundRect">
            <a:avLst>
              <a:gd name="adj" fmla="val 14286"/>
            </a:avLst>
          </a:prstGeom>
          <a:solidFill>
            <a:schemeClr val="bg1"/>
          </a:solidFill>
          <a:ln/>
        </p:spPr>
        <p:txBody>
          <a:bodyPr/>
          <a:lstStyle/>
          <a:p>
            <a:endParaRPr lang="en-US"/>
          </a:p>
        </p:txBody>
      </p:sp>
      <p:sp>
        <p:nvSpPr>
          <p:cNvPr id="26" name="Shape 23"/>
          <p:cNvSpPr/>
          <p:nvPr/>
        </p:nvSpPr>
        <p:spPr>
          <a:xfrm>
            <a:off x="4343400" y="1783080"/>
            <a:ext cx="384048" cy="1920240"/>
          </a:xfrm>
          <a:prstGeom prst="roundRect">
            <a:avLst>
              <a:gd name="adj" fmla="val 14286"/>
            </a:avLst>
          </a:prstGeom>
          <a:solidFill>
            <a:schemeClr val="accent3">
              <a:alpha val="20000"/>
            </a:schemeClr>
          </a:solidFill>
          <a:ln w="15875">
            <a:solidFill>
              <a:schemeClr val="accent3">
                <a:alpha val="50000"/>
              </a:schemeClr>
            </a:solidFill>
            <a:prstDash val="solid"/>
          </a:ln>
        </p:spPr>
        <p:txBody>
          <a:bodyPr/>
          <a:lstStyle/>
          <a:p>
            <a:endParaRPr lang="en-US"/>
          </a:p>
        </p:txBody>
      </p:sp>
      <p:sp>
        <p:nvSpPr>
          <p:cNvPr id="27" name="Text 24"/>
          <p:cNvSpPr txBox="1"/>
          <p:nvPr/>
        </p:nvSpPr>
        <p:spPr>
          <a:xfrm rot="16200000">
            <a:off x="3547503" y="2560320"/>
            <a:ext cx="1920240" cy="384048"/>
          </a:xfrm>
          <a:prstGeom prst="rect">
            <a:avLst/>
          </a:prstGeom>
          <a:noFill/>
          <a:ln/>
        </p:spPr>
        <p:txBody>
          <a:bodyPr wrap="square" lIns="0" tIns="0" rIns="0" bIns="0" rtlCol="0" anchor="ctr"/>
          <a:lstStyle/>
          <a:p>
            <a:pPr marL="0" indent="0" algn="ctr">
              <a:buNone/>
            </a:pPr>
            <a:r>
              <a:rPr lang="en-US" sz="1000" b="1" dirty="0">
                <a:solidFill>
                  <a:schemeClr val="tx1"/>
                </a:solidFill>
                <a:latin typeface="Calibri" pitchFamily="34" charset="0"/>
                <a:ea typeface="Calibri" pitchFamily="34" charset="-122"/>
                <a:cs typeface="Calibri" pitchFamily="34" charset="-120"/>
              </a:rPr>
              <a:t>PolicyEnforcer → AccessScope</a:t>
            </a:r>
            <a:endParaRPr lang="en-US" sz="1000" dirty="0"/>
          </a:p>
        </p:txBody>
      </p:sp>
      <p:sp>
        <p:nvSpPr>
          <p:cNvPr id="28" name="Shape 25"/>
          <p:cNvSpPr/>
          <p:nvPr/>
        </p:nvSpPr>
        <p:spPr>
          <a:xfrm>
            <a:off x="4206240" y="2212848"/>
            <a:ext cx="137160" cy="91"/>
          </a:xfrm>
          <a:prstGeom prst="line">
            <a:avLst/>
          </a:prstGeom>
          <a:noFill/>
          <a:ln w="15875">
            <a:solidFill>
              <a:schemeClr val="tx2"/>
            </a:solidFill>
            <a:prstDash val="solid"/>
            <a:headEnd type="none"/>
            <a:tailEnd type="none"/>
          </a:ln>
        </p:spPr>
        <p:txBody>
          <a:bodyPr/>
          <a:lstStyle/>
          <a:p>
            <a:endParaRPr lang="en-US"/>
          </a:p>
        </p:txBody>
      </p:sp>
      <p:sp>
        <p:nvSpPr>
          <p:cNvPr id="29" name="Shape 26"/>
          <p:cNvSpPr/>
          <p:nvPr/>
        </p:nvSpPr>
        <p:spPr>
          <a:xfrm>
            <a:off x="4206240" y="3264408"/>
            <a:ext cx="137160" cy="91"/>
          </a:xfrm>
          <a:prstGeom prst="line">
            <a:avLst/>
          </a:prstGeom>
          <a:noFill/>
          <a:ln w="15875">
            <a:solidFill>
              <a:schemeClr val="tx2"/>
            </a:solidFill>
            <a:prstDash val="solid"/>
            <a:headEnd type="none"/>
            <a:tailEnd type="none"/>
          </a:ln>
        </p:spPr>
        <p:txBody>
          <a:bodyPr/>
          <a:lstStyle/>
          <a:p>
            <a:endParaRPr lang="en-US"/>
          </a:p>
        </p:txBody>
      </p:sp>
      <p:sp>
        <p:nvSpPr>
          <p:cNvPr id="30" name="Shape 27"/>
          <p:cNvSpPr/>
          <p:nvPr/>
        </p:nvSpPr>
        <p:spPr>
          <a:xfrm>
            <a:off x="4727448" y="2743200"/>
            <a:ext cx="118872" cy="91"/>
          </a:xfrm>
          <a:prstGeom prst="line">
            <a:avLst/>
          </a:prstGeom>
          <a:noFill/>
          <a:ln w="15875">
            <a:solidFill>
              <a:schemeClr val="accent3"/>
            </a:solidFill>
            <a:prstDash val="solid"/>
            <a:headEnd type="none"/>
            <a:tailEnd type="triangle"/>
          </a:ln>
        </p:spPr>
        <p:txBody>
          <a:bodyPr/>
          <a:lstStyle/>
          <a:p>
            <a:endParaRPr lang="en-US"/>
          </a:p>
        </p:txBody>
      </p:sp>
      <p:sp>
        <p:nvSpPr>
          <p:cNvPr id="31" name="Shape 28"/>
          <p:cNvSpPr/>
          <p:nvPr/>
        </p:nvSpPr>
        <p:spPr>
          <a:xfrm>
            <a:off x="4846320" y="1783080"/>
            <a:ext cx="1280160" cy="868680"/>
          </a:xfrm>
          <a:prstGeom prst="roundRect">
            <a:avLst>
              <a:gd name="adj" fmla="val 6316"/>
            </a:avLst>
          </a:prstGeom>
          <a:solidFill>
            <a:schemeClr val="bg1"/>
          </a:solidFill>
          <a:ln/>
        </p:spPr>
        <p:txBody>
          <a:bodyPr/>
          <a:lstStyle/>
          <a:p>
            <a:endParaRPr lang="en-US"/>
          </a:p>
        </p:txBody>
      </p:sp>
      <p:sp>
        <p:nvSpPr>
          <p:cNvPr id="32" name="Shape 29"/>
          <p:cNvSpPr/>
          <p:nvPr/>
        </p:nvSpPr>
        <p:spPr>
          <a:xfrm>
            <a:off x="4846320" y="1783080"/>
            <a:ext cx="1280160" cy="868680"/>
          </a:xfrm>
          <a:prstGeom prst="roundRect">
            <a:avLst>
              <a:gd name="adj" fmla="val 6316"/>
            </a:avLst>
          </a:prstGeom>
          <a:solidFill>
            <a:schemeClr val="accent1">
              <a:alpha val="16000"/>
            </a:schemeClr>
          </a:solidFill>
          <a:ln w="15875">
            <a:solidFill>
              <a:schemeClr val="bg2">
                <a:lumMod val="50000"/>
                <a:alpha val="49867"/>
              </a:schemeClr>
            </a:solidFill>
            <a:prstDash val="solid"/>
          </a:ln>
        </p:spPr>
        <p:txBody>
          <a:bodyPr/>
          <a:lstStyle/>
          <a:p>
            <a:endParaRPr lang="en-US"/>
          </a:p>
        </p:txBody>
      </p:sp>
      <p:sp>
        <p:nvSpPr>
          <p:cNvPr id="33" name="Text 30"/>
          <p:cNvSpPr txBox="1"/>
          <p:nvPr/>
        </p:nvSpPr>
        <p:spPr>
          <a:xfrm>
            <a:off x="4901184" y="1783080"/>
            <a:ext cx="1170432" cy="86868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TaskService</a:t>
            </a:r>
            <a:endParaRPr lang="en-US" sz="1100" dirty="0"/>
          </a:p>
          <a:p>
            <a:pPr marL="0" indent="0" algn="ctr">
              <a:buNone/>
            </a:pPr>
            <a:r>
              <a:rPr lang="en-US" sz="1000" dirty="0">
                <a:solidFill>
                  <a:schemeClr val="tx2"/>
                </a:solidFill>
                <a:latin typeface="Calibri" pitchFamily="34" charset="0"/>
                <a:ea typeface="Calibri" pitchFamily="34" charset="-122"/>
                <a:cs typeface="Calibri" pitchFamily="34" charset="-120"/>
              </a:rPr>
              <a:t>lifecycle · admission</a:t>
            </a:r>
            <a:endParaRPr lang="en-US" sz="1100" dirty="0"/>
          </a:p>
        </p:txBody>
      </p:sp>
      <p:sp>
        <p:nvSpPr>
          <p:cNvPr id="34" name="Shape 31"/>
          <p:cNvSpPr/>
          <p:nvPr/>
        </p:nvSpPr>
        <p:spPr>
          <a:xfrm>
            <a:off x="6217920" y="1783080"/>
            <a:ext cx="1280160" cy="868680"/>
          </a:xfrm>
          <a:prstGeom prst="roundRect">
            <a:avLst>
              <a:gd name="adj" fmla="val 6316"/>
            </a:avLst>
          </a:prstGeom>
          <a:solidFill>
            <a:schemeClr val="bg1"/>
          </a:solidFill>
          <a:ln/>
        </p:spPr>
        <p:txBody>
          <a:bodyPr/>
          <a:lstStyle/>
          <a:p>
            <a:endParaRPr lang="en-US"/>
          </a:p>
        </p:txBody>
      </p:sp>
      <p:sp>
        <p:nvSpPr>
          <p:cNvPr id="35" name="Shape 32"/>
          <p:cNvSpPr/>
          <p:nvPr/>
        </p:nvSpPr>
        <p:spPr>
          <a:xfrm>
            <a:off x="6217920" y="1783080"/>
            <a:ext cx="1280160" cy="868680"/>
          </a:xfrm>
          <a:prstGeom prst="roundRect">
            <a:avLst>
              <a:gd name="adj" fmla="val 6316"/>
            </a:avLst>
          </a:prstGeom>
          <a:solidFill>
            <a:schemeClr val="accent1">
              <a:alpha val="16000"/>
            </a:schemeClr>
          </a:solidFill>
          <a:ln w="15875">
            <a:solidFill>
              <a:schemeClr val="bg2">
                <a:lumMod val="50000"/>
                <a:alpha val="49867"/>
              </a:schemeClr>
            </a:solidFill>
            <a:prstDash val="solid"/>
          </a:ln>
        </p:spPr>
        <p:txBody>
          <a:bodyPr/>
          <a:lstStyle/>
          <a:p>
            <a:endParaRPr lang="en-US"/>
          </a:p>
        </p:txBody>
      </p:sp>
      <p:sp>
        <p:nvSpPr>
          <p:cNvPr id="36" name="Text 33"/>
          <p:cNvSpPr txBox="1"/>
          <p:nvPr/>
        </p:nvSpPr>
        <p:spPr>
          <a:xfrm>
            <a:off x="6272784" y="1783080"/>
            <a:ext cx="1170432" cy="86868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QueueService</a:t>
            </a:r>
            <a:endParaRPr lang="en-US" sz="1100" dirty="0"/>
          </a:p>
          <a:p>
            <a:pPr marL="0" indent="0" algn="ctr">
              <a:buNone/>
            </a:pPr>
            <a:r>
              <a:rPr lang="en-US" sz="1000" dirty="0">
                <a:solidFill>
                  <a:schemeClr val="tx2"/>
                </a:solidFill>
                <a:latin typeface="Calibri" pitchFamily="34" charset="0"/>
                <a:ea typeface="Calibri" pitchFamily="34" charset="-122"/>
                <a:cs typeface="Calibri" pitchFamily="34" charset="-120"/>
              </a:rPr>
              <a:t>claim · leases · limits</a:t>
            </a:r>
            <a:endParaRPr lang="en-US" sz="1100" dirty="0"/>
          </a:p>
        </p:txBody>
      </p:sp>
      <p:sp>
        <p:nvSpPr>
          <p:cNvPr id="37" name="Shape 34"/>
          <p:cNvSpPr/>
          <p:nvPr/>
        </p:nvSpPr>
        <p:spPr>
          <a:xfrm>
            <a:off x="7589520" y="1783080"/>
            <a:ext cx="1280160" cy="868680"/>
          </a:xfrm>
          <a:prstGeom prst="roundRect">
            <a:avLst>
              <a:gd name="adj" fmla="val 6316"/>
            </a:avLst>
          </a:prstGeom>
          <a:solidFill>
            <a:schemeClr val="bg1"/>
          </a:solidFill>
          <a:ln/>
        </p:spPr>
        <p:txBody>
          <a:bodyPr/>
          <a:lstStyle/>
          <a:p>
            <a:endParaRPr lang="en-US"/>
          </a:p>
        </p:txBody>
      </p:sp>
      <p:sp>
        <p:nvSpPr>
          <p:cNvPr id="38" name="Shape 35"/>
          <p:cNvSpPr/>
          <p:nvPr/>
        </p:nvSpPr>
        <p:spPr>
          <a:xfrm>
            <a:off x="7589520" y="1783080"/>
            <a:ext cx="1280160" cy="868680"/>
          </a:xfrm>
          <a:prstGeom prst="roundRect">
            <a:avLst>
              <a:gd name="adj" fmla="val 6316"/>
            </a:avLst>
          </a:prstGeom>
          <a:solidFill>
            <a:schemeClr val="accent1">
              <a:alpha val="16000"/>
            </a:schemeClr>
          </a:solidFill>
          <a:ln w="15875">
            <a:solidFill>
              <a:schemeClr val="bg2">
                <a:lumMod val="50000"/>
                <a:alpha val="50000"/>
              </a:schemeClr>
            </a:solidFill>
            <a:prstDash val="solid"/>
          </a:ln>
        </p:spPr>
        <p:txBody>
          <a:bodyPr/>
          <a:lstStyle/>
          <a:p>
            <a:endParaRPr lang="en-US"/>
          </a:p>
        </p:txBody>
      </p:sp>
      <p:sp>
        <p:nvSpPr>
          <p:cNvPr id="39" name="Text 36"/>
          <p:cNvSpPr txBox="1"/>
          <p:nvPr/>
        </p:nvSpPr>
        <p:spPr>
          <a:xfrm>
            <a:off x="7644384" y="1783080"/>
            <a:ext cx="1170432" cy="86868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TimerService</a:t>
            </a:r>
            <a:endParaRPr lang="en-US" sz="1100" dirty="0"/>
          </a:p>
          <a:p>
            <a:pPr marL="0" indent="0" algn="ctr">
              <a:buNone/>
            </a:pPr>
            <a:r>
              <a:rPr lang="en-US" sz="1000" dirty="0">
                <a:solidFill>
                  <a:schemeClr val="tx2"/>
                </a:solidFill>
                <a:latin typeface="Calibri" pitchFamily="34" charset="0"/>
                <a:ea typeface="Calibri" pitchFamily="34" charset="-122"/>
                <a:cs typeface="Calibri" pitchFamily="34" charset="-120"/>
              </a:rPr>
              <a:t>timer wheel · lease scan</a:t>
            </a:r>
            <a:endParaRPr lang="en-US" sz="1100" dirty="0"/>
          </a:p>
        </p:txBody>
      </p:sp>
      <p:sp>
        <p:nvSpPr>
          <p:cNvPr id="40" name="Shape 37"/>
          <p:cNvSpPr/>
          <p:nvPr/>
        </p:nvSpPr>
        <p:spPr>
          <a:xfrm>
            <a:off x="4846320" y="2788920"/>
            <a:ext cx="1280160" cy="868680"/>
          </a:xfrm>
          <a:prstGeom prst="roundRect">
            <a:avLst>
              <a:gd name="adj" fmla="val 6316"/>
            </a:avLst>
          </a:prstGeom>
          <a:solidFill>
            <a:schemeClr val="bg1"/>
          </a:solidFill>
          <a:ln/>
        </p:spPr>
        <p:txBody>
          <a:bodyPr/>
          <a:lstStyle/>
          <a:p>
            <a:endParaRPr lang="en-US"/>
          </a:p>
        </p:txBody>
      </p:sp>
      <p:sp>
        <p:nvSpPr>
          <p:cNvPr id="41" name="Shape 38"/>
          <p:cNvSpPr/>
          <p:nvPr/>
        </p:nvSpPr>
        <p:spPr>
          <a:xfrm>
            <a:off x="4846320" y="2788920"/>
            <a:ext cx="1280160" cy="868680"/>
          </a:xfrm>
          <a:prstGeom prst="roundRect">
            <a:avLst>
              <a:gd name="adj" fmla="val 6316"/>
            </a:avLst>
          </a:prstGeom>
          <a:solidFill>
            <a:schemeClr val="accent1">
              <a:alpha val="16000"/>
            </a:schemeClr>
          </a:solidFill>
          <a:ln w="15875">
            <a:solidFill>
              <a:schemeClr val="bg2">
                <a:lumMod val="50000"/>
                <a:alpha val="49867"/>
              </a:schemeClr>
            </a:solidFill>
            <a:prstDash val="solid"/>
          </a:ln>
        </p:spPr>
        <p:txBody>
          <a:bodyPr/>
          <a:lstStyle/>
          <a:p>
            <a:endParaRPr lang="en-US"/>
          </a:p>
        </p:txBody>
      </p:sp>
      <p:sp>
        <p:nvSpPr>
          <p:cNvPr id="42" name="Text 39"/>
          <p:cNvSpPr txBox="1"/>
          <p:nvPr/>
        </p:nvSpPr>
        <p:spPr>
          <a:xfrm>
            <a:off x="4901184" y="2788920"/>
            <a:ext cx="1170432" cy="86868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WaitCondition Service</a:t>
            </a:r>
            <a:endParaRPr lang="en-US" sz="1100" dirty="0"/>
          </a:p>
          <a:p>
            <a:pPr marL="0" indent="0" algn="ctr">
              <a:buNone/>
            </a:pPr>
            <a:r>
              <a:rPr lang="en-US" sz="1000" dirty="0">
                <a:solidFill>
                  <a:schemeClr val="tx2"/>
                </a:solidFill>
                <a:latin typeface="Calibri" pitchFamily="34" charset="0"/>
                <a:ea typeface="Calibri" pitchFamily="34" charset="-122"/>
                <a:cs typeface="Calibri" pitchFamily="34" charset="-120"/>
              </a:rPr>
              <a:t>timer · event · input</a:t>
            </a:r>
            <a:endParaRPr lang="en-US" sz="1100" dirty="0"/>
          </a:p>
        </p:txBody>
      </p:sp>
      <p:sp>
        <p:nvSpPr>
          <p:cNvPr id="43" name="Shape 40"/>
          <p:cNvSpPr/>
          <p:nvPr/>
        </p:nvSpPr>
        <p:spPr>
          <a:xfrm>
            <a:off x="6217920" y="2788920"/>
            <a:ext cx="1280160" cy="868680"/>
          </a:xfrm>
          <a:prstGeom prst="roundRect">
            <a:avLst>
              <a:gd name="adj" fmla="val 6316"/>
            </a:avLst>
          </a:prstGeom>
          <a:solidFill>
            <a:schemeClr val="bg1"/>
          </a:solidFill>
          <a:ln/>
        </p:spPr>
        <p:txBody>
          <a:bodyPr/>
          <a:lstStyle/>
          <a:p>
            <a:endParaRPr lang="en-US"/>
          </a:p>
        </p:txBody>
      </p:sp>
      <p:sp>
        <p:nvSpPr>
          <p:cNvPr id="44" name="Shape 41"/>
          <p:cNvSpPr/>
          <p:nvPr/>
        </p:nvSpPr>
        <p:spPr>
          <a:xfrm>
            <a:off x="6217920" y="2788920"/>
            <a:ext cx="1280160" cy="868680"/>
          </a:xfrm>
          <a:prstGeom prst="roundRect">
            <a:avLst>
              <a:gd name="adj" fmla="val 6316"/>
            </a:avLst>
          </a:prstGeom>
          <a:solidFill>
            <a:schemeClr val="accent1">
              <a:alpha val="16000"/>
            </a:schemeClr>
          </a:solidFill>
          <a:ln w="15875">
            <a:solidFill>
              <a:schemeClr val="bg2">
                <a:lumMod val="50000"/>
                <a:alpha val="49867"/>
              </a:schemeClr>
            </a:solidFill>
            <a:prstDash val="solid"/>
          </a:ln>
        </p:spPr>
        <p:txBody>
          <a:bodyPr/>
          <a:lstStyle/>
          <a:p>
            <a:endParaRPr lang="en-US"/>
          </a:p>
        </p:txBody>
      </p:sp>
      <p:sp>
        <p:nvSpPr>
          <p:cNvPr id="45" name="Text 42"/>
          <p:cNvSpPr txBox="1"/>
          <p:nvPr/>
        </p:nvSpPr>
        <p:spPr>
          <a:xfrm>
            <a:off x="6272784" y="2788920"/>
            <a:ext cx="1170432" cy="86868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RetentionService</a:t>
            </a:r>
            <a:endParaRPr lang="en-US" sz="1100" dirty="0"/>
          </a:p>
          <a:p>
            <a:pPr marL="0" indent="0" algn="ctr">
              <a:buNone/>
            </a:pPr>
            <a:r>
              <a:rPr lang="en-US" sz="1000" dirty="0">
                <a:solidFill>
                  <a:schemeClr val="tx2"/>
                </a:solidFill>
                <a:latin typeface="Calibri" pitchFamily="34" charset="0"/>
                <a:ea typeface="Calibri" pitchFamily="34" charset="-122"/>
                <a:cs typeface="Calibri" pitchFamily="34" charset="-120"/>
              </a:rPr>
              <a:t>partitions · cleanup</a:t>
            </a:r>
            <a:endParaRPr lang="en-US" sz="1100" dirty="0"/>
          </a:p>
        </p:txBody>
      </p:sp>
      <p:sp>
        <p:nvSpPr>
          <p:cNvPr id="46" name="Shape 43"/>
          <p:cNvSpPr/>
          <p:nvPr/>
        </p:nvSpPr>
        <p:spPr>
          <a:xfrm>
            <a:off x="7589520" y="2788920"/>
            <a:ext cx="1280160" cy="868680"/>
          </a:xfrm>
          <a:prstGeom prst="roundRect">
            <a:avLst>
              <a:gd name="adj" fmla="val 6316"/>
            </a:avLst>
          </a:prstGeom>
          <a:solidFill>
            <a:schemeClr val="bg1"/>
          </a:solidFill>
          <a:ln/>
        </p:spPr>
        <p:txBody>
          <a:bodyPr/>
          <a:lstStyle/>
          <a:p>
            <a:endParaRPr lang="en-US"/>
          </a:p>
        </p:txBody>
      </p:sp>
      <p:sp>
        <p:nvSpPr>
          <p:cNvPr id="47" name="Shape 44"/>
          <p:cNvSpPr/>
          <p:nvPr/>
        </p:nvSpPr>
        <p:spPr>
          <a:xfrm>
            <a:off x="7589520" y="2788920"/>
            <a:ext cx="1280160" cy="868680"/>
          </a:xfrm>
          <a:prstGeom prst="roundRect">
            <a:avLst>
              <a:gd name="adj" fmla="val 6316"/>
            </a:avLst>
          </a:prstGeom>
          <a:solidFill>
            <a:schemeClr val="accent1">
              <a:alpha val="16000"/>
            </a:schemeClr>
          </a:solidFill>
          <a:ln w="15875">
            <a:solidFill>
              <a:schemeClr val="bg2">
                <a:lumMod val="50000"/>
                <a:alpha val="50000"/>
              </a:schemeClr>
            </a:solidFill>
            <a:prstDash val="solid"/>
          </a:ln>
        </p:spPr>
        <p:txBody>
          <a:bodyPr/>
          <a:lstStyle/>
          <a:p>
            <a:endParaRPr lang="en-US"/>
          </a:p>
        </p:txBody>
      </p:sp>
      <p:sp>
        <p:nvSpPr>
          <p:cNvPr id="48" name="Text 45"/>
          <p:cNvSpPr txBox="1"/>
          <p:nvPr/>
        </p:nvSpPr>
        <p:spPr>
          <a:xfrm>
            <a:off x="7644384" y="2788920"/>
            <a:ext cx="1170432" cy="86868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Progress Cache</a:t>
            </a:r>
            <a:endParaRPr lang="en-US" sz="1100" dirty="0"/>
          </a:p>
          <a:p>
            <a:pPr marL="0" indent="0" algn="ctr">
              <a:buNone/>
            </a:pPr>
            <a:r>
              <a:rPr lang="en-US" sz="1000" dirty="0">
                <a:solidFill>
                  <a:schemeClr val="tx2"/>
                </a:solidFill>
                <a:latin typeface="Calibri" pitchFamily="34" charset="0"/>
                <a:ea typeface="Calibri" pitchFamily="34" charset="-122"/>
                <a:cs typeface="Calibri" pitchFamily="34" charset="-120"/>
              </a:rPr>
              <a:t>batched flush</a:t>
            </a:r>
            <a:endParaRPr lang="en-US" sz="1100" dirty="0"/>
          </a:p>
        </p:txBody>
      </p:sp>
      <p:sp>
        <p:nvSpPr>
          <p:cNvPr id="49" name="Shape 46"/>
          <p:cNvSpPr/>
          <p:nvPr/>
        </p:nvSpPr>
        <p:spPr>
          <a:xfrm>
            <a:off x="2606040" y="3840480"/>
            <a:ext cx="2121408" cy="566928"/>
          </a:xfrm>
          <a:prstGeom prst="roundRect">
            <a:avLst>
              <a:gd name="adj" fmla="val 9677"/>
            </a:avLst>
          </a:prstGeom>
          <a:solidFill>
            <a:schemeClr val="bg1"/>
          </a:solidFill>
          <a:ln/>
        </p:spPr>
        <p:txBody>
          <a:bodyPr/>
          <a:lstStyle/>
          <a:p>
            <a:endParaRPr lang="en-US"/>
          </a:p>
        </p:txBody>
      </p:sp>
      <p:sp>
        <p:nvSpPr>
          <p:cNvPr id="50" name="Shape 47"/>
          <p:cNvSpPr/>
          <p:nvPr/>
        </p:nvSpPr>
        <p:spPr>
          <a:xfrm>
            <a:off x="2606040" y="3840480"/>
            <a:ext cx="2121408" cy="566928"/>
          </a:xfrm>
          <a:prstGeom prst="roundRect">
            <a:avLst>
              <a:gd name="adj" fmla="val 9677"/>
            </a:avLst>
          </a:prstGeom>
          <a:solidFill>
            <a:schemeClr val="accent1">
              <a:alpha val="8000"/>
            </a:schemeClr>
          </a:solidFill>
          <a:ln w="15875">
            <a:solidFill>
              <a:schemeClr val="accent1"/>
            </a:solidFill>
            <a:prstDash val="dash"/>
          </a:ln>
        </p:spPr>
        <p:txBody>
          <a:bodyPr/>
          <a:lstStyle/>
          <a:p>
            <a:endParaRPr lang="en-US"/>
          </a:p>
        </p:txBody>
      </p:sp>
      <p:sp>
        <p:nvSpPr>
          <p:cNvPr id="51" name="Text 48"/>
          <p:cNvSpPr txBox="1"/>
          <p:nvPr/>
        </p:nvSpPr>
        <p:spPr>
          <a:xfrm>
            <a:off x="2660904" y="3840480"/>
            <a:ext cx="2011680"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Background loops</a:t>
            </a:r>
            <a:endParaRPr lang="en-US" sz="1100" dirty="0"/>
          </a:p>
          <a:p>
            <a:pPr marL="0" indent="0" algn="ctr">
              <a:buNone/>
            </a:pPr>
            <a:r>
              <a:rPr lang="en-US" sz="1000" dirty="0">
                <a:solidFill>
                  <a:schemeClr val="tx2"/>
                </a:solidFill>
                <a:latin typeface="Calibri" pitchFamily="34" charset="0"/>
                <a:ea typeface="Calibri" pitchFamily="34" charset="-122"/>
                <a:cs typeface="Calibri" pitchFamily="34" charset="-120"/>
              </a:rPr>
              <a:t>sharded via DB advisory locks</a:t>
            </a:r>
            <a:endParaRPr lang="en-US" sz="1100" dirty="0"/>
          </a:p>
        </p:txBody>
      </p:sp>
      <p:sp>
        <p:nvSpPr>
          <p:cNvPr id="52" name="Shape 49"/>
          <p:cNvSpPr/>
          <p:nvPr/>
        </p:nvSpPr>
        <p:spPr>
          <a:xfrm>
            <a:off x="4846320" y="3840480"/>
            <a:ext cx="1280160" cy="566928"/>
          </a:xfrm>
          <a:prstGeom prst="roundRect">
            <a:avLst>
              <a:gd name="adj" fmla="val 9677"/>
            </a:avLst>
          </a:prstGeom>
          <a:solidFill>
            <a:schemeClr val="bg1"/>
          </a:solidFill>
          <a:ln/>
        </p:spPr>
        <p:txBody>
          <a:bodyPr/>
          <a:lstStyle/>
          <a:p>
            <a:endParaRPr lang="en-US"/>
          </a:p>
        </p:txBody>
      </p:sp>
      <p:sp>
        <p:nvSpPr>
          <p:cNvPr id="53" name="Shape 50"/>
          <p:cNvSpPr/>
          <p:nvPr/>
        </p:nvSpPr>
        <p:spPr>
          <a:xfrm>
            <a:off x="4846320" y="3840480"/>
            <a:ext cx="1280160" cy="566928"/>
          </a:xfrm>
          <a:prstGeom prst="roundRect">
            <a:avLst>
              <a:gd name="adj" fmla="val 9677"/>
            </a:avLst>
          </a:prstGeom>
          <a:solidFill>
            <a:schemeClr val="accent1">
              <a:alpha val="8000"/>
            </a:schemeClr>
          </a:solidFill>
          <a:ln w="15875">
            <a:solidFill>
              <a:schemeClr val="bg2">
                <a:lumMod val="50000"/>
                <a:alpha val="49867"/>
              </a:schemeClr>
            </a:solidFill>
            <a:prstDash val="solid"/>
          </a:ln>
        </p:spPr>
        <p:txBody>
          <a:bodyPr/>
          <a:lstStyle/>
          <a:p>
            <a:endParaRPr lang="en-US"/>
          </a:p>
        </p:txBody>
      </p:sp>
      <p:sp>
        <p:nvSpPr>
          <p:cNvPr id="54" name="Text 51"/>
          <p:cNvSpPr txBox="1"/>
          <p:nvPr/>
        </p:nvSpPr>
        <p:spPr>
          <a:xfrm>
            <a:off x="4901184" y="3840480"/>
            <a:ext cx="1170432"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Signal bus</a:t>
            </a:r>
            <a:endParaRPr lang="en-US" sz="1100" dirty="0"/>
          </a:p>
          <a:p>
            <a:pPr marL="0" indent="0" algn="ctr">
              <a:buNone/>
            </a:pPr>
            <a:r>
              <a:rPr lang="en-US" sz="900" dirty="0">
                <a:solidFill>
                  <a:schemeClr val="tx2"/>
                </a:solidFill>
                <a:latin typeface="Calibri" pitchFamily="34" charset="0"/>
                <a:ea typeface="Calibri" pitchFamily="34" charset="-122"/>
                <a:cs typeface="Calibri" pitchFamily="34" charset="-120"/>
              </a:rPr>
              <a:t>newTask · slotReleased</a:t>
            </a:r>
            <a:endParaRPr lang="en-US" sz="1100" dirty="0"/>
          </a:p>
        </p:txBody>
      </p:sp>
      <p:sp>
        <p:nvSpPr>
          <p:cNvPr id="55" name="Shape 52"/>
          <p:cNvSpPr/>
          <p:nvPr/>
        </p:nvSpPr>
        <p:spPr>
          <a:xfrm>
            <a:off x="6217920" y="3840480"/>
            <a:ext cx="1280160" cy="566928"/>
          </a:xfrm>
          <a:prstGeom prst="roundRect">
            <a:avLst>
              <a:gd name="adj" fmla="val 9677"/>
            </a:avLst>
          </a:prstGeom>
          <a:solidFill>
            <a:schemeClr val="bg1"/>
          </a:solidFill>
          <a:ln/>
        </p:spPr>
        <p:txBody>
          <a:bodyPr/>
          <a:lstStyle/>
          <a:p>
            <a:endParaRPr lang="en-US"/>
          </a:p>
        </p:txBody>
      </p:sp>
      <p:sp>
        <p:nvSpPr>
          <p:cNvPr id="56" name="Shape 53"/>
          <p:cNvSpPr/>
          <p:nvPr/>
        </p:nvSpPr>
        <p:spPr>
          <a:xfrm>
            <a:off x="6217920" y="3840480"/>
            <a:ext cx="1280160" cy="566928"/>
          </a:xfrm>
          <a:prstGeom prst="roundRect">
            <a:avLst>
              <a:gd name="adj" fmla="val 9677"/>
            </a:avLst>
          </a:prstGeom>
          <a:solidFill>
            <a:schemeClr val="accent1">
              <a:alpha val="8000"/>
            </a:schemeClr>
          </a:solidFill>
          <a:ln w="15875">
            <a:solidFill>
              <a:schemeClr val="bg2">
                <a:lumMod val="50000"/>
                <a:alpha val="49867"/>
              </a:schemeClr>
            </a:solidFill>
            <a:prstDash val="solid"/>
          </a:ln>
        </p:spPr>
        <p:txBody>
          <a:bodyPr/>
          <a:lstStyle/>
          <a:p>
            <a:endParaRPr lang="en-US"/>
          </a:p>
        </p:txBody>
      </p:sp>
      <p:sp>
        <p:nvSpPr>
          <p:cNvPr id="57" name="Text 54"/>
          <p:cNvSpPr txBox="1"/>
          <p:nvPr/>
        </p:nvSpPr>
        <p:spPr>
          <a:xfrm>
            <a:off x="6272784" y="3840480"/>
            <a:ext cx="1170432"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Event Producer</a:t>
            </a:r>
            <a:endParaRPr lang="en-US" sz="1100" dirty="0"/>
          </a:p>
          <a:p>
            <a:pPr marL="0" indent="0" algn="ctr">
              <a:buNone/>
            </a:pPr>
            <a:r>
              <a:rPr lang="en-US" sz="1000" dirty="0">
                <a:solidFill>
                  <a:schemeClr val="tx2"/>
                </a:solidFill>
                <a:latin typeface="Calibri" pitchFamily="34" charset="0"/>
                <a:ea typeface="Calibri" pitchFamily="34" charset="-122"/>
                <a:cs typeface="Calibri" pitchFamily="34" charset="-120"/>
              </a:rPr>
              <a:t>managed outbox</a:t>
            </a:r>
            <a:endParaRPr lang="en-US" sz="1100" dirty="0"/>
          </a:p>
        </p:txBody>
      </p:sp>
      <p:sp>
        <p:nvSpPr>
          <p:cNvPr id="58" name="Shape 55"/>
          <p:cNvSpPr/>
          <p:nvPr/>
        </p:nvSpPr>
        <p:spPr>
          <a:xfrm>
            <a:off x="7589520" y="3840480"/>
            <a:ext cx="1280160" cy="566928"/>
          </a:xfrm>
          <a:prstGeom prst="roundRect">
            <a:avLst>
              <a:gd name="adj" fmla="val 9677"/>
            </a:avLst>
          </a:prstGeom>
          <a:solidFill>
            <a:schemeClr val="bg1"/>
          </a:solidFill>
          <a:ln/>
        </p:spPr>
        <p:txBody>
          <a:bodyPr/>
          <a:lstStyle/>
          <a:p>
            <a:endParaRPr lang="en-US"/>
          </a:p>
        </p:txBody>
      </p:sp>
      <p:sp>
        <p:nvSpPr>
          <p:cNvPr id="59" name="Shape 56"/>
          <p:cNvSpPr/>
          <p:nvPr/>
        </p:nvSpPr>
        <p:spPr>
          <a:xfrm>
            <a:off x="7589520" y="3840480"/>
            <a:ext cx="1280160" cy="566928"/>
          </a:xfrm>
          <a:prstGeom prst="roundRect">
            <a:avLst>
              <a:gd name="adj" fmla="val 9677"/>
            </a:avLst>
          </a:prstGeom>
          <a:solidFill>
            <a:schemeClr val="accent1">
              <a:alpha val="8000"/>
            </a:schemeClr>
          </a:solidFill>
          <a:ln w="15875">
            <a:solidFill>
              <a:schemeClr val="bg2">
                <a:lumMod val="50000"/>
                <a:alpha val="49867"/>
              </a:schemeClr>
            </a:solidFill>
            <a:prstDash val="solid"/>
          </a:ln>
        </p:spPr>
        <p:txBody>
          <a:bodyPr/>
          <a:lstStyle/>
          <a:p>
            <a:endParaRPr lang="en-US"/>
          </a:p>
        </p:txBody>
      </p:sp>
      <p:sp>
        <p:nvSpPr>
          <p:cNvPr id="60" name="Text 57"/>
          <p:cNvSpPr txBox="1"/>
          <p:nvPr/>
        </p:nvSpPr>
        <p:spPr>
          <a:xfrm>
            <a:off x="7644384" y="3840480"/>
            <a:ext cx="1170432"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Event Consumer</a:t>
            </a:r>
            <a:endParaRPr lang="en-US" sz="1100" dirty="0"/>
          </a:p>
          <a:p>
            <a:pPr marL="0" indent="0" algn="ctr">
              <a:buNone/>
            </a:pPr>
            <a:r>
              <a:rPr lang="en-US" sz="1000" dirty="0">
                <a:solidFill>
                  <a:schemeClr val="tx2"/>
                </a:solidFill>
                <a:latin typeface="Calibri" pitchFamily="34" charset="0"/>
                <a:ea typeface="Calibri" pitchFamily="34" charset="-122"/>
                <a:cs typeface="Calibri" pitchFamily="34" charset="-120"/>
              </a:rPr>
              <a:t>for event waits</a:t>
            </a:r>
            <a:endParaRPr lang="en-US" sz="1100" dirty="0"/>
          </a:p>
        </p:txBody>
      </p:sp>
      <p:sp>
        <p:nvSpPr>
          <p:cNvPr id="61" name="Shape 58"/>
          <p:cNvSpPr/>
          <p:nvPr/>
        </p:nvSpPr>
        <p:spPr>
          <a:xfrm>
            <a:off x="2606040" y="4544568"/>
            <a:ext cx="6263640" cy="548640"/>
          </a:xfrm>
          <a:prstGeom prst="roundRect">
            <a:avLst>
              <a:gd name="adj" fmla="val 10000"/>
            </a:avLst>
          </a:prstGeom>
          <a:solidFill>
            <a:schemeClr val="bg1"/>
          </a:solidFill>
          <a:ln/>
        </p:spPr>
        <p:txBody>
          <a:bodyPr/>
          <a:lstStyle/>
          <a:p>
            <a:endParaRPr lang="en-US"/>
          </a:p>
        </p:txBody>
      </p:sp>
      <p:sp>
        <p:nvSpPr>
          <p:cNvPr id="62" name="Shape 59"/>
          <p:cNvSpPr/>
          <p:nvPr/>
        </p:nvSpPr>
        <p:spPr>
          <a:xfrm>
            <a:off x="2606040" y="4544568"/>
            <a:ext cx="6263640" cy="548640"/>
          </a:xfrm>
          <a:prstGeom prst="roundRect">
            <a:avLst>
              <a:gd name="adj" fmla="val 10000"/>
            </a:avLst>
          </a:prstGeom>
          <a:solidFill>
            <a:srgbClr val="F0F2F4"/>
          </a:solidFill>
          <a:ln w="15875">
            <a:solidFill>
              <a:schemeClr val="tx1">
                <a:lumMod val="50000"/>
                <a:lumOff val="50000"/>
              </a:schemeClr>
            </a:solidFill>
            <a:prstDash val="solid"/>
          </a:ln>
        </p:spPr>
        <p:txBody>
          <a:bodyPr anchor="ctr"/>
          <a:lstStyle/>
          <a:p>
            <a:pPr algn="ctr"/>
            <a:r>
              <a:rPr lang="en-US" sz="1100" b="1" dirty="0">
                <a:latin typeface="Calibri" pitchFamily="34" charset="0"/>
                <a:ea typeface="Calibri" pitchFamily="34" charset="-122"/>
                <a:cs typeface="Calibri" pitchFamily="34" charset="-120"/>
              </a:rPr>
              <a:t>Infrastructure: </a:t>
            </a:r>
            <a:r>
              <a:rPr lang="en-US" sz="1100" b="1" dirty="0" err="1">
                <a:latin typeface="Calibri" pitchFamily="34" charset="0"/>
                <a:ea typeface="Calibri" pitchFamily="34" charset="-122"/>
                <a:cs typeface="Calibri" pitchFamily="34" charset="-120"/>
              </a:rPr>
              <a:t>SeaORM</a:t>
            </a:r>
            <a:r>
              <a:rPr lang="en-US" sz="1100" b="1" dirty="0">
                <a:latin typeface="Calibri" pitchFamily="34" charset="0"/>
                <a:ea typeface="Calibri" pitchFamily="34" charset="-122"/>
                <a:cs typeface="Calibri" pitchFamily="34" charset="-120"/>
              </a:rPr>
              <a:t> repositories · S2</a:t>
            </a:r>
            <a:r>
              <a:rPr lang="en-US" sz="1100" b="1" baseline="30000" dirty="0">
                <a:latin typeface="Calibri" pitchFamily="34" charset="0"/>
                <a:ea typeface="Calibri" pitchFamily="34" charset="-122"/>
                <a:cs typeface="Calibri" pitchFamily="34" charset="-120"/>
              </a:rPr>
              <a:t>*</a:t>
            </a:r>
            <a:r>
              <a:rPr lang="en-US" sz="1100" b="1" dirty="0">
                <a:latin typeface="Calibri" pitchFamily="34" charset="0"/>
                <a:ea typeface="Calibri" pitchFamily="34" charset="-122"/>
                <a:cs typeface="Calibri" pitchFamily="34" charset="-120"/>
              </a:rPr>
              <a:t> compression · domain router · GTS type provisioning</a:t>
            </a:r>
            <a:endParaRPr lang="en-US" sz="1100" dirty="0"/>
          </a:p>
        </p:txBody>
      </p:sp>
      <p:sp>
        <p:nvSpPr>
          <p:cNvPr id="64" name="Shape 61"/>
          <p:cNvSpPr/>
          <p:nvPr/>
        </p:nvSpPr>
        <p:spPr>
          <a:xfrm>
            <a:off x="5760720" y="5257800"/>
            <a:ext cx="91" cy="210312"/>
          </a:xfrm>
          <a:prstGeom prst="line">
            <a:avLst/>
          </a:prstGeom>
          <a:noFill/>
          <a:ln w="25400">
            <a:solidFill>
              <a:schemeClr val="accent2"/>
            </a:solidFill>
            <a:prstDash val="solid"/>
            <a:headEnd type="none"/>
            <a:tailEnd type="triangle"/>
          </a:ln>
        </p:spPr>
        <p:txBody>
          <a:bodyPr/>
          <a:lstStyle/>
          <a:p>
            <a:endParaRPr lang="en-US"/>
          </a:p>
        </p:txBody>
      </p:sp>
      <p:sp>
        <p:nvSpPr>
          <p:cNvPr id="65" name="Shape 62"/>
          <p:cNvSpPr/>
          <p:nvPr/>
        </p:nvSpPr>
        <p:spPr>
          <a:xfrm>
            <a:off x="3931920" y="5440680"/>
            <a:ext cx="3657600" cy="841248"/>
          </a:xfrm>
          <a:prstGeom prst="can">
            <a:avLst/>
          </a:prstGeom>
          <a:solidFill>
            <a:srgbClr val="BBD2F9"/>
          </a:solidFill>
          <a:ln w="15875">
            <a:solidFill>
              <a:schemeClr val="accent2"/>
            </a:solidFill>
            <a:prstDash val="solid"/>
          </a:ln>
        </p:spPr>
        <p:txBody>
          <a:bodyPr/>
          <a:lstStyle/>
          <a:p>
            <a:endParaRPr lang="en-US"/>
          </a:p>
        </p:txBody>
      </p:sp>
      <p:sp>
        <p:nvSpPr>
          <p:cNvPr id="66" name="Text 63"/>
          <p:cNvSpPr txBox="1"/>
          <p:nvPr/>
        </p:nvSpPr>
        <p:spPr>
          <a:xfrm>
            <a:off x="4023360" y="5592105"/>
            <a:ext cx="3474720" cy="689823"/>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Operational DB</a:t>
            </a:r>
            <a:endParaRPr lang="en-US" sz="1200" dirty="0"/>
          </a:p>
          <a:p>
            <a:pPr marL="0" indent="0" algn="ctr">
              <a:buNone/>
            </a:pPr>
            <a:r>
              <a:rPr lang="en-US" sz="1000" dirty="0">
                <a:latin typeface="Calibri" pitchFamily="34" charset="0"/>
                <a:ea typeface="Calibri" pitchFamily="34" charset="-122"/>
                <a:cs typeface="Calibri" pitchFamily="34" charset="-120"/>
              </a:rPr>
              <a:t>te_* tables + outbox · SecureConn (tenant-scoped)</a:t>
            </a:r>
            <a:endParaRPr lang="en-US" sz="1200" dirty="0"/>
          </a:p>
        </p:txBody>
      </p:sp>
      <p:sp>
        <p:nvSpPr>
          <p:cNvPr id="67" name="Shape 64"/>
          <p:cNvSpPr/>
          <p:nvPr/>
        </p:nvSpPr>
        <p:spPr>
          <a:xfrm>
            <a:off x="9464040" y="1691640"/>
            <a:ext cx="2267712" cy="713232"/>
          </a:xfrm>
          <a:prstGeom prst="roundRect">
            <a:avLst>
              <a:gd name="adj" fmla="val 7692"/>
            </a:avLst>
          </a:prstGeom>
          <a:solidFill>
            <a:schemeClr val="bg1"/>
          </a:solidFill>
          <a:ln/>
        </p:spPr>
        <p:txBody>
          <a:bodyPr/>
          <a:lstStyle/>
          <a:p>
            <a:endParaRPr lang="en-US"/>
          </a:p>
        </p:txBody>
      </p:sp>
      <p:sp>
        <p:nvSpPr>
          <p:cNvPr id="68" name="Shape 65"/>
          <p:cNvSpPr/>
          <p:nvPr/>
        </p:nvSpPr>
        <p:spPr>
          <a:xfrm>
            <a:off x="9464040" y="1691640"/>
            <a:ext cx="2267712" cy="713232"/>
          </a:xfrm>
          <a:prstGeom prst="roundRect">
            <a:avLst>
              <a:gd name="adj" fmla="val 7692"/>
            </a:avLst>
          </a:prstGeom>
          <a:solidFill>
            <a:schemeClr val="bg1">
              <a:lumMod val="85000"/>
              <a:alpha val="16000"/>
            </a:schemeClr>
          </a:solidFill>
          <a:ln w="15875">
            <a:solidFill>
              <a:schemeClr val="tx1">
                <a:lumMod val="50000"/>
                <a:lumOff val="50000"/>
              </a:schemeClr>
            </a:solidFill>
            <a:prstDash val="solid"/>
          </a:ln>
        </p:spPr>
        <p:txBody>
          <a:bodyPr/>
          <a:lstStyle/>
          <a:p>
            <a:endParaRPr lang="en-US"/>
          </a:p>
        </p:txBody>
      </p:sp>
      <p:sp>
        <p:nvSpPr>
          <p:cNvPr id="69" name="Text 66"/>
          <p:cNvSpPr txBox="1"/>
          <p:nvPr/>
        </p:nvSpPr>
        <p:spPr>
          <a:xfrm>
            <a:off x="9518904" y="1691640"/>
            <a:ext cx="2157984" cy="71323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AuthN / AuthZ / Tenant</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resolver gears (PDP)</a:t>
            </a:r>
            <a:endParaRPr lang="en-US" sz="1200" dirty="0"/>
          </a:p>
        </p:txBody>
      </p:sp>
      <p:sp>
        <p:nvSpPr>
          <p:cNvPr id="70" name="Shape 67"/>
          <p:cNvSpPr/>
          <p:nvPr/>
        </p:nvSpPr>
        <p:spPr>
          <a:xfrm>
            <a:off x="9464040" y="2560320"/>
            <a:ext cx="2267712" cy="566928"/>
          </a:xfrm>
          <a:prstGeom prst="roundRect">
            <a:avLst>
              <a:gd name="adj" fmla="val 9677"/>
            </a:avLst>
          </a:prstGeom>
          <a:solidFill>
            <a:schemeClr val="bg1"/>
          </a:solidFill>
          <a:ln/>
        </p:spPr>
        <p:txBody>
          <a:bodyPr/>
          <a:lstStyle/>
          <a:p>
            <a:endParaRPr lang="en-US"/>
          </a:p>
        </p:txBody>
      </p:sp>
      <p:sp>
        <p:nvSpPr>
          <p:cNvPr id="71" name="Shape 68"/>
          <p:cNvSpPr/>
          <p:nvPr/>
        </p:nvSpPr>
        <p:spPr>
          <a:xfrm>
            <a:off x="9464040" y="2560320"/>
            <a:ext cx="2267712" cy="566928"/>
          </a:xfrm>
          <a:prstGeom prst="roundRect">
            <a:avLst>
              <a:gd name="adj" fmla="val 9677"/>
            </a:avLst>
          </a:prstGeom>
          <a:solidFill>
            <a:schemeClr val="bg1">
              <a:lumMod val="85000"/>
              <a:alpha val="16000"/>
            </a:schemeClr>
          </a:solidFill>
          <a:ln w="15875">
            <a:solidFill>
              <a:schemeClr val="tx1">
                <a:lumMod val="50000"/>
                <a:lumOff val="50000"/>
              </a:schemeClr>
            </a:solidFill>
            <a:prstDash val="solid"/>
          </a:ln>
        </p:spPr>
        <p:txBody>
          <a:bodyPr/>
          <a:lstStyle/>
          <a:p>
            <a:endParaRPr lang="en-US"/>
          </a:p>
        </p:txBody>
      </p:sp>
      <p:sp>
        <p:nvSpPr>
          <p:cNvPr id="72" name="Text 69"/>
          <p:cNvSpPr txBox="1"/>
          <p:nvPr/>
        </p:nvSpPr>
        <p:spPr>
          <a:xfrm>
            <a:off x="9518904" y="2560320"/>
            <a:ext cx="2157984" cy="566928"/>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Types Registry</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GTS schemas</a:t>
            </a:r>
            <a:endParaRPr lang="en-US" sz="1200" dirty="0"/>
          </a:p>
        </p:txBody>
      </p:sp>
      <p:sp>
        <p:nvSpPr>
          <p:cNvPr id="73" name="Shape 70"/>
          <p:cNvSpPr/>
          <p:nvPr/>
        </p:nvSpPr>
        <p:spPr>
          <a:xfrm>
            <a:off x="9464040" y="3310128"/>
            <a:ext cx="2267712" cy="1188720"/>
          </a:xfrm>
          <a:prstGeom prst="roundRect">
            <a:avLst>
              <a:gd name="adj" fmla="val 4615"/>
            </a:avLst>
          </a:prstGeom>
          <a:solidFill>
            <a:schemeClr val="bg1"/>
          </a:solidFill>
          <a:ln/>
        </p:spPr>
        <p:txBody>
          <a:bodyPr/>
          <a:lstStyle/>
          <a:p>
            <a:endParaRPr lang="en-US"/>
          </a:p>
        </p:txBody>
      </p:sp>
      <p:sp>
        <p:nvSpPr>
          <p:cNvPr id="74" name="Shape 71"/>
          <p:cNvSpPr/>
          <p:nvPr/>
        </p:nvSpPr>
        <p:spPr>
          <a:xfrm>
            <a:off x="9464040" y="3310128"/>
            <a:ext cx="2267712" cy="1188720"/>
          </a:xfrm>
          <a:prstGeom prst="roundRect">
            <a:avLst>
              <a:gd name="adj" fmla="val 4615"/>
            </a:avLst>
          </a:prstGeom>
          <a:solidFill>
            <a:schemeClr val="bg1">
              <a:lumMod val="85000"/>
              <a:alpha val="16000"/>
            </a:schemeClr>
          </a:solidFill>
          <a:ln w="15875">
            <a:solidFill>
              <a:schemeClr val="tx1">
                <a:lumMod val="50000"/>
                <a:lumOff val="50000"/>
              </a:schemeClr>
            </a:solidFill>
            <a:prstDash val="solid"/>
          </a:ln>
        </p:spPr>
        <p:txBody>
          <a:bodyPr/>
          <a:lstStyle/>
          <a:p>
            <a:endParaRPr lang="en-US"/>
          </a:p>
        </p:txBody>
      </p:sp>
      <p:sp>
        <p:nvSpPr>
          <p:cNvPr id="75" name="Text 72"/>
          <p:cNvSpPr txBox="1"/>
          <p:nvPr/>
        </p:nvSpPr>
        <p:spPr>
          <a:xfrm>
            <a:off x="9518904" y="3310128"/>
            <a:ext cx="2157984" cy="118872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Event Broker</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out: task_events topic</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in: events for event waits</a:t>
            </a:r>
            <a:endParaRPr lang="en-US" sz="1200" dirty="0"/>
          </a:p>
        </p:txBody>
      </p:sp>
      <p:sp>
        <p:nvSpPr>
          <p:cNvPr id="76" name="Shape 73"/>
          <p:cNvSpPr/>
          <p:nvPr/>
        </p:nvSpPr>
        <p:spPr>
          <a:xfrm>
            <a:off x="9464040" y="4681728"/>
            <a:ext cx="2267712" cy="566928"/>
          </a:xfrm>
          <a:prstGeom prst="roundRect">
            <a:avLst>
              <a:gd name="adj" fmla="val 9677"/>
            </a:avLst>
          </a:prstGeom>
          <a:solidFill>
            <a:schemeClr val="bg1"/>
          </a:solidFill>
          <a:ln/>
        </p:spPr>
        <p:txBody>
          <a:bodyPr/>
          <a:lstStyle/>
          <a:p>
            <a:endParaRPr lang="en-US"/>
          </a:p>
        </p:txBody>
      </p:sp>
      <p:sp>
        <p:nvSpPr>
          <p:cNvPr id="77" name="Shape 74"/>
          <p:cNvSpPr/>
          <p:nvPr/>
        </p:nvSpPr>
        <p:spPr>
          <a:xfrm>
            <a:off x="9464040" y="4681728"/>
            <a:ext cx="2267712" cy="566928"/>
          </a:xfrm>
          <a:prstGeom prst="roundRect">
            <a:avLst>
              <a:gd name="adj" fmla="val 9677"/>
            </a:avLst>
          </a:prstGeom>
          <a:solidFill>
            <a:schemeClr val="bg1">
              <a:lumMod val="85000"/>
              <a:alpha val="8000"/>
            </a:schemeClr>
          </a:solidFill>
          <a:ln w="15875">
            <a:solidFill>
              <a:schemeClr val="tx1">
                <a:lumMod val="50000"/>
                <a:lumOff val="50000"/>
              </a:schemeClr>
            </a:solidFill>
            <a:prstDash val="dash"/>
          </a:ln>
        </p:spPr>
        <p:txBody>
          <a:bodyPr/>
          <a:lstStyle/>
          <a:p>
            <a:endParaRPr lang="en-US"/>
          </a:p>
        </p:txBody>
      </p:sp>
      <p:sp>
        <p:nvSpPr>
          <p:cNvPr id="78" name="Text 75"/>
          <p:cNvSpPr txBox="1"/>
          <p:nvPr/>
        </p:nvSpPr>
        <p:spPr>
          <a:xfrm>
            <a:off x="9518904" y="4681728"/>
            <a:ext cx="2157984" cy="566928"/>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Cluster gear</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optional cache (P2)</a:t>
            </a:r>
            <a:endParaRPr lang="en-US" sz="1200" dirty="0"/>
          </a:p>
        </p:txBody>
      </p:sp>
      <p:sp>
        <p:nvSpPr>
          <p:cNvPr id="80" name="Shape 77"/>
          <p:cNvSpPr/>
          <p:nvPr/>
        </p:nvSpPr>
        <p:spPr>
          <a:xfrm>
            <a:off x="9098280" y="2843784"/>
            <a:ext cx="365760" cy="91"/>
          </a:xfrm>
          <a:prstGeom prst="line">
            <a:avLst/>
          </a:prstGeom>
          <a:noFill/>
          <a:ln w="15875">
            <a:solidFill>
              <a:schemeClr val="tx2"/>
            </a:solidFill>
            <a:prstDash val="solid"/>
            <a:headEnd type="none"/>
            <a:tailEnd type="triangle"/>
          </a:ln>
        </p:spPr>
        <p:txBody>
          <a:bodyPr/>
          <a:lstStyle/>
          <a:p>
            <a:endParaRPr lang="en-US"/>
          </a:p>
        </p:txBody>
      </p:sp>
      <p:sp>
        <p:nvSpPr>
          <p:cNvPr id="81" name="Shape 78"/>
          <p:cNvSpPr/>
          <p:nvPr/>
        </p:nvSpPr>
        <p:spPr>
          <a:xfrm>
            <a:off x="9098280" y="4105747"/>
            <a:ext cx="365760" cy="0"/>
          </a:xfrm>
          <a:prstGeom prst="line">
            <a:avLst/>
          </a:prstGeom>
          <a:noFill/>
          <a:ln w="15875">
            <a:solidFill>
              <a:schemeClr val="accent3"/>
            </a:solidFill>
            <a:prstDash val="solid"/>
            <a:headEnd type="none"/>
            <a:tailEnd type="triangle"/>
          </a:ln>
        </p:spPr>
        <p:txBody>
          <a:bodyPr/>
          <a:lstStyle/>
          <a:p>
            <a:endParaRPr lang="en-US"/>
          </a:p>
        </p:txBody>
      </p:sp>
      <p:sp>
        <p:nvSpPr>
          <p:cNvPr id="83" name="Shape 80"/>
          <p:cNvSpPr/>
          <p:nvPr/>
        </p:nvSpPr>
        <p:spPr>
          <a:xfrm>
            <a:off x="9098280" y="4965192"/>
            <a:ext cx="365760" cy="91"/>
          </a:xfrm>
          <a:prstGeom prst="line">
            <a:avLst/>
          </a:prstGeom>
          <a:noFill/>
          <a:ln w="15875">
            <a:solidFill>
              <a:schemeClr val="tx2"/>
            </a:solidFill>
            <a:prstDash val="dash"/>
            <a:headEnd type="triangle"/>
            <a:tailEnd type="triangle"/>
          </a:ln>
        </p:spPr>
        <p:txBody>
          <a:bodyPr/>
          <a:lstStyle/>
          <a:p>
            <a:endParaRPr lang="en-US"/>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12</a:t>
            </a:fld>
            <a:endParaRPr lang="en-US"/>
          </a:p>
        </p:txBody>
      </p:sp>
      <p:sp>
        <p:nvSpPr>
          <p:cNvPr id="93" name="Text 89">
            <a:extLst>
              <a:ext uri="{FF2B5EF4-FFF2-40B4-BE49-F238E27FC236}">
                <a16:creationId xmlns:a16="http://schemas.microsoft.com/office/drawing/2014/main" id="{E7FB5538-BBC0-3E32-AEC7-E231BAE24972}"/>
              </a:ext>
            </a:extLst>
          </p:cNvPr>
          <p:cNvSpPr txBox="1"/>
          <p:nvPr/>
        </p:nvSpPr>
        <p:spPr>
          <a:xfrm>
            <a:off x="457200" y="5751576"/>
            <a:ext cx="3474720" cy="228600"/>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*S2 – is a very fast compression algorithm from </a:t>
            </a:r>
            <a:br>
              <a:rPr lang="en-US" sz="1000" dirty="0">
                <a:solidFill>
                  <a:schemeClr val="tx2"/>
                </a:solidFill>
                <a:latin typeface="Calibri" pitchFamily="34" charset="0"/>
                <a:ea typeface="Calibri" pitchFamily="34" charset="-122"/>
                <a:cs typeface="Calibri" pitchFamily="34" charset="-120"/>
              </a:rPr>
            </a:br>
            <a:r>
              <a:rPr lang="en-US" sz="1000" dirty="0">
                <a:solidFill>
                  <a:schemeClr val="tx2"/>
                </a:solidFill>
                <a:latin typeface="Calibri" pitchFamily="34" charset="0"/>
                <a:ea typeface="Calibri" pitchFamily="34" charset="-122"/>
                <a:cs typeface="Calibri" pitchFamily="34" charset="-120"/>
              </a:rPr>
              <a:t>          Klaus Post (Google), with low CPU usage</a:t>
            </a:r>
            <a:endParaRPr lang="en-US" sz="1000" dirty="0"/>
          </a:p>
        </p:txBody>
      </p:sp>
      <p:sp>
        <p:nvSpPr>
          <p:cNvPr id="94" name="Shape 77">
            <a:extLst>
              <a:ext uri="{FF2B5EF4-FFF2-40B4-BE49-F238E27FC236}">
                <a16:creationId xmlns:a16="http://schemas.microsoft.com/office/drawing/2014/main" id="{68D1AE71-F394-0A9E-EFF3-8F1A4F96448D}"/>
              </a:ext>
            </a:extLst>
          </p:cNvPr>
          <p:cNvSpPr/>
          <p:nvPr/>
        </p:nvSpPr>
        <p:spPr>
          <a:xfrm>
            <a:off x="9116568" y="2061926"/>
            <a:ext cx="365760" cy="91"/>
          </a:xfrm>
          <a:prstGeom prst="line">
            <a:avLst/>
          </a:prstGeom>
          <a:noFill/>
          <a:ln w="15875">
            <a:solidFill>
              <a:schemeClr val="tx2"/>
            </a:solidFill>
            <a:prstDash val="solid"/>
            <a:headEnd type="none"/>
            <a:tailEnd type="triangle"/>
          </a:ln>
        </p:spPr>
        <p:txBody>
          <a:bodyPr/>
          <a:lstStyle/>
          <a:p>
            <a:endParaRPr lang="en-US"/>
          </a:p>
        </p:txBody>
      </p:sp>
      <p:sp>
        <p:nvSpPr>
          <p:cNvPr id="95" name="TextBox 94">
            <a:extLst>
              <a:ext uri="{FF2B5EF4-FFF2-40B4-BE49-F238E27FC236}">
                <a16:creationId xmlns:a16="http://schemas.microsoft.com/office/drawing/2014/main" id="{C848C558-7668-CB39-1C1B-DEBB8F27615C}"/>
              </a:ext>
            </a:extLst>
          </p:cNvPr>
          <p:cNvSpPr txBox="1"/>
          <p:nvPr/>
        </p:nvSpPr>
        <p:spPr>
          <a:xfrm>
            <a:off x="374904" y="1335024"/>
            <a:ext cx="1393074" cy="276999"/>
          </a:xfrm>
          <a:prstGeom prst="rect">
            <a:avLst/>
          </a:prstGeom>
          <a:noFill/>
        </p:spPr>
        <p:txBody>
          <a:bodyPr wrap="none" rtlCol="0">
            <a:spAutoFit/>
          </a:bodyPr>
          <a:lstStyle/>
          <a:p>
            <a:r>
              <a:rPr lang="en-US" sz="1200" b="1" dirty="0">
                <a:latin typeface="Calibri" panose="020F0502020204030204" pitchFamily="34" charset="0"/>
                <a:cs typeface="Calibri" panose="020F0502020204030204" pitchFamily="34" charset="0"/>
              </a:rPr>
              <a:t>Task Engine Clients</a:t>
            </a:r>
          </a:p>
        </p:txBody>
      </p:sp>
      <p:sp>
        <p:nvSpPr>
          <p:cNvPr id="96" name="TextBox 95">
            <a:extLst>
              <a:ext uri="{FF2B5EF4-FFF2-40B4-BE49-F238E27FC236}">
                <a16:creationId xmlns:a16="http://schemas.microsoft.com/office/drawing/2014/main" id="{94C787CD-7022-4F7E-9412-928A57A315C3}"/>
              </a:ext>
            </a:extLst>
          </p:cNvPr>
          <p:cNvSpPr txBox="1"/>
          <p:nvPr/>
        </p:nvSpPr>
        <p:spPr>
          <a:xfrm>
            <a:off x="9384723" y="1323201"/>
            <a:ext cx="1633524" cy="276999"/>
          </a:xfrm>
          <a:prstGeom prst="rect">
            <a:avLst/>
          </a:prstGeom>
          <a:noFill/>
        </p:spPr>
        <p:txBody>
          <a:bodyPr wrap="none" rtlCol="0">
            <a:spAutoFit/>
          </a:bodyPr>
          <a:lstStyle/>
          <a:p>
            <a:r>
              <a:rPr lang="en-US" sz="1200" b="1" dirty="0">
                <a:latin typeface="Calibri" panose="020F0502020204030204" pitchFamily="34" charset="0"/>
                <a:cs typeface="Calibri" panose="020F0502020204030204" pitchFamily="34" charset="0"/>
              </a:rPr>
              <a:t>External dependencies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Standard Gear structure</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The SDK crate is the only public surface; the gear crate stays private</a:t>
            </a:r>
            <a:endParaRPr lang="en-US" sz="1600" dirty="0"/>
          </a:p>
        </p:txBody>
      </p:sp>
      <p:sp>
        <p:nvSpPr>
          <p:cNvPr id="5" name="Shape 2"/>
          <p:cNvSpPr/>
          <p:nvPr/>
        </p:nvSpPr>
        <p:spPr>
          <a:xfrm>
            <a:off x="457200" y="1508760"/>
            <a:ext cx="1600200" cy="746620"/>
          </a:xfrm>
          <a:prstGeom prst="roundRect">
            <a:avLst>
              <a:gd name="adj" fmla="val 5000"/>
            </a:avLst>
          </a:prstGeom>
          <a:solidFill>
            <a:schemeClr val="bg2">
              <a:lumMod val="90000"/>
            </a:schemeClr>
          </a:solidFill>
          <a:ln/>
        </p:spPr>
        <p:txBody>
          <a:bodyPr/>
          <a:lstStyle/>
          <a:p>
            <a:endParaRPr lang="en-US"/>
          </a:p>
        </p:txBody>
      </p:sp>
      <p:sp>
        <p:nvSpPr>
          <p:cNvPr id="6" name="Text 3"/>
          <p:cNvSpPr txBox="1"/>
          <p:nvPr/>
        </p:nvSpPr>
        <p:spPr>
          <a:xfrm>
            <a:off x="457200" y="1643152"/>
            <a:ext cx="1600200" cy="268783"/>
          </a:xfrm>
          <a:prstGeom prst="rect">
            <a:avLst/>
          </a:prstGeom>
          <a:noFill/>
          <a:ln/>
        </p:spPr>
        <p:txBody>
          <a:bodyPr wrap="square" lIns="0" tIns="0" rIns="0" bIns="0" rtlCol="0" anchor="t"/>
          <a:lstStyle/>
          <a:p>
            <a:pPr marL="0" indent="0" algn="ctr">
              <a:buNone/>
            </a:pPr>
            <a:r>
              <a:rPr lang="en-US" sz="1500" b="1" dirty="0">
                <a:latin typeface="Calibri" pitchFamily="34" charset="0"/>
                <a:ea typeface="Calibri" pitchFamily="34" charset="-122"/>
                <a:cs typeface="Calibri" pitchFamily="34" charset="-120"/>
              </a:rPr>
              <a:t>SDK</a:t>
            </a:r>
            <a:endParaRPr lang="en-US" sz="1500" dirty="0"/>
          </a:p>
        </p:txBody>
      </p:sp>
      <p:sp>
        <p:nvSpPr>
          <p:cNvPr id="7" name="Text 4"/>
          <p:cNvSpPr txBox="1"/>
          <p:nvPr/>
        </p:nvSpPr>
        <p:spPr>
          <a:xfrm>
            <a:off x="457200" y="1926867"/>
            <a:ext cx="1600200" cy="223986"/>
          </a:xfrm>
          <a:prstGeom prst="rect">
            <a:avLst/>
          </a:prstGeom>
          <a:noFill/>
          <a:ln/>
        </p:spPr>
        <p:txBody>
          <a:bodyPr wrap="square" lIns="0" tIns="0" rIns="0" bIns="0" rtlCol="0" anchor="t"/>
          <a:lstStyle/>
          <a:p>
            <a:pPr marL="0" indent="0" algn="ctr">
              <a:buNone/>
            </a:pPr>
            <a:r>
              <a:rPr lang="en-US" sz="1000" dirty="0">
                <a:latin typeface="Courier New" pitchFamily="34" charset="0"/>
                <a:ea typeface="Courier New" pitchFamily="34" charset="-122"/>
                <a:cs typeface="Courier New" pitchFamily="34" charset="-120"/>
              </a:rPr>
              <a:t>task-engine-sdk</a:t>
            </a:r>
            <a:endParaRPr lang="en-US" sz="1000" dirty="0"/>
          </a:p>
        </p:txBody>
      </p:sp>
      <p:sp>
        <p:nvSpPr>
          <p:cNvPr id="8" name="Shape 5"/>
          <p:cNvSpPr/>
          <p:nvPr/>
        </p:nvSpPr>
        <p:spPr>
          <a:xfrm>
            <a:off x="2148840" y="1508760"/>
            <a:ext cx="4892040" cy="746620"/>
          </a:xfrm>
          <a:prstGeom prst="roundRect">
            <a:avLst>
              <a:gd name="adj" fmla="val 6000"/>
            </a:avLst>
          </a:prstGeom>
          <a:solidFill>
            <a:schemeClr val="bg1"/>
          </a:solidFill>
          <a:ln/>
        </p:spPr>
        <p:txBody>
          <a:bodyPr/>
          <a:lstStyle/>
          <a:p>
            <a:endParaRPr lang="en-US"/>
          </a:p>
        </p:txBody>
      </p:sp>
      <p:sp>
        <p:nvSpPr>
          <p:cNvPr id="9" name="Shape 6"/>
          <p:cNvSpPr/>
          <p:nvPr/>
        </p:nvSpPr>
        <p:spPr>
          <a:xfrm>
            <a:off x="2148840" y="1508760"/>
            <a:ext cx="4892040" cy="746620"/>
          </a:xfrm>
          <a:prstGeom prst="roundRect">
            <a:avLst>
              <a:gd name="adj" fmla="val 6000"/>
            </a:avLst>
          </a:prstGeom>
          <a:solidFill>
            <a:schemeClr val="bg2"/>
          </a:solidFill>
          <a:ln/>
        </p:spPr>
        <p:txBody>
          <a:bodyPr/>
          <a:lstStyle/>
          <a:p>
            <a:endParaRPr lang="en-US"/>
          </a:p>
        </p:txBody>
      </p:sp>
      <p:sp>
        <p:nvSpPr>
          <p:cNvPr id="10" name="Text 7"/>
          <p:cNvSpPr txBox="1"/>
          <p:nvPr/>
        </p:nvSpPr>
        <p:spPr>
          <a:xfrm>
            <a:off x="2331720" y="1568490"/>
            <a:ext cx="4572000" cy="627161"/>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Public API for other gears: TaskEngineApi trait (SecurityContext on every method), models, closed enums, errors, GTS ids</a:t>
            </a:r>
            <a:endParaRPr lang="en-US" sz="1300" dirty="0"/>
          </a:p>
        </p:txBody>
      </p:sp>
      <p:sp>
        <p:nvSpPr>
          <p:cNvPr id="11" name="Shape 8"/>
          <p:cNvSpPr/>
          <p:nvPr/>
        </p:nvSpPr>
        <p:spPr>
          <a:xfrm>
            <a:off x="457200" y="2344975"/>
            <a:ext cx="1600200" cy="746620"/>
          </a:xfrm>
          <a:prstGeom prst="roundRect">
            <a:avLst>
              <a:gd name="adj" fmla="val 5000"/>
            </a:avLst>
          </a:prstGeom>
          <a:solidFill>
            <a:schemeClr val="bg2">
              <a:lumMod val="75000"/>
            </a:schemeClr>
          </a:solidFill>
          <a:ln/>
        </p:spPr>
        <p:txBody>
          <a:bodyPr/>
          <a:lstStyle/>
          <a:p>
            <a:endParaRPr lang="en-US"/>
          </a:p>
        </p:txBody>
      </p:sp>
      <p:sp>
        <p:nvSpPr>
          <p:cNvPr id="12" name="Text 9"/>
          <p:cNvSpPr txBox="1"/>
          <p:nvPr/>
        </p:nvSpPr>
        <p:spPr>
          <a:xfrm>
            <a:off x="457200" y="2479366"/>
            <a:ext cx="1600200" cy="268783"/>
          </a:xfrm>
          <a:prstGeom prst="rect">
            <a:avLst/>
          </a:prstGeom>
          <a:noFill/>
          <a:ln/>
        </p:spPr>
        <p:txBody>
          <a:bodyPr wrap="square" lIns="0" tIns="0" rIns="0" bIns="0" rtlCol="0" anchor="t"/>
          <a:lstStyle/>
          <a:p>
            <a:pPr marL="0" indent="0" algn="ctr">
              <a:buNone/>
            </a:pPr>
            <a:r>
              <a:rPr lang="en-US" sz="1500" b="1" dirty="0">
                <a:latin typeface="Calibri" pitchFamily="34" charset="0"/>
                <a:ea typeface="Calibri" pitchFamily="34" charset="-122"/>
                <a:cs typeface="Calibri" pitchFamily="34" charset="-120"/>
              </a:rPr>
              <a:t>Transport</a:t>
            </a:r>
            <a:endParaRPr lang="en-US" sz="1500" dirty="0"/>
          </a:p>
        </p:txBody>
      </p:sp>
      <p:sp>
        <p:nvSpPr>
          <p:cNvPr id="13" name="Text 10"/>
          <p:cNvSpPr txBox="1"/>
          <p:nvPr/>
        </p:nvSpPr>
        <p:spPr>
          <a:xfrm>
            <a:off x="457200" y="2763082"/>
            <a:ext cx="1600200" cy="223986"/>
          </a:xfrm>
          <a:prstGeom prst="rect">
            <a:avLst/>
          </a:prstGeom>
          <a:noFill/>
          <a:ln/>
        </p:spPr>
        <p:txBody>
          <a:bodyPr wrap="square" lIns="0" tIns="0" rIns="0" bIns="0" rtlCol="0" anchor="t"/>
          <a:lstStyle/>
          <a:p>
            <a:pPr marL="0" indent="0" algn="ctr">
              <a:buNone/>
            </a:pPr>
            <a:r>
              <a:rPr lang="en-US" sz="1000" dirty="0">
                <a:latin typeface="Courier New" pitchFamily="34" charset="0"/>
                <a:ea typeface="Courier New" pitchFamily="34" charset="-122"/>
                <a:cs typeface="Courier New" pitchFamily="34" charset="-120"/>
              </a:rPr>
              <a:t>api/rest/</a:t>
            </a:r>
            <a:endParaRPr lang="en-US" sz="1000" dirty="0"/>
          </a:p>
        </p:txBody>
      </p:sp>
      <p:sp>
        <p:nvSpPr>
          <p:cNvPr id="14" name="Shape 11"/>
          <p:cNvSpPr/>
          <p:nvPr/>
        </p:nvSpPr>
        <p:spPr>
          <a:xfrm>
            <a:off x="2148840" y="2344975"/>
            <a:ext cx="4892040" cy="746620"/>
          </a:xfrm>
          <a:prstGeom prst="roundRect">
            <a:avLst>
              <a:gd name="adj" fmla="val 6000"/>
            </a:avLst>
          </a:prstGeom>
          <a:solidFill>
            <a:schemeClr val="bg1"/>
          </a:solidFill>
          <a:ln/>
        </p:spPr>
        <p:txBody>
          <a:bodyPr/>
          <a:lstStyle/>
          <a:p>
            <a:endParaRPr lang="en-US"/>
          </a:p>
        </p:txBody>
      </p:sp>
      <p:sp>
        <p:nvSpPr>
          <p:cNvPr id="15" name="Shape 12"/>
          <p:cNvSpPr/>
          <p:nvPr/>
        </p:nvSpPr>
        <p:spPr>
          <a:xfrm>
            <a:off x="2148840" y="2344975"/>
            <a:ext cx="4892040" cy="746620"/>
          </a:xfrm>
          <a:prstGeom prst="roundRect">
            <a:avLst>
              <a:gd name="adj" fmla="val 6000"/>
            </a:avLst>
          </a:prstGeom>
          <a:solidFill>
            <a:schemeClr val="bg2"/>
          </a:solidFill>
          <a:ln/>
        </p:spPr>
        <p:txBody>
          <a:bodyPr/>
          <a:lstStyle/>
          <a:p>
            <a:endParaRPr lang="en-US"/>
          </a:p>
        </p:txBody>
      </p:sp>
      <p:sp>
        <p:nvSpPr>
          <p:cNvPr id="16" name="Text 13"/>
          <p:cNvSpPr txBox="1"/>
          <p:nvPr/>
        </p:nvSpPr>
        <p:spPr>
          <a:xfrm>
            <a:off x="2331720" y="2404704"/>
            <a:ext cx="4572000" cy="627161"/>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Axum handlers, DTOs, extractors; OperationBuilder routes with .authenticated() + .standard_errors(); RFC 9457 errors</a:t>
            </a:r>
            <a:endParaRPr lang="en-US" sz="1300" dirty="0"/>
          </a:p>
        </p:txBody>
      </p:sp>
      <p:sp>
        <p:nvSpPr>
          <p:cNvPr id="17" name="Shape 14"/>
          <p:cNvSpPr/>
          <p:nvPr/>
        </p:nvSpPr>
        <p:spPr>
          <a:xfrm>
            <a:off x="457200" y="3181189"/>
            <a:ext cx="1600200" cy="746620"/>
          </a:xfrm>
          <a:prstGeom prst="roundRect">
            <a:avLst>
              <a:gd name="adj" fmla="val 5000"/>
            </a:avLst>
          </a:prstGeom>
          <a:solidFill>
            <a:schemeClr val="bg2">
              <a:lumMod val="50000"/>
            </a:schemeClr>
          </a:solidFill>
          <a:ln/>
        </p:spPr>
        <p:txBody>
          <a:bodyPr/>
          <a:lstStyle/>
          <a:p>
            <a:endParaRPr lang="en-US"/>
          </a:p>
        </p:txBody>
      </p:sp>
      <p:sp>
        <p:nvSpPr>
          <p:cNvPr id="18" name="Text 15"/>
          <p:cNvSpPr txBox="1"/>
          <p:nvPr/>
        </p:nvSpPr>
        <p:spPr>
          <a:xfrm>
            <a:off x="457200" y="3315581"/>
            <a:ext cx="1600200" cy="268783"/>
          </a:xfrm>
          <a:prstGeom prst="rect">
            <a:avLst/>
          </a:prstGeom>
          <a:noFill/>
          <a:ln/>
        </p:spPr>
        <p:txBody>
          <a:bodyPr wrap="square" lIns="0" tIns="0" rIns="0" bIns="0" rtlCol="0" anchor="t"/>
          <a:lstStyle/>
          <a:p>
            <a:pPr marL="0" indent="0" algn="ctr">
              <a:buNone/>
            </a:pPr>
            <a:r>
              <a:rPr lang="en-US" sz="1500" b="1" dirty="0">
                <a:solidFill>
                  <a:schemeClr val="bg1"/>
                </a:solidFill>
                <a:latin typeface="Calibri" pitchFamily="34" charset="0"/>
                <a:ea typeface="Calibri" pitchFamily="34" charset="-122"/>
                <a:cs typeface="Calibri" pitchFamily="34" charset="-120"/>
              </a:rPr>
              <a:t>Domain</a:t>
            </a:r>
            <a:endParaRPr lang="en-US" sz="1500" dirty="0">
              <a:solidFill>
                <a:schemeClr val="bg1"/>
              </a:solidFill>
            </a:endParaRPr>
          </a:p>
        </p:txBody>
      </p:sp>
      <p:sp>
        <p:nvSpPr>
          <p:cNvPr id="19" name="Text 16"/>
          <p:cNvSpPr txBox="1"/>
          <p:nvPr/>
        </p:nvSpPr>
        <p:spPr>
          <a:xfrm>
            <a:off x="457200" y="3599297"/>
            <a:ext cx="1600200" cy="223986"/>
          </a:xfrm>
          <a:prstGeom prst="rect">
            <a:avLst/>
          </a:prstGeom>
          <a:noFill/>
          <a:ln/>
        </p:spPr>
        <p:txBody>
          <a:bodyPr wrap="square" lIns="0" tIns="0" rIns="0" bIns="0" rtlCol="0" anchor="t"/>
          <a:lstStyle/>
          <a:p>
            <a:pPr marL="0" indent="0" algn="ctr">
              <a:buNone/>
            </a:pPr>
            <a:r>
              <a:rPr lang="en-US" sz="1000" dirty="0">
                <a:solidFill>
                  <a:schemeClr val="bg1"/>
                </a:solidFill>
                <a:latin typeface="Courier New" pitchFamily="34" charset="0"/>
                <a:ea typeface="Courier New" pitchFamily="34" charset="-122"/>
                <a:cs typeface="Courier New" pitchFamily="34" charset="-120"/>
              </a:rPr>
              <a:t>domain/</a:t>
            </a:r>
            <a:endParaRPr lang="en-US" sz="1000" dirty="0">
              <a:solidFill>
                <a:schemeClr val="bg1"/>
              </a:solidFill>
            </a:endParaRPr>
          </a:p>
        </p:txBody>
      </p:sp>
      <p:sp>
        <p:nvSpPr>
          <p:cNvPr id="20" name="Shape 17"/>
          <p:cNvSpPr/>
          <p:nvPr/>
        </p:nvSpPr>
        <p:spPr>
          <a:xfrm>
            <a:off x="2148840" y="3181189"/>
            <a:ext cx="4892040" cy="746620"/>
          </a:xfrm>
          <a:prstGeom prst="roundRect">
            <a:avLst>
              <a:gd name="adj" fmla="val 6000"/>
            </a:avLst>
          </a:prstGeom>
          <a:solidFill>
            <a:schemeClr val="bg1"/>
          </a:solidFill>
          <a:ln/>
        </p:spPr>
        <p:txBody>
          <a:bodyPr/>
          <a:lstStyle/>
          <a:p>
            <a:endParaRPr lang="en-US"/>
          </a:p>
        </p:txBody>
      </p:sp>
      <p:sp>
        <p:nvSpPr>
          <p:cNvPr id="21" name="Shape 18"/>
          <p:cNvSpPr/>
          <p:nvPr/>
        </p:nvSpPr>
        <p:spPr>
          <a:xfrm>
            <a:off x="2148840" y="3181189"/>
            <a:ext cx="4892040" cy="746620"/>
          </a:xfrm>
          <a:prstGeom prst="roundRect">
            <a:avLst>
              <a:gd name="adj" fmla="val 6000"/>
            </a:avLst>
          </a:prstGeom>
          <a:solidFill>
            <a:schemeClr val="bg2"/>
          </a:solidFill>
          <a:ln/>
        </p:spPr>
        <p:txBody>
          <a:bodyPr/>
          <a:lstStyle/>
          <a:p>
            <a:endParaRPr lang="en-US"/>
          </a:p>
        </p:txBody>
      </p:sp>
      <p:sp>
        <p:nvSpPr>
          <p:cNvPr id="22" name="Text 19"/>
          <p:cNvSpPr txBox="1"/>
          <p:nvPr/>
        </p:nvSpPr>
        <p:spPr>
          <a:xfrm>
            <a:off x="2331720" y="3240919"/>
            <a:ext cx="4572000" cy="627161"/>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TaskService · QueueService · TimerService · WaitConditionService · RetentionService · repository traits · signals</a:t>
            </a:r>
            <a:endParaRPr lang="en-US" sz="1300" dirty="0"/>
          </a:p>
        </p:txBody>
      </p:sp>
      <p:sp>
        <p:nvSpPr>
          <p:cNvPr id="23" name="Shape 20"/>
          <p:cNvSpPr/>
          <p:nvPr/>
        </p:nvSpPr>
        <p:spPr>
          <a:xfrm>
            <a:off x="457200" y="4017404"/>
            <a:ext cx="1600200" cy="746620"/>
          </a:xfrm>
          <a:prstGeom prst="roundRect">
            <a:avLst>
              <a:gd name="adj" fmla="val 5000"/>
            </a:avLst>
          </a:prstGeom>
          <a:solidFill>
            <a:schemeClr val="bg2">
              <a:lumMod val="25000"/>
            </a:schemeClr>
          </a:solidFill>
          <a:ln/>
        </p:spPr>
        <p:txBody>
          <a:bodyPr/>
          <a:lstStyle/>
          <a:p>
            <a:endParaRPr lang="en-US"/>
          </a:p>
        </p:txBody>
      </p:sp>
      <p:sp>
        <p:nvSpPr>
          <p:cNvPr id="24" name="Text 21"/>
          <p:cNvSpPr txBox="1"/>
          <p:nvPr/>
        </p:nvSpPr>
        <p:spPr>
          <a:xfrm>
            <a:off x="457200" y="4151795"/>
            <a:ext cx="1600200" cy="268783"/>
          </a:xfrm>
          <a:prstGeom prst="rect">
            <a:avLst/>
          </a:prstGeom>
          <a:noFill/>
          <a:ln/>
        </p:spPr>
        <p:txBody>
          <a:bodyPr wrap="square" lIns="0" tIns="0" rIns="0" bIns="0" rtlCol="0" anchor="t"/>
          <a:lstStyle/>
          <a:p>
            <a:pPr marL="0" indent="0" algn="ctr">
              <a:buNone/>
            </a:pPr>
            <a:r>
              <a:rPr lang="en-US" sz="1500" b="1" dirty="0">
                <a:solidFill>
                  <a:schemeClr val="bg1"/>
                </a:solidFill>
                <a:latin typeface="Calibri" pitchFamily="34" charset="0"/>
                <a:ea typeface="Calibri" pitchFamily="34" charset="-122"/>
                <a:cs typeface="Calibri" pitchFamily="34" charset="-120"/>
              </a:rPr>
              <a:t>Infrastructure</a:t>
            </a:r>
            <a:endParaRPr lang="en-US" sz="1500" dirty="0"/>
          </a:p>
        </p:txBody>
      </p:sp>
      <p:sp>
        <p:nvSpPr>
          <p:cNvPr id="25" name="Text 22"/>
          <p:cNvSpPr txBox="1"/>
          <p:nvPr/>
        </p:nvSpPr>
        <p:spPr>
          <a:xfrm>
            <a:off x="457200" y="4435511"/>
            <a:ext cx="1600200" cy="223986"/>
          </a:xfrm>
          <a:prstGeom prst="rect">
            <a:avLst/>
          </a:prstGeom>
          <a:noFill/>
          <a:ln/>
        </p:spPr>
        <p:txBody>
          <a:bodyPr wrap="square" lIns="0" tIns="0" rIns="0" bIns="0" rtlCol="0" anchor="t"/>
          <a:lstStyle/>
          <a:p>
            <a:pPr marL="0" indent="0" algn="ctr">
              <a:buNone/>
            </a:pPr>
            <a:r>
              <a:rPr lang="en-US" sz="1000" dirty="0">
                <a:solidFill>
                  <a:schemeClr val="bg1"/>
                </a:solidFill>
                <a:latin typeface="Courier New" pitchFamily="34" charset="0"/>
                <a:ea typeface="Courier New" pitchFamily="34" charset="-122"/>
                <a:cs typeface="Courier New" pitchFamily="34" charset="-120"/>
              </a:rPr>
              <a:t>infra/</a:t>
            </a:r>
            <a:endParaRPr lang="en-US" sz="1000" dirty="0"/>
          </a:p>
        </p:txBody>
      </p:sp>
      <p:sp>
        <p:nvSpPr>
          <p:cNvPr id="26" name="Shape 23"/>
          <p:cNvSpPr/>
          <p:nvPr/>
        </p:nvSpPr>
        <p:spPr>
          <a:xfrm>
            <a:off x="2148840" y="4017404"/>
            <a:ext cx="4892040" cy="746620"/>
          </a:xfrm>
          <a:prstGeom prst="roundRect">
            <a:avLst>
              <a:gd name="adj" fmla="val 6000"/>
            </a:avLst>
          </a:prstGeom>
          <a:solidFill>
            <a:schemeClr val="bg1"/>
          </a:solidFill>
          <a:ln/>
        </p:spPr>
        <p:txBody>
          <a:bodyPr/>
          <a:lstStyle/>
          <a:p>
            <a:endParaRPr lang="en-US"/>
          </a:p>
        </p:txBody>
      </p:sp>
      <p:sp>
        <p:nvSpPr>
          <p:cNvPr id="27" name="Shape 24"/>
          <p:cNvSpPr/>
          <p:nvPr/>
        </p:nvSpPr>
        <p:spPr>
          <a:xfrm>
            <a:off x="2148840" y="4017404"/>
            <a:ext cx="4892040" cy="746620"/>
          </a:xfrm>
          <a:prstGeom prst="roundRect">
            <a:avLst>
              <a:gd name="adj" fmla="val 6000"/>
            </a:avLst>
          </a:prstGeom>
          <a:solidFill>
            <a:schemeClr val="bg2"/>
          </a:solidFill>
          <a:ln/>
        </p:spPr>
        <p:txBody>
          <a:bodyPr/>
          <a:lstStyle/>
          <a:p>
            <a:endParaRPr lang="en-US"/>
          </a:p>
        </p:txBody>
      </p:sp>
      <p:sp>
        <p:nvSpPr>
          <p:cNvPr id="28" name="Text 25"/>
          <p:cNvSpPr txBox="1"/>
          <p:nvPr/>
        </p:nvSpPr>
        <p:spPr>
          <a:xfrm>
            <a:off x="2331720" y="4077133"/>
            <a:ext cx="4572000" cy="627161"/>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SeaORM repos (Scopable entities) · S2 compression · domain router · Cluster cache adapter · GTS provisioning</a:t>
            </a:r>
            <a:endParaRPr lang="en-US" sz="1300" dirty="0"/>
          </a:p>
        </p:txBody>
      </p:sp>
      <p:sp>
        <p:nvSpPr>
          <p:cNvPr id="29" name="Shape 26"/>
          <p:cNvSpPr/>
          <p:nvPr/>
        </p:nvSpPr>
        <p:spPr>
          <a:xfrm>
            <a:off x="457200" y="5669280"/>
            <a:ext cx="6583680" cy="548640"/>
          </a:xfrm>
          <a:prstGeom prst="roundRect">
            <a:avLst>
              <a:gd name="adj" fmla="val 10000"/>
            </a:avLst>
          </a:prstGeom>
          <a:solidFill>
            <a:schemeClr val="bg1"/>
          </a:solidFill>
          <a:ln/>
        </p:spPr>
        <p:txBody>
          <a:bodyPr/>
          <a:lstStyle/>
          <a:p>
            <a:endParaRPr lang="en-US"/>
          </a:p>
        </p:txBody>
      </p:sp>
      <p:sp>
        <p:nvSpPr>
          <p:cNvPr id="30" name="Shape 27"/>
          <p:cNvSpPr/>
          <p:nvPr/>
        </p:nvSpPr>
        <p:spPr>
          <a:xfrm>
            <a:off x="457200" y="5669280"/>
            <a:ext cx="6583680" cy="548640"/>
          </a:xfrm>
          <a:prstGeom prst="roundRect">
            <a:avLst>
              <a:gd name="adj" fmla="val 10000"/>
            </a:avLst>
          </a:prstGeom>
          <a:solidFill>
            <a:schemeClr val="accent4">
              <a:alpha val="8000"/>
            </a:schemeClr>
          </a:solidFill>
          <a:ln/>
        </p:spPr>
        <p:txBody>
          <a:bodyPr/>
          <a:lstStyle/>
          <a:p>
            <a:endParaRPr lang="en-US"/>
          </a:p>
        </p:txBody>
      </p:sp>
      <p:sp>
        <p:nvSpPr>
          <p:cNvPr id="31" name="Text 28"/>
          <p:cNvSpPr txBox="1"/>
          <p:nvPr/>
        </p:nvSpPr>
        <p:spPr>
          <a:xfrm>
            <a:off x="640080" y="5669280"/>
            <a:ext cx="6309360" cy="548640"/>
          </a:xfrm>
          <a:prstGeom prst="rect">
            <a:avLst/>
          </a:prstGeom>
          <a:noFill/>
          <a:ln/>
        </p:spPr>
        <p:txBody>
          <a:bodyPr wrap="square" lIns="0" tIns="0" rIns="0" bIns="0" rtlCol="0" anchor="ctr"/>
          <a:lstStyle/>
          <a:p>
            <a:pPr marL="0" indent="0">
              <a:buNone/>
            </a:pPr>
            <a:r>
              <a:rPr lang="en-US" sz="1200" dirty="0">
                <a:solidFill>
                  <a:schemeClr val="tx1"/>
                </a:solidFill>
                <a:latin typeface="Calibri" pitchFamily="34" charset="0"/>
                <a:ea typeface="Calibri" pitchFamily="34" charset="-122"/>
                <a:cs typeface="Calibri" pitchFamily="34" charset="-120"/>
              </a:rPr>
              <a:t>Rules: domain/ never imports infra · every domain type has #[domain_model] (lint DE0309) · DB access only through SecureConn</a:t>
            </a:r>
            <a:endParaRPr lang="en-US" sz="1200" dirty="0"/>
          </a:p>
        </p:txBody>
      </p:sp>
      <p:sp>
        <p:nvSpPr>
          <p:cNvPr id="32" name="Shape 29"/>
          <p:cNvSpPr/>
          <p:nvPr/>
        </p:nvSpPr>
        <p:spPr>
          <a:xfrm>
            <a:off x="7315200" y="1508760"/>
            <a:ext cx="4416552" cy="4709160"/>
          </a:xfrm>
          <a:prstGeom prst="roundRect">
            <a:avLst>
              <a:gd name="adj" fmla="val 1242"/>
            </a:avLst>
          </a:prstGeom>
          <a:solidFill>
            <a:schemeClr val="tx1"/>
          </a:solidFill>
          <a:ln/>
        </p:spPr>
        <p:txBody>
          <a:bodyPr/>
          <a:lstStyle/>
          <a:p>
            <a:endParaRPr lang="en-US"/>
          </a:p>
        </p:txBody>
      </p:sp>
      <p:sp>
        <p:nvSpPr>
          <p:cNvPr id="33" name="Text 30"/>
          <p:cNvSpPr txBox="1"/>
          <p:nvPr/>
        </p:nvSpPr>
        <p:spPr>
          <a:xfrm>
            <a:off x="7479792" y="1618488"/>
            <a:ext cx="4142232" cy="4489704"/>
          </a:xfrm>
          <a:prstGeom prst="rect">
            <a:avLst/>
          </a:prstGeom>
          <a:noFill/>
          <a:ln/>
        </p:spPr>
        <p:txBody>
          <a:bodyPr wrap="square" lIns="0" tIns="0" rIns="0" bIns="0" rtlCol="0" anchor="t"/>
          <a:lstStyle/>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gears/task-engine/</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task-engine-sdk/</a:t>
            </a:r>
            <a:r>
              <a:rPr lang="en-US" sz="1000" dirty="0">
                <a:solidFill>
                  <a:schemeClr val="accent1"/>
                </a:solidFill>
                <a:latin typeface="Courier New" pitchFamily="34" charset="0"/>
                <a:ea typeface="Courier New" pitchFamily="34" charset="-122"/>
                <a:cs typeface="Courier New" pitchFamily="34" charset="-120"/>
              </a:rPr>
              <a:t>      # public</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api.rs     TaskEngineApi</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models.rs  Task, Lease, enums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error.rs   TaskEngineError</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gts.rs     GTS base types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task-engine/</a:t>
            </a:r>
            <a:r>
              <a:rPr lang="en-US" sz="1000" dirty="0">
                <a:solidFill>
                  <a:schemeClr val="accent1"/>
                </a:solidFill>
                <a:latin typeface="Courier New" pitchFamily="34" charset="0"/>
                <a:ea typeface="Courier New" pitchFamily="34" charset="-122"/>
                <a:cs typeface="Courier New" pitchFamily="34" charset="-120"/>
              </a:rPr>
              <a:t>          # private</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gear.rs    wiring, ClientHub</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api/rest/  handlers, routes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domain/</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 task_service.rs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 queue_service.rs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 timer_service.rs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 wait_service.rs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 retention_service.rs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 event_producer.rs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 event_consumer.rs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 progress_cache.rs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 local_client.rs</a:t>
            </a:r>
            <a:r>
              <a:rPr lang="en-US" sz="1000" dirty="0">
                <a:solidFill>
                  <a:schemeClr val="accent1"/>
                </a:solidFill>
                <a:latin typeface="Courier New" pitchFamily="34" charset="0"/>
                <a:ea typeface="Courier New" pitchFamily="34" charset="-122"/>
                <a:cs typeface="Courier New" pitchFamily="34" charset="-120"/>
              </a:rPr>
              <a:t>  # SDK impl</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infra/</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db/  repos + entities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compression.rs</a:t>
            </a:r>
            <a:r>
              <a:rPr lang="en-US" sz="1000" dirty="0">
                <a:solidFill>
                  <a:schemeClr val="accent1"/>
                </a:solidFill>
                <a:latin typeface="Courier New" pitchFamily="34" charset="0"/>
                <a:ea typeface="Courier New" pitchFamily="34" charset="-122"/>
                <a:cs typeface="Courier New" pitchFamily="34" charset="-120"/>
              </a:rPr>
              <a:t>   # S2</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 domain_router.rs</a:t>
            </a:r>
            <a:endParaRPr lang="en-US" sz="10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13</a:t>
            </a:fld>
            <a:endParaRPr lang="en-US"/>
          </a:p>
        </p:txBody>
      </p:sp>
      <p:sp>
        <p:nvSpPr>
          <p:cNvPr id="36" name="Shape 20">
            <a:extLst>
              <a:ext uri="{FF2B5EF4-FFF2-40B4-BE49-F238E27FC236}">
                <a16:creationId xmlns:a16="http://schemas.microsoft.com/office/drawing/2014/main" id="{A3FEEB61-4461-4682-95AE-58EF02A3C9C5}"/>
              </a:ext>
            </a:extLst>
          </p:cNvPr>
          <p:cNvSpPr/>
          <p:nvPr/>
        </p:nvSpPr>
        <p:spPr>
          <a:xfrm>
            <a:off x="457200" y="4845061"/>
            <a:ext cx="1600200" cy="746620"/>
          </a:xfrm>
          <a:prstGeom prst="roundRect">
            <a:avLst>
              <a:gd name="adj" fmla="val 5000"/>
            </a:avLst>
          </a:prstGeom>
          <a:solidFill>
            <a:schemeClr val="bg2">
              <a:lumMod val="10000"/>
            </a:schemeClr>
          </a:solidFill>
          <a:ln/>
        </p:spPr>
        <p:txBody>
          <a:bodyPr/>
          <a:lstStyle/>
          <a:p>
            <a:endParaRPr lang="en-US"/>
          </a:p>
        </p:txBody>
      </p:sp>
      <p:sp>
        <p:nvSpPr>
          <p:cNvPr id="37" name="Text 21">
            <a:extLst>
              <a:ext uri="{FF2B5EF4-FFF2-40B4-BE49-F238E27FC236}">
                <a16:creationId xmlns:a16="http://schemas.microsoft.com/office/drawing/2014/main" id="{DEA82732-8114-05BB-B287-68C3CC9BA0D0}"/>
              </a:ext>
            </a:extLst>
          </p:cNvPr>
          <p:cNvSpPr txBox="1"/>
          <p:nvPr/>
        </p:nvSpPr>
        <p:spPr>
          <a:xfrm>
            <a:off x="457200" y="5080456"/>
            <a:ext cx="1600200" cy="268783"/>
          </a:xfrm>
          <a:prstGeom prst="rect">
            <a:avLst/>
          </a:prstGeom>
          <a:noFill/>
          <a:ln/>
        </p:spPr>
        <p:txBody>
          <a:bodyPr wrap="square" lIns="0" tIns="0" rIns="0" bIns="0" rtlCol="0" anchor="t"/>
          <a:lstStyle/>
          <a:p>
            <a:pPr marL="0" indent="0" algn="ctr">
              <a:buNone/>
            </a:pPr>
            <a:r>
              <a:rPr lang="en-US" sz="1500" b="1" dirty="0">
                <a:solidFill>
                  <a:schemeClr val="bg1"/>
                </a:solidFill>
                <a:latin typeface="Calibri" pitchFamily="34" charset="0"/>
                <a:cs typeface="Calibri" pitchFamily="34" charset="-120"/>
              </a:rPr>
              <a:t>Plugins</a:t>
            </a:r>
            <a:endParaRPr lang="en-US" sz="1500" dirty="0"/>
          </a:p>
        </p:txBody>
      </p:sp>
      <p:sp>
        <p:nvSpPr>
          <p:cNvPr id="38" name="Text 22">
            <a:extLst>
              <a:ext uri="{FF2B5EF4-FFF2-40B4-BE49-F238E27FC236}">
                <a16:creationId xmlns:a16="http://schemas.microsoft.com/office/drawing/2014/main" id="{3DCE4140-61A7-B526-CA72-D6203043A0E2}"/>
              </a:ext>
            </a:extLst>
          </p:cNvPr>
          <p:cNvSpPr txBox="1"/>
          <p:nvPr/>
        </p:nvSpPr>
        <p:spPr>
          <a:xfrm>
            <a:off x="457200" y="5263168"/>
            <a:ext cx="1600200" cy="223986"/>
          </a:xfrm>
          <a:prstGeom prst="rect">
            <a:avLst/>
          </a:prstGeom>
          <a:noFill/>
          <a:ln/>
        </p:spPr>
        <p:txBody>
          <a:bodyPr wrap="square" lIns="0" tIns="0" rIns="0" bIns="0" rtlCol="0" anchor="t"/>
          <a:lstStyle/>
          <a:p>
            <a:pPr marL="0" indent="0" algn="ctr">
              <a:buNone/>
            </a:pPr>
            <a:endParaRPr lang="en-US" sz="1000" dirty="0"/>
          </a:p>
        </p:txBody>
      </p:sp>
      <p:sp>
        <p:nvSpPr>
          <p:cNvPr id="39" name="Shape 23">
            <a:extLst>
              <a:ext uri="{FF2B5EF4-FFF2-40B4-BE49-F238E27FC236}">
                <a16:creationId xmlns:a16="http://schemas.microsoft.com/office/drawing/2014/main" id="{328659B4-34C3-5BE6-C592-0DEABFEA60AF}"/>
              </a:ext>
            </a:extLst>
          </p:cNvPr>
          <p:cNvSpPr/>
          <p:nvPr/>
        </p:nvSpPr>
        <p:spPr>
          <a:xfrm>
            <a:off x="2148840" y="4845061"/>
            <a:ext cx="4892040" cy="746620"/>
          </a:xfrm>
          <a:prstGeom prst="roundRect">
            <a:avLst>
              <a:gd name="adj" fmla="val 6000"/>
            </a:avLst>
          </a:prstGeom>
          <a:solidFill>
            <a:schemeClr val="bg1"/>
          </a:solidFill>
          <a:ln/>
        </p:spPr>
        <p:txBody>
          <a:bodyPr/>
          <a:lstStyle/>
          <a:p>
            <a:endParaRPr lang="en-US"/>
          </a:p>
        </p:txBody>
      </p:sp>
      <p:sp>
        <p:nvSpPr>
          <p:cNvPr id="40" name="Shape 24">
            <a:extLst>
              <a:ext uri="{FF2B5EF4-FFF2-40B4-BE49-F238E27FC236}">
                <a16:creationId xmlns:a16="http://schemas.microsoft.com/office/drawing/2014/main" id="{E5E8BFCA-D6DF-D1C9-81AA-09692F50EFB6}"/>
              </a:ext>
            </a:extLst>
          </p:cNvPr>
          <p:cNvSpPr/>
          <p:nvPr/>
        </p:nvSpPr>
        <p:spPr>
          <a:xfrm>
            <a:off x="2148840" y="4845061"/>
            <a:ext cx="4892040" cy="746620"/>
          </a:xfrm>
          <a:prstGeom prst="roundRect">
            <a:avLst>
              <a:gd name="adj" fmla="val 6000"/>
            </a:avLst>
          </a:prstGeom>
          <a:solidFill>
            <a:schemeClr val="bg2"/>
          </a:solidFill>
          <a:ln/>
        </p:spPr>
        <p:txBody>
          <a:bodyPr/>
          <a:lstStyle/>
          <a:p>
            <a:endParaRPr lang="en-US"/>
          </a:p>
        </p:txBody>
      </p:sp>
      <p:sp>
        <p:nvSpPr>
          <p:cNvPr id="41" name="Text 25">
            <a:extLst>
              <a:ext uri="{FF2B5EF4-FFF2-40B4-BE49-F238E27FC236}">
                <a16:creationId xmlns:a16="http://schemas.microsoft.com/office/drawing/2014/main" id="{03826113-7EC0-57D4-BBFC-A678E7F87F43}"/>
              </a:ext>
            </a:extLst>
          </p:cNvPr>
          <p:cNvSpPr txBox="1"/>
          <p:nvPr/>
        </p:nvSpPr>
        <p:spPr>
          <a:xfrm>
            <a:off x="2331720" y="4904790"/>
            <a:ext cx="4572000" cy="627161"/>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Plugins interface for Payload storage, Search, Analytics, History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Domain model: the Task and what hangs off it</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Hot fields are relational columns; caller payloads are opaque compressed JSON</a:t>
            </a:r>
            <a:endParaRPr lang="en-US" sz="1600" dirty="0"/>
          </a:p>
        </p:txBody>
      </p:sp>
      <p:sp>
        <p:nvSpPr>
          <p:cNvPr id="5" name="Shape 2"/>
          <p:cNvSpPr/>
          <p:nvPr/>
        </p:nvSpPr>
        <p:spPr>
          <a:xfrm>
            <a:off x="4160520" y="1463040"/>
            <a:ext cx="3840480" cy="3886200"/>
          </a:xfrm>
          <a:prstGeom prst="roundRect">
            <a:avLst>
              <a:gd name="adj" fmla="val 1429"/>
            </a:avLst>
          </a:prstGeom>
          <a:solidFill>
            <a:schemeClr val="bg1"/>
          </a:solidFill>
          <a:ln/>
        </p:spPr>
        <p:txBody>
          <a:bodyPr/>
          <a:lstStyle/>
          <a:p>
            <a:endParaRPr lang="en-US"/>
          </a:p>
        </p:txBody>
      </p:sp>
      <p:sp>
        <p:nvSpPr>
          <p:cNvPr id="6" name="Shape 3"/>
          <p:cNvSpPr/>
          <p:nvPr/>
        </p:nvSpPr>
        <p:spPr>
          <a:xfrm>
            <a:off x="4160520" y="1463040"/>
            <a:ext cx="3840480" cy="3886200"/>
          </a:xfrm>
          <a:prstGeom prst="roundRect">
            <a:avLst>
              <a:gd name="adj" fmla="val 1429"/>
            </a:avLst>
          </a:prstGeom>
          <a:solidFill>
            <a:schemeClr val="tx2">
              <a:lumMod val="10000"/>
              <a:lumOff val="90000"/>
              <a:alpha val="18000"/>
            </a:schemeClr>
          </a:solidFill>
          <a:ln w="12700">
            <a:solidFill>
              <a:schemeClr val="accent1"/>
            </a:solidFill>
            <a:prstDash val="solid"/>
          </a:ln>
        </p:spPr>
        <p:txBody>
          <a:bodyPr/>
          <a:lstStyle/>
          <a:p>
            <a:endParaRPr lang="en-US"/>
          </a:p>
        </p:txBody>
      </p:sp>
      <p:sp>
        <p:nvSpPr>
          <p:cNvPr id="7" name="Shape 4"/>
          <p:cNvSpPr/>
          <p:nvPr/>
        </p:nvSpPr>
        <p:spPr>
          <a:xfrm>
            <a:off x="4315968" y="1572768"/>
            <a:ext cx="438912" cy="438912"/>
          </a:xfrm>
          <a:prstGeom prst="ellipse">
            <a:avLst/>
          </a:prstGeom>
          <a:solidFill>
            <a:schemeClr val="tx2">
              <a:lumMod val="25000"/>
              <a:lumOff val="75000"/>
            </a:schemeClr>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4425696" y="1682496"/>
            <a:ext cx="219456" cy="219456"/>
          </a:xfrm>
          <a:prstGeom prst="rect">
            <a:avLst/>
          </a:prstGeom>
        </p:spPr>
      </p:pic>
      <p:sp>
        <p:nvSpPr>
          <p:cNvPr id="9" name="Text 5"/>
          <p:cNvSpPr txBox="1"/>
          <p:nvPr/>
        </p:nvSpPr>
        <p:spPr>
          <a:xfrm>
            <a:off x="4846320" y="1572768"/>
            <a:ext cx="2743200" cy="438912"/>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Task</a:t>
            </a:r>
            <a:endParaRPr lang="en-US" sz="1800" dirty="0"/>
          </a:p>
        </p:txBody>
      </p:sp>
      <p:sp>
        <p:nvSpPr>
          <p:cNvPr id="10" name="Text 6"/>
          <p:cNvSpPr txBox="1"/>
          <p:nvPr/>
        </p:nvSpPr>
        <p:spPr>
          <a:xfrm>
            <a:off x="4343400" y="2148840"/>
            <a:ext cx="914400" cy="274320"/>
          </a:xfrm>
          <a:prstGeom prst="rect">
            <a:avLst/>
          </a:prstGeom>
          <a:noFill/>
          <a:ln/>
        </p:spPr>
        <p:txBody>
          <a:bodyPr wrap="square" lIns="0" tIns="0" rIns="0" bIns="0" rtlCol="0" anchor="t"/>
          <a:lstStyle/>
          <a:p>
            <a:pPr marL="0" indent="0">
              <a:buNone/>
            </a:pPr>
            <a:r>
              <a:rPr lang="en-US" sz="1000" b="1" dirty="0">
                <a:solidFill>
                  <a:schemeClr val="tx2"/>
                </a:solidFill>
                <a:latin typeface="Calibri" pitchFamily="34" charset="0"/>
                <a:ea typeface="Calibri" pitchFamily="34" charset="-122"/>
                <a:cs typeface="Calibri" pitchFamily="34" charset="-120"/>
              </a:rPr>
              <a:t>identity</a:t>
            </a:r>
            <a:endParaRPr lang="en-US" sz="1000" dirty="0"/>
          </a:p>
        </p:txBody>
      </p:sp>
      <p:sp>
        <p:nvSpPr>
          <p:cNvPr id="11" name="Text 7"/>
          <p:cNvSpPr txBox="1"/>
          <p:nvPr/>
        </p:nvSpPr>
        <p:spPr>
          <a:xfrm>
            <a:off x="5257800" y="2148840"/>
            <a:ext cx="2606040" cy="566928"/>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id (UUIDv7) · type_id (GTS) · owner_tenant_id · created_by · idempotency_key</a:t>
            </a:r>
            <a:endParaRPr lang="en-US" sz="1100" dirty="0"/>
          </a:p>
        </p:txBody>
      </p:sp>
      <p:sp>
        <p:nvSpPr>
          <p:cNvPr id="12" name="Text 8"/>
          <p:cNvSpPr txBox="1"/>
          <p:nvPr/>
        </p:nvSpPr>
        <p:spPr>
          <a:xfrm>
            <a:off x="4343400" y="2770632"/>
            <a:ext cx="914400" cy="274320"/>
          </a:xfrm>
          <a:prstGeom prst="rect">
            <a:avLst/>
          </a:prstGeom>
          <a:noFill/>
          <a:ln/>
        </p:spPr>
        <p:txBody>
          <a:bodyPr wrap="square" lIns="0" tIns="0" rIns="0" bIns="0" rtlCol="0" anchor="t"/>
          <a:lstStyle/>
          <a:p>
            <a:pPr marL="0" indent="0">
              <a:buNone/>
            </a:pPr>
            <a:r>
              <a:rPr lang="en-US" sz="1000" b="1" dirty="0">
                <a:solidFill>
                  <a:schemeClr val="tx2"/>
                </a:solidFill>
                <a:latin typeface="Calibri" pitchFamily="34" charset="0"/>
                <a:ea typeface="Calibri" pitchFamily="34" charset="-122"/>
                <a:cs typeface="Calibri" pitchFamily="34" charset="-120"/>
              </a:rPr>
              <a:t>dispatch</a:t>
            </a:r>
            <a:endParaRPr lang="en-US" sz="1000" dirty="0"/>
          </a:p>
        </p:txBody>
      </p:sp>
      <p:sp>
        <p:nvSpPr>
          <p:cNvPr id="13" name="Text 9"/>
          <p:cNvSpPr txBox="1"/>
          <p:nvPr/>
        </p:nvSpPr>
        <p:spPr>
          <a:xfrm>
            <a:off x="5257800" y="2770632"/>
            <a:ext cx="2606040" cy="566928"/>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queue_id · priority · state · run_after</a:t>
            </a:r>
            <a:endParaRPr lang="en-US" sz="1100" dirty="0"/>
          </a:p>
        </p:txBody>
      </p:sp>
      <p:sp>
        <p:nvSpPr>
          <p:cNvPr id="14" name="Text 10"/>
          <p:cNvSpPr txBox="1"/>
          <p:nvPr/>
        </p:nvSpPr>
        <p:spPr>
          <a:xfrm>
            <a:off x="4343400" y="3392424"/>
            <a:ext cx="914400" cy="274320"/>
          </a:xfrm>
          <a:prstGeom prst="rect">
            <a:avLst/>
          </a:prstGeom>
          <a:noFill/>
          <a:ln/>
        </p:spPr>
        <p:txBody>
          <a:bodyPr wrap="square" lIns="0" tIns="0" rIns="0" bIns="0" rtlCol="0" anchor="t"/>
          <a:lstStyle/>
          <a:p>
            <a:pPr marL="0" indent="0">
              <a:buNone/>
            </a:pPr>
            <a:r>
              <a:rPr lang="en-US" sz="1000" b="1" dirty="0">
                <a:solidFill>
                  <a:schemeClr val="tx2"/>
                </a:solidFill>
                <a:latin typeface="Calibri" pitchFamily="34" charset="0"/>
                <a:ea typeface="Calibri" pitchFamily="34" charset="-122"/>
                <a:cs typeface="Calibri" pitchFamily="34" charset="-120"/>
              </a:rPr>
              <a:t>execution</a:t>
            </a:r>
            <a:endParaRPr lang="en-US" sz="1000" dirty="0"/>
          </a:p>
        </p:txBody>
      </p:sp>
      <p:sp>
        <p:nvSpPr>
          <p:cNvPr id="15" name="Text 11"/>
          <p:cNvSpPr txBox="1"/>
          <p:nvPr/>
        </p:nvSpPr>
        <p:spPr>
          <a:xfrm>
            <a:off x="5257800" y="3392424"/>
            <a:ext cx="2606040" cy="566928"/>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attempt · timeouts · retry_policy · cancel_requested · sla_deadline</a:t>
            </a:r>
            <a:endParaRPr lang="en-US" sz="1100" dirty="0"/>
          </a:p>
        </p:txBody>
      </p:sp>
      <p:sp>
        <p:nvSpPr>
          <p:cNvPr id="16" name="Text 12"/>
          <p:cNvSpPr txBox="1"/>
          <p:nvPr/>
        </p:nvSpPr>
        <p:spPr>
          <a:xfrm>
            <a:off x="4343400" y="4014216"/>
            <a:ext cx="914400" cy="274320"/>
          </a:xfrm>
          <a:prstGeom prst="rect">
            <a:avLst/>
          </a:prstGeom>
          <a:noFill/>
          <a:ln/>
        </p:spPr>
        <p:txBody>
          <a:bodyPr wrap="square" lIns="0" tIns="0" rIns="0" bIns="0" rtlCol="0" anchor="t"/>
          <a:lstStyle/>
          <a:p>
            <a:pPr marL="0" indent="0">
              <a:buNone/>
            </a:pPr>
            <a:r>
              <a:rPr lang="en-US" sz="1000" b="1" dirty="0">
                <a:solidFill>
                  <a:schemeClr val="tx2"/>
                </a:solidFill>
                <a:latin typeface="Calibri" pitchFamily="34" charset="0"/>
                <a:ea typeface="Calibri" pitchFamily="34" charset="-122"/>
                <a:cs typeface="Calibri" pitchFamily="34" charset="-120"/>
              </a:rPr>
              <a:t>data</a:t>
            </a:r>
            <a:endParaRPr lang="en-US" sz="1000" dirty="0"/>
          </a:p>
        </p:txBody>
      </p:sp>
      <p:sp>
        <p:nvSpPr>
          <p:cNvPr id="17" name="Text 13"/>
          <p:cNvSpPr txBox="1"/>
          <p:nvPr/>
        </p:nvSpPr>
        <p:spPr>
          <a:xfrm>
            <a:off x="5257800" y="4014216"/>
            <a:ext cx="2606040" cy="566928"/>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input · context · result · progress (compressed JSON)</a:t>
            </a:r>
            <a:endParaRPr lang="en-US" sz="1100" dirty="0"/>
          </a:p>
        </p:txBody>
      </p:sp>
      <p:sp>
        <p:nvSpPr>
          <p:cNvPr id="18" name="Text 14"/>
          <p:cNvSpPr txBox="1"/>
          <p:nvPr/>
        </p:nvSpPr>
        <p:spPr>
          <a:xfrm>
            <a:off x="4343400" y="4636008"/>
            <a:ext cx="914400" cy="274320"/>
          </a:xfrm>
          <a:prstGeom prst="rect">
            <a:avLst/>
          </a:prstGeom>
          <a:noFill/>
          <a:ln/>
        </p:spPr>
        <p:txBody>
          <a:bodyPr wrap="square" lIns="0" tIns="0" rIns="0" bIns="0" rtlCol="0" anchor="t"/>
          <a:lstStyle/>
          <a:p>
            <a:pPr marL="0" indent="0">
              <a:buNone/>
            </a:pPr>
            <a:r>
              <a:rPr lang="en-US" sz="1000" b="1" dirty="0">
                <a:solidFill>
                  <a:schemeClr val="tx2"/>
                </a:solidFill>
                <a:latin typeface="Calibri" pitchFamily="34" charset="0"/>
                <a:ea typeface="Calibri" pitchFamily="34" charset="-122"/>
                <a:cs typeface="Calibri" pitchFamily="34" charset="-120"/>
              </a:rPr>
              <a:t>relations</a:t>
            </a:r>
            <a:endParaRPr lang="en-US" sz="1000" dirty="0"/>
          </a:p>
        </p:txBody>
      </p:sp>
      <p:sp>
        <p:nvSpPr>
          <p:cNvPr id="19" name="Text 15"/>
          <p:cNvSpPr txBox="1"/>
          <p:nvPr/>
        </p:nvSpPr>
        <p:spPr>
          <a:xfrm>
            <a:off x="5257800" y="4636008"/>
            <a:ext cx="2606040" cy="566928"/>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parent_task_id · tags · resource_refs</a:t>
            </a:r>
            <a:endParaRPr lang="en-US" sz="1100" dirty="0"/>
          </a:p>
        </p:txBody>
      </p:sp>
      <p:sp>
        <p:nvSpPr>
          <p:cNvPr id="20" name="Shape 16"/>
          <p:cNvSpPr/>
          <p:nvPr/>
        </p:nvSpPr>
        <p:spPr>
          <a:xfrm>
            <a:off x="457200" y="1463040"/>
            <a:ext cx="3108960" cy="1143000"/>
          </a:xfrm>
          <a:prstGeom prst="roundRect">
            <a:avLst>
              <a:gd name="adj" fmla="val 4800"/>
            </a:avLst>
          </a:prstGeom>
          <a:solidFill>
            <a:schemeClr val="bg1"/>
          </a:solidFill>
          <a:ln/>
        </p:spPr>
        <p:txBody>
          <a:bodyPr/>
          <a:lstStyle/>
          <a:p>
            <a:endParaRPr lang="en-US"/>
          </a:p>
        </p:txBody>
      </p:sp>
      <p:sp>
        <p:nvSpPr>
          <p:cNvPr id="21" name="Shape 17"/>
          <p:cNvSpPr/>
          <p:nvPr/>
        </p:nvSpPr>
        <p:spPr>
          <a:xfrm>
            <a:off x="457200" y="1463040"/>
            <a:ext cx="3108960" cy="1143000"/>
          </a:xfrm>
          <a:prstGeom prst="roundRect">
            <a:avLst>
              <a:gd name="adj" fmla="val 4800"/>
            </a:avLst>
          </a:prstGeom>
          <a:solidFill>
            <a:schemeClr val="tx2">
              <a:lumMod val="10000"/>
              <a:lumOff val="90000"/>
              <a:alpha val="10000"/>
            </a:schemeClr>
          </a:solidFill>
          <a:ln w="15875">
            <a:solidFill>
              <a:schemeClr val="bg2">
                <a:lumMod val="50000"/>
              </a:schemeClr>
            </a:solidFill>
            <a:prstDash val="solid"/>
          </a:ln>
        </p:spPr>
        <p:txBody>
          <a:bodyPr/>
          <a:lstStyle/>
          <a:p>
            <a:endParaRPr lang="en-US"/>
          </a:p>
        </p:txBody>
      </p:sp>
      <p:sp>
        <p:nvSpPr>
          <p:cNvPr id="22" name="Text 18"/>
          <p:cNvSpPr txBox="1"/>
          <p:nvPr/>
        </p:nvSpPr>
        <p:spPr>
          <a:xfrm>
            <a:off x="512064" y="1463040"/>
            <a:ext cx="2999232" cy="114300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Assignment (lease)</a:t>
            </a:r>
            <a:endParaRPr lang="en-US" sz="1300" dirty="0"/>
          </a:p>
          <a:p>
            <a:pPr marL="0" indent="0" algn="ctr">
              <a:buNone/>
            </a:pPr>
            <a:r>
              <a:rPr lang="en-US" sz="1100" dirty="0">
                <a:solidFill>
                  <a:schemeClr val="tx2"/>
                </a:solidFill>
                <a:latin typeface="Calibri" pitchFamily="34" charset="0"/>
                <a:ea typeface="Calibri" pitchFamily="34" charset="-122"/>
                <a:cs typeface="Calibri" pitchFamily="34" charset="-120"/>
              </a:rPr>
              <a:t>assignee · lease_until · lease_token · lease_epoch · deadlines</a:t>
            </a:r>
            <a:endParaRPr lang="en-US" sz="1300" dirty="0"/>
          </a:p>
        </p:txBody>
      </p:sp>
      <p:sp>
        <p:nvSpPr>
          <p:cNvPr id="23" name="Shape 19"/>
          <p:cNvSpPr/>
          <p:nvPr/>
        </p:nvSpPr>
        <p:spPr>
          <a:xfrm flipH="1">
            <a:off x="3566160" y="2034540"/>
            <a:ext cx="594360" cy="91"/>
          </a:xfrm>
          <a:prstGeom prst="line">
            <a:avLst/>
          </a:prstGeom>
          <a:noFill/>
          <a:ln w="15875">
            <a:solidFill>
              <a:schemeClr val="accent1"/>
            </a:solidFill>
            <a:prstDash val="solid"/>
            <a:headEnd type="none"/>
            <a:tailEnd type="triangle"/>
          </a:ln>
        </p:spPr>
        <p:txBody>
          <a:bodyPr/>
          <a:lstStyle/>
          <a:p>
            <a:endParaRPr lang="en-US"/>
          </a:p>
        </p:txBody>
      </p:sp>
      <p:sp>
        <p:nvSpPr>
          <p:cNvPr id="24" name="Text 20"/>
          <p:cNvSpPr txBox="1"/>
          <p:nvPr/>
        </p:nvSpPr>
        <p:spPr>
          <a:xfrm>
            <a:off x="3611880" y="1787652"/>
            <a:ext cx="548640" cy="201168"/>
          </a:xfrm>
          <a:prstGeom prst="rect">
            <a:avLst/>
          </a:prstGeom>
          <a:noFill/>
          <a:ln/>
        </p:spPr>
        <p:txBody>
          <a:bodyPr wrap="square" lIns="0" tIns="0" rIns="0" bIns="0" rtlCol="0" anchor="t"/>
          <a:lstStyle/>
          <a:p>
            <a:pPr marL="0" indent="0" algn="ctr">
              <a:buNone/>
            </a:pPr>
            <a:r>
              <a:rPr lang="en-US" sz="1000" dirty="0">
                <a:solidFill>
                  <a:schemeClr val="tx2"/>
                </a:solidFill>
                <a:latin typeface="Calibri" pitchFamily="34" charset="0"/>
                <a:ea typeface="Calibri" pitchFamily="34" charset="-122"/>
                <a:cs typeface="Calibri" pitchFamily="34" charset="-120"/>
              </a:rPr>
              <a:t>0..1</a:t>
            </a:r>
            <a:endParaRPr lang="en-US" sz="1000" dirty="0"/>
          </a:p>
        </p:txBody>
      </p:sp>
      <p:sp>
        <p:nvSpPr>
          <p:cNvPr id="25" name="Shape 21"/>
          <p:cNvSpPr/>
          <p:nvPr/>
        </p:nvSpPr>
        <p:spPr>
          <a:xfrm>
            <a:off x="457200" y="2788920"/>
            <a:ext cx="3108960" cy="1051560"/>
          </a:xfrm>
          <a:prstGeom prst="roundRect">
            <a:avLst>
              <a:gd name="adj" fmla="val 5217"/>
            </a:avLst>
          </a:prstGeom>
          <a:solidFill>
            <a:schemeClr val="bg1"/>
          </a:solidFill>
          <a:ln/>
        </p:spPr>
        <p:txBody>
          <a:bodyPr/>
          <a:lstStyle/>
          <a:p>
            <a:endParaRPr lang="en-US"/>
          </a:p>
        </p:txBody>
      </p:sp>
      <p:sp>
        <p:nvSpPr>
          <p:cNvPr id="26" name="Shape 22"/>
          <p:cNvSpPr/>
          <p:nvPr/>
        </p:nvSpPr>
        <p:spPr>
          <a:xfrm>
            <a:off x="457200" y="2788920"/>
            <a:ext cx="3108960" cy="1051560"/>
          </a:xfrm>
          <a:prstGeom prst="roundRect">
            <a:avLst>
              <a:gd name="adj" fmla="val 5217"/>
            </a:avLst>
          </a:prstGeom>
          <a:solidFill>
            <a:schemeClr val="tx2">
              <a:lumMod val="10000"/>
              <a:lumOff val="90000"/>
              <a:alpha val="10000"/>
            </a:schemeClr>
          </a:solidFill>
          <a:ln w="15875">
            <a:solidFill>
              <a:schemeClr val="bg2">
                <a:lumMod val="50000"/>
              </a:schemeClr>
            </a:solidFill>
            <a:prstDash val="solid"/>
          </a:ln>
        </p:spPr>
        <p:txBody>
          <a:bodyPr/>
          <a:lstStyle/>
          <a:p>
            <a:endParaRPr lang="en-US"/>
          </a:p>
        </p:txBody>
      </p:sp>
      <p:sp>
        <p:nvSpPr>
          <p:cNvPr id="27" name="Text 23"/>
          <p:cNvSpPr txBox="1"/>
          <p:nvPr/>
        </p:nvSpPr>
        <p:spPr>
          <a:xfrm>
            <a:off x="512064" y="2788920"/>
            <a:ext cx="2999232" cy="105156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TaskResult</a:t>
            </a:r>
            <a:endParaRPr lang="en-US" sz="1300" dirty="0"/>
          </a:p>
          <a:p>
            <a:pPr marL="0" indent="0" algn="ctr">
              <a:buNone/>
            </a:pPr>
            <a:r>
              <a:rPr lang="en-US" sz="1100" dirty="0">
                <a:solidFill>
                  <a:schemeClr val="tx2"/>
                </a:solidFill>
                <a:latin typeface="Calibri" pitchFamily="34" charset="0"/>
                <a:ea typeface="Calibri" pitchFamily="34" charset="-122"/>
                <a:cs typeface="Calibri" pitchFamily="34" charset="-120"/>
              </a:rPr>
              <a:t>result_code · output · error {domain, code} · warnings</a:t>
            </a:r>
            <a:endParaRPr lang="en-US" sz="1300" dirty="0"/>
          </a:p>
        </p:txBody>
      </p:sp>
      <p:sp>
        <p:nvSpPr>
          <p:cNvPr id="28" name="Shape 24"/>
          <p:cNvSpPr/>
          <p:nvPr/>
        </p:nvSpPr>
        <p:spPr>
          <a:xfrm flipH="1">
            <a:off x="3566160" y="3314700"/>
            <a:ext cx="594360" cy="91"/>
          </a:xfrm>
          <a:prstGeom prst="line">
            <a:avLst/>
          </a:prstGeom>
          <a:noFill/>
          <a:ln w="15875">
            <a:solidFill>
              <a:schemeClr val="accent1"/>
            </a:solidFill>
            <a:prstDash val="solid"/>
            <a:headEnd type="none"/>
            <a:tailEnd type="triangle"/>
          </a:ln>
        </p:spPr>
        <p:txBody>
          <a:bodyPr/>
          <a:lstStyle/>
          <a:p>
            <a:endParaRPr lang="en-US"/>
          </a:p>
        </p:txBody>
      </p:sp>
      <p:sp>
        <p:nvSpPr>
          <p:cNvPr id="29" name="Text 25"/>
          <p:cNvSpPr txBox="1"/>
          <p:nvPr/>
        </p:nvSpPr>
        <p:spPr>
          <a:xfrm>
            <a:off x="3611880" y="3067812"/>
            <a:ext cx="548640" cy="201168"/>
          </a:xfrm>
          <a:prstGeom prst="rect">
            <a:avLst/>
          </a:prstGeom>
          <a:noFill/>
          <a:ln/>
        </p:spPr>
        <p:txBody>
          <a:bodyPr wrap="square" lIns="0" tIns="0" rIns="0" bIns="0" rtlCol="0" anchor="t"/>
          <a:lstStyle/>
          <a:p>
            <a:pPr marL="0" indent="0" algn="ctr">
              <a:buNone/>
            </a:pPr>
            <a:r>
              <a:rPr lang="en-US" sz="1000" dirty="0">
                <a:solidFill>
                  <a:schemeClr val="tx2"/>
                </a:solidFill>
                <a:latin typeface="Calibri" pitchFamily="34" charset="0"/>
                <a:ea typeface="Calibri" pitchFamily="34" charset="-122"/>
                <a:cs typeface="Calibri" pitchFamily="34" charset="-120"/>
              </a:rPr>
              <a:t>0..1</a:t>
            </a:r>
            <a:endParaRPr lang="en-US" sz="1000" dirty="0"/>
          </a:p>
        </p:txBody>
      </p:sp>
      <p:sp>
        <p:nvSpPr>
          <p:cNvPr id="30" name="Shape 26"/>
          <p:cNvSpPr/>
          <p:nvPr/>
        </p:nvSpPr>
        <p:spPr>
          <a:xfrm>
            <a:off x="457200" y="4023360"/>
            <a:ext cx="3108960" cy="914400"/>
          </a:xfrm>
          <a:prstGeom prst="roundRect">
            <a:avLst>
              <a:gd name="adj" fmla="val 6000"/>
            </a:avLst>
          </a:prstGeom>
          <a:solidFill>
            <a:schemeClr val="bg1"/>
          </a:solidFill>
          <a:ln/>
        </p:spPr>
        <p:txBody>
          <a:bodyPr/>
          <a:lstStyle/>
          <a:p>
            <a:endParaRPr lang="en-US"/>
          </a:p>
        </p:txBody>
      </p:sp>
      <p:sp>
        <p:nvSpPr>
          <p:cNvPr id="31" name="Shape 27"/>
          <p:cNvSpPr/>
          <p:nvPr/>
        </p:nvSpPr>
        <p:spPr>
          <a:xfrm>
            <a:off x="457200" y="4023360"/>
            <a:ext cx="3108960" cy="914400"/>
          </a:xfrm>
          <a:prstGeom prst="roundRect">
            <a:avLst>
              <a:gd name="adj" fmla="val 6000"/>
            </a:avLst>
          </a:prstGeom>
          <a:solidFill>
            <a:schemeClr val="tx2">
              <a:lumMod val="10000"/>
              <a:lumOff val="90000"/>
              <a:alpha val="10000"/>
            </a:schemeClr>
          </a:solidFill>
          <a:ln w="15875">
            <a:solidFill>
              <a:schemeClr val="bg2">
                <a:lumMod val="50000"/>
              </a:schemeClr>
            </a:solidFill>
            <a:prstDash val="solid"/>
          </a:ln>
        </p:spPr>
        <p:txBody>
          <a:bodyPr/>
          <a:lstStyle/>
          <a:p>
            <a:endParaRPr lang="en-US"/>
          </a:p>
        </p:txBody>
      </p:sp>
      <p:sp>
        <p:nvSpPr>
          <p:cNvPr id="32" name="Text 28"/>
          <p:cNvSpPr txBox="1"/>
          <p:nvPr/>
        </p:nvSpPr>
        <p:spPr>
          <a:xfrm>
            <a:off x="512064" y="4023360"/>
            <a:ext cx="2999232" cy="91440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Progress</a:t>
            </a:r>
            <a:endParaRPr lang="en-US" sz="1300" dirty="0"/>
          </a:p>
          <a:p>
            <a:pPr marL="0" indent="0" algn="ctr">
              <a:buNone/>
            </a:pPr>
            <a:r>
              <a:rPr lang="en-US" sz="1100" dirty="0">
                <a:solidFill>
                  <a:schemeClr val="tx2"/>
                </a:solidFill>
                <a:latin typeface="Calibri" pitchFamily="34" charset="0"/>
                <a:ea typeface="Calibri" pitchFamily="34" charset="-122"/>
                <a:cs typeface="Calibri" pitchFamily="34" charset="-120"/>
              </a:rPr>
              <a:t>percent · milestone · units · stage · ETA</a:t>
            </a:r>
            <a:endParaRPr lang="en-US" sz="1300" dirty="0"/>
          </a:p>
        </p:txBody>
      </p:sp>
      <p:sp>
        <p:nvSpPr>
          <p:cNvPr id="33" name="Shape 29"/>
          <p:cNvSpPr/>
          <p:nvPr/>
        </p:nvSpPr>
        <p:spPr>
          <a:xfrm flipH="1">
            <a:off x="3566160" y="4480560"/>
            <a:ext cx="594360" cy="91"/>
          </a:xfrm>
          <a:prstGeom prst="line">
            <a:avLst/>
          </a:prstGeom>
          <a:noFill/>
          <a:ln w="15875">
            <a:solidFill>
              <a:schemeClr val="accent1"/>
            </a:solidFill>
            <a:prstDash val="solid"/>
            <a:headEnd type="none"/>
            <a:tailEnd type="triangle"/>
          </a:ln>
        </p:spPr>
        <p:txBody>
          <a:bodyPr/>
          <a:lstStyle/>
          <a:p>
            <a:endParaRPr lang="en-US"/>
          </a:p>
        </p:txBody>
      </p:sp>
      <p:sp>
        <p:nvSpPr>
          <p:cNvPr id="34" name="Text 30"/>
          <p:cNvSpPr txBox="1"/>
          <p:nvPr/>
        </p:nvSpPr>
        <p:spPr>
          <a:xfrm>
            <a:off x="3611880" y="4233672"/>
            <a:ext cx="548640" cy="201168"/>
          </a:xfrm>
          <a:prstGeom prst="rect">
            <a:avLst/>
          </a:prstGeom>
          <a:noFill/>
          <a:ln/>
        </p:spPr>
        <p:txBody>
          <a:bodyPr wrap="square" lIns="0" tIns="0" rIns="0" bIns="0" rtlCol="0" anchor="t"/>
          <a:lstStyle/>
          <a:p>
            <a:pPr marL="0" indent="0" algn="ctr">
              <a:buNone/>
            </a:pPr>
            <a:r>
              <a:rPr lang="en-US" sz="1000" dirty="0">
                <a:solidFill>
                  <a:schemeClr val="tx2"/>
                </a:solidFill>
                <a:latin typeface="Calibri" pitchFamily="34" charset="0"/>
                <a:ea typeface="Calibri" pitchFamily="34" charset="-122"/>
                <a:cs typeface="Calibri" pitchFamily="34" charset="-120"/>
              </a:rPr>
              <a:t>0..1</a:t>
            </a:r>
            <a:endParaRPr lang="en-US" sz="1000" dirty="0"/>
          </a:p>
        </p:txBody>
      </p:sp>
      <p:sp>
        <p:nvSpPr>
          <p:cNvPr id="35" name="Shape 31"/>
          <p:cNvSpPr/>
          <p:nvPr/>
        </p:nvSpPr>
        <p:spPr>
          <a:xfrm>
            <a:off x="8595360" y="1463040"/>
            <a:ext cx="3136392" cy="1463040"/>
          </a:xfrm>
          <a:prstGeom prst="roundRect">
            <a:avLst>
              <a:gd name="adj" fmla="val 3750"/>
            </a:avLst>
          </a:prstGeom>
          <a:solidFill>
            <a:schemeClr val="bg1"/>
          </a:solidFill>
          <a:ln/>
        </p:spPr>
        <p:txBody>
          <a:bodyPr/>
          <a:lstStyle/>
          <a:p>
            <a:endParaRPr lang="en-US"/>
          </a:p>
        </p:txBody>
      </p:sp>
      <p:sp>
        <p:nvSpPr>
          <p:cNvPr id="36" name="Shape 32"/>
          <p:cNvSpPr/>
          <p:nvPr/>
        </p:nvSpPr>
        <p:spPr>
          <a:xfrm>
            <a:off x="8595360" y="1463040"/>
            <a:ext cx="3136392" cy="1463040"/>
          </a:xfrm>
          <a:prstGeom prst="roundRect">
            <a:avLst>
              <a:gd name="adj" fmla="val 3750"/>
            </a:avLst>
          </a:prstGeom>
          <a:solidFill>
            <a:schemeClr val="tx2">
              <a:lumMod val="10000"/>
              <a:lumOff val="90000"/>
              <a:alpha val="10000"/>
            </a:schemeClr>
          </a:solidFill>
          <a:ln w="15875">
            <a:solidFill>
              <a:schemeClr val="bg2">
                <a:lumMod val="50000"/>
              </a:schemeClr>
            </a:solidFill>
            <a:prstDash val="solid"/>
          </a:ln>
        </p:spPr>
        <p:txBody>
          <a:bodyPr/>
          <a:lstStyle/>
          <a:p>
            <a:endParaRPr lang="en-US"/>
          </a:p>
        </p:txBody>
      </p:sp>
      <p:sp>
        <p:nvSpPr>
          <p:cNvPr id="37" name="Text 33"/>
          <p:cNvSpPr txBox="1"/>
          <p:nvPr/>
        </p:nvSpPr>
        <p:spPr>
          <a:xfrm>
            <a:off x="8732520" y="1536192"/>
            <a:ext cx="2286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WaitCondition</a:t>
            </a:r>
            <a:endParaRPr lang="en-US" sz="1300" dirty="0"/>
          </a:p>
        </p:txBody>
      </p:sp>
      <p:sp>
        <p:nvSpPr>
          <p:cNvPr id="38" name="Text 34"/>
          <p:cNvSpPr txBox="1"/>
          <p:nvPr/>
        </p:nvSpPr>
        <p:spPr>
          <a:xfrm>
            <a:off x="8732520" y="1810512"/>
            <a:ext cx="2834640" cy="228600"/>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ALL / ANY · timeout</a:t>
            </a:r>
            <a:endParaRPr lang="en-US" sz="1000" dirty="0"/>
          </a:p>
        </p:txBody>
      </p:sp>
      <p:sp>
        <p:nvSpPr>
          <p:cNvPr id="39" name="Shape 35"/>
          <p:cNvSpPr/>
          <p:nvPr/>
        </p:nvSpPr>
        <p:spPr>
          <a:xfrm>
            <a:off x="8732520" y="2148840"/>
            <a:ext cx="896112" cy="640080"/>
          </a:xfrm>
          <a:prstGeom prst="roundRect">
            <a:avLst>
              <a:gd name="adj" fmla="val 8571"/>
            </a:avLst>
          </a:prstGeom>
          <a:solidFill>
            <a:schemeClr val="bg1"/>
          </a:solidFill>
          <a:ln w="9525">
            <a:solidFill>
              <a:schemeClr val="bg2">
                <a:lumMod val="50000"/>
              </a:schemeClr>
            </a:solidFill>
            <a:prstDash val="solid"/>
          </a:ln>
        </p:spPr>
        <p:txBody>
          <a:bodyPr/>
          <a:lstStyle/>
          <a:p>
            <a:endParaRPr lang="en-US"/>
          </a:p>
        </p:txBody>
      </p:sp>
      <p:sp>
        <p:nvSpPr>
          <p:cNvPr id="40" name="Text 36"/>
          <p:cNvSpPr txBox="1"/>
          <p:nvPr/>
        </p:nvSpPr>
        <p:spPr>
          <a:xfrm>
            <a:off x="8732520" y="2176272"/>
            <a:ext cx="896112" cy="274320"/>
          </a:xfrm>
          <a:prstGeom prst="rect">
            <a:avLst/>
          </a:prstGeom>
          <a:noFill/>
          <a:ln/>
        </p:spPr>
        <p:txBody>
          <a:bodyPr wrap="square" lIns="0" tIns="0" rIns="0" bIns="0" rtlCol="0" anchor="t"/>
          <a:lstStyle/>
          <a:p>
            <a:pPr marL="0" indent="0" algn="ctr">
              <a:buNone/>
            </a:pPr>
            <a:r>
              <a:rPr lang="en-US" sz="1200" b="1" dirty="0">
                <a:solidFill>
                  <a:schemeClr val="tx1"/>
                </a:solidFill>
                <a:latin typeface="Calibri" pitchFamily="34" charset="0"/>
                <a:ea typeface="Calibri" pitchFamily="34" charset="-122"/>
                <a:cs typeface="Calibri" pitchFamily="34" charset="-120"/>
              </a:rPr>
              <a:t>timer</a:t>
            </a:r>
            <a:endParaRPr lang="en-US" sz="1200" dirty="0"/>
          </a:p>
        </p:txBody>
      </p:sp>
      <p:sp>
        <p:nvSpPr>
          <p:cNvPr id="41" name="Shape 37"/>
          <p:cNvSpPr/>
          <p:nvPr/>
        </p:nvSpPr>
        <p:spPr>
          <a:xfrm>
            <a:off x="8979408" y="2487168"/>
            <a:ext cx="402336" cy="182880"/>
          </a:xfrm>
          <a:prstGeom prst="roundRect">
            <a:avLst>
              <a:gd name="adj" fmla="val 50000"/>
            </a:avLst>
          </a:prstGeom>
          <a:solidFill>
            <a:schemeClr val="tx1"/>
          </a:solidFill>
          <a:ln w="9525">
            <a:solidFill>
              <a:schemeClr val="tx1"/>
            </a:solidFill>
            <a:prstDash val="solid"/>
          </a:ln>
        </p:spPr>
        <p:txBody>
          <a:bodyPr/>
          <a:lstStyle/>
          <a:p>
            <a:endParaRPr lang="en-US"/>
          </a:p>
        </p:txBody>
      </p:sp>
      <p:sp>
        <p:nvSpPr>
          <p:cNvPr id="42" name="Text 38"/>
          <p:cNvSpPr txBox="1"/>
          <p:nvPr/>
        </p:nvSpPr>
        <p:spPr>
          <a:xfrm>
            <a:off x="8979408" y="2487168"/>
            <a:ext cx="402336" cy="182880"/>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P1</a:t>
            </a:r>
            <a:endParaRPr lang="en-US" sz="900" dirty="0"/>
          </a:p>
        </p:txBody>
      </p:sp>
      <p:sp>
        <p:nvSpPr>
          <p:cNvPr id="43" name="Shape 39"/>
          <p:cNvSpPr/>
          <p:nvPr/>
        </p:nvSpPr>
        <p:spPr>
          <a:xfrm>
            <a:off x="9710928" y="2148840"/>
            <a:ext cx="896112" cy="640080"/>
          </a:xfrm>
          <a:prstGeom prst="roundRect">
            <a:avLst>
              <a:gd name="adj" fmla="val 8571"/>
            </a:avLst>
          </a:prstGeom>
          <a:solidFill>
            <a:schemeClr val="bg1"/>
          </a:solidFill>
          <a:ln w="9525">
            <a:solidFill>
              <a:schemeClr val="bg2">
                <a:lumMod val="50000"/>
              </a:schemeClr>
            </a:solidFill>
            <a:prstDash val="solid"/>
          </a:ln>
        </p:spPr>
        <p:txBody>
          <a:bodyPr/>
          <a:lstStyle/>
          <a:p>
            <a:endParaRPr lang="en-US"/>
          </a:p>
        </p:txBody>
      </p:sp>
      <p:sp>
        <p:nvSpPr>
          <p:cNvPr id="44" name="Text 40"/>
          <p:cNvSpPr txBox="1"/>
          <p:nvPr/>
        </p:nvSpPr>
        <p:spPr>
          <a:xfrm>
            <a:off x="9710928" y="2176272"/>
            <a:ext cx="896112" cy="274320"/>
          </a:xfrm>
          <a:prstGeom prst="rect">
            <a:avLst/>
          </a:prstGeom>
          <a:noFill/>
          <a:ln/>
        </p:spPr>
        <p:txBody>
          <a:bodyPr wrap="square" lIns="0" tIns="0" rIns="0" bIns="0" rtlCol="0" anchor="t"/>
          <a:lstStyle/>
          <a:p>
            <a:pPr marL="0" indent="0" algn="ctr">
              <a:buNone/>
            </a:pPr>
            <a:r>
              <a:rPr lang="en-US" sz="1200" b="1" dirty="0">
                <a:solidFill>
                  <a:schemeClr val="tx1"/>
                </a:solidFill>
                <a:latin typeface="Calibri" pitchFamily="34" charset="0"/>
                <a:ea typeface="Calibri" pitchFamily="34" charset="-122"/>
                <a:cs typeface="Calibri" pitchFamily="34" charset="-120"/>
              </a:rPr>
              <a:t>event</a:t>
            </a:r>
            <a:endParaRPr lang="en-US" sz="1200" dirty="0"/>
          </a:p>
        </p:txBody>
      </p:sp>
      <p:sp>
        <p:nvSpPr>
          <p:cNvPr id="45" name="Shape 41"/>
          <p:cNvSpPr/>
          <p:nvPr/>
        </p:nvSpPr>
        <p:spPr>
          <a:xfrm>
            <a:off x="9957816" y="2487168"/>
            <a:ext cx="402336" cy="182880"/>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46" name="Text 42"/>
          <p:cNvSpPr txBox="1"/>
          <p:nvPr/>
        </p:nvSpPr>
        <p:spPr>
          <a:xfrm>
            <a:off x="9957816" y="2487168"/>
            <a:ext cx="402336" cy="182880"/>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P2</a:t>
            </a:r>
            <a:endParaRPr lang="en-US" sz="900" dirty="0"/>
          </a:p>
        </p:txBody>
      </p:sp>
      <p:sp>
        <p:nvSpPr>
          <p:cNvPr id="47" name="Shape 43"/>
          <p:cNvSpPr/>
          <p:nvPr/>
        </p:nvSpPr>
        <p:spPr>
          <a:xfrm>
            <a:off x="10689336" y="2148840"/>
            <a:ext cx="896112" cy="640080"/>
          </a:xfrm>
          <a:prstGeom prst="roundRect">
            <a:avLst>
              <a:gd name="adj" fmla="val 8571"/>
            </a:avLst>
          </a:prstGeom>
          <a:solidFill>
            <a:schemeClr val="bg1"/>
          </a:solidFill>
          <a:ln w="9525">
            <a:solidFill>
              <a:schemeClr val="bg2">
                <a:lumMod val="50000"/>
              </a:schemeClr>
            </a:solidFill>
            <a:prstDash val="solid"/>
          </a:ln>
        </p:spPr>
        <p:txBody>
          <a:bodyPr/>
          <a:lstStyle/>
          <a:p>
            <a:endParaRPr lang="en-US"/>
          </a:p>
        </p:txBody>
      </p:sp>
      <p:sp>
        <p:nvSpPr>
          <p:cNvPr id="48" name="Text 44"/>
          <p:cNvSpPr txBox="1"/>
          <p:nvPr/>
        </p:nvSpPr>
        <p:spPr>
          <a:xfrm>
            <a:off x="10689336" y="2176272"/>
            <a:ext cx="896112" cy="274320"/>
          </a:xfrm>
          <a:prstGeom prst="rect">
            <a:avLst/>
          </a:prstGeom>
          <a:noFill/>
          <a:ln/>
        </p:spPr>
        <p:txBody>
          <a:bodyPr wrap="square" lIns="0" tIns="0" rIns="0" bIns="0" rtlCol="0" anchor="t"/>
          <a:lstStyle/>
          <a:p>
            <a:pPr marL="0" indent="0" algn="ctr">
              <a:buNone/>
            </a:pPr>
            <a:r>
              <a:rPr lang="en-US" sz="1200" b="1" dirty="0">
                <a:solidFill>
                  <a:schemeClr val="tx1"/>
                </a:solidFill>
                <a:latin typeface="Calibri" pitchFamily="34" charset="0"/>
                <a:ea typeface="Calibri" pitchFamily="34" charset="-122"/>
                <a:cs typeface="Calibri" pitchFamily="34" charset="-120"/>
              </a:rPr>
              <a:t>input</a:t>
            </a:r>
            <a:endParaRPr lang="en-US" sz="1200" dirty="0"/>
          </a:p>
        </p:txBody>
      </p:sp>
      <p:sp>
        <p:nvSpPr>
          <p:cNvPr id="49" name="Shape 45"/>
          <p:cNvSpPr/>
          <p:nvPr/>
        </p:nvSpPr>
        <p:spPr>
          <a:xfrm>
            <a:off x="10936224" y="2487168"/>
            <a:ext cx="402336" cy="182880"/>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50" name="Text 46"/>
          <p:cNvSpPr txBox="1"/>
          <p:nvPr/>
        </p:nvSpPr>
        <p:spPr>
          <a:xfrm>
            <a:off x="10936224" y="2487168"/>
            <a:ext cx="402336" cy="182880"/>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P2</a:t>
            </a:r>
            <a:endParaRPr lang="en-US" sz="900" dirty="0"/>
          </a:p>
        </p:txBody>
      </p:sp>
      <p:sp>
        <p:nvSpPr>
          <p:cNvPr id="51" name="Shape 47"/>
          <p:cNvSpPr/>
          <p:nvPr/>
        </p:nvSpPr>
        <p:spPr>
          <a:xfrm>
            <a:off x="8595360" y="3063240"/>
            <a:ext cx="3136392" cy="658368"/>
          </a:xfrm>
          <a:prstGeom prst="roundRect">
            <a:avLst>
              <a:gd name="adj" fmla="val 8333"/>
            </a:avLst>
          </a:prstGeom>
          <a:solidFill>
            <a:schemeClr val="bg1"/>
          </a:solidFill>
          <a:ln/>
        </p:spPr>
        <p:txBody>
          <a:bodyPr/>
          <a:lstStyle/>
          <a:p>
            <a:endParaRPr lang="en-US"/>
          </a:p>
        </p:txBody>
      </p:sp>
      <p:sp>
        <p:nvSpPr>
          <p:cNvPr id="52" name="Shape 48"/>
          <p:cNvSpPr/>
          <p:nvPr/>
        </p:nvSpPr>
        <p:spPr>
          <a:xfrm>
            <a:off x="8595360" y="3063240"/>
            <a:ext cx="3136392" cy="658368"/>
          </a:xfrm>
          <a:prstGeom prst="roundRect">
            <a:avLst>
              <a:gd name="adj" fmla="val 8333"/>
            </a:avLst>
          </a:prstGeom>
          <a:solidFill>
            <a:schemeClr val="tx2">
              <a:lumMod val="10000"/>
              <a:lumOff val="90000"/>
              <a:alpha val="10000"/>
            </a:schemeClr>
          </a:solidFill>
          <a:ln w="15875">
            <a:solidFill>
              <a:schemeClr val="bg2">
                <a:lumMod val="50000"/>
              </a:schemeClr>
            </a:solidFill>
            <a:prstDash val="solid"/>
          </a:ln>
        </p:spPr>
        <p:txBody>
          <a:bodyPr/>
          <a:lstStyle/>
          <a:p>
            <a:endParaRPr lang="en-US"/>
          </a:p>
        </p:txBody>
      </p:sp>
      <p:sp>
        <p:nvSpPr>
          <p:cNvPr id="53" name="Text 49"/>
          <p:cNvSpPr txBox="1"/>
          <p:nvPr/>
        </p:nvSpPr>
        <p:spPr>
          <a:xfrm>
            <a:off x="8650224" y="3063240"/>
            <a:ext cx="3026664" cy="65836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TaskEntry</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immutable · GTS-typed record</a:t>
            </a:r>
            <a:endParaRPr lang="en-US" sz="1300" dirty="0"/>
          </a:p>
        </p:txBody>
      </p:sp>
      <p:sp>
        <p:nvSpPr>
          <p:cNvPr id="54" name="Shape 50"/>
          <p:cNvSpPr/>
          <p:nvPr/>
        </p:nvSpPr>
        <p:spPr>
          <a:xfrm>
            <a:off x="8595360" y="3840480"/>
            <a:ext cx="3136392" cy="658368"/>
          </a:xfrm>
          <a:prstGeom prst="roundRect">
            <a:avLst>
              <a:gd name="adj" fmla="val 8333"/>
            </a:avLst>
          </a:prstGeom>
          <a:solidFill>
            <a:schemeClr val="bg1"/>
          </a:solidFill>
          <a:ln/>
        </p:spPr>
        <p:txBody>
          <a:bodyPr/>
          <a:lstStyle/>
          <a:p>
            <a:endParaRPr lang="en-US"/>
          </a:p>
        </p:txBody>
      </p:sp>
      <p:sp>
        <p:nvSpPr>
          <p:cNvPr id="55" name="Shape 51"/>
          <p:cNvSpPr/>
          <p:nvPr/>
        </p:nvSpPr>
        <p:spPr>
          <a:xfrm>
            <a:off x="8595360" y="3840480"/>
            <a:ext cx="3136392" cy="658368"/>
          </a:xfrm>
          <a:prstGeom prst="roundRect">
            <a:avLst>
              <a:gd name="adj" fmla="val 8333"/>
            </a:avLst>
          </a:prstGeom>
          <a:solidFill>
            <a:schemeClr val="tx2">
              <a:lumMod val="10000"/>
              <a:lumOff val="90000"/>
              <a:alpha val="10000"/>
            </a:schemeClr>
          </a:solidFill>
          <a:ln w="15875">
            <a:solidFill>
              <a:schemeClr val="bg2">
                <a:lumMod val="50000"/>
              </a:schemeClr>
            </a:solidFill>
            <a:prstDash val="solid"/>
          </a:ln>
        </p:spPr>
        <p:txBody>
          <a:bodyPr/>
          <a:lstStyle/>
          <a:p>
            <a:endParaRPr lang="en-US"/>
          </a:p>
        </p:txBody>
      </p:sp>
      <p:sp>
        <p:nvSpPr>
          <p:cNvPr id="56" name="Text 52"/>
          <p:cNvSpPr txBox="1"/>
          <p:nvPr/>
        </p:nvSpPr>
        <p:spPr>
          <a:xfrm>
            <a:off x="8650224" y="3840480"/>
            <a:ext cx="3026664" cy="65836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TaskEvent</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audit log row per transition</a:t>
            </a:r>
            <a:endParaRPr lang="en-US" sz="1300" dirty="0"/>
          </a:p>
        </p:txBody>
      </p:sp>
      <p:sp>
        <p:nvSpPr>
          <p:cNvPr id="57" name="Shape 53"/>
          <p:cNvSpPr/>
          <p:nvPr/>
        </p:nvSpPr>
        <p:spPr>
          <a:xfrm>
            <a:off x="8595360" y="4617720"/>
            <a:ext cx="3136392" cy="658368"/>
          </a:xfrm>
          <a:prstGeom prst="roundRect">
            <a:avLst>
              <a:gd name="adj" fmla="val 8333"/>
            </a:avLst>
          </a:prstGeom>
          <a:solidFill>
            <a:schemeClr val="bg1"/>
          </a:solidFill>
          <a:ln/>
        </p:spPr>
        <p:txBody>
          <a:bodyPr/>
          <a:lstStyle/>
          <a:p>
            <a:endParaRPr lang="en-US"/>
          </a:p>
        </p:txBody>
      </p:sp>
      <p:sp>
        <p:nvSpPr>
          <p:cNvPr id="58" name="Shape 54"/>
          <p:cNvSpPr/>
          <p:nvPr/>
        </p:nvSpPr>
        <p:spPr>
          <a:xfrm>
            <a:off x="8595360" y="4617720"/>
            <a:ext cx="3136392" cy="658368"/>
          </a:xfrm>
          <a:prstGeom prst="roundRect">
            <a:avLst>
              <a:gd name="adj" fmla="val 8333"/>
            </a:avLst>
          </a:prstGeom>
          <a:solidFill>
            <a:schemeClr val="tx2">
              <a:lumMod val="10000"/>
              <a:lumOff val="90000"/>
              <a:alpha val="10000"/>
            </a:schemeClr>
          </a:solidFill>
          <a:ln w="15875">
            <a:solidFill>
              <a:schemeClr val="bg2">
                <a:lumMod val="50000"/>
              </a:schemeClr>
            </a:solidFill>
            <a:prstDash val="solid"/>
          </a:ln>
        </p:spPr>
        <p:txBody>
          <a:bodyPr/>
          <a:lstStyle/>
          <a:p>
            <a:endParaRPr lang="en-US"/>
          </a:p>
        </p:txBody>
      </p:sp>
      <p:sp>
        <p:nvSpPr>
          <p:cNvPr id="59" name="Text 55"/>
          <p:cNvSpPr txBox="1"/>
          <p:nvPr/>
        </p:nvSpPr>
        <p:spPr>
          <a:xfrm>
            <a:off x="8650224" y="4617720"/>
            <a:ext cx="3026664" cy="65836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Timer</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queue · lifetime · SLA · scheduled · wait</a:t>
            </a:r>
            <a:endParaRPr lang="en-US" sz="1300" dirty="0"/>
          </a:p>
        </p:txBody>
      </p:sp>
      <p:sp>
        <p:nvSpPr>
          <p:cNvPr id="60" name="Shape 56"/>
          <p:cNvSpPr/>
          <p:nvPr/>
        </p:nvSpPr>
        <p:spPr>
          <a:xfrm>
            <a:off x="8001000" y="2194560"/>
            <a:ext cx="594360" cy="91"/>
          </a:xfrm>
          <a:prstGeom prst="line">
            <a:avLst/>
          </a:prstGeom>
          <a:noFill/>
          <a:ln w="15875">
            <a:solidFill>
              <a:schemeClr val="accent1"/>
            </a:solidFill>
            <a:prstDash val="solid"/>
            <a:headEnd type="none"/>
            <a:tailEnd type="triangle"/>
          </a:ln>
        </p:spPr>
        <p:txBody>
          <a:bodyPr/>
          <a:lstStyle/>
          <a:p>
            <a:endParaRPr lang="en-US"/>
          </a:p>
        </p:txBody>
      </p:sp>
      <p:sp>
        <p:nvSpPr>
          <p:cNvPr id="61" name="Text 57"/>
          <p:cNvSpPr txBox="1"/>
          <p:nvPr/>
        </p:nvSpPr>
        <p:spPr>
          <a:xfrm>
            <a:off x="8092440" y="1956816"/>
            <a:ext cx="365760" cy="201168"/>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a:t>
            </a:r>
            <a:endParaRPr lang="en-US" sz="1100" dirty="0"/>
          </a:p>
        </p:txBody>
      </p:sp>
      <p:sp>
        <p:nvSpPr>
          <p:cNvPr id="62" name="Shape 58"/>
          <p:cNvSpPr/>
          <p:nvPr/>
        </p:nvSpPr>
        <p:spPr>
          <a:xfrm>
            <a:off x="8001000" y="3392424"/>
            <a:ext cx="594360" cy="91"/>
          </a:xfrm>
          <a:prstGeom prst="line">
            <a:avLst/>
          </a:prstGeom>
          <a:noFill/>
          <a:ln w="15875">
            <a:solidFill>
              <a:schemeClr val="accent1"/>
            </a:solidFill>
            <a:prstDash val="solid"/>
            <a:headEnd type="none"/>
            <a:tailEnd type="triangle"/>
          </a:ln>
        </p:spPr>
        <p:txBody>
          <a:bodyPr/>
          <a:lstStyle/>
          <a:p>
            <a:endParaRPr lang="en-US"/>
          </a:p>
        </p:txBody>
      </p:sp>
      <p:sp>
        <p:nvSpPr>
          <p:cNvPr id="63" name="Text 59"/>
          <p:cNvSpPr txBox="1"/>
          <p:nvPr/>
        </p:nvSpPr>
        <p:spPr>
          <a:xfrm>
            <a:off x="8092440" y="3154680"/>
            <a:ext cx="365760" cy="201168"/>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a:t>
            </a:r>
            <a:endParaRPr lang="en-US" sz="1100" dirty="0"/>
          </a:p>
        </p:txBody>
      </p:sp>
      <p:sp>
        <p:nvSpPr>
          <p:cNvPr id="64" name="Shape 60"/>
          <p:cNvSpPr/>
          <p:nvPr/>
        </p:nvSpPr>
        <p:spPr>
          <a:xfrm>
            <a:off x="8001000" y="4169664"/>
            <a:ext cx="594360" cy="91"/>
          </a:xfrm>
          <a:prstGeom prst="line">
            <a:avLst/>
          </a:prstGeom>
          <a:noFill/>
          <a:ln w="15875">
            <a:solidFill>
              <a:schemeClr val="accent1"/>
            </a:solidFill>
            <a:prstDash val="solid"/>
            <a:headEnd type="none"/>
            <a:tailEnd type="triangle"/>
          </a:ln>
        </p:spPr>
        <p:txBody>
          <a:bodyPr/>
          <a:lstStyle/>
          <a:p>
            <a:endParaRPr lang="en-US"/>
          </a:p>
        </p:txBody>
      </p:sp>
      <p:sp>
        <p:nvSpPr>
          <p:cNvPr id="65" name="Text 61"/>
          <p:cNvSpPr txBox="1"/>
          <p:nvPr/>
        </p:nvSpPr>
        <p:spPr>
          <a:xfrm>
            <a:off x="8092440" y="3931920"/>
            <a:ext cx="365760" cy="201168"/>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a:t>
            </a:r>
            <a:endParaRPr lang="en-US" sz="1100" dirty="0"/>
          </a:p>
        </p:txBody>
      </p:sp>
      <p:sp>
        <p:nvSpPr>
          <p:cNvPr id="66" name="Shape 62"/>
          <p:cNvSpPr/>
          <p:nvPr/>
        </p:nvSpPr>
        <p:spPr>
          <a:xfrm>
            <a:off x="8001000" y="4946904"/>
            <a:ext cx="594360" cy="91"/>
          </a:xfrm>
          <a:prstGeom prst="line">
            <a:avLst/>
          </a:prstGeom>
          <a:noFill/>
          <a:ln w="15875">
            <a:solidFill>
              <a:schemeClr val="accent1"/>
            </a:solidFill>
            <a:prstDash val="solid"/>
            <a:headEnd type="none"/>
            <a:tailEnd type="triangle"/>
          </a:ln>
        </p:spPr>
        <p:txBody>
          <a:bodyPr/>
          <a:lstStyle/>
          <a:p>
            <a:endParaRPr lang="en-US"/>
          </a:p>
        </p:txBody>
      </p:sp>
      <p:sp>
        <p:nvSpPr>
          <p:cNvPr id="67" name="Text 63"/>
          <p:cNvSpPr txBox="1"/>
          <p:nvPr/>
        </p:nvSpPr>
        <p:spPr>
          <a:xfrm>
            <a:off x="8092440" y="4709160"/>
            <a:ext cx="365760" cy="201168"/>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a:t>
            </a:r>
            <a:endParaRPr lang="en-US" sz="1100" dirty="0"/>
          </a:p>
        </p:txBody>
      </p:sp>
      <p:sp>
        <p:nvSpPr>
          <p:cNvPr id="68" name="Shape 64"/>
          <p:cNvSpPr/>
          <p:nvPr/>
        </p:nvSpPr>
        <p:spPr>
          <a:xfrm>
            <a:off x="457200" y="5532120"/>
            <a:ext cx="3520440" cy="685800"/>
          </a:xfrm>
          <a:prstGeom prst="roundRect">
            <a:avLst>
              <a:gd name="adj" fmla="val 8000"/>
            </a:avLst>
          </a:prstGeom>
          <a:solidFill>
            <a:schemeClr val="bg1"/>
          </a:solidFill>
          <a:ln/>
        </p:spPr>
        <p:txBody>
          <a:bodyPr/>
          <a:lstStyle/>
          <a:p>
            <a:endParaRPr lang="en-US"/>
          </a:p>
        </p:txBody>
      </p:sp>
      <p:sp>
        <p:nvSpPr>
          <p:cNvPr id="69" name="Shape 65"/>
          <p:cNvSpPr/>
          <p:nvPr/>
        </p:nvSpPr>
        <p:spPr>
          <a:xfrm>
            <a:off x="457200" y="5532120"/>
            <a:ext cx="3520440" cy="685800"/>
          </a:xfrm>
          <a:prstGeom prst="roundRect">
            <a:avLst>
              <a:gd name="adj" fmla="val 8000"/>
            </a:avLst>
          </a:prstGeom>
          <a:solidFill>
            <a:srgbClr val="F4ECFC"/>
          </a:solidFill>
          <a:ln/>
        </p:spPr>
        <p:txBody>
          <a:bodyPr/>
          <a:lstStyle/>
          <a:p>
            <a:endParaRPr lang="en-US"/>
          </a:p>
        </p:txBody>
      </p:sp>
      <p:sp>
        <p:nvSpPr>
          <p:cNvPr id="70" name="Text 66"/>
          <p:cNvSpPr txBox="1"/>
          <p:nvPr/>
        </p:nvSpPr>
        <p:spPr>
          <a:xfrm>
            <a:off x="594360" y="5532120"/>
            <a:ext cx="3291840" cy="685800"/>
          </a:xfrm>
          <a:prstGeom prst="rect">
            <a:avLst/>
          </a:prstGeom>
          <a:noFill/>
          <a:ln/>
        </p:spPr>
        <p:txBody>
          <a:bodyPr wrap="square" lIns="0" tIns="0" rIns="0" bIns="0" rtlCol="0" anchor="ctr"/>
          <a:lstStyle/>
          <a:p>
            <a:pPr marL="0" indent="0">
              <a:buNone/>
            </a:pPr>
            <a:r>
              <a:rPr lang="en-US" sz="1100" b="1" dirty="0">
                <a:solidFill>
                  <a:schemeClr val="tx1"/>
                </a:solidFill>
                <a:latin typeface="Calibri" pitchFamily="34" charset="0"/>
                <a:ea typeface="Calibri" pitchFamily="34" charset="-122"/>
                <a:cs typeface="Calibri" pitchFamily="34" charset="-120"/>
              </a:rPr>
              <a:t>GTS-extensible: </a:t>
            </a:r>
            <a:r>
              <a:rPr lang="en-US" sz="1100" dirty="0">
                <a:solidFill>
                  <a:schemeClr val="tx1"/>
                </a:solidFill>
                <a:latin typeface="Calibri" pitchFamily="34" charset="0"/>
                <a:ea typeface="Calibri" pitchFamily="34" charset="-122"/>
                <a:cs typeface="Calibri" pitchFamily="34" charset="-120"/>
              </a:rPr>
              <a:t>task type · queue · entry type — new kinds need no DDL</a:t>
            </a:r>
            <a:endParaRPr lang="en-US" sz="1100" dirty="0"/>
          </a:p>
        </p:txBody>
      </p:sp>
      <p:sp>
        <p:nvSpPr>
          <p:cNvPr id="71" name="Shape 67"/>
          <p:cNvSpPr/>
          <p:nvPr/>
        </p:nvSpPr>
        <p:spPr>
          <a:xfrm>
            <a:off x="4160520" y="5532120"/>
            <a:ext cx="1847088" cy="685800"/>
          </a:xfrm>
          <a:prstGeom prst="roundRect">
            <a:avLst>
              <a:gd name="adj" fmla="val 8000"/>
            </a:avLst>
          </a:prstGeom>
          <a:solidFill>
            <a:schemeClr val="bg1"/>
          </a:solidFill>
          <a:ln/>
        </p:spPr>
        <p:txBody>
          <a:bodyPr/>
          <a:lstStyle/>
          <a:p>
            <a:endParaRPr lang="en-US"/>
          </a:p>
        </p:txBody>
      </p:sp>
      <p:sp>
        <p:nvSpPr>
          <p:cNvPr id="72" name="Shape 68"/>
          <p:cNvSpPr/>
          <p:nvPr/>
        </p:nvSpPr>
        <p:spPr>
          <a:xfrm>
            <a:off x="4160520" y="5532120"/>
            <a:ext cx="1847088" cy="685800"/>
          </a:xfrm>
          <a:prstGeom prst="roundRect">
            <a:avLst>
              <a:gd name="adj" fmla="val 8000"/>
            </a:avLst>
          </a:prstGeom>
          <a:solidFill>
            <a:schemeClr val="tx2">
              <a:lumMod val="10000"/>
              <a:lumOff val="90000"/>
              <a:alpha val="10000"/>
            </a:schemeClr>
          </a:solidFill>
          <a:ln w="15875">
            <a:solidFill>
              <a:schemeClr val="bg2">
                <a:lumMod val="50000"/>
              </a:schemeClr>
            </a:solidFill>
            <a:prstDash val="solid"/>
          </a:ln>
        </p:spPr>
        <p:txBody>
          <a:bodyPr/>
          <a:lstStyle/>
          <a:p>
            <a:endParaRPr lang="en-US"/>
          </a:p>
        </p:txBody>
      </p:sp>
      <p:sp>
        <p:nvSpPr>
          <p:cNvPr id="73" name="Text 69"/>
          <p:cNvSpPr txBox="1"/>
          <p:nvPr/>
        </p:nvSpPr>
        <p:spPr>
          <a:xfrm>
            <a:off x="4215384" y="5532120"/>
            <a:ext cx="1737360" cy="68580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Dependency *</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ALL / ANY (P2)</a:t>
            </a:r>
            <a:endParaRPr lang="en-US" sz="1200" dirty="0"/>
          </a:p>
        </p:txBody>
      </p:sp>
      <p:sp>
        <p:nvSpPr>
          <p:cNvPr id="74" name="Shape 70"/>
          <p:cNvSpPr/>
          <p:nvPr/>
        </p:nvSpPr>
        <p:spPr>
          <a:xfrm>
            <a:off x="6153912" y="5532120"/>
            <a:ext cx="1847088" cy="685800"/>
          </a:xfrm>
          <a:prstGeom prst="roundRect">
            <a:avLst>
              <a:gd name="adj" fmla="val 8000"/>
            </a:avLst>
          </a:prstGeom>
          <a:solidFill>
            <a:schemeClr val="bg1"/>
          </a:solidFill>
          <a:ln/>
        </p:spPr>
        <p:txBody>
          <a:bodyPr/>
          <a:lstStyle/>
          <a:p>
            <a:endParaRPr lang="en-US"/>
          </a:p>
        </p:txBody>
      </p:sp>
      <p:sp>
        <p:nvSpPr>
          <p:cNvPr id="75" name="Shape 71"/>
          <p:cNvSpPr/>
          <p:nvPr/>
        </p:nvSpPr>
        <p:spPr>
          <a:xfrm>
            <a:off x="6153912" y="5532120"/>
            <a:ext cx="1847088" cy="685800"/>
          </a:xfrm>
          <a:prstGeom prst="roundRect">
            <a:avLst>
              <a:gd name="adj" fmla="val 8000"/>
            </a:avLst>
          </a:prstGeom>
          <a:solidFill>
            <a:schemeClr val="tx2">
              <a:lumMod val="10000"/>
              <a:lumOff val="90000"/>
              <a:alpha val="10000"/>
            </a:schemeClr>
          </a:solidFill>
          <a:ln w="15875">
            <a:solidFill>
              <a:schemeClr val="bg2">
                <a:lumMod val="50000"/>
              </a:schemeClr>
            </a:solidFill>
            <a:prstDash val="solid"/>
          </a:ln>
        </p:spPr>
        <p:txBody>
          <a:bodyPr/>
          <a:lstStyle/>
          <a:p>
            <a:endParaRPr lang="en-US"/>
          </a:p>
        </p:txBody>
      </p:sp>
      <p:sp>
        <p:nvSpPr>
          <p:cNvPr id="76" name="Text 72"/>
          <p:cNvSpPr txBox="1"/>
          <p:nvPr/>
        </p:nvSpPr>
        <p:spPr>
          <a:xfrm>
            <a:off x="6208776" y="5532120"/>
            <a:ext cx="1737360" cy="68580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Tag · ResourceRef *</a:t>
            </a:r>
            <a:endParaRPr lang="en-US" sz="1200" dirty="0"/>
          </a:p>
          <a:p>
            <a:pPr marL="0" indent="0" algn="ctr">
              <a:buNone/>
            </a:pPr>
            <a:r>
              <a:rPr lang="en-US" sz="1000" dirty="0">
                <a:solidFill>
                  <a:schemeClr val="tx2"/>
                </a:solidFill>
                <a:latin typeface="Calibri" pitchFamily="34" charset="0"/>
                <a:ea typeface="Calibri" pitchFamily="34" charset="-122"/>
                <a:cs typeface="Calibri" pitchFamily="34" charset="-120"/>
              </a:rPr>
              <a:t>searchable (P2)</a:t>
            </a:r>
            <a:endParaRPr lang="en-US" sz="1200" dirty="0"/>
          </a:p>
        </p:txBody>
      </p:sp>
      <p:sp>
        <p:nvSpPr>
          <p:cNvPr id="77" name="Shape 73"/>
          <p:cNvSpPr/>
          <p:nvPr/>
        </p:nvSpPr>
        <p:spPr>
          <a:xfrm>
            <a:off x="5084064" y="5349240"/>
            <a:ext cx="91" cy="182880"/>
          </a:xfrm>
          <a:prstGeom prst="line">
            <a:avLst/>
          </a:prstGeom>
          <a:noFill/>
          <a:ln w="15875">
            <a:solidFill>
              <a:schemeClr val="accent1"/>
            </a:solidFill>
            <a:prstDash val="solid"/>
            <a:headEnd type="none"/>
            <a:tailEnd type="triangle"/>
          </a:ln>
        </p:spPr>
        <p:txBody>
          <a:bodyPr/>
          <a:lstStyle/>
          <a:p>
            <a:endParaRPr lang="en-US"/>
          </a:p>
        </p:txBody>
      </p:sp>
      <p:sp>
        <p:nvSpPr>
          <p:cNvPr id="78" name="Shape 74"/>
          <p:cNvSpPr/>
          <p:nvPr/>
        </p:nvSpPr>
        <p:spPr>
          <a:xfrm>
            <a:off x="7077456" y="5349240"/>
            <a:ext cx="91" cy="182880"/>
          </a:xfrm>
          <a:prstGeom prst="line">
            <a:avLst/>
          </a:prstGeom>
          <a:noFill/>
          <a:ln w="15875">
            <a:solidFill>
              <a:schemeClr val="accent1"/>
            </a:solidFill>
            <a:prstDash val="solid"/>
            <a:headEnd type="none"/>
            <a:tailEnd type="triangle"/>
          </a:ln>
        </p:spPr>
        <p:txBody>
          <a:bodyPr/>
          <a:lstStyle/>
          <a:p>
            <a:endParaRPr lang="en-US"/>
          </a:p>
        </p:txBody>
      </p:sp>
      <p:sp>
        <p:nvSpPr>
          <p:cNvPr id="79" name="Shape 75"/>
          <p:cNvSpPr/>
          <p:nvPr/>
        </p:nvSpPr>
        <p:spPr>
          <a:xfrm>
            <a:off x="8183880" y="5532120"/>
            <a:ext cx="3547872" cy="685800"/>
          </a:xfrm>
          <a:prstGeom prst="roundRect">
            <a:avLst>
              <a:gd name="adj" fmla="val 8000"/>
            </a:avLst>
          </a:prstGeom>
          <a:solidFill>
            <a:schemeClr val="bg1"/>
          </a:solidFill>
          <a:ln/>
        </p:spPr>
        <p:txBody>
          <a:bodyPr/>
          <a:lstStyle/>
          <a:p>
            <a:endParaRPr lang="en-US"/>
          </a:p>
        </p:txBody>
      </p:sp>
      <p:sp>
        <p:nvSpPr>
          <p:cNvPr id="80" name="Shape 76"/>
          <p:cNvSpPr/>
          <p:nvPr/>
        </p:nvSpPr>
        <p:spPr>
          <a:xfrm>
            <a:off x="8183880" y="5532120"/>
            <a:ext cx="3547872" cy="685800"/>
          </a:xfrm>
          <a:prstGeom prst="roundRect">
            <a:avLst>
              <a:gd name="adj" fmla="val 8000"/>
            </a:avLst>
          </a:prstGeom>
          <a:solidFill>
            <a:srgbClr val="F4ECFC"/>
          </a:solidFill>
          <a:ln/>
        </p:spPr>
        <p:txBody>
          <a:bodyPr/>
          <a:lstStyle/>
          <a:p>
            <a:endParaRPr lang="en-US"/>
          </a:p>
        </p:txBody>
      </p:sp>
      <p:sp>
        <p:nvSpPr>
          <p:cNvPr id="81" name="Text 77"/>
          <p:cNvSpPr txBox="1"/>
          <p:nvPr/>
        </p:nvSpPr>
        <p:spPr>
          <a:xfrm>
            <a:off x="8321040" y="5532120"/>
            <a:ext cx="3337560" cy="685800"/>
          </a:xfrm>
          <a:prstGeom prst="rect">
            <a:avLst/>
          </a:prstGeom>
          <a:noFill/>
          <a:ln/>
        </p:spPr>
        <p:txBody>
          <a:bodyPr wrap="square" lIns="0" tIns="0" rIns="0" bIns="0" rtlCol="0" anchor="ctr"/>
          <a:lstStyle/>
          <a:p>
            <a:pPr marL="0" indent="0">
              <a:buNone/>
            </a:pPr>
            <a:r>
              <a:rPr lang="en-US" sz="1100" b="1" dirty="0">
                <a:solidFill>
                  <a:schemeClr val="tx1"/>
                </a:solidFill>
                <a:latin typeface="Calibri" pitchFamily="34" charset="0"/>
                <a:ea typeface="Calibri" pitchFamily="34" charset="-122"/>
                <a:cs typeface="Calibri" pitchFamily="34" charset="-120"/>
              </a:rPr>
              <a:t>Closed enums: </a:t>
            </a:r>
            <a:r>
              <a:rPr lang="en-US" sz="1100" dirty="0">
                <a:solidFill>
                  <a:schemeClr val="tx1"/>
                </a:solidFill>
                <a:latin typeface="Calibri" pitchFamily="34" charset="0"/>
                <a:ea typeface="Calibri" pitchFamily="34" charset="-122"/>
                <a:cs typeface="Calibri" pitchFamily="34" charset="-120"/>
              </a:rPr>
              <a:t>state · result code · wait kind · timer type — SMALLINT codes, never renumbered</a:t>
            </a:r>
            <a:endParaRPr lang="en-US" sz="11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Task state machine: who moves the task</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Solid arrows are API calls (producer, worker, admin); dashed amber arrows are the engine acting on its own</a:t>
            </a:r>
            <a:endParaRPr lang="en-US" sz="1600" dirty="0"/>
          </a:p>
        </p:txBody>
      </p:sp>
      <p:sp>
        <p:nvSpPr>
          <p:cNvPr id="5" name="Shape 2"/>
          <p:cNvSpPr/>
          <p:nvPr/>
        </p:nvSpPr>
        <p:spPr>
          <a:xfrm>
            <a:off x="502920" y="3419856"/>
            <a:ext cx="237744" cy="237744"/>
          </a:xfrm>
          <a:prstGeom prst="ellipse">
            <a:avLst/>
          </a:prstGeom>
          <a:solidFill>
            <a:schemeClr val="tx1"/>
          </a:solidFill>
          <a:ln/>
        </p:spPr>
        <p:txBody>
          <a:bodyPr/>
          <a:lstStyle/>
          <a:p>
            <a:endParaRPr lang="en-US"/>
          </a:p>
        </p:txBody>
      </p:sp>
      <p:sp>
        <p:nvSpPr>
          <p:cNvPr id="6" name="Text 3"/>
          <p:cNvSpPr txBox="1"/>
          <p:nvPr/>
        </p:nvSpPr>
        <p:spPr>
          <a:xfrm>
            <a:off x="201168" y="3730752"/>
            <a:ext cx="548640" cy="365760"/>
          </a:xfrm>
          <a:prstGeom prst="rect">
            <a:avLst/>
          </a:prstGeom>
          <a:noFill/>
          <a:ln/>
        </p:spPr>
        <p:txBody>
          <a:bodyPr wrap="square" lIns="0" tIns="0" rIns="0" bIns="0" rtlCol="0" anchor="t"/>
          <a:lstStyle/>
          <a:p>
            <a:pPr marL="0" indent="0">
              <a:buNone/>
            </a:pPr>
            <a:r>
              <a:rPr lang="en-US" sz="900" i="1" dirty="0">
                <a:solidFill>
                  <a:schemeClr val="tx2"/>
                </a:solidFill>
                <a:latin typeface="Calibri" pitchFamily="34" charset="0"/>
                <a:ea typeface="Calibri" pitchFamily="34" charset="-122"/>
                <a:cs typeface="Calibri" pitchFamily="34" charset="-120"/>
              </a:rPr>
              <a:t>not yet</a:t>
            </a:r>
            <a:endParaRPr lang="en-US" sz="900" dirty="0"/>
          </a:p>
          <a:p>
            <a:pPr marL="0" indent="0">
              <a:buNone/>
            </a:pPr>
            <a:r>
              <a:rPr lang="en-US" sz="900" i="1" dirty="0">
                <a:solidFill>
                  <a:schemeClr val="tx2"/>
                </a:solidFill>
                <a:latin typeface="Calibri" pitchFamily="34" charset="0"/>
                <a:ea typeface="Calibri" pitchFamily="34" charset="-122"/>
                <a:cs typeface="Calibri" pitchFamily="34" charset="-120"/>
              </a:rPr>
              <a:t>created</a:t>
            </a:r>
            <a:endParaRPr lang="en-US" sz="900" dirty="0"/>
          </a:p>
        </p:txBody>
      </p:sp>
      <p:sp>
        <p:nvSpPr>
          <p:cNvPr id="7" name="Shape 4"/>
          <p:cNvSpPr/>
          <p:nvPr/>
        </p:nvSpPr>
        <p:spPr>
          <a:xfrm>
            <a:off x="1600200" y="1783080"/>
            <a:ext cx="1463040" cy="566928"/>
          </a:xfrm>
          <a:prstGeom prst="roundRect">
            <a:avLst>
              <a:gd name="adj" fmla="val 9677"/>
            </a:avLst>
          </a:prstGeom>
          <a:solidFill>
            <a:schemeClr val="bg1"/>
          </a:solidFill>
          <a:ln/>
        </p:spPr>
        <p:txBody>
          <a:bodyPr/>
          <a:lstStyle/>
          <a:p>
            <a:endParaRPr lang="en-US"/>
          </a:p>
        </p:txBody>
      </p:sp>
      <p:sp>
        <p:nvSpPr>
          <p:cNvPr id="8" name="Shape 5"/>
          <p:cNvSpPr/>
          <p:nvPr/>
        </p:nvSpPr>
        <p:spPr>
          <a:xfrm>
            <a:off x="1600200" y="1783080"/>
            <a:ext cx="1463040" cy="566928"/>
          </a:xfrm>
          <a:prstGeom prst="roundRect">
            <a:avLst>
              <a:gd name="adj" fmla="val 9677"/>
            </a:avLst>
          </a:prstGeom>
          <a:solidFill>
            <a:srgbClr val="F3ECFB">
              <a:alpha val="73529"/>
            </a:srgbClr>
          </a:solidFill>
          <a:ln w="15875">
            <a:solidFill>
              <a:schemeClr val="bg1">
                <a:lumMod val="65000"/>
              </a:schemeClr>
            </a:solidFill>
            <a:prstDash val="solid"/>
          </a:ln>
        </p:spPr>
        <p:txBody>
          <a:bodyPr/>
          <a:lstStyle/>
          <a:p>
            <a:endParaRPr lang="en-US"/>
          </a:p>
        </p:txBody>
      </p:sp>
      <p:sp>
        <p:nvSpPr>
          <p:cNvPr id="9" name="Text 6"/>
          <p:cNvSpPr txBox="1"/>
          <p:nvPr/>
        </p:nvSpPr>
        <p:spPr>
          <a:xfrm>
            <a:off x="1655064" y="1783080"/>
            <a:ext cx="1353312" cy="56692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scheduled</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waits for run_after</a:t>
            </a:r>
            <a:endParaRPr lang="en-US" sz="1300" dirty="0"/>
          </a:p>
        </p:txBody>
      </p:sp>
      <p:sp>
        <p:nvSpPr>
          <p:cNvPr id="10" name="Shape 7"/>
          <p:cNvSpPr/>
          <p:nvPr/>
        </p:nvSpPr>
        <p:spPr>
          <a:xfrm>
            <a:off x="1600200" y="4709160"/>
            <a:ext cx="1463040" cy="566928"/>
          </a:xfrm>
          <a:prstGeom prst="roundRect">
            <a:avLst>
              <a:gd name="adj" fmla="val 9677"/>
            </a:avLst>
          </a:prstGeom>
          <a:solidFill>
            <a:schemeClr val="bg1"/>
          </a:solidFill>
          <a:ln/>
        </p:spPr>
        <p:txBody>
          <a:bodyPr/>
          <a:lstStyle/>
          <a:p>
            <a:endParaRPr lang="en-US"/>
          </a:p>
        </p:txBody>
      </p:sp>
      <p:sp>
        <p:nvSpPr>
          <p:cNvPr id="11" name="Shape 8"/>
          <p:cNvSpPr/>
          <p:nvPr/>
        </p:nvSpPr>
        <p:spPr>
          <a:xfrm>
            <a:off x="1600200" y="4709160"/>
            <a:ext cx="1463040" cy="566928"/>
          </a:xfrm>
          <a:prstGeom prst="roundRect">
            <a:avLst>
              <a:gd name="adj" fmla="val 9677"/>
            </a:avLst>
          </a:prstGeom>
          <a:solidFill>
            <a:srgbClr val="F3ECFB">
              <a:alpha val="70962"/>
            </a:srgbClr>
          </a:solidFill>
          <a:ln w="15875">
            <a:solidFill>
              <a:schemeClr val="bg1">
                <a:lumMod val="75000"/>
              </a:schemeClr>
            </a:solidFill>
            <a:prstDash val="solid"/>
          </a:ln>
        </p:spPr>
        <p:txBody>
          <a:bodyPr/>
          <a:lstStyle/>
          <a:p>
            <a:endParaRPr lang="en-US"/>
          </a:p>
        </p:txBody>
      </p:sp>
      <p:sp>
        <p:nvSpPr>
          <p:cNvPr id="12" name="Text 9"/>
          <p:cNvSpPr txBox="1"/>
          <p:nvPr/>
        </p:nvSpPr>
        <p:spPr>
          <a:xfrm>
            <a:off x="1655064" y="4709160"/>
            <a:ext cx="1353312" cy="56692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blocked</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deps not met (P2)</a:t>
            </a:r>
            <a:endParaRPr lang="en-US" sz="1300" dirty="0"/>
          </a:p>
        </p:txBody>
      </p:sp>
      <p:sp>
        <p:nvSpPr>
          <p:cNvPr id="13" name="Shape 10"/>
          <p:cNvSpPr/>
          <p:nvPr/>
        </p:nvSpPr>
        <p:spPr>
          <a:xfrm>
            <a:off x="3657600" y="3255264"/>
            <a:ext cx="1463040" cy="566928"/>
          </a:xfrm>
          <a:prstGeom prst="roundRect">
            <a:avLst>
              <a:gd name="adj" fmla="val 9677"/>
            </a:avLst>
          </a:prstGeom>
          <a:solidFill>
            <a:schemeClr val="bg1"/>
          </a:solidFill>
          <a:ln/>
        </p:spPr>
        <p:txBody>
          <a:bodyPr/>
          <a:lstStyle/>
          <a:p>
            <a:endParaRPr lang="en-US"/>
          </a:p>
        </p:txBody>
      </p:sp>
      <p:sp>
        <p:nvSpPr>
          <p:cNvPr id="14" name="Shape 11"/>
          <p:cNvSpPr/>
          <p:nvPr/>
        </p:nvSpPr>
        <p:spPr>
          <a:xfrm>
            <a:off x="3657600" y="3255264"/>
            <a:ext cx="1463040" cy="566928"/>
          </a:xfrm>
          <a:prstGeom prst="roundRect">
            <a:avLst>
              <a:gd name="adj" fmla="val 9677"/>
            </a:avLst>
          </a:prstGeom>
          <a:solidFill>
            <a:schemeClr val="accent1">
              <a:alpha val="22000"/>
            </a:schemeClr>
          </a:solidFill>
          <a:ln w="15875">
            <a:solidFill>
              <a:schemeClr val="accent1"/>
            </a:solidFill>
            <a:prstDash val="solid"/>
          </a:ln>
        </p:spPr>
        <p:txBody>
          <a:bodyPr/>
          <a:lstStyle/>
          <a:p>
            <a:endParaRPr lang="en-US"/>
          </a:p>
        </p:txBody>
      </p:sp>
      <p:sp>
        <p:nvSpPr>
          <p:cNvPr id="15" name="Text 12"/>
          <p:cNvSpPr txBox="1"/>
          <p:nvPr/>
        </p:nvSpPr>
        <p:spPr>
          <a:xfrm>
            <a:off x="3712464" y="3255264"/>
            <a:ext cx="1353312" cy="56692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queued</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claimable</a:t>
            </a:r>
            <a:endParaRPr lang="en-US" sz="1300" dirty="0"/>
          </a:p>
        </p:txBody>
      </p:sp>
      <p:sp>
        <p:nvSpPr>
          <p:cNvPr id="16" name="Shape 13"/>
          <p:cNvSpPr/>
          <p:nvPr/>
        </p:nvSpPr>
        <p:spPr>
          <a:xfrm>
            <a:off x="6035040" y="3255264"/>
            <a:ext cx="1463040" cy="566928"/>
          </a:xfrm>
          <a:prstGeom prst="roundRect">
            <a:avLst>
              <a:gd name="adj" fmla="val 9677"/>
            </a:avLst>
          </a:prstGeom>
          <a:solidFill>
            <a:schemeClr val="bg1"/>
          </a:solidFill>
          <a:ln/>
        </p:spPr>
        <p:txBody>
          <a:bodyPr/>
          <a:lstStyle/>
          <a:p>
            <a:endParaRPr lang="en-US"/>
          </a:p>
        </p:txBody>
      </p:sp>
      <p:sp>
        <p:nvSpPr>
          <p:cNvPr id="17" name="Shape 14"/>
          <p:cNvSpPr/>
          <p:nvPr/>
        </p:nvSpPr>
        <p:spPr>
          <a:xfrm>
            <a:off x="6035040" y="3255264"/>
            <a:ext cx="1463040" cy="566928"/>
          </a:xfrm>
          <a:prstGeom prst="roundRect">
            <a:avLst>
              <a:gd name="adj" fmla="val 9677"/>
            </a:avLst>
          </a:prstGeom>
          <a:solidFill>
            <a:schemeClr val="accent1">
              <a:alpha val="22000"/>
            </a:schemeClr>
          </a:solidFill>
          <a:ln w="15875">
            <a:solidFill>
              <a:schemeClr val="accent1"/>
            </a:solidFill>
            <a:prstDash val="solid"/>
          </a:ln>
        </p:spPr>
        <p:txBody>
          <a:bodyPr/>
          <a:lstStyle/>
          <a:p>
            <a:endParaRPr lang="en-US"/>
          </a:p>
        </p:txBody>
      </p:sp>
      <p:sp>
        <p:nvSpPr>
          <p:cNvPr id="18" name="Text 15"/>
          <p:cNvSpPr txBox="1"/>
          <p:nvPr/>
        </p:nvSpPr>
        <p:spPr>
          <a:xfrm>
            <a:off x="6089904" y="3255264"/>
            <a:ext cx="1353312" cy="56692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claimed</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lease issued</a:t>
            </a:r>
            <a:endParaRPr lang="en-US" sz="1300" dirty="0"/>
          </a:p>
        </p:txBody>
      </p:sp>
      <p:sp>
        <p:nvSpPr>
          <p:cNvPr id="19" name="Shape 16"/>
          <p:cNvSpPr/>
          <p:nvPr/>
        </p:nvSpPr>
        <p:spPr>
          <a:xfrm>
            <a:off x="8412480" y="3255264"/>
            <a:ext cx="1463040" cy="566928"/>
          </a:xfrm>
          <a:prstGeom prst="roundRect">
            <a:avLst>
              <a:gd name="adj" fmla="val 9677"/>
            </a:avLst>
          </a:prstGeom>
          <a:solidFill>
            <a:schemeClr val="bg1"/>
          </a:solidFill>
          <a:ln/>
        </p:spPr>
        <p:txBody>
          <a:bodyPr/>
          <a:lstStyle/>
          <a:p>
            <a:endParaRPr lang="en-US"/>
          </a:p>
        </p:txBody>
      </p:sp>
      <p:sp>
        <p:nvSpPr>
          <p:cNvPr id="20" name="Shape 17"/>
          <p:cNvSpPr/>
          <p:nvPr/>
        </p:nvSpPr>
        <p:spPr>
          <a:xfrm>
            <a:off x="8412480" y="3255264"/>
            <a:ext cx="1463040" cy="566928"/>
          </a:xfrm>
          <a:prstGeom prst="roundRect">
            <a:avLst>
              <a:gd name="adj" fmla="val 9677"/>
            </a:avLst>
          </a:prstGeom>
          <a:solidFill>
            <a:schemeClr val="accent1">
              <a:alpha val="22000"/>
            </a:schemeClr>
          </a:solidFill>
          <a:ln w="15875">
            <a:solidFill>
              <a:schemeClr val="accent1"/>
            </a:solidFill>
            <a:prstDash val="solid"/>
          </a:ln>
        </p:spPr>
        <p:txBody>
          <a:bodyPr/>
          <a:lstStyle/>
          <a:p>
            <a:endParaRPr lang="en-US"/>
          </a:p>
        </p:txBody>
      </p:sp>
      <p:sp>
        <p:nvSpPr>
          <p:cNvPr id="21" name="Text 18"/>
          <p:cNvSpPr txBox="1"/>
          <p:nvPr/>
        </p:nvSpPr>
        <p:spPr>
          <a:xfrm>
            <a:off x="8467344" y="3255264"/>
            <a:ext cx="1353312" cy="56692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running</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worker executing</a:t>
            </a:r>
            <a:endParaRPr lang="en-US" sz="1300" dirty="0"/>
          </a:p>
        </p:txBody>
      </p:sp>
      <p:sp>
        <p:nvSpPr>
          <p:cNvPr id="22" name="Shape 19"/>
          <p:cNvSpPr/>
          <p:nvPr/>
        </p:nvSpPr>
        <p:spPr>
          <a:xfrm>
            <a:off x="8412480" y="4892040"/>
            <a:ext cx="1463040" cy="566928"/>
          </a:xfrm>
          <a:prstGeom prst="roundRect">
            <a:avLst>
              <a:gd name="adj" fmla="val 9677"/>
            </a:avLst>
          </a:prstGeom>
          <a:solidFill>
            <a:schemeClr val="bg1"/>
          </a:solidFill>
          <a:ln/>
        </p:spPr>
        <p:txBody>
          <a:bodyPr/>
          <a:lstStyle/>
          <a:p>
            <a:endParaRPr lang="en-US"/>
          </a:p>
        </p:txBody>
      </p:sp>
      <p:sp>
        <p:nvSpPr>
          <p:cNvPr id="23" name="Shape 20"/>
          <p:cNvSpPr/>
          <p:nvPr/>
        </p:nvSpPr>
        <p:spPr>
          <a:xfrm>
            <a:off x="8412480" y="4892040"/>
            <a:ext cx="1463040" cy="566928"/>
          </a:xfrm>
          <a:prstGeom prst="roundRect">
            <a:avLst>
              <a:gd name="adj" fmla="val 9677"/>
            </a:avLst>
          </a:prstGeom>
          <a:solidFill>
            <a:srgbClr val="F3ECFB">
              <a:alpha val="84000"/>
            </a:srgbClr>
          </a:solidFill>
          <a:ln w="15875">
            <a:solidFill>
              <a:schemeClr val="bg1">
                <a:lumMod val="65000"/>
              </a:schemeClr>
            </a:solidFill>
            <a:prstDash val="solid"/>
          </a:ln>
        </p:spPr>
        <p:txBody>
          <a:bodyPr/>
          <a:lstStyle/>
          <a:p>
            <a:endParaRPr lang="en-US"/>
          </a:p>
        </p:txBody>
      </p:sp>
      <p:sp>
        <p:nvSpPr>
          <p:cNvPr id="24" name="Text 21"/>
          <p:cNvSpPr txBox="1"/>
          <p:nvPr/>
        </p:nvSpPr>
        <p:spPr>
          <a:xfrm>
            <a:off x="8467344" y="4892040"/>
            <a:ext cx="1353312" cy="56692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waiting</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parked, no lease</a:t>
            </a:r>
            <a:endParaRPr lang="en-US" sz="1300" dirty="0"/>
          </a:p>
        </p:txBody>
      </p:sp>
      <p:sp>
        <p:nvSpPr>
          <p:cNvPr id="25" name="Shape 22"/>
          <p:cNvSpPr/>
          <p:nvPr/>
        </p:nvSpPr>
        <p:spPr>
          <a:xfrm>
            <a:off x="10397096" y="1600200"/>
            <a:ext cx="1371600" cy="640080"/>
          </a:xfrm>
          <a:prstGeom prst="roundRect">
            <a:avLst>
              <a:gd name="adj" fmla="val 8571"/>
            </a:avLst>
          </a:prstGeom>
          <a:solidFill>
            <a:schemeClr val="bg1"/>
          </a:solidFill>
          <a:ln/>
        </p:spPr>
        <p:txBody>
          <a:bodyPr/>
          <a:lstStyle/>
          <a:p>
            <a:endParaRPr lang="en-US"/>
          </a:p>
        </p:txBody>
      </p:sp>
      <p:sp>
        <p:nvSpPr>
          <p:cNvPr id="26" name="Shape 23"/>
          <p:cNvSpPr/>
          <p:nvPr/>
        </p:nvSpPr>
        <p:spPr>
          <a:xfrm>
            <a:off x="10397096" y="1600200"/>
            <a:ext cx="1371600" cy="640080"/>
          </a:xfrm>
          <a:prstGeom prst="roundRect">
            <a:avLst>
              <a:gd name="adj" fmla="val 8571"/>
            </a:avLst>
          </a:prstGeom>
          <a:solidFill>
            <a:schemeClr val="accent4">
              <a:lumMod val="40000"/>
              <a:lumOff val="60000"/>
            </a:schemeClr>
          </a:solidFill>
          <a:ln w="15875">
            <a:solidFill>
              <a:srgbClr val="00B050"/>
            </a:solidFill>
            <a:prstDash val="solid"/>
          </a:ln>
        </p:spPr>
        <p:txBody>
          <a:bodyPr/>
          <a:lstStyle/>
          <a:p>
            <a:endParaRPr lang="en-US"/>
          </a:p>
        </p:txBody>
      </p:sp>
      <p:sp>
        <p:nvSpPr>
          <p:cNvPr id="27" name="Text 24"/>
          <p:cNvSpPr txBox="1"/>
          <p:nvPr/>
        </p:nvSpPr>
        <p:spPr>
          <a:xfrm>
            <a:off x="10451960" y="1600200"/>
            <a:ext cx="1261872" cy="64008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Completed</a:t>
            </a:r>
            <a:br>
              <a:rPr lang="en-US" sz="1200" b="1" dirty="0">
                <a:solidFill>
                  <a:schemeClr val="tx1"/>
                </a:solidFill>
                <a:latin typeface="Calibri" pitchFamily="34" charset="0"/>
                <a:ea typeface="Calibri" pitchFamily="34" charset="-122"/>
                <a:cs typeface="Calibri" pitchFamily="34" charset="-120"/>
              </a:rPr>
            </a:br>
            <a:endParaRPr lang="en-US" sz="1200" dirty="0"/>
          </a:p>
        </p:txBody>
      </p:sp>
      <p:sp>
        <p:nvSpPr>
          <p:cNvPr id="28" name="Shape 25"/>
          <p:cNvSpPr/>
          <p:nvPr/>
        </p:nvSpPr>
        <p:spPr>
          <a:xfrm>
            <a:off x="10397096" y="2377440"/>
            <a:ext cx="1371600" cy="640080"/>
          </a:xfrm>
          <a:prstGeom prst="roundRect">
            <a:avLst>
              <a:gd name="adj" fmla="val 8571"/>
            </a:avLst>
          </a:prstGeom>
          <a:solidFill>
            <a:schemeClr val="bg1"/>
          </a:solidFill>
          <a:ln/>
        </p:spPr>
        <p:txBody>
          <a:bodyPr/>
          <a:lstStyle/>
          <a:p>
            <a:endParaRPr lang="en-US"/>
          </a:p>
        </p:txBody>
      </p:sp>
      <p:sp>
        <p:nvSpPr>
          <p:cNvPr id="29" name="Shape 26"/>
          <p:cNvSpPr/>
          <p:nvPr/>
        </p:nvSpPr>
        <p:spPr>
          <a:xfrm>
            <a:off x="10397096" y="2377440"/>
            <a:ext cx="1371600" cy="640080"/>
          </a:xfrm>
          <a:prstGeom prst="roundRect">
            <a:avLst>
              <a:gd name="adj" fmla="val 8571"/>
            </a:avLst>
          </a:prstGeom>
          <a:solidFill>
            <a:schemeClr val="accent6">
              <a:lumMod val="20000"/>
              <a:lumOff val="80000"/>
            </a:schemeClr>
          </a:solidFill>
          <a:ln w="15875">
            <a:solidFill>
              <a:srgbClr val="C00000"/>
            </a:solidFill>
            <a:prstDash val="solid"/>
          </a:ln>
        </p:spPr>
        <p:txBody>
          <a:bodyPr/>
          <a:lstStyle/>
          <a:p>
            <a:endParaRPr lang="en-US"/>
          </a:p>
        </p:txBody>
      </p:sp>
      <p:sp>
        <p:nvSpPr>
          <p:cNvPr id="30" name="Text 27"/>
          <p:cNvSpPr txBox="1"/>
          <p:nvPr/>
        </p:nvSpPr>
        <p:spPr>
          <a:xfrm>
            <a:off x="10451960" y="2377440"/>
            <a:ext cx="1261872" cy="64008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Failed</a:t>
            </a:r>
            <a:br>
              <a:rPr lang="en-US" sz="1200" b="1" dirty="0">
                <a:solidFill>
                  <a:schemeClr val="tx1"/>
                </a:solidFill>
                <a:latin typeface="Calibri" pitchFamily="34" charset="0"/>
                <a:ea typeface="Calibri" pitchFamily="34" charset="-122"/>
                <a:cs typeface="Calibri" pitchFamily="34" charset="-120"/>
              </a:rPr>
            </a:br>
            <a:endParaRPr lang="en-US" sz="1200" dirty="0"/>
          </a:p>
        </p:txBody>
      </p:sp>
      <p:sp>
        <p:nvSpPr>
          <p:cNvPr id="31" name="Shape 28"/>
          <p:cNvSpPr/>
          <p:nvPr/>
        </p:nvSpPr>
        <p:spPr>
          <a:xfrm>
            <a:off x="10397096" y="3154680"/>
            <a:ext cx="1371600" cy="640080"/>
          </a:xfrm>
          <a:prstGeom prst="roundRect">
            <a:avLst>
              <a:gd name="adj" fmla="val 8571"/>
            </a:avLst>
          </a:prstGeom>
          <a:solidFill>
            <a:schemeClr val="bg1"/>
          </a:solidFill>
          <a:ln/>
        </p:spPr>
        <p:txBody>
          <a:bodyPr/>
          <a:lstStyle/>
          <a:p>
            <a:endParaRPr lang="en-US"/>
          </a:p>
        </p:txBody>
      </p:sp>
      <p:sp>
        <p:nvSpPr>
          <p:cNvPr id="32" name="Shape 29"/>
          <p:cNvSpPr/>
          <p:nvPr/>
        </p:nvSpPr>
        <p:spPr>
          <a:xfrm>
            <a:off x="10397096" y="3154680"/>
            <a:ext cx="1371600" cy="640080"/>
          </a:xfrm>
          <a:prstGeom prst="roundRect">
            <a:avLst>
              <a:gd name="adj" fmla="val 8571"/>
            </a:avLst>
          </a:prstGeom>
          <a:solidFill>
            <a:schemeClr val="accent6">
              <a:lumMod val="20000"/>
              <a:lumOff val="80000"/>
            </a:schemeClr>
          </a:solidFill>
          <a:ln w="15875">
            <a:solidFill>
              <a:srgbClr val="C00000"/>
            </a:solidFill>
            <a:prstDash val="solid"/>
          </a:ln>
        </p:spPr>
        <p:txBody>
          <a:bodyPr/>
          <a:lstStyle/>
          <a:p>
            <a:endParaRPr lang="en-US"/>
          </a:p>
        </p:txBody>
      </p:sp>
      <p:sp>
        <p:nvSpPr>
          <p:cNvPr id="33" name="Text 30"/>
          <p:cNvSpPr txBox="1"/>
          <p:nvPr/>
        </p:nvSpPr>
        <p:spPr>
          <a:xfrm>
            <a:off x="10451960" y="3154680"/>
            <a:ext cx="1261872" cy="640080"/>
          </a:xfrm>
          <a:prstGeom prst="rect">
            <a:avLst/>
          </a:prstGeom>
          <a:noFill/>
          <a:ln/>
        </p:spPr>
        <p:txBody>
          <a:bodyPr wrap="square" lIns="0" tIns="0" rIns="0" bIns="0" rtlCol="0" anchor="ctr"/>
          <a:lstStyle/>
          <a:p>
            <a:pPr marL="0" indent="0" algn="ctr">
              <a:buNone/>
            </a:pPr>
            <a:r>
              <a:rPr lang="en-US" sz="1200" b="1" dirty="0" err="1">
                <a:solidFill>
                  <a:schemeClr val="tx1"/>
                </a:solidFill>
                <a:latin typeface="Calibri" pitchFamily="34" charset="0"/>
                <a:ea typeface="Calibri" pitchFamily="34" charset="-122"/>
                <a:cs typeface="Calibri" pitchFamily="34" charset="-120"/>
              </a:rPr>
              <a:t>DeadLettered</a:t>
            </a:r>
            <a:endParaRPr lang="en-US" sz="1200" dirty="0"/>
          </a:p>
          <a:p>
            <a:pPr marL="0" indent="0" algn="ctr">
              <a:buNone/>
            </a:pPr>
            <a:r>
              <a:rPr lang="en-US" sz="900" dirty="0">
                <a:solidFill>
                  <a:schemeClr val="tx2"/>
                </a:solidFill>
                <a:latin typeface="Calibri" pitchFamily="34" charset="0"/>
                <a:ea typeface="Calibri" pitchFamily="34" charset="-122"/>
                <a:cs typeface="Calibri" pitchFamily="34" charset="-120"/>
              </a:rPr>
              <a:t>as failed, DLQ set (P2)</a:t>
            </a:r>
            <a:endParaRPr lang="en-US" sz="1200" dirty="0"/>
          </a:p>
        </p:txBody>
      </p:sp>
      <p:sp>
        <p:nvSpPr>
          <p:cNvPr id="34" name="Shape 31"/>
          <p:cNvSpPr/>
          <p:nvPr/>
        </p:nvSpPr>
        <p:spPr>
          <a:xfrm>
            <a:off x="10397096" y="3931920"/>
            <a:ext cx="1371600" cy="640080"/>
          </a:xfrm>
          <a:prstGeom prst="roundRect">
            <a:avLst>
              <a:gd name="adj" fmla="val 8571"/>
            </a:avLst>
          </a:prstGeom>
          <a:solidFill>
            <a:schemeClr val="bg1"/>
          </a:solidFill>
          <a:ln/>
        </p:spPr>
        <p:txBody>
          <a:bodyPr/>
          <a:lstStyle/>
          <a:p>
            <a:endParaRPr lang="en-US"/>
          </a:p>
        </p:txBody>
      </p:sp>
      <p:sp>
        <p:nvSpPr>
          <p:cNvPr id="35" name="Shape 32"/>
          <p:cNvSpPr/>
          <p:nvPr/>
        </p:nvSpPr>
        <p:spPr>
          <a:xfrm>
            <a:off x="10397096" y="3931920"/>
            <a:ext cx="1371600" cy="640080"/>
          </a:xfrm>
          <a:prstGeom prst="roundRect">
            <a:avLst>
              <a:gd name="adj" fmla="val 8571"/>
            </a:avLst>
          </a:prstGeom>
          <a:solidFill>
            <a:srgbClr val="F3ECFB">
              <a:alpha val="84475"/>
            </a:srgbClr>
          </a:solidFill>
          <a:ln w="15875">
            <a:solidFill>
              <a:schemeClr val="bg1">
                <a:lumMod val="65000"/>
              </a:schemeClr>
            </a:solidFill>
            <a:prstDash val="solid"/>
          </a:ln>
        </p:spPr>
        <p:txBody>
          <a:bodyPr/>
          <a:lstStyle/>
          <a:p>
            <a:endParaRPr lang="en-US"/>
          </a:p>
        </p:txBody>
      </p:sp>
      <p:sp>
        <p:nvSpPr>
          <p:cNvPr id="36" name="Text 33"/>
          <p:cNvSpPr txBox="1"/>
          <p:nvPr/>
        </p:nvSpPr>
        <p:spPr>
          <a:xfrm>
            <a:off x="10451960" y="3931920"/>
            <a:ext cx="1261872" cy="64008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Cancelled</a:t>
            </a:r>
          </a:p>
          <a:p>
            <a:pPr marL="0" indent="0" algn="ctr">
              <a:buNone/>
            </a:pPr>
            <a:r>
              <a:rPr lang="en-US" sz="900" dirty="0">
                <a:solidFill>
                  <a:schemeClr val="tx2"/>
                </a:solidFill>
                <a:latin typeface="Calibri" pitchFamily="34" charset="0"/>
                <a:ea typeface="Calibri" pitchFamily="34" charset="-122"/>
                <a:cs typeface="Calibri" pitchFamily="34" charset="-120"/>
              </a:rPr>
              <a:t> </a:t>
            </a:r>
            <a:endParaRPr lang="en-US" sz="1200" dirty="0"/>
          </a:p>
        </p:txBody>
      </p:sp>
      <p:sp>
        <p:nvSpPr>
          <p:cNvPr id="37" name="Shape 34"/>
          <p:cNvSpPr/>
          <p:nvPr/>
        </p:nvSpPr>
        <p:spPr>
          <a:xfrm>
            <a:off x="740664" y="3538728"/>
            <a:ext cx="2916936" cy="91"/>
          </a:xfrm>
          <a:prstGeom prst="line">
            <a:avLst/>
          </a:prstGeom>
          <a:noFill/>
          <a:ln w="19050">
            <a:solidFill>
              <a:schemeClr val="tx1"/>
            </a:solidFill>
            <a:prstDash val="solid"/>
            <a:headEnd type="none"/>
            <a:tailEnd type="triangle"/>
          </a:ln>
        </p:spPr>
        <p:txBody>
          <a:bodyPr/>
          <a:lstStyle/>
          <a:p>
            <a:endParaRPr lang="en-US"/>
          </a:p>
        </p:txBody>
      </p:sp>
      <p:sp>
        <p:nvSpPr>
          <p:cNvPr id="38" name="Shape 35"/>
          <p:cNvSpPr/>
          <p:nvPr/>
        </p:nvSpPr>
        <p:spPr>
          <a:xfrm>
            <a:off x="1033272" y="3435773"/>
            <a:ext cx="201168" cy="201168"/>
          </a:xfrm>
          <a:prstGeom prst="ellipse">
            <a:avLst/>
          </a:prstGeom>
          <a:solidFill>
            <a:schemeClr val="accent5"/>
          </a:solidFill>
          <a:ln/>
        </p:spPr>
        <p:txBody>
          <a:bodyPr/>
          <a:lstStyle/>
          <a:p>
            <a:endParaRPr lang="en-US"/>
          </a:p>
        </p:txBody>
      </p:sp>
      <p:sp>
        <p:nvSpPr>
          <p:cNvPr id="39" name="Text 36"/>
          <p:cNvSpPr txBox="1"/>
          <p:nvPr/>
        </p:nvSpPr>
        <p:spPr>
          <a:xfrm>
            <a:off x="1033272" y="3435773"/>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a:t>
            </a:r>
            <a:endParaRPr lang="en-US" sz="900" dirty="0"/>
          </a:p>
        </p:txBody>
      </p:sp>
      <p:sp>
        <p:nvSpPr>
          <p:cNvPr id="40" name="Shape 37"/>
          <p:cNvSpPr/>
          <p:nvPr/>
        </p:nvSpPr>
        <p:spPr>
          <a:xfrm>
            <a:off x="1261872" y="3426629"/>
            <a:ext cx="667512" cy="210312"/>
          </a:xfrm>
          <a:prstGeom prst="rect">
            <a:avLst/>
          </a:prstGeom>
          <a:solidFill>
            <a:schemeClr val="bg1"/>
          </a:solidFill>
          <a:ln/>
        </p:spPr>
        <p:txBody>
          <a:bodyPr/>
          <a:lstStyle/>
          <a:p>
            <a:endParaRPr lang="en-US"/>
          </a:p>
        </p:txBody>
      </p:sp>
      <p:sp>
        <p:nvSpPr>
          <p:cNvPr id="41" name="Text 38"/>
          <p:cNvSpPr txBox="1"/>
          <p:nvPr/>
        </p:nvSpPr>
        <p:spPr>
          <a:xfrm>
            <a:off x="1280160" y="3426629"/>
            <a:ext cx="649224"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POST /tasks</a:t>
            </a:r>
            <a:endParaRPr lang="en-US" sz="1000" dirty="0"/>
          </a:p>
        </p:txBody>
      </p:sp>
      <p:sp>
        <p:nvSpPr>
          <p:cNvPr id="42" name="Shape 39"/>
          <p:cNvSpPr/>
          <p:nvPr/>
        </p:nvSpPr>
        <p:spPr>
          <a:xfrm flipV="1">
            <a:off x="694944" y="2240280"/>
            <a:ext cx="905256" cy="1207008"/>
          </a:xfrm>
          <a:prstGeom prst="line">
            <a:avLst/>
          </a:prstGeom>
          <a:noFill/>
          <a:ln w="19050">
            <a:solidFill>
              <a:schemeClr val="tx1"/>
            </a:solidFill>
            <a:prstDash val="solid"/>
            <a:headEnd type="none"/>
            <a:tailEnd type="triangle"/>
          </a:ln>
        </p:spPr>
        <p:txBody>
          <a:bodyPr/>
          <a:lstStyle/>
          <a:p>
            <a:endParaRPr lang="en-US"/>
          </a:p>
        </p:txBody>
      </p:sp>
      <p:sp>
        <p:nvSpPr>
          <p:cNvPr id="43" name="Shape 40"/>
          <p:cNvSpPr/>
          <p:nvPr/>
        </p:nvSpPr>
        <p:spPr>
          <a:xfrm>
            <a:off x="846455" y="3024293"/>
            <a:ext cx="201168" cy="201168"/>
          </a:xfrm>
          <a:prstGeom prst="ellipse">
            <a:avLst/>
          </a:prstGeom>
          <a:solidFill>
            <a:schemeClr val="accent5"/>
          </a:solidFill>
          <a:ln/>
        </p:spPr>
        <p:txBody>
          <a:bodyPr/>
          <a:lstStyle/>
          <a:p>
            <a:endParaRPr lang="en-US"/>
          </a:p>
        </p:txBody>
      </p:sp>
      <p:sp>
        <p:nvSpPr>
          <p:cNvPr id="44" name="Text 41"/>
          <p:cNvSpPr txBox="1"/>
          <p:nvPr/>
        </p:nvSpPr>
        <p:spPr>
          <a:xfrm>
            <a:off x="846455" y="3024293"/>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a:t>
            </a:r>
            <a:endParaRPr lang="en-US" sz="900" dirty="0"/>
          </a:p>
        </p:txBody>
      </p:sp>
      <p:sp>
        <p:nvSpPr>
          <p:cNvPr id="45" name="Shape 42"/>
          <p:cNvSpPr/>
          <p:nvPr/>
        </p:nvSpPr>
        <p:spPr>
          <a:xfrm>
            <a:off x="1075055" y="3024293"/>
            <a:ext cx="775970" cy="201168"/>
          </a:xfrm>
          <a:prstGeom prst="rect">
            <a:avLst/>
          </a:prstGeom>
          <a:solidFill>
            <a:schemeClr val="bg1"/>
          </a:solidFill>
          <a:ln/>
        </p:spPr>
        <p:txBody>
          <a:bodyPr/>
          <a:lstStyle/>
          <a:p>
            <a:endParaRPr lang="en-US"/>
          </a:p>
        </p:txBody>
      </p:sp>
      <p:sp>
        <p:nvSpPr>
          <p:cNvPr id="46" name="Text 43"/>
          <p:cNvSpPr txBox="1"/>
          <p:nvPr/>
        </p:nvSpPr>
        <p:spPr>
          <a:xfrm>
            <a:off x="1093343" y="3015149"/>
            <a:ext cx="775970"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 run_after</a:t>
            </a:r>
            <a:endParaRPr lang="en-US" sz="1000" dirty="0"/>
          </a:p>
        </p:txBody>
      </p:sp>
      <p:sp>
        <p:nvSpPr>
          <p:cNvPr id="47" name="Shape 44"/>
          <p:cNvSpPr/>
          <p:nvPr/>
        </p:nvSpPr>
        <p:spPr>
          <a:xfrm>
            <a:off x="694944" y="3630168"/>
            <a:ext cx="905256" cy="1216152"/>
          </a:xfrm>
          <a:prstGeom prst="line">
            <a:avLst/>
          </a:prstGeom>
          <a:noFill/>
          <a:ln w="19050">
            <a:solidFill>
              <a:schemeClr val="tx1"/>
            </a:solidFill>
            <a:prstDash val="solid"/>
            <a:headEnd type="none"/>
            <a:tailEnd type="triangle"/>
          </a:ln>
        </p:spPr>
        <p:txBody>
          <a:bodyPr/>
          <a:lstStyle/>
          <a:p>
            <a:endParaRPr lang="en-US"/>
          </a:p>
        </p:txBody>
      </p:sp>
      <p:sp>
        <p:nvSpPr>
          <p:cNvPr id="48" name="Shape 45"/>
          <p:cNvSpPr/>
          <p:nvPr/>
        </p:nvSpPr>
        <p:spPr>
          <a:xfrm>
            <a:off x="822869" y="3849624"/>
            <a:ext cx="201168" cy="201168"/>
          </a:xfrm>
          <a:prstGeom prst="ellipse">
            <a:avLst/>
          </a:prstGeom>
          <a:solidFill>
            <a:schemeClr val="accent5"/>
          </a:solidFill>
          <a:ln/>
        </p:spPr>
        <p:txBody>
          <a:bodyPr/>
          <a:lstStyle/>
          <a:p>
            <a:endParaRPr lang="en-US"/>
          </a:p>
        </p:txBody>
      </p:sp>
      <p:sp>
        <p:nvSpPr>
          <p:cNvPr id="49" name="Text 46"/>
          <p:cNvSpPr txBox="1"/>
          <p:nvPr/>
        </p:nvSpPr>
        <p:spPr>
          <a:xfrm>
            <a:off x="822869" y="3849624"/>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a:t>
            </a:r>
            <a:endParaRPr lang="en-US" sz="900" dirty="0"/>
          </a:p>
        </p:txBody>
      </p:sp>
      <p:sp>
        <p:nvSpPr>
          <p:cNvPr id="50" name="Shape 47"/>
          <p:cNvSpPr/>
          <p:nvPr/>
        </p:nvSpPr>
        <p:spPr>
          <a:xfrm>
            <a:off x="1051469" y="3849624"/>
            <a:ext cx="838200" cy="201168"/>
          </a:xfrm>
          <a:prstGeom prst="rect">
            <a:avLst/>
          </a:prstGeom>
          <a:solidFill>
            <a:schemeClr val="bg1"/>
          </a:solidFill>
          <a:ln/>
        </p:spPr>
        <p:txBody>
          <a:bodyPr/>
          <a:lstStyle/>
          <a:p>
            <a:endParaRPr lang="en-US"/>
          </a:p>
        </p:txBody>
      </p:sp>
      <p:sp>
        <p:nvSpPr>
          <p:cNvPr id="51" name="Text 48"/>
          <p:cNvSpPr txBox="1"/>
          <p:nvPr/>
        </p:nvSpPr>
        <p:spPr>
          <a:xfrm>
            <a:off x="1069757" y="3840480"/>
            <a:ext cx="838200"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 unmet deps</a:t>
            </a:r>
            <a:endParaRPr lang="en-US" sz="1000" dirty="0"/>
          </a:p>
        </p:txBody>
      </p:sp>
      <p:sp>
        <p:nvSpPr>
          <p:cNvPr id="52" name="Shape 49"/>
          <p:cNvSpPr/>
          <p:nvPr/>
        </p:nvSpPr>
        <p:spPr>
          <a:xfrm>
            <a:off x="3063240" y="2240280"/>
            <a:ext cx="822960" cy="1014984"/>
          </a:xfrm>
          <a:prstGeom prst="line">
            <a:avLst/>
          </a:prstGeom>
          <a:noFill/>
          <a:ln w="19050">
            <a:solidFill>
              <a:schemeClr val="bg1">
                <a:lumMod val="65000"/>
              </a:schemeClr>
            </a:solidFill>
            <a:prstDash val="dash"/>
            <a:headEnd type="none"/>
            <a:tailEnd type="triangle"/>
          </a:ln>
        </p:spPr>
        <p:txBody>
          <a:bodyPr/>
          <a:lstStyle/>
          <a:p>
            <a:endParaRPr lang="en-US"/>
          </a:p>
        </p:txBody>
      </p:sp>
      <p:sp>
        <p:nvSpPr>
          <p:cNvPr id="55" name="Shape 52"/>
          <p:cNvSpPr/>
          <p:nvPr/>
        </p:nvSpPr>
        <p:spPr>
          <a:xfrm>
            <a:off x="3566160" y="2386584"/>
            <a:ext cx="1522730" cy="201168"/>
          </a:xfrm>
          <a:prstGeom prst="rect">
            <a:avLst/>
          </a:prstGeom>
          <a:solidFill>
            <a:schemeClr val="bg1"/>
          </a:solidFill>
          <a:ln/>
        </p:spPr>
        <p:txBody>
          <a:bodyPr/>
          <a:lstStyle/>
          <a:p>
            <a:endParaRPr lang="en-US"/>
          </a:p>
        </p:txBody>
      </p:sp>
      <p:sp>
        <p:nvSpPr>
          <p:cNvPr id="56" name="Text 53"/>
          <p:cNvSpPr txBox="1"/>
          <p:nvPr/>
        </p:nvSpPr>
        <p:spPr>
          <a:xfrm>
            <a:off x="3355594" y="2322576"/>
            <a:ext cx="1522730"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timer fires (run_after)</a:t>
            </a:r>
            <a:endParaRPr lang="en-US" sz="1000" dirty="0"/>
          </a:p>
        </p:txBody>
      </p:sp>
      <p:sp>
        <p:nvSpPr>
          <p:cNvPr id="57" name="Shape 54"/>
          <p:cNvSpPr/>
          <p:nvPr/>
        </p:nvSpPr>
        <p:spPr>
          <a:xfrm flipV="1">
            <a:off x="3063240" y="3822192"/>
            <a:ext cx="822960" cy="1024128"/>
          </a:xfrm>
          <a:prstGeom prst="line">
            <a:avLst/>
          </a:prstGeom>
          <a:noFill/>
          <a:ln w="19050">
            <a:solidFill>
              <a:schemeClr val="bg1">
                <a:lumMod val="65000"/>
              </a:schemeClr>
            </a:solidFill>
            <a:prstDash val="dash"/>
            <a:headEnd type="none"/>
            <a:tailEnd type="triangle"/>
          </a:ln>
        </p:spPr>
        <p:txBody>
          <a:bodyPr/>
          <a:lstStyle/>
          <a:p>
            <a:endParaRPr lang="en-US"/>
          </a:p>
        </p:txBody>
      </p:sp>
      <p:sp>
        <p:nvSpPr>
          <p:cNvPr id="60" name="Shape 57"/>
          <p:cNvSpPr/>
          <p:nvPr/>
        </p:nvSpPr>
        <p:spPr>
          <a:xfrm>
            <a:off x="2011680" y="4443984"/>
            <a:ext cx="1188629" cy="173736"/>
          </a:xfrm>
          <a:prstGeom prst="rect">
            <a:avLst/>
          </a:prstGeom>
          <a:solidFill>
            <a:schemeClr val="bg1"/>
          </a:solidFill>
          <a:ln/>
        </p:spPr>
        <p:txBody>
          <a:bodyPr/>
          <a:lstStyle/>
          <a:p>
            <a:endParaRPr lang="en-US"/>
          </a:p>
        </p:txBody>
      </p:sp>
      <p:sp>
        <p:nvSpPr>
          <p:cNvPr id="61" name="Text 58"/>
          <p:cNvSpPr txBox="1"/>
          <p:nvPr/>
        </p:nvSpPr>
        <p:spPr>
          <a:xfrm>
            <a:off x="3366010" y="4556760"/>
            <a:ext cx="1170341" cy="210312"/>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last predecessor done</a:t>
            </a:r>
            <a:endParaRPr lang="en-US" sz="1000" dirty="0"/>
          </a:p>
        </p:txBody>
      </p:sp>
      <p:sp>
        <p:nvSpPr>
          <p:cNvPr id="62" name="Shape 59"/>
          <p:cNvSpPr/>
          <p:nvPr/>
        </p:nvSpPr>
        <p:spPr>
          <a:xfrm>
            <a:off x="5120640" y="3538728"/>
            <a:ext cx="914400" cy="91"/>
          </a:xfrm>
          <a:prstGeom prst="line">
            <a:avLst/>
          </a:prstGeom>
          <a:noFill/>
          <a:ln w="19050">
            <a:solidFill>
              <a:schemeClr val="tx1"/>
            </a:solidFill>
            <a:prstDash val="solid"/>
            <a:headEnd type="none"/>
            <a:tailEnd type="triangle"/>
          </a:ln>
        </p:spPr>
        <p:txBody>
          <a:bodyPr/>
          <a:lstStyle/>
          <a:p>
            <a:endParaRPr lang="en-US"/>
          </a:p>
        </p:txBody>
      </p:sp>
      <p:sp>
        <p:nvSpPr>
          <p:cNvPr id="63" name="Shape 60"/>
          <p:cNvSpPr/>
          <p:nvPr/>
        </p:nvSpPr>
        <p:spPr>
          <a:xfrm>
            <a:off x="5157216" y="3282696"/>
            <a:ext cx="201168" cy="201168"/>
          </a:xfrm>
          <a:prstGeom prst="ellipse">
            <a:avLst/>
          </a:prstGeom>
          <a:solidFill>
            <a:schemeClr val="tx1"/>
          </a:solidFill>
          <a:ln/>
        </p:spPr>
        <p:txBody>
          <a:bodyPr/>
          <a:lstStyle/>
          <a:p>
            <a:endParaRPr lang="en-US"/>
          </a:p>
        </p:txBody>
      </p:sp>
      <p:sp>
        <p:nvSpPr>
          <p:cNvPr id="64" name="Text 61"/>
          <p:cNvSpPr txBox="1"/>
          <p:nvPr/>
        </p:nvSpPr>
        <p:spPr>
          <a:xfrm>
            <a:off x="5157216" y="3282696"/>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W</a:t>
            </a:r>
            <a:endParaRPr lang="en-US" sz="900" dirty="0"/>
          </a:p>
        </p:txBody>
      </p:sp>
      <p:sp>
        <p:nvSpPr>
          <p:cNvPr id="65" name="Shape 62"/>
          <p:cNvSpPr/>
          <p:nvPr/>
        </p:nvSpPr>
        <p:spPr>
          <a:xfrm>
            <a:off x="5385816" y="3282696"/>
            <a:ext cx="402590" cy="201168"/>
          </a:xfrm>
          <a:prstGeom prst="rect">
            <a:avLst/>
          </a:prstGeom>
          <a:solidFill>
            <a:schemeClr val="bg1"/>
          </a:solidFill>
          <a:ln/>
        </p:spPr>
        <p:txBody>
          <a:bodyPr/>
          <a:lstStyle/>
          <a:p>
            <a:endParaRPr lang="en-US"/>
          </a:p>
        </p:txBody>
      </p:sp>
      <p:sp>
        <p:nvSpPr>
          <p:cNvPr id="66" name="Text 63"/>
          <p:cNvSpPr txBox="1"/>
          <p:nvPr/>
        </p:nvSpPr>
        <p:spPr>
          <a:xfrm>
            <a:off x="5404104" y="3273552"/>
            <a:ext cx="402590"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claim</a:t>
            </a:r>
            <a:endParaRPr lang="en-US" sz="1000" dirty="0"/>
          </a:p>
        </p:txBody>
      </p:sp>
      <p:sp>
        <p:nvSpPr>
          <p:cNvPr id="67" name="Text 64"/>
          <p:cNvSpPr txBox="1"/>
          <p:nvPr/>
        </p:nvSpPr>
        <p:spPr>
          <a:xfrm>
            <a:off x="5074920" y="3584448"/>
            <a:ext cx="1005840" cy="384048"/>
          </a:xfrm>
          <a:prstGeom prst="rect">
            <a:avLst/>
          </a:prstGeom>
          <a:noFill/>
          <a:ln/>
        </p:spPr>
        <p:txBody>
          <a:bodyPr wrap="square" lIns="0" tIns="0" rIns="0" bIns="0" rtlCol="0" anchor="t"/>
          <a:lstStyle/>
          <a:p>
            <a:pPr marL="0" indent="0" algn="ctr">
              <a:buNone/>
            </a:pPr>
            <a:r>
              <a:rPr lang="en-US" sz="900" dirty="0">
                <a:solidFill>
                  <a:schemeClr val="tx2"/>
                </a:solidFill>
                <a:latin typeface="Courier New" pitchFamily="34" charset="0"/>
                <a:ea typeface="Courier New" pitchFamily="34" charset="-122"/>
                <a:cs typeface="Courier New" pitchFamily="34" charset="-120"/>
              </a:rPr>
              <a:t>POST /tasks/claim</a:t>
            </a:r>
            <a:endParaRPr lang="en-US" sz="900" dirty="0"/>
          </a:p>
        </p:txBody>
      </p:sp>
      <p:sp>
        <p:nvSpPr>
          <p:cNvPr id="68" name="Shape 65"/>
          <p:cNvSpPr/>
          <p:nvPr/>
        </p:nvSpPr>
        <p:spPr>
          <a:xfrm>
            <a:off x="7498080" y="3538728"/>
            <a:ext cx="914400" cy="91"/>
          </a:xfrm>
          <a:prstGeom prst="line">
            <a:avLst/>
          </a:prstGeom>
          <a:noFill/>
          <a:ln w="19050">
            <a:solidFill>
              <a:schemeClr val="tx1"/>
            </a:solidFill>
            <a:prstDash val="solid"/>
            <a:headEnd type="none"/>
            <a:tailEnd type="triangle"/>
          </a:ln>
        </p:spPr>
        <p:txBody>
          <a:bodyPr/>
          <a:lstStyle/>
          <a:p>
            <a:endParaRPr lang="en-US"/>
          </a:p>
        </p:txBody>
      </p:sp>
      <p:sp>
        <p:nvSpPr>
          <p:cNvPr id="69" name="Shape 66"/>
          <p:cNvSpPr/>
          <p:nvPr/>
        </p:nvSpPr>
        <p:spPr>
          <a:xfrm>
            <a:off x="7534656" y="3282696"/>
            <a:ext cx="201168" cy="201168"/>
          </a:xfrm>
          <a:prstGeom prst="ellipse">
            <a:avLst/>
          </a:prstGeom>
          <a:solidFill>
            <a:schemeClr val="tx1"/>
          </a:solidFill>
          <a:ln/>
        </p:spPr>
        <p:txBody>
          <a:bodyPr/>
          <a:lstStyle/>
          <a:p>
            <a:endParaRPr lang="en-US"/>
          </a:p>
        </p:txBody>
      </p:sp>
      <p:sp>
        <p:nvSpPr>
          <p:cNvPr id="70" name="Text 67"/>
          <p:cNvSpPr txBox="1"/>
          <p:nvPr/>
        </p:nvSpPr>
        <p:spPr>
          <a:xfrm>
            <a:off x="7534656" y="3282696"/>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W</a:t>
            </a:r>
            <a:endParaRPr lang="en-US" sz="900" dirty="0"/>
          </a:p>
        </p:txBody>
      </p:sp>
      <p:sp>
        <p:nvSpPr>
          <p:cNvPr id="71" name="Shape 68"/>
          <p:cNvSpPr/>
          <p:nvPr/>
        </p:nvSpPr>
        <p:spPr>
          <a:xfrm>
            <a:off x="7763256" y="3282696"/>
            <a:ext cx="402590" cy="201168"/>
          </a:xfrm>
          <a:prstGeom prst="rect">
            <a:avLst/>
          </a:prstGeom>
          <a:solidFill>
            <a:schemeClr val="bg1"/>
          </a:solidFill>
          <a:ln/>
        </p:spPr>
        <p:txBody>
          <a:bodyPr/>
          <a:lstStyle/>
          <a:p>
            <a:endParaRPr lang="en-US"/>
          </a:p>
        </p:txBody>
      </p:sp>
      <p:sp>
        <p:nvSpPr>
          <p:cNvPr id="72" name="Text 69"/>
          <p:cNvSpPr txBox="1"/>
          <p:nvPr/>
        </p:nvSpPr>
        <p:spPr>
          <a:xfrm>
            <a:off x="7781544" y="3273552"/>
            <a:ext cx="402590"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start</a:t>
            </a:r>
            <a:endParaRPr lang="en-US" sz="1000" dirty="0"/>
          </a:p>
        </p:txBody>
      </p:sp>
      <p:sp>
        <p:nvSpPr>
          <p:cNvPr id="73" name="Text 70"/>
          <p:cNvSpPr txBox="1"/>
          <p:nvPr/>
        </p:nvSpPr>
        <p:spPr>
          <a:xfrm>
            <a:off x="7452360" y="3584448"/>
            <a:ext cx="1005840" cy="384048"/>
          </a:xfrm>
          <a:prstGeom prst="rect">
            <a:avLst/>
          </a:prstGeom>
          <a:noFill/>
          <a:ln/>
        </p:spPr>
        <p:txBody>
          <a:bodyPr wrap="square" lIns="0" tIns="0" rIns="0" bIns="0" rtlCol="0" anchor="t"/>
          <a:lstStyle/>
          <a:p>
            <a:pPr marL="0" indent="0" algn="ctr">
              <a:buNone/>
            </a:pPr>
            <a:r>
              <a:rPr lang="en-US" sz="900" dirty="0">
                <a:solidFill>
                  <a:schemeClr val="tx2"/>
                </a:solidFill>
                <a:latin typeface="Courier New" pitchFamily="34" charset="0"/>
                <a:ea typeface="Courier New" pitchFamily="34" charset="-122"/>
                <a:cs typeface="Courier New" pitchFamily="34" charset="-120"/>
              </a:rPr>
              <a:t>…/start</a:t>
            </a:r>
            <a:endParaRPr lang="en-US" sz="900" dirty="0"/>
          </a:p>
        </p:txBody>
      </p:sp>
      <p:sp>
        <p:nvSpPr>
          <p:cNvPr id="74" name="Shape 71"/>
          <p:cNvSpPr/>
          <p:nvPr/>
        </p:nvSpPr>
        <p:spPr>
          <a:xfrm>
            <a:off x="9144000" y="3822192"/>
            <a:ext cx="91" cy="1069848"/>
          </a:xfrm>
          <a:prstGeom prst="line">
            <a:avLst/>
          </a:prstGeom>
          <a:noFill/>
          <a:ln w="19050">
            <a:solidFill>
              <a:schemeClr val="tx1"/>
            </a:solidFill>
            <a:prstDash val="solid"/>
            <a:headEnd type="none"/>
            <a:tailEnd type="triangle"/>
          </a:ln>
        </p:spPr>
        <p:txBody>
          <a:bodyPr/>
          <a:lstStyle/>
          <a:p>
            <a:endParaRPr lang="en-US"/>
          </a:p>
        </p:txBody>
      </p:sp>
      <p:sp>
        <p:nvSpPr>
          <p:cNvPr id="75" name="Shape 72"/>
          <p:cNvSpPr/>
          <p:nvPr/>
        </p:nvSpPr>
        <p:spPr>
          <a:xfrm>
            <a:off x="9217152" y="4032504"/>
            <a:ext cx="201168" cy="201168"/>
          </a:xfrm>
          <a:prstGeom prst="ellipse">
            <a:avLst/>
          </a:prstGeom>
          <a:solidFill>
            <a:schemeClr val="tx1"/>
          </a:solidFill>
          <a:ln/>
        </p:spPr>
        <p:txBody>
          <a:bodyPr/>
          <a:lstStyle/>
          <a:p>
            <a:endParaRPr lang="en-US"/>
          </a:p>
        </p:txBody>
      </p:sp>
      <p:sp>
        <p:nvSpPr>
          <p:cNvPr id="76" name="Text 73"/>
          <p:cNvSpPr txBox="1"/>
          <p:nvPr/>
        </p:nvSpPr>
        <p:spPr>
          <a:xfrm>
            <a:off x="9217152" y="4032504"/>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W</a:t>
            </a:r>
            <a:endParaRPr lang="en-US" sz="900" dirty="0"/>
          </a:p>
        </p:txBody>
      </p:sp>
      <p:sp>
        <p:nvSpPr>
          <p:cNvPr id="77" name="Shape 74"/>
          <p:cNvSpPr/>
          <p:nvPr/>
        </p:nvSpPr>
        <p:spPr>
          <a:xfrm>
            <a:off x="9445752" y="4032504"/>
            <a:ext cx="589280" cy="201168"/>
          </a:xfrm>
          <a:prstGeom prst="rect">
            <a:avLst/>
          </a:prstGeom>
          <a:solidFill>
            <a:schemeClr val="bg1"/>
          </a:solidFill>
          <a:ln/>
        </p:spPr>
        <p:txBody>
          <a:bodyPr/>
          <a:lstStyle/>
          <a:p>
            <a:endParaRPr lang="en-US"/>
          </a:p>
        </p:txBody>
      </p:sp>
      <p:sp>
        <p:nvSpPr>
          <p:cNvPr id="78" name="Text 75"/>
          <p:cNvSpPr txBox="1"/>
          <p:nvPr/>
        </p:nvSpPr>
        <p:spPr>
          <a:xfrm>
            <a:off x="9464040" y="4023360"/>
            <a:ext cx="589280"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set wait</a:t>
            </a:r>
            <a:endParaRPr lang="en-US" sz="1000" dirty="0"/>
          </a:p>
        </p:txBody>
      </p:sp>
      <p:sp>
        <p:nvSpPr>
          <p:cNvPr id="79" name="Text 76"/>
          <p:cNvSpPr txBox="1"/>
          <p:nvPr/>
        </p:nvSpPr>
        <p:spPr>
          <a:xfrm>
            <a:off x="9217152" y="4279392"/>
            <a:ext cx="1115568" cy="384048"/>
          </a:xfrm>
          <a:prstGeom prst="rect">
            <a:avLst/>
          </a:prstGeom>
          <a:noFill/>
          <a:ln/>
        </p:spPr>
        <p:txBody>
          <a:bodyPr wrap="square" lIns="0" tIns="0" rIns="0" bIns="0" rtlCol="0" anchor="t"/>
          <a:lstStyle/>
          <a:p>
            <a:pPr marL="0" indent="0">
              <a:buNone/>
            </a:pPr>
            <a:r>
              <a:rPr lang="en-US" sz="900" dirty="0">
                <a:solidFill>
                  <a:schemeClr val="tx2"/>
                </a:solidFill>
                <a:latin typeface="Courier New" pitchFamily="34" charset="0"/>
                <a:ea typeface="Courier New" pitchFamily="34" charset="-122"/>
                <a:cs typeface="Courier New" pitchFamily="34" charset="-120"/>
              </a:rPr>
              <a:t>POST …/</a:t>
            </a:r>
            <a:endParaRPr lang="en-US" sz="900" dirty="0"/>
          </a:p>
          <a:p>
            <a:pPr marL="0" indent="0">
              <a:buNone/>
            </a:pPr>
            <a:r>
              <a:rPr lang="en-US" sz="900" dirty="0">
                <a:solidFill>
                  <a:schemeClr val="tx2"/>
                </a:solidFill>
                <a:latin typeface="Courier New" pitchFamily="34" charset="0"/>
                <a:ea typeface="Courier New" pitchFamily="34" charset="-122"/>
                <a:cs typeface="Courier New" pitchFamily="34" charset="-120"/>
              </a:rPr>
              <a:t>wait-conditions</a:t>
            </a:r>
            <a:endParaRPr lang="en-US" sz="900" dirty="0"/>
          </a:p>
        </p:txBody>
      </p:sp>
      <p:sp>
        <p:nvSpPr>
          <p:cNvPr id="80" name="Shape 77"/>
          <p:cNvSpPr/>
          <p:nvPr/>
        </p:nvSpPr>
        <p:spPr>
          <a:xfrm flipH="1">
            <a:off x="4846320" y="5175504"/>
            <a:ext cx="3566160" cy="91"/>
          </a:xfrm>
          <a:prstGeom prst="line">
            <a:avLst/>
          </a:prstGeom>
          <a:noFill/>
          <a:ln w="19050">
            <a:solidFill>
              <a:schemeClr val="accent1"/>
            </a:solidFill>
            <a:prstDash val="dash"/>
            <a:headEnd type="none"/>
            <a:tailEnd type="none"/>
          </a:ln>
        </p:spPr>
        <p:txBody>
          <a:bodyPr/>
          <a:lstStyle/>
          <a:p>
            <a:endParaRPr lang="en-US"/>
          </a:p>
        </p:txBody>
      </p:sp>
      <p:sp>
        <p:nvSpPr>
          <p:cNvPr id="81" name="Shape 78"/>
          <p:cNvSpPr/>
          <p:nvPr/>
        </p:nvSpPr>
        <p:spPr>
          <a:xfrm flipV="1">
            <a:off x="4846320" y="3822192"/>
            <a:ext cx="91" cy="1353312"/>
          </a:xfrm>
          <a:prstGeom prst="line">
            <a:avLst/>
          </a:prstGeom>
          <a:noFill/>
          <a:ln w="19050">
            <a:solidFill>
              <a:schemeClr val="bg1">
                <a:lumMod val="65000"/>
              </a:schemeClr>
            </a:solidFill>
            <a:prstDash val="dash"/>
            <a:headEnd type="none"/>
            <a:tailEnd type="triangle"/>
          </a:ln>
        </p:spPr>
        <p:txBody>
          <a:bodyPr/>
          <a:lstStyle/>
          <a:p>
            <a:endParaRPr lang="en-US"/>
          </a:p>
        </p:txBody>
      </p:sp>
      <p:sp>
        <p:nvSpPr>
          <p:cNvPr id="84" name="Shape 81"/>
          <p:cNvSpPr/>
          <p:nvPr/>
        </p:nvSpPr>
        <p:spPr>
          <a:xfrm>
            <a:off x="5212080" y="5239512"/>
            <a:ext cx="201168" cy="201168"/>
          </a:xfrm>
          <a:prstGeom prst="ellipse">
            <a:avLst/>
          </a:prstGeom>
          <a:solidFill>
            <a:schemeClr val="accent5"/>
          </a:solidFill>
          <a:ln/>
        </p:spPr>
        <p:txBody>
          <a:bodyPr/>
          <a:lstStyle/>
          <a:p>
            <a:endParaRPr lang="en-US"/>
          </a:p>
        </p:txBody>
      </p:sp>
      <p:sp>
        <p:nvSpPr>
          <p:cNvPr id="85" name="Text 82"/>
          <p:cNvSpPr txBox="1"/>
          <p:nvPr/>
        </p:nvSpPr>
        <p:spPr>
          <a:xfrm>
            <a:off x="5212080" y="5239512"/>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a:t>
            </a:r>
            <a:endParaRPr lang="en-US" sz="900" dirty="0"/>
          </a:p>
        </p:txBody>
      </p:sp>
      <p:sp>
        <p:nvSpPr>
          <p:cNvPr id="86" name="Shape 83"/>
          <p:cNvSpPr/>
          <p:nvPr/>
        </p:nvSpPr>
        <p:spPr>
          <a:xfrm>
            <a:off x="5440680" y="5239512"/>
            <a:ext cx="2891790" cy="201168"/>
          </a:xfrm>
          <a:prstGeom prst="rect">
            <a:avLst/>
          </a:prstGeom>
          <a:solidFill>
            <a:schemeClr val="bg1"/>
          </a:solidFill>
          <a:ln/>
        </p:spPr>
        <p:txBody>
          <a:bodyPr/>
          <a:lstStyle/>
          <a:p>
            <a:endParaRPr lang="en-US"/>
          </a:p>
        </p:txBody>
      </p:sp>
      <p:sp>
        <p:nvSpPr>
          <p:cNvPr id="87" name="Text 84"/>
          <p:cNvSpPr txBox="1"/>
          <p:nvPr/>
        </p:nvSpPr>
        <p:spPr>
          <a:xfrm>
            <a:off x="5458968" y="5230368"/>
            <a:ext cx="2891790"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event / timer met, or input resolved → resume</a:t>
            </a:r>
            <a:endParaRPr lang="en-US" sz="1000" dirty="0"/>
          </a:p>
        </p:txBody>
      </p:sp>
      <p:sp>
        <p:nvSpPr>
          <p:cNvPr id="88" name="Shape 85"/>
          <p:cNvSpPr/>
          <p:nvPr/>
        </p:nvSpPr>
        <p:spPr>
          <a:xfrm flipV="1">
            <a:off x="9144000" y="1325880"/>
            <a:ext cx="91" cy="1929384"/>
          </a:xfrm>
          <a:prstGeom prst="line">
            <a:avLst/>
          </a:prstGeom>
          <a:noFill/>
          <a:ln w="19050">
            <a:solidFill>
              <a:schemeClr val="accent4"/>
            </a:solidFill>
            <a:prstDash val="solid"/>
            <a:headEnd type="none"/>
            <a:tailEnd type="none"/>
          </a:ln>
        </p:spPr>
        <p:txBody>
          <a:bodyPr/>
          <a:lstStyle/>
          <a:p>
            <a:endParaRPr lang="en-US"/>
          </a:p>
        </p:txBody>
      </p:sp>
      <p:sp>
        <p:nvSpPr>
          <p:cNvPr id="89" name="Shape 86"/>
          <p:cNvSpPr/>
          <p:nvPr/>
        </p:nvSpPr>
        <p:spPr>
          <a:xfrm flipH="1">
            <a:off x="2331720" y="1325880"/>
            <a:ext cx="6812280" cy="91"/>
          </a:xfrm>
          <a:prstGeom prst="line">
            <a:avLst/>
          </a:prstGeom>
          <a:noFill/>
          <a:ln w="19050">
            <a:solidFill>
              <a:schemeClr val="accent4"/>
            </a:solidFill>
            <a:prstDash val="solid"/>
            <a:headEnd type="none"/>
            <a:tailEnd type="none"/>
          </a:ln>
        </p:spPr>
        <p:txBody>
          <a:bodyPr/>
          <a:lstStyle/>
          <a:p>
            <a:endParaRPr lang="en-US"/>
          </a:p>
        </p:txBody>
      </p:sp>
      <p:sp>
        <p:nvSpPr>
          <p:cNvPr id="90" name="Shape 87"/>
          <p:cNvSpPr/>
          <p:nvPr/>
        </p:nvSpPr>
        <p:spPr>
          <a:xfrm>
            <a:off x="2331720" y="1325880"/>
            <a:ext cx="91" cy="457200"/>
          </a:xfrm>
          <a:prstGeom prst="line">
            <a:avLst/>
          </a:prstGeom>
          <a:noFill/>
          <a:ln w="19050">
            <a:solidFill>
              <a:schemeClr val="accent4"/>
            </a:solidFill>
            <a:prstDash val="solid"/>
            <a:headEnd type="none"/>
            <a:tailEnd type="triangle"/>
          </a:ln>
        </p:spPr>
        <p:txBody>
          <a:bodyPr/>
          <a:lstStyle/>
          <a:p>
            <a:endParaRPr lang="en-US"/>
          </a:p>
        </p:txBody>
      </p:sp>
      <p:sp>
        <p:nvSpPr>
          <p:cNvPr id="91" name="Shape 88"/>
          <p:cNvSpPr/>
          <p:nvPr/>
        </p:nvSpPr>
        <p:spPr>
          <a:xfrm flipV="1">
            <a:off x="6766560" y="1344168"/>
            <a:ext cx="91" cy="1911096"/>
          </a:xfrm>
          <a:prstGeom prst="line">
            <a:avLst/>
          </a:prstGeom>
          <a:noFill/>
          <a:ln w="15875">
            <a:solidFill>
              <a:schemeClr val="accent4"/>
            </a:solidFill>
            <a:prstDash val="dash"/>
            <a:headEnd type="none"/>
            <a:tailEnd type="none"/>
          </a:ln>
        </p:spPr>
        <p:txBody>
          <a:bodyPr/>
          <a:lstStyle/>
          <a:p>
            <a:endParaRPr lang="en-US"/>
          </a:p>
        </p:txBody>
      </p:sp>
      <p:sp>
        <p:nvSpPr>
          <p:cNvPr id="92" name="Shape 89"/>
          <p:cNvSpPr/>
          <p:nvPr/>
        </p:nvSpPr>
        <p:spPr>
          <a:xfrm>
            <a:off x="2743200" y="1399032"/>
            <a:ext cx="201168" cy="201168"/>
          </a:xfrm>
          <a:prstGeom prst="ellipse">
            <a:avLst/>
          </a:prstGeom>
          <a:solidFill>
            <a:schemeClr val="tx1"/>
          </a:solidFill>
          <a:ln/>
        </p:spPr>
        <p:txBody>
          <a:bodyPr/>
          <a:lstStyle/>
          <a:p>
            <a:endParaRPr lang="en-US"/>
          </a:p>
        </p:txBody>
      </p:sp>
      <p:sp>
        <p:nvSpPr>
          <p:cNvPr id="93" name="Text 90"/>
          <p:cNvSpPr txBox="1"/>
          <p:nvPr/>
        </p:nvSpPr>
        <p:spPr>
          <a:xfrm>
            <a:off x="2743200" y="1399032"/>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W</a:t>
            </a:r>
            <a:endParaRPr lang="en-US" sz="900" dirty="0"/>
          </a:p>
        </p:txBody>
      </p:sp>
      <p:sp>
        <p:nvSpPr>
          <p:cNvPr id="94" name="Shape 91"/>
          <p:cNvSpPr/>
          <p:nvPr/>
        </p:nvSpPr>
        <p:spPr>
          <a:xfrm>
            <a:off x="2971800" y="1399032"/>
            <a:ext cx="1740535" cy="201168"/>
          </a:xfrm>
          <a:prstGeom prst="rect">
            <a:avLst/>
          </a:prstGeom>
          <a:solidFill>
            <a:schemeClr val="bg1"/>
          </a:solidFill>
          <a:ln/>
        </p:spPr>
        <p:txBody>
          <a:bodyPr/>
          <a:lstStyle/>
          <a:p>
            <a:endParaRPr lang="en-US"/>
          </a:p>
        </p:txBody>
      </p:sp>
      <p:sp>
        <p:nvSpPr>
          <p:cNvPr id="95" name="Text 92"/>
          <p:cNvSpPr txBox="1"/>
          <p:nvPr/>
        </p:nvSpPr>
        <p:spPr>
          <a:xfrm>
            <a:off x="2990088" y="1389888"/>
            <a:ext cx="1740535" cy="219456"/>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fail with retryable error</a:t>
            </a:r>
            <a:endParaRPr lang="en-US" sz="1000" dirty="0"/>
          </a:p>
        </p:txBody>
      </p:sp>
      <p:sp>
        <p:nvSpPr>
          <p:cNvPr id="98" name="Shape 95"/>
          <p:cNvSpPr/>
          <p:nvPr/>
        </p:nvSpPr>
        <p:spPr>
          <a:xfrm>
            <a:off x="5486400" y="1399032"/>
            <a:ext cx="2606040" cy="201168"/>
          </a:xfrm>
          <a:prstGeom prst="rect">
            <a:avLst/>
          </a:prstGeom>
          <a:solidFill>
            <a:schemeClr val="bg1"/>
          </a:solidFill>
          <a:ln/>
        </p:spPr>
        <p:txBody>
          <a:bodyPr/>
          <a:lstStyle/>
          <a:p>
            <a:endParaRPr lang="en-US"/>
          </a:p>
        </p:txBody>
      </p:sp>
      <p:sp>
        <p:nvSpPr>
          <p:cNvPr id="99" name="Text 96"/>
          <p:cNvSpPr txBox="1"/>
          <p:nvPr/>
        </p:nvSpPr>
        <p:spPr>
          <a:xfrm>
            <a:off x="5504688" y="1389888"/>
            <a:ext cx="2606040" cy="219456"/>
          </a:xfrm>
          <a:prstGeom prst="rect">
            <a:avLst/>
          </a:prstGeom>
          <a:noFill/>
          <a:ln/>
        </p:spPr>
        <p:txBody>
          <a:bodyPr wrap="square" lIns="0" tIns="0" rIns="0" bIns="0" rtlCol="0" anchor="ctr"/>
          <a:lstStyle/>
          <a:p>
            <a:pPr marL="0" indent="0">
              <a:buNone/>
            </a:pPr>
            <a:r>
              <a:rPr lang="en-US" sz="1000" dirty="0">
                <a:latin typeface="Calibri" pitchFamily="34" charset="0"/>
                <a:ea typeface="Calibri" pitchFamily="34" charset="-122"/>
                <a:cs typeface="Calibri" pitchFamily="34" charset="-120"/>
              </a:rPr>
              <a:t>heartbeat missed · not started in time</a:t>
            </a:r>
            <a:endParaRPr lang="en-US" sz="1000" dirty="0"/>
          </a:p>
        </p:txBody>
      </p:sp>
      <p:sp>
        <p:nvSpPr>
          <p:cNvPr id="100" name="Text 97"/>
          <p:cNvSpPr txBox="1"/>
          <p:nvPr/>
        </p:nvSpPr>
        <p:spPr>
          <a:xfrm>
            <a:off x="2798064" y="1600200"/>
            <a:ext cx="2743200" cy="219456"/>
          </a:xfrm>
          <a:prstGeom prst="rect">
            <a:avLst/>
          </a:prstGeom>
          <a:noFill/>
          <a:ln/>
        </p:spPr>
        <p:txBody>
          <a:bodyPr wrap="square" lIns="0" tIns="0" rIns="0" bIns="0" rtlCol="0" anchor="t"/>
          <a:lstStyle/>
          <a:p>
            <a:pPr marL="0" indent="0">
              <a:buNone/>
            </a:pPr>
            <a:r>
              <a:rPr lang="en-US" sz="1000" dirty="0">
                <a:latin typeface="Calibri" pitchFamily="34" charset="0"/>
                <a:ea typeface="Calibri" pitchFamily="34" charset="-122"/>
                <a:cs typeface="Calibri" pitchFamily="34" charset="-120"/>
              </a:rPr>
              <a:t>→ back to scheduled with backoff</a:t>
            </a:r>
            <a:endParaRPr lang="en-US" sz="1000" dirty="0"/>
          </a:p>
        </p:txBody>
      </p:sp>
      <p:sp>
        <p:nvSpPr>
          <p:cNvPr id="101" name="Shape 98"/>
          <p:cNvSpPr/>
          <p:nvPr/>
        </p:nvSpPr>
        <p:spPr>
          <a:xfrm flipV="1">
            <a:off x="9875520" y="1920240"/>
            <a:ext cx="484632" cy="1618488"/>
          </a:xfrm>
          <a:prstGeom prst="line">
            <a:avLst/>
          </a:prstGeom>
          <a:noFill/>
          <a:ln w="12700">
            <a:solidFill>
              <a:schemeClr val="tx1"/>
            </a:solidFill>
            <a:prstDash val="solid"/>
            <a:headEnd type="none"/>
            <a:tailEnd type="triangle"/>
          </a:ln>
        </p:spPr>
        <p:txBody>
          <a:bodyPr/>
          <a:lstStyle/>
          <a:p>
            <a:endParaRPr lang="en-US"/>
          </a:p>
        </p:txBody>
      </p:sp>
      <p:sp>
        <p:nvSpPr>
          <p:cNvPr id="102" name="Shape 99"/>
          <p:cNvSpPr/>
          <p:nvPr/>
        </p:nvSpPr>
        <p:spPr>
          <a:xfrm flipV="1">
            <a:off x="9875520" y="2697480"/>
            <a:ext cx="484632" cy="841248"/>
          </a:xfrm>
          <a:prstGeom prst="line">
            <a:avLst/>
          </a:prstGeom>
          <a:noFill/>
          <a:ln w="12700">
            <a:solidFill>
              <a:schemeClr val="tx1"/>
            </a:solidFill>
            <a:prstDash val="solid"/>
            <a:headEnd type="none"/>
            <a:tailEnd type="triangle"/>
          </a:ln>
        </p:spPr>
        <p:txBody>
          <a:bodyPr/>
          <a:lstStyle/>
          <a:p>
            <a:endParaRPr lang="en-US"/>
          </a:p>
        </p:txBody>
      </p:sp>
      <p:sp>
        <p:nvSpPr>
          <p:cNvPr id="103" name="Shape 100"/>
          <p:cNvSpPr/>
          <p:nvPr/>
        </p:nvSpPr>
        <p:spPr>
          <a:xfrm flipV="1">
            <a:off x="9875520" y="3474720"/>
            <a:ext cx="484632" cy="64008"/>
          </a:xfrm>
          <a:prstGeom prst="line">
            <a:avLst/>
          </a:prstGeom>
          <a:noFill/>
          <a:ln w="12700">
            <a:solidFill>
              <a:schemeClr val="tx1"/>
            </a:solidFill>
            <a:prstDash val="solid"/>
            <a:headEnd type="none"/>
            <a:tailEnd type="triangle"/>
          </a:ln>
        </p:spPr>
        <p:txBody>
          <a:bodyPr/>
          <a:lstStyle/>
          <a:p>
            <a:endParaRPr lang="en-US"/>
          </a:p>
        </p:txBody>
      </p:sp>
      <p:sp>
        <p:nvSpPr>
          <p:cNvPr id="104" name="Shape 101"/>
          <p:cNvSpPr/>
          <p:nvPr/>
        </p:nvSpPr>
        <p:spPr>
          <a:xfrm>
            <a:off x="9875520" y="3538728"/>
            <a:ext cx="484632" cy="713232"/>
          </a:xfrm>
          <a:prstGeom prst="line">
            <a:avLst/>
          </a:prstGeom>
          <a:noFill/>
          <a:ln w="12700">
            <a:solidFill>
              <a:schemeClr val="tx1"/>
            </a:solidFill>
            <a:prstDash val="solid"/>
            <a:headEnd type="none"/>
            <a:tailEnd type="triangle"/>
          </a:ln>
        </p:spPr>
        <p:txBody>
          <a:bodyPr/>
          <a:lstStyle/>
          <a:p>
            <a:endParaRPr lang="en-US"/>
          </a:p>
        </p:txBody>
      </p:sp>
      <p:sp>
        <p:nvSpPr>
          <p:cNvPr id="105" name="Shape 102"/>
          <p:cNvSpPr/>
          <p:nvPr/>
        </p:nvSpPr>
        <p:spPr>
          <a:xfrm>
            <a:off x="457200" y="5687568"/>
            <a:ext cx="6172200" cy="566928"/>
          </a:xfrm>
          <a:prstGeom prst="roundRect">
            <a:avLst>
              <a:gd name="adj" fmla="val 9677"/>
            </a:avLst>
          </a:prstGeom>
          <a:solidFill>
            <a:schemeClr val="bg1"/>
          </a:solidFill>
          <a:ln/>
        </p:spPr>
        <p:txBody>
          <a:bodyPr/>
          <a:lstStyle/>
          <a:p>
            <a:endParaRPr lang="en-US"/>
          </a:p>
        </p:txBody>
      </p:sp>
      <p:sp>
        <p:nvSpPr>
          <p:cNvPr id="106" name="Shape 103"/>
          <p:cNvSpPr/>
          <p:nvPr/>
        </p:nvSpPr>
        <p:spPr>
          <a:xfrm>
            <a:off x="457200" y="5687568"/>
            <a:ext cx="6172200" cy="566928"/>
          </a:xfrm>
          <a:prstGeom prst="roundRect">
            <a:avLst>
              <a:gd name="adj" fmla="val 9677"/>
            </a:avLst>
          </a:prstGeom>
          <a:solidFill>
            <a:schemeClr val="bg2"/>
          </a:solidFill>
          <a:ln/>
        </p:spPr>
        <p:txBody>
          <a:bodyPr/>
          <a:lstStyle/>
          <a:p>
            <a:endParaRPr lang="en-US"/>
          </a:p>
        </p:txBody>
      </p:sp>
      <p:sp>
        <p:nvSpPr>
          <p:cNvPr id="107" name="Shape 104"/>
          <p:cNvSpPr/>
          <p:nvPr/>
        </p:nvSpPr>
        <p:spPr>
          <a:xfrm>
            <a:off x="594360" y="5870448"/>
            <a:ext cx="201168" cy="201168"/>
          </a:xfrm>
          <a:prstGeom prst="ellipse">
            <a:avLst/>
          </a:prstGeom>
          <a:solidFill>
            <a:schemeClr val="accent5"/>
          </a:solidFill>
          <a:ln/>
        </p:spPr>
        <p:txBody>
          <a:bodyPr/>
          <a:lstStyle/>
          <a:p>
            <a:endParaRPr lang="en-US"/>
          </a:p>
        </p:txBody>
      </p:sp>
      <p:sp>
        <p:nvSpPr>
          <p:cNvPr id="108" name="Text 105"/>
          <p:cNvSpPr txBox="1"/>
          <p:nvPr/>
        </p:nvSpPr>
        <p:spPr>
          <a:xfrm>
            <a:off x="594360" y="5870448"/>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a:t>
            </a:r>
            <a:endParaRPr lang="en-US" sz="900" dirty="0"/>
          </a:p>
        </p:txBody>
      </p:sp>
      <p:sp>
        <p:nvSpPr>
          <p:cNvPr id="109" name="Text 106"/>
          <p:cNvSpPr txBox="1"/>
          <p:nvPr/>
        </p:nvSpPr>
        <p:spPr>
          <a:xfrm>
            <a:off x="841248" y="5833872"/>
            <a:ext cx="1783080" cy="274320"/>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Producer (initiator)</a:t>
            </a:r>
            <a:endParaRPr lang="en-US" sz="1000" dirty="0"/>
          </a:p>
        </p:txBody>
      </p:sp>
      <p:grpSp>
        <p:nvGrpSpPr>
          <p:cNvPr id="134" name="Group 133">
            <a:extLst>
              <a:ext uri="{FF2B5EF4-FFF2-40B4-BE49-F238E27FC236}">
                <a16:creationId xmlns:a16="http://schemas.microsoft.com/office/drawing/2014/main" id="{624D315D-A3EA-4DE9-7A66-C7EAC597F91D}"/>
              </a:ext>
            </a:extLst>
          </p:cNvPr>
          <p:cNvGrpSpPr/>
          <p:nvPr/>
        </p:nvGrpSpPr>
        <p:grpSpPr>
          <a:xfrm>
            <a:off x="2214878" y="5870448"/>
            <a:ext cx="201168" cy="201168"/>
            <a:chOff x="2214878" y="5870448"/>
            <a:chExt cx="201168" cy="201168"/>
          </a:xfrm>
        </p:grpSpPr>
        <p:sp>
          <p:nvSpPr>
            <p:cNvPr id="110" name="Shape 107"/>
            <p:cNvSpPr/>
            <p:nvPr/>
          </p:nvSpPr>
          <p:spPr>
            <a:xfrm>
              <a:off x="2214878" y="5870448"/>
              <a:ext cx="201168" cy="201168"/>
            </a:xfrm>
            <a:prstGeom prst="ellipse">
              <a:avLst/>
            </a:prstGeom>
            <a:solidFill>
              <a:schemeClr val="tx1"/>
            </a:solidFill>
            <a:ln/>
          </p:spPr>
          <p:txBody>
            <a:bodyPr/>
            <a:lstStyle/>
            <a:p>
              <a:endParaRPr lang="en-US"/>
            </a:p>
          </p:txBody>
        </p:sp>
        <p:sp>
          <p:nvSpPr>
            <p:cNvPr id="111" name="Text 108"/>
            <p:cNvSpPr txBox="1"/>
            <p:nvPr/>
          </p:nvSpPr>
          <p:spPr>
            <a:xfrm>
              <a:off x="2214878" y="5870448"/>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W</a:t>
              </a:r>
              <a:endParaRPr lang="en-US" sz="900" dirty="0"/>
            </a:p>
          </p:txBody>
        </p:sp>
      </p:grpSp>
      <p:sp>
        <p:nvSpPr>
          <p:cNvPr id="112" name="Text 109"/>
          <p:cNvSpPr txBox="1"/>
          <p:nvPr/>
        </p:nvSpPr>
        <p:spPr>
          <a:xfrm>
            <a:off x="2461766" y="5833872"/>
            <a:ext cx="731520" cy="274320"/>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Worker</a:t>
            </a:r>
            <a:endParaRPr lang="en-US" sz="1000" dirty="0"/>
          </a:p>
        </p:txBody>
      </p:sp>
      <p:sp>
        <p:nvSpPr>
          <p:cNvPr id="113" name="Shape 110"/>
          <p:cNvSpPr/>
          <p:nvPr/>
        </p:nvSpPr>
        <p:spPr>
          <a:xfrm>
            <a:off x="3220718" y="5870448"/>
            <a:ext cx="201168" cy="201168"/>
          </a:xfrm>
          <a:prstGeom prst="ellipse">
            <a:avLst/>
          </a:prstGeom>
          <a:solidFill>
            <a:schemeClr val="accent4">
              <a:lumMod val="75000"/>
            </a:schemeClr>
          </a:solidFill>
          <a:ln/>
        </p:spPr>
        <p:txBody>
          <a:bodyPr anchor="ctr"/>
          <a:lstStyle/>
          <a:p>
            <a:pPr algn="ctr"/>
            <a:r>
              <a:rPr lang="en-US" sz="900" b="1" dirty="0">
                <a:solidFill>
                  <a:schemeClr val="bg1"/>
                </a:solidFill>
                <a:latin typeface="Calibri" panose="020F0502020204030204" pitchFamily="34" charset="0"/>
                <a:cs typeface="Calibri" panose="020F0502020204030204" pitchFamily="34" charset="0"/>
              </a:rPr>
              <a:t>A</a:t>
            </a:r>
          </a:p>
        </p:txBody>
      </p:sp>
      <p:sp>
        <p:nvSpPr>
          <p:cNvPr id="115" name="Text 112"/>
          <p:cNvSpPr txBox="1"/>
          <p:nvPr/>
        </p:nvSpPr>
        <p:spPr>
          <a:xfrm>
            <a:off x="3467606" y="5833872"/>
            <a:ext cx="731520" cy="274320"/>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Admin</a:t>
            </a:r>
            <a:endParaRPr lang="en-US" sz="1000" dirty="0"/>
          </a:p>
        </p:txBody>
      </p:sp>
      <p:sp>
        <p:nvSpPr>
          <p:cNvPr id="116" name="Shape 113"/>
          <p:cNvSpPr/>
          <p:nvPr/>
        </p:nvSpPr>
        <p:spPr>
          <a:xfrm>
            <a:off x="4226558" y="5870448"/>
            <a:ext cx="201168" cy="201168"/>
          </a:xfrm>
          <a:prstGeom prst="ellipse">
            <a:avLst/>
          </a:prstGeom>
          <a:solidFill>
            <a:schemeClr val="bg2">
              <a:lumMod val="50000"/>
            </a:schemeClr>
          </a:solidFill>
          <a:ln/>
        </p:spPr>
        <p:txBody>
          <a:bodyPr lIns="0" tIns="0" rIns="0" bIns="0" anchor="ctr"/>
          <a:lstStyle/>
          <a:p>
            <a:pPr algn="ctr"/>
            <a:r>
              <a:rPr lang="en-US" sz="900" b="1" dirty="0">
                <a:solidFill>
                  <a:schemeClr val="bg1"/>
                </a:solidFill>
                <a:latin typeface="Calibri" panose="020F0502020204030204" pitchFamily="34" charset="0"/>
                <a:cs typeface="Calibri" panose="020F0502020204030204" pitchFamily="34" charset="0"/>
              </a:rPr>
              <a:t>E</a:t>
            </a:r>
          </a:p>
        </p:txBody>
      </p:sp>
      <p:sp>
        <p:nvSpPr>
          <p:cNvPr id="118" name="Text 115"/>
          <p:cNvSpPr txBox="1"/>
          <p:nvPr/>
        </p:nvSpPr>
        <p:spPr>
          <a:xfrm>
            <a:off x="4473446" y="5833872"/>
            <a:ext cx="1280160" cy="274320"/>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Task Engine itself</a:t>
            </a:r>
            <a:endParaRPr lang="en-US" sz="1000" dirty="0"/>
          </a:p>
        </p:txBody>
      </p:sp>
      <p:sp>
        <p:nvSpPr>
          <p:cNvPr id="119" name="Shape 116"/>
          <p:cNvSpPr/>
          <p:nvPr/>
        </p:nvSpPr>
        <p:spPr>
          <a:xfrm>
            <a:off x="6766560" y="5687568"/>
            <a:ext cx="4965192" cy="566928"/>
          </a:xfrm>
          <a:prstGeom prst="roundRect">
            <a:avLst>
              <a:gd name="adj" fmla="val 9677"/>
            </a:avLst>
          </a:prstGeom>
          <a:solidFill>
            <a:schemeClr val="bg1"/>
          </a:solidFill>
          <a:ln/>
        </p:spPr>
        <p:txBody>
          <a:bodyPr/>
          <a:lstStyle/>
          <a:p>
            <a:endParaRPr lang="en-US"/>
          </a:p>
        </p:txBody>
      </p:sp>
      <p:sp>
        <p:nvSpPr>
          <p:cNvPr id="120" name="Shape 117"/>
          <p:cNvSpPr/>
          <p:nvPr/>
        </p:nvSpPr>
        <p:spPr>
          <a:xfrm>
            <a:off x="6766560" y="5687568"/>
            <a:ext cx="4965192" cy="566928"/>
          </a:xfrm>
          <a:prstGeom prst="roundRect">
            <a:avLst>
              <a:gd name="adj" fmla="val 9677"/>
            </a:avLst>
          </a:prstGeom>
          <a:solidFill>
            <a:schemeClr val="bg2"/>
          </a:solidFill>
          <a:ln/>
        </p:spPr>
        <p:txBody>
          <a:bodyPr/>
          <a:lstStyle/>
          <a:p>
            <a:endParaRPr lang="en-US"/>
          </a:p>
        </p:txBody>
      </p:sp>
      <p:sp>
        <p:nvSpPr>
          <p:cNvPr id="121" name="Shape 118"/>
          <p:cNvSpPr/>
          <p:nvPr/>
        </p:nvSpPr>
        <p:spPr>
          <a:xfrm>
            <a:off x="6903720" y="5742432"/>
            <a:ext cx="201168" cy="201168"/>
          </a:xfrm>
          <a:prstGeom prst="ellipse">
            <a:avLst/>
          </a:prstGeom>
          <a:solidFill>
            <a:schemeClr val="accent5"/>
          </a:solidFill>
          <a:ln/>
        </p:spPr>
        <p:txBody>
          <a:bodyPr/>
          <a:lstStyle/>
          <a:p>
            <a:endParaRPr lang="en-US"/>
          </a:p>
        </p:txBody>
      </p:sp>
      <p:sp>
        <p:nvSpPr>
          <p:cNvPr id="122" name="Text 119"/>
          <p:cNvSpPr txBox="1"/>
          <p:nvPr/>
        </p:nvSpPr>
        <p:spPr>
          <a:xfrm>
            <a:off x="6903720" y="5742432"/>
            <a:ext cx="20116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a:t>
            </a:r>
            <a:endParaRPr lang="en-US" sz="900" dirty="0"/>
          </a:p>
        </p:txBody>
      </p:sp>
      <p:sp>
        <p:nvSpPr>
          <p:cNvPr id="125" name="Text 122"/>
          <p:cNvSpPr txBox="1"/>
          <p:nvPr/>
        </p:nvSpPr>
        <p:spPr>
          <a:xfrm>
            <a:off x="7379208" y="5733288"/>
            <a:ext cx="3140710"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forced cancel: any non-terminal state → cancelled</a:t>
            </a:r>
            <a:endParaRPr lang="en-US" sz="1000" dirty="0"/>
          </a:p>
        </p:txBody>
      </p:sp>
      <p:sp>
        <p:nvSpPr>
          <p:cNvPr id="128" name="Text 125"/>
          <p:cNvSpPr txBox="1"/>
          <p:nvPr/>
        </p:nvSpPr>
        <p:spPr>
          <a:xfrm>
            <a:off x="7150608" y="5989320"/>
            <a:ext cx="2518410" cy="21945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re-enqueue (P2): dead_lettered → queued</a:t>
            </a:r>
            <a:endParaRPr lang="en-US" sz="10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15</a:t>
            </a:fld>
            <a:endParaRPr lang="en-US"/>
          </a:p>
        </p:txBody>
      </p:sp>
      <p:grpSp>
        <p:nvGrpSpPr>
          <p:cNvPr id="152" name="Group 151">
            <a:extLst>
              <a:ext uri="{FF2B5EF4-FFF2-40B4-BE49-F238E27FC236}">
                <a16:creationId xmlns:a16="http://schemas.microsoft.com/office/drawing/2014/main" id="{1D56FF64-381F-8C4E-2DEA-96D7C017F186}"/>
              </a:ext>
            </a:extLst>
          </p:cNvPr>
          <p:cNvGrpSpPr/>
          <p:nvPr/>
        </p:nvGrpSpPr>
        <p:grpSpPr>
          <a:xfrm>
            <a:off x="10569479" y="4322808"/>
            <a:ext cx="144000" cy="144000"/>
            <a:chOff x="10532535" y="4322808"/>
            <a:chExt cx="144000" cy="144000"/>
          </a:xfrm>
        </p:grpSpPr>
        <p:sp>
          <p:nvSpPr>
            <p:cNvPr id="129" name="Shape 118">
              <a:extLst>
                <a:ext uri="{FF2B5EF4-FFF2-40B4-BE49-F238E27FC236}">
                  <a16:creationId xmlns:a16="http://schemas.microsoft.com/office/drawing/2014/main" id="{CC1BF3AC-C29A-DFEF-69A6-A383F0DD50B2}"/>
                </a:ext>
              </a:extLst>
            </p:cNvPr>
            <p:cNvSpPr/>
            <p:nvPr/>
          </p:nvSpPr>
          <p:spPr>
            <a:xfrm>
              <a:off x="10532535" y="4322808"/>
              <a:ext cx="144000" cy="144000"/>
            </a:xfrm>
            <a:prstGeom prst="ellipse">
              <a:avLst/>
            </a:prstGeom>
            <a:solidFill>
              <a:schemeClr val="accent5"/>
            </a:solidFill>
            <a:ln/>
          </p:spPr>
          <p:txBody>
            <a:bodyPr/>
            <a:lstStyle/>
            <a:p>
              <a:endParaRPr lang="en-US" sz="1400"/>
            </a:p>
          </p:txBody>
        </p:sp>
        <p:sp>
          <p:nvSpPr>
            <p:cNvPr id="130" name="Text 119">
              <a:extLst>
                <a:ext uri="{FF2B5EF4-FFF2-40B4-BE49-F238E27FC236}">
                  <a16:creationId xmlns:a16="http://schemas.microsoft.com/office/drawing/2014/main" id="{653E4ADE-622A-D1B8-10EB-0FE396C8FB2E}"/>
                </a:ext>
              </a:extLst>
            </p:cNvPr>
            <p:cNvSpPr txBox="1"/>
            <p:nvPr/>
          </p:nvSpPr>
          <p:spPr>
            <a:xfrm>
              <a:off x="10532535" y="4322808"/>
              <a:ext cx="144000" cy="144000"/>
            </a:xfrm>
            <a:prstGeom prst="rect">
              <a:avLst/>
            </a:prstGeom>
            <a:noFill/>
            <a:ln/>
          </p:spPr>
          <p:txBody>
            <a:bodyPr wrap="square" lIns="0" tIns="0" rIns="0" bIns="0" rtlCol="0" anchor="ctr"/>
            <a:lstStyle/>
            <a:p>
              <a:pPr marL="0" indent="0" algn="ctr">
                <a:buNone/>
              </a:pPr>
              <a:r>
                <a:rPr lang="en-US" sz="700" b="1" dirty="0">
                  <a:solidFill>
                    <a:schemeClr val="bg1"/>
                  </a:solidFill>
                  <a:latin typeface="Calibri" pitchFamily="34" charset="0"/>
                  <a:ea typeface="Calibri" pitchFamily="34" charset="-122"/>
                  <a:cs typeface="Calibri" pitchFamily="34" charset="-120"/>
                </a:rPr>
                <a:t>P</a:t>
              </a:r>
              <a:endParaRPr lang="en-US" sz="700" dirty="0"/>
            </a:p>
          </p:txBody>
        </p:sp>
      </p:grpSp>
      <p:sp>
        <p:nvSpPr>
          <p:cNvPr id="137" name="TextBox 136">
            <a:extLst>
              <a:ext uri="{FF2B5EF4-FFF2-40B4-BE49-F238E27FC236}">
                <a16:creationId xmlns:a16="http://schemas.microsoft.com/office/drawing/2014/main" id="{5D9D64AB-1909-CCD4-B609-03E55F6AA504}"/>
              </a:ext>
            </a:extLst>
          </p:cNvPr>
          <p:cNvSpPr txBox="1"/>
          <p:nvPr/>
        </p:nvSpPr>
        <p:spPr>
          <a:xfrm>
            <a:off x="10816463" y="4279392"/>
            <a:ext cx="590670" cy="230832"/>
          </a:xfrm>
          <a:prstGeom prst="rect">
            <a:avLst/>
          </a:prstGeom>
          <a:noFill/>
        </p:spPr>
        <p:txBody>
          <a:bodyPr wrap="square">
            <a:spAutoFit/>
          </a:bodyPr>
          <a:lstStyle/>
          <a:p>
            <a:pPr marL="0" indent="0">
              <a:buNone/>
            </a:pPr>
            <a:r>
              <a:rPr lang="en-US" sz="900" dirty="0">
                <a:solidFill>
                  <a:schemeClr val="tx2"/>
                </a:solidFill>
                <a:latin typeface="Calibri" pitchFamily="34" charset="0"/>
                <a:ea typeface="Calibri" pitchFamily="34" charset="-122"/>
                <a:cs typeface="Calibri" pitchFamily="34" charset="-120"/>
              </a:rPr>
              <a:t>cancel</a:t>
            </a:r>
            <a:endParaRPr lang="en-US" sz="1200" dirty="0"/>
          </a:p>
        </p:txBody>
      </p:sp>
      <p:grpSp>
        <p:nvGrpSpPr>
          <p:cNvPr id="153" name="Group 152">
            <a:extLst>
              <a:ext uri="{FF2B5EF4-FFF2-40B4-BE49-F238E27FC236}">
                <a16:creationId xmlns:a16="http://schemas.microsoft.com/office/drawing/2014/main" id="{83225E5A-85BD-189B-218E-001D57A800EC}"/>
              </a:ext>
            </a:extLst>
          </p:cNvPr>
          <p:cNvGrpSpPr/>
          <p:nvPr/>
        </p:nvGrpSpPr>
        <p:grpSpPr>
          <a:xfrm>
            <a:off x="11245793" y="4304808"/>
            <a:ext cx="180000" cy="180000"/>
            <a:chOff x="11208849" y="4304808"/>
            <a:chExt cx="180000" cy="180000"/>
          </a:xfrm>
        </p:grpSpPr>
        <p:sp>
          <p:nvSpPr>
            <p:cNvPr id="139" name="Shape 107">
              <a:extLst>
                <a:ext uri="{FF2B5EF4-FFF2-40B4-BE49-F238E27FC236}">
                  <a16:creationId xmlns:a16="http://schemas.microsoft.com/office/drawing/2014/main" id="{928EFAC8-B973-4CAA-979C-BFD2FA4C68F0}"/>
                </a:ext>
              </a:extLst>
            </p:cNvPr>
            <p:cNvSpPr>
              <a:spLocks noChangeAspect="1"/>
            </p:cNvSpPr>
            <p:nvPr/>
          </p:nvSpPr>
          <p:spPr>
            <a:xfrm>
              <a:off x="11225784" y="4321008"/>
              <a:ext cx="147600" cy="147600"/>
            </a:xfrm>
            <a:prstGeom prst="ellipse">
              <a:avLst/>
            </a:prstGeom>
            <a:solidFill>
              <a:schemeClr val="tx1"/>
            </a:solidFill>
            <a:ln/>
          </p:spPr>
          <p:txBody>
            <a:bodyPr/>
            <a:lstStyle/>
            <a:p>
              <a:endParaRPr lang="en-US"/>
            </a:p>
          </p:txBody>
        </p:sp>
        <p:sp>
          <p:nvSpPr>
            <p:cNvPr id="140" name="Text 108">
              <a:extLst>
                <a:ext uri="{FF2B5EF4-FFF2-40B4-BE49-F238E27FC236}">
                  <a16:creationId xmlns:a16="http://schemas.microsoft.com/office/drawing/2014/main" id="{DD299FFF-2B4F-CE04-FBF2-CA0610A1A699}"/>
                </a:ext>
              </a:extLst>
            </p:cNvPr>
            <p:cNvSpPr txBox="1">
              <a:spLocks noChangeAspect="1"/>
            </p:cNvSpPr>
            <p:nvPr/>
          </p:nvSpPr>
          <p:spPr>
            <a:xfrm>
              <a:off x="11208849" y="4304808"/>
              <a:ext cx="180000" cy="180000"/>
            </a:xfrm>
            <a:prstGeom prst="rect">
              <a:avLst/>
            </a:prstGeom>
            <a:noFill/>
            <a:ln/>
          </p:spPr>
          <p:txBody>
            <a:bodyPr wrap="square" lIns="0" tIns="0" rIns="0" bIns="0" rtlCol="0" anchor="ctr"/>
            <a:lstStyle/>
            <a:p>
              <a:pPr marL="0" indent="0" algn="ctr">
                <a:buNone/>
              </a:pPr>
              <a:r>
                <a:rPr lang="en-US" sz="700" b="1" dirty="0">
                  <a:solidFill>
                    <a:schemeClr val="bg1"/>
                  </a:solidFill>
                  <a:latin typeface="Calibri" pitchFamily="34" charset="0"/>
                  <a:ea typeface="Calibri" pitchFamily="34" charset="-122"/>
                  <a:cs typeface="Calibri" pitchFamily="34" charset="-120"/>
                </a:rPr>
                <a:t>W</a:t>
              </a:r>
              <a:endParaRPr lang="en-US" sz="700" dirty="0"/>
            </a:p>
          </p:txBody>
        </p:sp>
      </p:grpSp>
      <p:sp>
        <p:nvSpPr>
          <p:cNvPr id="142" name="TextBox 141">
            <a:extLst>
              <a:ext uri="{FF2B5EF4-FFF2-40B4-BE49-F238E27FC236}">
                <a16:creationId xmlns:a16="http://schemas.microsoft.com/office/drawing/2014/main" id="{78361CE3-6D76-7712-2334-D4EE8113A2CC}"/>
              </a:ext>
            </a:extLst>
          </p:cNvPr>
          <p:cNvSpPr txBox="1"/>
          <p:nvPr/>
        </p:nvSpPr>
        <p:spPr>
          <a:xfrm>
            <a:off x="11353825" y="4279392"/>
            <a:ext cx="508000" cy="230832"/>
          </a:xfrm>
          <a:prstGeom prst="rect">
            <a:avLst/>
          </a:prstGeom>
          <a:noFill/>
        </p:spPr>
        <p:txBody>
          <a:bodyPr wrap="square">
            <a:spAutoFit/>
          </a:bodyPr>
          <a:lstStyle/>
          <a:p>
            <a:r>
              <a:rPr lang="en-US" sz="900" dirty="0">
                <a:solidFill>
                  <a:schemeClr val="tx2"/>
                </a:solidFill>
                <a:latin typeface="Calibri" pitchFamily="34" charset="0"/>
                <a:ea typeface="Calibri" pitchFamily="34" charset="-122"/>
                <a:cs typeface="Calibri" pitchFamily="34" charset="-120"/>
              </a:rPr>
              <a:t>ack</a:t>
            </a:r>
            <a:endParaRPr lang="en-US" dirty="0"/>
          </a:p>
        </p:txBody>
      </p:sp>
      <p:sp>
        <p:nvSpPr>
          <p:cNvPr id="149" name="TextBox 148">
            <a:extLst>
              <a:ext uri="{FF2B5EF4-FFF2-40B4-BE49-F238E27FC236}">
                <a16:creationId xmlns:a16="http://schemas.microsoft.com/office/drawing/2014/main" id="{F5435ADE-FF2B-45FB-4173-729239F5144D}"/>
              </a:ext>
            </a:extLst>
          </p:cNvPr>
          <p:cNvSpPr txBox="1"/>
          <p:nvPr/>
        </p:nvSpPr>
        <p:spPr>
          <a:xfrm>
            <a:off x="11149321" y="2728676"/>
            <a:ext cx="589098" cy="230832"/>
          </a:xfrm>
          <a:prstGeom prst="rect">
            <a:avLst/>
          </a:prstGeom>
          <a:noFill/>
        </p:spPr>
        <p:txBody>
          <a:bodyPr wrap="square">
            <a:spAutoFit/>
          </a:bodyPr>
          <a:lstStyle/>
          <a:p>
            <a:r>
              <a:rPr lang="en-US" sz="900" dirty="0">
                <a:solidFill>
                  <a:schemeClr val="tx2"/>
                </a:solidFill>
                <a:latin typeface="Calibri" pitchFamily="34" charset="0"/>
                <a:ea typeface="Calibri" pitchFamily="34" charset="-122"/>
                <a:cs typeface="Calibri" pitchFamily="34" charset="-120"/>
              </a:rPr>
              <a:t>timeout</a:t>
            </a:r>
            <a:endParaRPr lang="en-US" dirty="0"/>
          </a:p>
        </p:txBody>
      </p:sp>
      <p:sp>
        <p:nvSpPr>
          <p:cNvPr id="150" name="TextBox 149">
            <a:extLst>
              <a:ext uri="{FF2B5EF4-FFF2-40B4-BE49-F238E27FC236}">
                <a16:creationId xmlns:a16="http://schemas.microsoft.com/office/drawing/2014/main" id="{9604802B-DD09-139B-B2D4-F4C7381A0B52}"/>
              </a:ext>
            </a:extLst>
          </p:cNvPr>
          <p:cNvSpPr txBox="1"/>
          <p:nvPr/>
        </p:nvSpPr>
        <p:spPr>
          <a:xfrm>
            <a:off x="10670022" y="2725627"/>
            <a:ext cx="589098" cy="230832"/>
          </a:xfrm>
          <a:prstGeom prst="rect">
            <a:avLst/>
          </a:prstGeom>
          <a:noFill/>
        </p:spPr>
        <p:txBody>
          <a:bodyPr wrap="square">
            <a:spAutoFit/>
          </a:bodyPr>
          <a:lstStyle/>
          <a:p>
            <a:r>
              <a:rPr lang="en-US" sz="900" dirty="0">
                <a:solidFill>
                  <a:schemeClr val="tx2"/>
                </a:solidFill>
                <a:latin typeface="Calibri" pitchFamily="34" charset="0"/>
                <a:ea typeface="Calibri" pitchFamily="34" charset="-122"/>
                <a:cs typeface="Calibri" pitchFamily="34" charset="-120"/>
              </a:rPr>
              <a:t>error</a:t>
            </a:r>
            <a:endParaRPr lang="en-US" dirty="0"/>
          </a:p>
        </p:txBody>
      </p:sp>
      <p:grpSp>
        <p:nvGrpSpPr>
          <p:cNvPr id="154" name="Group 153">
            <a:extLst>
              <a:ext uri="{FF2B5EF4-FFF2-40B4-BE49-F238E27FC236}">
                <a16:creationId xmlns:a16="http://schemas.microsoft.com/office/drawing/2014/main" id="{0913282A-01AF-B474-BD75-D850D1EFDAB6}"/>
              </a:ext>
            </a:extLst>
          </p:cNvPr>
          <p:cNvGrpSpPr/>
          <p:nvPr/>
        </p:nvGrpSpPr>
        <p:grpSpPr>
          <a:xfrm>
            <a:off x="10554533" y="2762419"/>
            <a:ext cx="180000" cy="180000"/>
            <a:chOff x="11208849" y="4304808"/>
            <a:chExt cx="180000" cy="180000"/>
          </a:xfrm>
        </p:grpSpPr>
        <p:sp>
          <p:nvSpPr>
            <p:cNvPr id="155" name="Shape 107">
              <a:extLst>
                <a:ext uri="{FF2B5EF4-FFF2-40B4-BE49-F238E27FC236}">
                  <a16:creationId xmlns:a16="http://schemas.microsoft.com/office/drawing/2014/main" id="{8823CAF9-1E85-2BB1-AC94-4BECCF7C722A}"/>
                </a:ext>
              </a:extLst>
            </p:cNvPr>
            <p:cNvSpPr>
              <a:spLocks noChangeAspect="1"/>
            </p:cNvSpPr>
            <p:nvPr/>
          </p:nvSpPr>
          <p:spPr>
            <a:xfrm>
              <a:off x="11225784" y="4321008"/>
              <a:ext cx="147600" cy="147600"/>
            </a:xfrm>
            <a:prstGeom prst="ellipse">
              <a:avLst/>
            </a:prstGeom>
            <a:solidFill>
              <a:schemeClr val="tx1"/>
            </a:solidFill>
            <a:ln/>
          </p:spPr>
          <p:txBody>
            <a:bodyPr/>
            <a:lstStyle/>
            <a:p>
              <a:endParaRPr lang="en-US"/>
            </a:p>
          </p:txBody>
        </p:sp>
        <p:sp>
          <p:nvSpPr>
            <p:cNvPr id="156" name="Text 108">
              <a:extLst>
                <a:ext uri="{FF2B5EF4-FFF2-40B4-BE49-F238E27FC236}">
                  <a16:creationId xmlns:a16="http://schemas.microsoft.com/office/drawing/2014/main" id="{6EA3FF69-120E-87CC-F9BE-606FC5D2961F}"/>
                </a:ext>
              </a:extLst>
            </p:cNvPr>
            <p:cNvSpPr txBox="1">
              <a:spLocks noChangeAspect="1"/>
            </p:cNvSpPr>
            <p:nvPr/>
          </p:nvSpPr>
          <p:spPr>
            <a:xfrm>
              <a:off x="11208849" y="4304808"/>
              <a:ext cx="180000" cy="180000"/>
            </a:xfrm>
            <a:prstGeom prst="rect">
              <a:avLst/>
            </a:prstGeom>
            <a:noFill/>
            <a:ln/>
          </p:spPr>
          <p:txBody>
            <a:bodyPr wrap="square" lIns="0" tIns="0" rIns="0" bIns="0" rtlCol="0" anchor="ctr"/>
            <a:lstStyle/>
            <a:p>
              <a:pPr marL="0" indent="0" algn="ctr">
                <a:buNone/>
              </a:pPr>
              <a:r>
                <a:rPr lang="en-US" sz="700" b="1" dirty="0">
                  <a:solidFill>
                    <a:schemeClr val="bg1"/>
                  </a:solidFill>
                  <a:latin typeface="Calibri" pitchFamily="34" charset="0"/>
                  <a:ea typeface="Calibri" pitchFamily="34" charset="-122"/>
                  <a:cs typeface="Calibri" pitchFamily="34" charset="-120"/>
                </a:rPr>
                <a:t>W</a:t>
              </a:r>
              <a:endParaRPr lang="en-US" sz="700" dirty="0"/>
            </a:p>
          </p:txBody>
        </p:sp>
      </p:grpSp>
      <p:sp>
        <p:nvSpPr>
          <p:cNvPr id="158" name="TextBox 157">
            <a:extLst>
              <a:ext uri="{FF2B5EF4-FFF2-40B4-BE49-F238E27FC236}">
                <a16:creationId xmlns:a16="http://schemas.microsoft.com/office/drawing/2014/main" id="{B27FA1D4-2D3A-E4A9-1B59-A183FE4D8422}"/>
              </a:ext>
            </a:extLst>
          </p:cNvPr>
          <p:cNvSpPr txBox="1"/>
          <p:nvPr/>
        </p:nvSpPr>
        <p:spPr>
          <a:xfrm>
            <a:off x="10658293" y="1922452"/>
            <a:ext cx="990600" cy="230832"/>
          </a:xfrm>
          <a:prstGeom prst="rect">
            <a:avLst/>
          </a:prstGeom>
          <a:noFill/>
        </p:spPr>
        <p:txBody>
          <a:bodyPr wrap="square">
            <a:spAutoFit/>
          </a:bodyPr>
          <a:lstStyle/>
          <a:p>
            <a:pPr marL="0" indent="0" algn="ctr">
              <a:buNone/>
            </a:pPr>
            <a:r>
              <a:rPr lang="en-US" sz="900" dirty="0">
                <a:solidFill>
                  <a:schemeClr val="tx2"/>
                </a:solidFill>
                <a:latin typeface="Calibri" pitchFamily="34" charset="0"/>
                <a:ea typeface="Calibri" pitchFamily="34" charset="-122"/>
                <a:cs typeface="Calibri" pitchFamily="34" charset="-120"/>
              </a:rPr>
              <a:t>success · warning</a:t>
            </a:r>
            <a:endParaRPr lang="en-US" sz="1200" dirty="0"/>
          </a:p>
        </p:txBody>
      </p:sp>
      <p:grpSp>
        <p:nvGrpSpPr>
          <p:cNvPr id="159" name="Group 158">
            <a:extLst>
              <a:ext uri="{FF2B5EF4-FFF2-40B4-BE49-F238E27FC236}">
                <a16:creationId xmlns:a16="http://schemas.microsoft.com/office/drawing/2014/main" id="{610741EF-7856-1C09-83E6-FE98CA12EE14}"/>
              </a:ext>
            </a:extLst>
          </p:cNvPr>
          <p:cNvGrpSpPr/>
          <p:nvPr/>
        </p:nvGrpSpPr>
        <p:grpSpPr>
          <a:xfrm>
            <a:off x="10549412" y="1947940"/>
            <a:ext cx="180000" cy="180000"/>
            <a:chOff x="11208849" y="4304808"/>
            <a:chExt cx="180000" cy="180000"/>
          </a:xfrm>
        </p:grpSpPr>
        <p:sp>
          <p:nvSpPr>
            <p:cNvPr id="160" name="Shape 107">
              <a:extLst>
                <a:ext uri="{FF2B5EF4-FFF2-40B4-BE49-F238E27FC236}">
                  <a16:creationId xmlns:a16="http://schemas.microsoft.com/office/drawing/2014/main" id="{42003715-343B-28DB-20A7-1E7166F9B148}"/>
                </a:ext>
              </a:extLst>
            </p:cNvPr>
            <p:cNvSpPr>
              <a:spLocks noChangeAspect="1"/>
            </p:cNvSpPr>
            <p:nvPr/>
          </p:nvSpPr>
          <p:spPr>
            <a:xfrm>
              <a:off x="11225784" y="4321008"/>
              <a:ext cx="147600" cy="147600"/>
            </a:xfrm>
            <a:prstGeom prst="ellipse">
              <a:avLst/>
            </a:prstGeom>
            <a:solidFill>
              <a:schemeClr val="tx1"/>
            </a:solidFill>
            <a:ln/>
          </p:spPr>
          <p:txBody>
            <a:bodyPr/>
            <a:lstStyle/>
            <a:p>
              <a:endParaRPr lang="en-US"/>
            </a:p>
          </p:txBody>
        </p:sp>
        <p:sp>
          <p:nvSpPr>
            <p:cNvPr id="161" name="Text 108">
              <a:extLst>
                <a:ext uri="{FF2B5EF4-FFF2-40B4-BE49-F238E27FC236}">
                  <a16:creationId xmlns:a16="http://schemas.microsoft.com/office/drawing/2014/main" id="{C5B8C084-3239-8CA2-BD11-D07F8825BB21}"/>
                </a:ext>
              </a:extLst>
            </p:cNvPr>
            <p:cNvSpPr txBox="1">
              <a:spLocks noChangeAspect="1"/>
            </p:cNvSpPr>
            <p:nvPr/>
          </p:nvSpPr>
          <p:spPr>
            <a:xfrm>
              <a:off x="11208849" y="4304808"/>
              <a:ext cx="180000" cy="180000"/>
            </a:xfrm>
            <a:prstGeom prst="rect">
              <a:avLst/>
            </a:prstGeom>
            <a:noFill/>
            <a:ln/>
          </p:spPr>
          <p:txBody>
            <a:bodyPr wrap="square" lIns="0" tIns="0" rIns="0" bIns="0" rtlCol="0" anchor="ctr"/>
            <a:lstStyle/>
            <a:p>
              <a:pPr marL="0" indent="0" algn="ctr">
                <a:buNone/>
              </a:pPr>
              <a:r>
                <a:rPr lang="en-US" sz="700" b="1" dirty="0">
                  <a:solidFill>
                    <a:schemeClr val="bg1"/>
                  </a:solidFill>
                  <a:latin typeface="Calibri" pitchFamily="34" charset="0"/>
                  <a:ea typeface="Calibri" pitchFamily="34" charset="-122"/>
                  <a:cs typeface="Calibri" pitchFamily="34" charset="-120"/>
                </a:rPr>
                <a:t>W</a:t>
              </a:r>
              <a:endParaRPr lang="en-US" sz="700" dirty="0"/>
            </a:p>
          </p:txBody>
        </p:sp>
      </p:grpSp>
      <p:sp>
        <p:nvSpPr>
          <p:cNvPr id="135" name="Rectangle 134">
            <a:extLst>
              <a:ext uri="{FF2B5EF4-FFF2-40B4-BE49-F238E27FC236}">
                <a16:creationId xmlns:a16="http://schemas.microsoft.com/office/drawing/2014/main" id="{213FB863-A3C0-605B-FD58-E93E3F12E912}"/>
              </a:ext>
            </a:extLst>
          </p:cNvPr>
          <p:cNvSpPr/>
          <p:nvPr/>
        </p:nvSpPr>
        <p:spPr>
          <a:xfrm>
            <a:off x="8412480" y="0"/>
            <a:ext cx="3779520" cy="6949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Open topics:</a:t>
            </a:r>
            <a:br>
              <a:rPr lang="en-US" sz="1000" dirty="0"/>
            </a:br>
            <a:r>
              <a:rPr lang="en-US" sz="1000" dirty="0"/>
              <a:t>1. Review tasks state machines in other popular implementations</a:t>
            </a:r>
          </a:p>
          <a:p>
            <a:r>
              <a:rPr lang="en-US" sz="1000" dirty="0"/>
              <a:t>2. To add worker-initiated cancel support</a:t>
            </a:r>
          </a:p>
          <a:p>
            <a:r>
              <a:rPr lang="en-US" sz="1000" dirty="0"/>
              <a:t>3. Yield support</a:t>
            </a:r>
          </a:p>
        </p:txBody>
      </p:sp>
      <p:sp>
        <p:nvSpPr>
          <p:cNvPr id="133" name="Shape 113">
            <a:extLst>
              <a:ext uri="{FF2B5EF4-FFF2-40B4-BE49-F238E27FC236}">
                <a16:creationId xmlns:a16="http://schemas.microsoft.com/office/drawing/2014/main" id="{CC668ADE-5A87-EAD1-0E4F-305D028D9945}"/>
              </a:ext>
            </a:extLst>
          </p:cNvPr>
          <p:cNvSpPr/>
          <p:nvPr/>
        </p:nvSpPr>
        <p:spPr>
          <a:xfrm>
            <a:off x="3118104" y="4553712"/>
            <a:ext cx="201168" cy="201168"/>
          </a:xfrm>
          <a:prstGeom prst="ellipse">
            <a:avLst/>
          </a:prstGeom>
          <a:solidFill>
            <a:schemeClr val="bg2">
              <a:lumMod val="50000"/>
            </a:schemeClr>
          </a:solidFill>
          <a:ln/>
        </p:spPr>
        <p:txBody>
          <a:bodyPr lIns="0" tIns="0" rIns="0" bIns="0" anchor="ctr"/>
          <a:lstStyle/>
          <a:p>
            <a:pPr algn="ctr"/>
            <a:r>
              <a:rPr lang="en-US" sz="900" b="1" dirty="0">
                <a:solidFill>
                  <a:schemeClr val="bg1"/>
                </a:solidFill>
                <a:latin typeface="Calibri" panose="020F0502020204030204" pitchFamily="34" charset="0"/>
                <a:cs typeface="Calibri" panose="020F0502020204030204" pitchFamily="34" charset="0"/>
              </a:rPr>
              <a:t>E</a:t>
            </a:r>
          </a:p>
        </p:txBody>
      </p:sp>
      <p:sp>
        <p:nvSpPr>
          <p:cNvPr id="141" name="Shape 113">
            <a:extLst>
              <a:ext uri="{FF2B5EF4-FFF2-40B4-BE49-F238E27FC236}">
                <a16:creationId xmlns:a16="http://schemas.microsoft.com/office/drawing/2014/main" id="{A130FE13-1DD8-87FC-9976-BFDE0D22B801}"/>
              </a:ext>
            </a:extLst>
          </p:cNvPr>
          <p:cNvSpPr/>
          <p:nvPr/>
        </p:nvSpPr>
        <p:spPr>
          <a:xfrm>
            <a:off x="3117850" y="2331720"/>
            <a:ext cx="201168" cy="201168"/>
          </a:xfrm>
          <a:prstGeom prst="ellipse">
            <a:avLst/>
          </a:prstGeom>
          <a:solidFill>
            <a:schemeClr val="bg2">
              <a:lumMod val="50000"/>
            </a:schemeClr>
          </a:solidFill>
          <a:ln/>
        </p:spPr>
        <p:txBody>
          <a:bodyPr lIns="0" tIns="0" rIns="0" bIns="0" anchor="ctr"/>
          <a:lstStyle/>
          <a:p>
            <a:pPr algn="ctr"/>
            <a:r>
              <a:rPr lang="en-US" sz="900" b="1" dirty="0">
                <a:solidFill>
                  <a:schemeClr val="bg1"/>
                </a:solidFill>
                <a:latin typeface="Calibri" panose="020F0502020204030204" pitchFamily="34" charset="0"/>
                <a:cs typeface="Calibri" panose="020F0502020204030204" pitchFamily="34" charset="0"/>
              </a:rPr>
              <a:t>E</a:t>
            </a:r>
          </a:p>
        </p:txBody>
      </p:sp>
      <p:sp>
        <p:nvSpPr>
          <p:cNvPr id="143" name="Shape 113">
            <a:extLst>
              <a:ext uri="{FF2B5EF4-FFF2-40B4-BE49-F238E27FC236}">
                <a16:creationId xmlns:a16="http://schemas.microsoft.com/office/drawing/2014/main" id="{8E2E4C1E-27AA-64B7-DEA7-5579F9C0C554}"/>
              </a:ext>
            </a:extLst>
          </p:cNvPr>
          <p:cNvSpPr/>
          <p:nvPr/>
        </p:nvSpPr>
        <p:spPr>
          <a:xfrm>
            <a:off x="4973318" y="5236464"/>
            <a:ext cx="201168" cy="201168"/>
          </a:xfrm>
          <a:prstGeom prst="ellipse">
            <a:avLst/>
          </a:prstGeom>
          <a:solidFill>
            <a:schemeClr val="bg2">
              <a:lumMod val="50000"/>
            </a:schemeClr>
          </a:solidFill>
          <a:ln/>
        </p:spPr>
        <p:txBody>
          <a:bodyPr lIns="0" tIns="0" rIns="0" bIns="0" anchor="ctr"/>
          <a:lstStyle/>
          <a:p>
            <a:pPr algn="ctr"/>
            <a:r>
              <a:rPr lang="en-US" sz="900" b="1" dirty="0">
                <a:solidFill>
                  <a:schemeClr val="bg1"/>
                </a:solidFill>
                <a:latin typeface="Calibri" panose="020F0502020204030204" pitchFamily="34" charset="0"/>
                <a:cs typeface="Calibri" panose="020F0502020204030204" pitchFamily="34" charset="0"/>
              </a:rPr>
              <a:t>E</a:t>
            </a:r>
          </a:p>
        </p:txBody>
      </p:sp>
      <p:sp>
        <p:nvSpPr>
          <p:cNvPr id="146" name="Shape 110">
            <a:extLst>
              <a:ext uri="{FF2B5EF4-FFF2-40B4-BE49-F238E27FC236}">
                <a16:creationId xmlns:a16="http://schemas.microsoft.com/office/drawing/2014/main" id="{93BC8516-A4B7-C3AF-0D6D-7310A12CFDA2}"/>
              </a:ext>
            </a:extLst>
          </p:cNvPr>
          <p:cNvSpPr/>
          <p:nvPr/>
        </p:nvSpPr>
        <p:spPr>
          <a:xfrm>
            <a:off x="6902702" y="5995416"/>
            <a:ext cx="201168" cy="201168"/>
          </a:xfrm>
          <a:prstGeom prst="ellipse">
            <a:avLst/>
          </a:prstGeom>
          <a:solidFill>
            <a:schemeClr val="accent4">
              <a:lumMod val="75000"/>
            </a:schemeClr>
          </a:solidFill>
          <a:ln/>
        </p:spPr>
        <p:txBody>
          <a:bodyPr anchor="ctr"/>
          <a:lstStyle/>
          <a:p>
            <a:pPr algn="ctr"/>
            <a:r>
              <a:rPr lang="en-US" sz="900" b="1" dirty="0">
                <a:solidFill>
                  <a:schemeClr val="bg1"/>
                </a:solidFill>
                <a:latin typeface="Calibri" panose="020F0502020204030204" pitchFamily="34" charset="0"/>
                <a:cs typeface="Calibri" panose="020F0502020204030204" pitchFamily="34" charset="0"/>
              </a:rPr>
              <a:t>A</a:t>
            </a:r>
          </a:p>
        </p:txBody>
      </p:sp>
      <p:sp>
        <p:nvSpPr>
          <p:cNvPr id="147" name="Shape 110">
            <a:extLst>
              <a:ext uri="{FF2B5EF4-FFF2-40B4-BE49-F238E27FC236}">
                <a16:creationId xmlns:a16="http://schemas.microsoft.com/office/drawing/2014/main" id="{184AF308-0699-B194-23D4-6A0BF84582E0}"/>
              </a:ext>
            </a:extLst>
          </p:cNvPr>
          <p:cNvSpPr/>
          <p:nvPr/>
        </p:nvSpPr>
        <p:spPr>
          <a:xfrm>
            <a:off x="7128254" y="5736336"/>
            <a:ext cx="201168" cy="201168"/>
          </a:xfrm>
          <a:prstGeom prst="ellipse">
            <a:avLst/>
          </a:prstGeom>
          <a:solidFill>
            <a:schemeClr val="accent4">
              <a:lumMod val="75000"/>
            </a:schemeClr>
          </a:solidFill>
          <a:ln/>
        </p:spPr>
        <p:txBody>
          <a:bodyPr anchor="ctr"/>
          <a:lstStyle/>
          <a:p>
            <a:pPr algn="ctr"/>
            <a:r>
              <a:rPr lang="en-US" sz="900" b="1" dirty="0">
                <a:solidFill>
                  <a:schemeClr val="bg1"/>
                </a:solidFill>
                <a:latin typeface="Calibri" panose="020F0502020204030204" pitchFamily="34" charset="0"/>
                <a:cs typeface="Calibri" panose="020F0502020204030204" pitchFamily="34" charset="0"/>
              </a:rPr>
              <a:t>A</a:t>
            </a:r>
          </a:p>
        </p:txBody>
      </p:sp>
      <p:sp>
        <p:nvSpPr>
          <p:cNvPr id="148" name="Shape 113">
            <a:extLst>
              <a:ext uri="{FF2B5EF4-FFF2-40B4-BE49-F238E27FC236}">
                <a16:creationId xmlns:a16="http://schemas.microsoft.com/office/drawing/2014/main" id="{EFCFF0FC-7D44-4770-9731-40E2F94BF2D8}"/>
              </a:ext>
            </a:extLst>
          </p:cNvPr>
          <p:cNvSpPr/>
          <p:nvPr/>
        </p:nvSpPr>
        <p:spPr>
          <a:xfrm>
            <a:off x="5254752" y="1395984"/>
            <a:ext cx="201168" cy="201168"/>
          </a:xfrm>
          <a:prstGeom prst="ellipse">
            <a:avLst/>
          </a:prstGeom>
          <a:solidFill>
            <a:schemeClr val="bg2">
              <a:lumMod val="50000"/>
            </a:schemeClr>
          </a:solidFill>
          <a:ln/>
        </p:spPr>
        <p:txBody>
          <a:bodyPr lIns="0" tIns="0" rIns="0" bIns="0" anchor="ctr"/>
          <a:lstStyle/>
          <a:p>
            <a:pPr algn="ctr"/>
            <a:r>
              <a:rPr lang="en-US" sz="900" b="1" dirty="0">
                <a:solidFill>
                  <a:schemeClr val="bg1"/>
                </a:solidFill>
                <a:latin typeface="Calibri" panose="020F0502020204030204" pitchFamily="34" charset="0"/>
                <a:cs typeface="Calibri" panose="020F0502020204030204" pitchFamily="34" charset="0"/>
              </a:rPr>
              <a:t>E</a:t>
            </a:r>
          </a:p>
        </p:txBody>
      </p:sp>
      <p:sp>
        <p:nvSpPr>
          <p:cNvPr id="151" name="Shape 110">
            <a:extLst>
              <a:ext uri="{FF2B5EF4-FFF2-40B4-BE49-F238E27FC236}">
                <a16:creationId xmlns:a16="http://schemas.microsoft.com/office/drawing/2014/main" id="{F22651AE-061C-D73F-FF11-EACCACFF6951}"/>
              </a:ext>
            </a:extLst>
          </p:cNvPr>
          <p:cNvSpPr/>
          <p:nvPr/>
        </p:nvSpPr>
        <p:spPr>
          <a:xfrm>
            <a:off x="10731358" y="4319016"/>
            <a:ext cx="147600" cy="147600"/>
          </a:xfrm>
          <a:prstGeom prst="ellipse">
            <a:avLst/>
          </a:prstGeom>
          <a:solidFill>
            <a:schemeClr val="accent4">
              <a:lumMod val="75000"/>
            </a:schemeClr>
          </a:solidFill>
          <a:ln/>
        </p:spPr>
        <p:txBody>
          <a:bodyPr anchor="ctr"/>
          <a:lstStyle/>
          <a:p>
            <a:pPr algn="ctr"/>
            <a:r>
              <a:rPr lang="en-US" sz="700" b="1" dirty="0">
                <a:solidFill>
                  <a:schemeClr val="bg1"/>
                </a:solidFill>
                <a:latin typeface="Calibri" panose="020F0502020204030204" pitchFamily="34" charset="0"/>
                <a:cs typeface="Calibri" panose="020F0502020204030204" pitchFamily="34" charset="0"/>
              </a:rPr>
              <a:t>A</a:t>
            </a:r>
          </a:p>
        </p:txBody>
      </p:sp>
      <p:sp>
        <p:nvSpPr>
          <p:cNvPr id="157" name="Shape 113">
            <a:extLst>
              <a:ext uri="{FF2B5EF4-FFF2-40B4-BE49-F238E27FC236}">
                <a16:creationId xmlns:a16="http://schemas.microsoft.com/office/drawing/2014/main" id="{90380267-E0C2-447D-9358-74190E5AA09E}"/>
              </a:ext>
            </a:extLst>
          </p:cNvPr>
          <p:cNvSpPr/>
          <p:nvPr/>
        </p:nvSpPr>
        <p:spPr>
          <a:xfrm>
            <a:off x="11073752" y="2775204"/>
            <a:ext cx="147600" cy="147600"/>
          </a:xfrm>
          <a:prstGeom prst="ellipse">
            <a:avLst/>
          </a:prstGeom>
          <a:solidFill>
            <a:schemeClr val="bg2">
              <a:lumMod val="50000"/>
            </a:schemeClr>
          </a:solidFill>
          <a:ln/>
        </p:spPr>
        <p:txBody>
          <a:bodyPr lIns="0" tIns="0" rIns="0" bIns="0" anchor="ctr"/>
          <a:lstStyle/>
          <a:p>
            <a:pPr algn="ctr"/>
            <a:r>
              <a:rPr lang="en-US" sz="700" b="1" dirty="0">
                <a:solidFill>
                  <a:schemeClr val="bg1"/>
                </a:solidFill>
                <a:latin typeface="Calibri" panose="020F0502020204030204" pitchFamily="34" charset="0"/>
                <a:cs typeface="Calibri" panose="020F0502020204030204" pitchFamily="34" charset="0"/>
              </a:rPr>
              <a: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Storage: a hot/cold split keeps heartbeats cheap</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te_tasks is written once; te_task_state takes every claim, heartbeat and transition</a:t>
            </a:r>
            <a:endParaRPr lang="en-US" sz="1600" dirty="0"/>
          </a:p>
        </p:txBody>
      </p:sp>
      <p:sp>
        <p:nvSpPr>
          <p:cNvPr id="5" name="Shape 2"/>
          <p:cNvSpPr/>
          <p:nvPr/>
        </p:nvSpPr>
        <p:spPr>
          <a:xfrm>
            <a:off x="457200" y="1463040"/>
            <a:ext cx="3246120" cy="3154680"/>
          </a:xfrm>
          <a:prstGeom prst="roundRect">
            <a:avLst>
              <a:gd name="adj" fmla="val 1739"/>
            </a:avLst>
          </a:prstGeom>
          <a:solidFill>
            <a:schemeClr val="bg1"/>
          </a:solidFill>
          <a:ln/>
        </p:spPr>
        <p:txBody>
          <a:bodyPr/>
          <a:lstStyle/>
          <a:p>
            <a:endParaRPr lang="en-US"/>
          </a:p>
        </p:txBody>
      </p:sp>
      <p:sp>
        <p:nvSpPr>
          <p:cNvPr id="6" name="Shape 3"/>
          <p:cNvSpPr/>
          <p:nvPr/>
        </p:nvSpPr>
        <p:spPr>
          <a:xfrm>
            <a:off x="457200" y="1463040"/>
            <a:ext cx="3246120" cy="3154680"/>
          </a:xfrm>
          <a:prstGeom prst="roundRect">
            <a:avLst>
              <a:gd name="adj" fmla="val 1739"/>
            </a:avLst>
          </a:prstGeom>
          <a:solidFill>
            <a:schemeClr val="accent2">
              <a:alpha val="8000"/>
            </a:schemeClr>
          </a:solidFill>
          <a:ln w="15875">
            <a:solidFill>
              <a:schemeClr val="accent2"/>
            </a:solidFill>
            <a:prstDash val="solid"/>
          </a:ln>
        </p:spPr>
        <p:txBody>
          <a:bodyPr/>
          <a:lstStyle/>
          <a:p>
            <a:endParaRPr lang="en-US"/>
          </a:p>
        </p:txBody>
      </p:sp>
      <p:sp>
        <p:nvSpPr>
          <p:cNvPr id="7" name="Shape 4"/>
          <p:cNvSpPr/>
          <p:nvPr/>
        </p:nvSpPr>
        <p:spPr>
          <a:xfrm>
            <a:off x="457200" y="1463040"/>
            <a:ext cx="3246120" cy="566928"/>
          </a:xfrm>
          <a:prstGeom prst="roundRect">
            <a:avLst>
              <a:gd name="adj" fmla="val 9677"/>
            </a:avLst>
          </a:prstGeom>
          <a:solidFill>
            <a:schemeClr val="bg2">
              <a:lumMod val="25000"/>
            </a:schemeClr>
          </a:solidFill>
          <a:ln/>
        </p:spPr>
        <p:txBody>
          <a:bodyPr/>
          <a:lstStyle/>
          <a:p>
            <a:endParaRPr lang="en-US"/>
          </a:p>
        </p:txBody>
      </p:sp>
      <p:sp>
        <p:nvSpPr>
          <p:cNvPr id="8" name="Text 5"/>
          <p:cNvSpPr txBox="1"/>
          <p:nvPr/>
        </p:nvSpPr>
        <p:spPr>
          <a:xfrm>
            <a:off x="594360" y="1481328"/>
            <a:ext cx="2971800" cy="292608"/>
          </a:xfrm>
          <a:prstGeom prst="rect">
            <a:avLst/>
          </a:prstGeom>
          <a:noFill/>
          <a:ln/>
        </p:spPr>
        <p:txBody>
          <a:bodyPr wrap="square" lIns="0" tIns="0" rIns="0" bIns="0" rtlCol="0" anchor="t"/>
          <a:lstStyle/>
          <a:p>
            <a:pPr marL="0" indent="0">
              <a:buNone/>
            </a:pPr>
            <a:r>
              <a:rPr lang="en-US" sz="1300" b="1" dirty="0">
                <a:solidFill>
                  <a:schemeClr val="bg1"/>
                </a:solidFill>
                <a:latin typeface="Courier New" pitchFamily="34" charset="0"/>
                <a:ea typeface="Courier New" pitchFamily="34" charset="-122"/>
                <a:cs typeface="Courier New" pitchFamily="34" charset="-120"/>
              </a:rPr>
              <a:t>te_tasks</a:t>
            </a:r>
            <a:endParaRPr lang="en-US" sz="1300" dirty="0"/>
          </a:p>
        </p:txBody>
      </p:sp>
      <p:sp>
        <p:nvSpPr>
          <p:cNvPr id="9" name="Text 6"/>
          <p:cNvSpPr txBox="1"/>
          <p:nvPr/>
        </p:nvSpPr>
        <p:spPr>
          <a:xfrm>
            <a:off x="594360" y="1755648"/>
            <a:ext cx="2971800" cy="237744"/>
          </a:xfrm>
          <a:prstGeom prst="rect">
            <a:avLst/>
          </a:prstGeom>
          <a:noFill/>
          <a:ln/>
        </p:spPr>
        <p:txBody>
          <a:bodyPr wrap="square" lIns="0" tIns="0" rIns="0" bIns="0" rtlCol="0" anchor="t"/>
          <a:lstStyle/>
          <a:p>
            <a:pPr marL="0" indent="0">
              <a:buNone/>
            </a:pPr>
            <a:r>
              <a:rPr lang="en-US" sz="1000" dirty="0">
                <a:solidFill>
                  <a:schemeClr val="bg1"/>
                </a:solidFill>
                <a:latin typeface="Calibri" pitchFamily="34" charset="0"/>
                <a:ea typeface="Calibri" pitchFamily="34" charset="-122"/>
                <a:cs typeface="Calibri" pitchFamily="34" charset="-120"/>
              </a:rPr>
              <a:t>immutable (cold) · written once at create</a:t>
            </a:r>
            <a:endParaRPr lang="en-US" sz="1000" dirty="0"/>
          </a:p>
        </p:txBody>
      </p:sp>
      <p:sp>
        <p:nvSpPr>
          <p:cNvPr id="10" name="Text 7"/>
          <p:cNvSpPr txBox="1"/>
          <p:nvPr/>
        </p:nvSpPr>
        <p:spPr>
          <a:xfrm>
            <a:off x="594360" y="2121408"/>
            <a:ext cx="2971800" cy="2423160"/>
          </a:xfrm>
          <a:prstGeom prst="rect">
            <a:avLst/>
          </a:prstGeom>
          <a:noFill/>
          <a:ln/>
        </p:spPr>
        <p:txBody>
          <a:bodyPr wrap="square" lIns="0" tIns="0" rIns="0" bIns="0" rtlCol="0" anchor="t"/>
          <a:lstStyle/>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id  UUIDv7</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type_id  GTS uuid</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owner_tenant_id</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created_by</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idempotency_key</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parent_task_id</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input  BLOB (S2)</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retry_policy / timeouts</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created_at  partition key</a:t>
            </a:r>
            <a:endParaRPr lang="en-US" sz="1000" dirty="0"/>
          </a:p>
        </p:txBody>
      </p:sp>
      <p:sp>
        <p:nvSpPr>
          <p:cNvPr id="11" name="Shape 8"/>
          <p:cNvSpPr/>
          <p:nvPr/>
        </p:nvSpPr>
        <p:spPr>
          <a:xfrm>
            <a:off x="3977640" y="1463040"/>
            <a:ext cx="3611880" cy="3154680"/>
          </a:xfrm>
          <a:prstGeom prst="roundRect">
            <a:avLst>
              <a:gd name="adj" fmla="val 1739"/>
            </a:avLst>
          </a:prstGeom>
          <a:solidFill>
            <a:schemeClr val="bg1"/>
          </a:solidFill>
          <a:ln/>
        </p:spPr>
        <p:txBody>
          <a:bodyPr/>
          <a:lstStyle/>
          <a:p>
            <a:endParaRPr lang="en-US"/>
          </a:p>
        </p:txBody>
      </p:sp>
      <p:sp>
        <p:nvSpPr>
          <p:cNvPr id="12" name="Shape 9"/>
          <p:cNvSpPr/>
          <p:nvPr/>
        </p:nvSpPr>
        <p:spPr>
          <a:xfrm>
            <a:off x="3977640" y="1463040"/>
            <a:ext cx="3611880" cy="3154680"/>
          </a:xfrm>
          <a:prstGeom prst="roundRect">
            <a:avLst>
              <a:gd name="adj" fmla="val 1739"/>
            </a:avLst>
          </a:prstGeom>
          <a:solidFill>
            <a:schemeClr val="accent1">
              <a:alpha val="8000"/>
            </a:schemeClr>
          </a:solidFill>
          <a:ln w="15875">
            <a:solidFill>
              <a:schemeClr val="accent1"/>
            </a:solidFill>
            <a:prstDash val="solid"/>
          </a:ln>
        </p:spPr>
        <p:txBody>
          <a:bodyPr/>
          <a:lstStyle/>
          <a:p>
            <a:endParaRPr lang="en-US"/>
          </a:p>
        </p:txBody>
      </p:sp>
      <p:sp>
        <p:nvSpPr>
          <p:cNvPr id="13" name="Shape 10"/>
          <p:cNvSpPr/>
          <p:nvPr/>
        </p:nvSpPr>
        <p:spPr>
          <a:xfrm>
            <a:off x="3977640" y="1463040"/>
            <a:ext cx="3611880" cy="566928"/>
          </a:xfrm>
          <a:prstGeom prst="roundRect">
            <a:avLst>
              <a:gd name="adj" fmla="val 9677"/>
            </a:avLst>
          </a:prstGeom>
          <a:solidFill>
            <a:schemeClr val="accent1"/>
          </a:solidFill>
          <a:ln/>
        </p:spPr>
        <p:txBody>
          <a:bodyPr/>
          <a:lstStyle/>
          <a:p>
            <a:endParaRPr lang="en-US"/>
          </a:p>
        </p:txBody>
      </p:sp>
      <p:sp>
        <p:nvSpPr>
          <p:cNvPr id="14" name="Text 11"/>
          <p:cNvSpPr txBox="1"/>
          <p:nvPr/>
        </p:nvSpPr>
        <p:spPr>
          <a:xfrm>
            <a:off x="4114800" y="1481328"/>
            <a:ext cx="3337560" cy="292608"/>
          </a:xfrm>
          <a:prstGeom prst="rect">
            <a:avLst/>
          </a:prstGeom>
          <a:noFill/>
          <a:ln/>
        </p:spPr>
        <p:txBody>
          <a:bodyPr wrap="square" lIns="0" tIns="0" rIns="0" bIns="0" rtlCol="0" anchor="t"/>
          <a:lstStyle/>
          <a:p>
            <a:pPr marL="0" indent="0">
              <a:buNone/>
            </a:pPr>
            <a:r>
              <a:rPr lang="en-US" sz="1300" b="1" dirty="0">
                <a:solidFill>
                  <a:schemeClr val="bg1"/>
                </a:solidFill>
                <a:latin typeface="Courier New" pitchFamily="34" charset="0"/>
                <a:ea typeface="Courier New" pitchFamily="34" charset="-122"/>
                <a:cs typeface="Courier New" pitchFamily="34" charset="-120"/>
              </a:rPr>
              <a:t>te_task_state</a:t>
            </a:r>
            <a:endParaRPr lang="en-US" sz="1300" dirty="0"/>
          </a:p>
        </p:txBody>
      </p:sp>
      <p:sp>
        <p:nvSpPr>
          <p:cNvPr id="15" name="Text 12"/>
          <p:cNvSpPr txBox="1"/>
          <p:nvPr/>
        </p:nvSpPr>
        <p:spPr>
          <a:xfrm>
            <a:off x="4114800" y="1755648"/>
            <a:ext cx="3337560" cy="237744"/>
          </a:xfrm>
          <a:prstGeom prst="rect">
            <a:avLst/>
          </a:prstGeom>
          <a:noFill/>
          <a:ln/>
        </p:spPr>
        <p:txBody>
          <a:bodyPr wrap="square" lIns="0" tIns="0" rIns="0" bIns="0" rtlCol="0" anchor="t"/>
          <a:lstStyle/>
          <a:p>
            <a:pPr marL="0" indent="0">
              <a:buNone/>
            </a:pPr>
            <a:r>
              <a:rPr lang="en-US" sz="1000" dirty="0">
                <a:solidFill>
                  <a:schemeClr val="bg1"/>
                </a:solidFill>
                <a:latin typeface="Calibri" pitchFamily="34" charset="0"/>
                <a:ea typeface="Calibri" pitchFamily="34" charset="-122"/>
                <a:cs typeface="Calibri" pitchFamily="34" charset="-120"/>
              </a:rPr>
              <a:t>mutable (hot) · every claim / heartbeat</a:t>
            </a:r>
            <a:endParaRPr lang="en-US" sz="1000" dirty="0"/>
          </a:p>
        </p:txBody>
      </p:sp>
      <p:sp>
        <p:nvSpPr>
          <p:cNvPr id="16" name="Text 13"/>
          <p:cNvSpPr txBox="1"/>
          <p:nvPr/>
        </p:nvSpPr>
        <p:spPr>
          <a:xfrm>
            <a:off x="4114800" y="2121408"/>
            <a:ext cx="3337560" cy="2423160"/>
          </a:xfrm>
          <a:prstGeom prst="rect">
            <a:avLst/>
          </a:prstGeom>
          <a:noFill/>
          <a:ln/>
        </p:spPr>
        <p:txBody>
          <a:bodyPr wrap="square" lIns="0" tIns="0" rIns="0" bIns="0" rtlCol="0" anchor="t"/>
          <a:lstStyle/>
          <a:p>
            <a:pPr>
              <a:spcAft>
                <a:spcPts val="200"/>
              </a:spcAft>
            </a:pPr>
            <a:r>
              <a:rPr lang="en-US" sz="1000" dirty="0">
                <a:latin typeface="Courier New" pitchFamily="34" charset="0"/>
                <a:ea typeface="Courier New" pitchFamily="34" charset="-122"/>
                <a:cs typeface="Courier New" pitchFamily="34" charset="-120"/>
              </a:rPr>
              <a:t>id   UUIDv7 </a:t>
            </a:r>
            <a:endParaRPr lang="en-US" sz="1000" dirty="0">
              <a:solidFill>
                <a:schemeClr val="tx1"/>
              </a:solidFill>
              <a:latin typeface="Courier New" pitchFamily="34" charset="0"/>
              <a:ea typeface="Courier New" pitchFamily="34" charset="-122"/>
              <a:cs typeface="Courier New" pitchFamily="34" charset="-120"/>
            </a:endParaRPr>
          </a:p>
          <a:p>
            <a:pPr marL="0" indent="0">
              <a:spcAft>
                <a:spcPts val="200"/>
              </a:spcAft>
              <a:buNone/>
            </a:pPr>
            <a:r>
              <a:rPr lang="en-US" sz="1000" dirty="0" err="1">
                <a:solidFill>
                  <a:schemeClr val="tx1"/>
                </a:solidFill>
                <a:latin typeface="Courier New" pitchFamily="34" charset="0"/>
                <a:ea typeface="Courier New" pitchFamily="34" charset="-122"/>
                <a:cs typeface="Courier New" pitchFamily="34" charset="-120"/>
              </a:rPr>
              <a:t>state_code</a:t>
            </a:r>
            <a:r>
              <a:rPr lang="en-US" sz="1000" dirty="0">
                <a:solidFill>
                  <a:schemeClr val="tx1"/>
                </a:solidFill>
                <a:latin typeface="Courier New" pitchFamily="34" charset="0"/>
                <a:ea typeface="Courier New" pitchFamily="34" charset="-122"/>
                <a:cs typeface="Courier New" pitchFamily="34" charset="-120"/>
              </a:rPr>
              <a:t>  SMALLINT</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queue_id · priority  authoritative</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lease_token · lease_epoch</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lease_until  heartbeat deadline</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assignment / execution_deadline</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attempt · resume_pending</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revision  payload-write guard</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context · output  BLOB (S2)</a:t>
            </a:r>
            <a:endParaRPr lang="en-US" sz="1000" dirty="0"/>
          </a:p>
          <a:p>
            <a:pPr marL="0" indent="0">
              <a:spcAft>
                <a:spcPts val="200"/>
              </a:spcAft>
              <a:buNone/>
            </a:pPr>
            <a:r>
              <a:rPr lang="en-US" sz="1000" dirty="0">
                <a:solidFill>
                  <a:schemeClr val="tx1"/>
                </a:solidFill>
                <a:latin typeface="Courier New" pitchFamily="34" charset="0"/>
                <a:ea typeface="Courier New" pitchFamily="34" charset="-122"/>
                <a:cs typeface="Courier New" pitchFamily="34" charset="-120"/>
              </a:rPr>
              <a:t>progress_json</a:t>
            </a:r>
            <a:endParaRPr lang="en-US" sz="1000" dirty="0"/>
          </a:p>
        </p:txBody>
      </p:sp>
      <p:sp>
        <p:nvSpPr>
          <p:cNvPr id="17" name="Shape 14"/>
          <p:cNvSpPr/>
          <p:nvPr/>
        </p:nvSpPr>
        <p:spPr>
          <a:xfrm>
            <a:off x="3703320" y="3017520"/>
            <a:ext cx="274320" cy="91"/>
          </a:xfrm>
          <a:prstGeom prst="line">
            <a:avLst/>
          </a:prstGeom>
          <a:noFill/>
          <a:ln w="15875">
            <a:solidFill>
              <a:schemeClr val="tx1"/>
            </a:solidFill>
            <a:prstDash val="solid"/>
            <a:headEnd type="triangle"/>
            <a:tailEnd type="triangle"/>
          </a:ln>
        </p:spPr>
        <p:txBody>
          <a:bodyPr/>
          <a:lstStyle/>
          <a:p>
            <a:endParaRPr lang="en-US"/>
          </a:p>
        </p:txBody>
      </p:sp>
      <p:sp>
        <p:nvSpPr>
          <p:cNvPr id="18" name="Text 15"/>
          <p:cNvSpPr txBox="1"/>
          <p:nvPr/>
        </p:nvSpPr>
        <p:spPr>
          <a:xfrm>
            <a:off x="3630168" y="2761488"/>
            <a:ext cx="411480" cy="219456"/>
          </a:xfrm>
          <a:prstGeom prst="rect">
            <a:avLst/>
          </a:prstGeom>
          <a:noFill/>
          <a:ln/>
        </p:spPr>
        <p:txBody>
          <a:bodyPr wrap="square" lIns="0" tIns="0" rIns="0" bIns="0" rtlCol="0" anchor="t"/>
          <a:lstStyle/>
          <a:p>
            <a:pPr marL="0" indent="0" algn="ctr">
              <a:buNone/>
            </a:pPr>
            <a:r>
              <a:rPr lang="en-US" sz="1000" b="1" dirty="0">
                <a:solidFill>
                  <a:schemeClr val="tx1"/>
                </a:solidFill>
                <a:latin typeface="Calibri" pitchFamily="34" charset="0"/>
                <a:ea typeface="Calibri" pitchFamily="34" charset="-122"/>
                <a:cs typeface="Calibri" pitchFamily="34" charset="-120"/>
              </a:rPr>
              <a:t>1:1</a:t>
            </a:r>
            <a:endParaRPr lang="en-US" sz="1000" dirty="0"/>
          </a:p>
        </p:txBody>
      </p:sp>
      <p:pic>
        <p:nvPicPr>
          <p:cNvPr id="19" name="Image 0" descr="preencoded.png"/>
          <p:cNvPicPr>
            <a:picLocks noChangeAspect="1"/>
          </p:cNvPicPr>
          <p:nvPr/>
        </p:nvPicPr>
        <p:blipFill>
          <a:blip r:embed="rId3"/>
          <a:stretch>
            <a:fillRect/>
          </a:stretch>
        </p:blipFill>
        <p:spPr>
          <a:xfrm>
            <a:off x="502920" y="4873752"/>
            <a:ext cx="237744" cy="237744"/>
          </a:xfrm>
          <a:prstGeom prst="rect">
            <a:avLst/>
          </a:prstGeom>
        </p:spPr>
      </p:pic>
      <p:sp>
        <p:nvSpPr>
          <p:cNvPr id="20" name="Text 16"/>
          <p:cNvSpPr txBox="1"/>
          <p:nvPr/>
        </p:nvSpPr>
        <p:spPr>
          <a:xfrm>
            <a:off x="868680" y="4800600"/>
            <a:ext cx="6675120" cy="402336"/>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Heartbeat = one small UPDATE of lease_until</a:t>
            </a:r>
            <a:endParaRPr lang="en-US" sz="1300" dirty="0"/>
          </a:p>
        </p:txBody>
      </p:sp>
      <p:pic>
        <p:nvPicPr>
          <p:cNvPr id="21" name="Image 1" descr="preencoded.png"/>
          <p:cNvPicPr>
            <a:picLocks noChangeAspect="1"/>
          </p:cNvPicPr>
          <p:nvPr/>
        </p:nvPicPr>
        <p:blipFill>
          <a:blip r:embed="rId4"/>
          <a:stretch>
            <a:fillRect/>
          </a:stretch>
        </p:blipFill>
        <p:spPr>
          <a:xfrm>
            <a:off x="502920" y="5349240"/>
            <a:ext cx="237744" cy="237744"/>
          </a:xfrm>
          <a:prstGeom prst="rect">
            <a:avLst/>
          </a:prstGeom>
        </p:spPr>
      </p:pic>
      <p:sp>
        <p:nvSpPr>
          <p:cNvPr id="22" name="Text 17"/>
          <p:cNvSpPr txBox="1"/>
          <p:nvPr/>
        </p:nvSpPr>
        <p:spPr>
          <a:xfrm>
            <a:off x="868680" y="5276088"/>
            <a:ext cx="6675120" cy="402336"/>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Payloads: S2 BLOB above 1 KiB · 64 KiB cap</a:t>
            </a:r>
            <a:endParaRPr lang="en-US" sz="1300" dirty="0"/>
          </a:p>
        </p:txBody>
      </p:sp>
      <p:pic>
        <p:nvPicPr>
          <p:cNvPr id="23" name="Image 2" descr="preencoded.png"/>
          <p:cNvPicPr>
            <a:picLocks noChangeAspect="1"/>
          </p:cNvPicPr>
          <p:nvPr/>
        </p:nvPicPr>
        <p:blipFill>
          <a:blip r:embed="rId5"/>
          <a:stretch>
            <a:fillRect/>
          </a:stretch>
        </p:blipFill>
        <p:spPr>
          <a:xfrm>
            <a:off x="502920" y="5824728"/>
            <a:ext cx="237744" cy="237744"/>
          </a:xfrm>
          <a:prstGeom prst="rect">
            <a:avLst/>
          </a:prstGeom>
        </p:spPr>
      </p:pic>
      <p:sp>
        <p:nvSpPr>
          <p:cNvPr id="24" name="Text 18"/>
          <p:cNvSpPr txBox="1"/>
          <p:nvPr/>
        </p:nvSpPr>
        <p:spPr>
          <a:xfrm>
            <a:off x="868680" y="5751576"/>
            <a:ext cx="6675120" cy="402336"/>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Partitioned by created_at → retention drops partitions</a:t>
            </a:r>
            <a:endParaRPr lang="en-US" sz="1300" dirty="0"/>
          </a:p>
        </p:txBody>
      </p:sp>
      <p:sp>
        <p:nvSpPr>
          <p:cNvPr id="25" name="Shape 19"/>
          <p:cNvSpPr/>
          <p:nvPr/>
        </p:nvSpPr>
        <p:spPr>
          <a:xfrm>
            <a:off x="7863840" y="1463040"/>
            <a:ext cx="3867912" cy="713232"/>
          </a:xfrm>
          <a:prstGeom prst="roundRect">
            <a:avLst>
              <a:gd name="adj" fmla="val 7692"/>
            </a:avLst>
          </a:prstGeom>
          <a:solidFill>
            <a:schemeClr val="bg1"/>
          </a:solidFill>
          <a:ln/>
        </p:spPr>
        <p:txBody>
          <a:bodyPr/>
          <a:lstStyle/>
          <a:p>
            <a:endParaRPr lang="en-US"/>
          </a:p>
        </p:txBody>
      </p:sp>
      <p:sp>
        <p:nvSpPr>
          <p:cNvPr id="26" name="Shape 20"/>
          <p:cNvSpPr/>
          <p:nvPr/>
        </p:nvSpPr>
        <p:spPr>
          <a:xfrm>
            <a:off x="7863840" y="1463040"/>
            <a:ext cx="3867912" cy="713232"/>
          </a:xfrm>
          <a:prstGeom prst="roundRect">
            <a:avLst>
              <a:gd name="adj" fmla="val 7692"/>
            </a:avLst>
          </a:prstGeom>
          <a:solidFill>
            <a:schemeClr val="accent2">
              <a:alpha val="10000"/>
            </a:schemeClr>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8001000" y="1572768"/>
            <a:ext cx="237744" cy="237744"/>
          </a:xfrm>
          <a:prstGeom prst="rect">
            <a:avLst/>
          </a:prstGeom>
        </p:spPr>
      </p:pic>
      <p:sp>
        <p:nvSpPr>
          <p:cNvPr id="28" name="Text 21"/>
          <p:cNvSpPr txBox="1"/>
          <p:nvPr/>
        </p:nvSpPr>
        <p:spPr>
          <a:xfrm>
            <a:off x="8339328" y="1527048"/>
            <a:ext cx="1737360" cy="256032"/>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Counters</a:t>
            </a:r>
            <a:endParaRPr lang="en-US" sz="1200" dirty="0"/>
          </a:p>
        </p:txBody>
      </p:sp>
      <p:sp>
        <p:nvSpPr>
          <p:cNvPr id="29" name="Text 22"/>
          <p:cNvSpPr txBox="1"/>
          <p:nvPr/>
        </p:nvSpPr>
        <p:spPr>
          <a:xfrm>
            <a:off x="9921240" y="1545336"/>
            <a:ext cx="1737360" cy="237744"/>
          </a:xfrm>
          <a:prstGeom prst="rect">
            <a:avLst/>
          </a:prstGeom>
          <a:noFill/>
          <a:ln/>
        </p:spPr>
        <p:txBody>
          <a:bodyPr wrap="square" lIns="0" tIns="0" rIns="0" bIns="0" rtlCol="0" anchor="t"/>
          <a:lstStyle/>
          <a:p>
            <a:pPr marL="0" indent="0" algn="r">
              <a:buNone/>
            </a:pPr>
            <a:r>
              <a:rPr lang="en-US" sz="900" dirty="0">
                <a:solidFill>
                  <a:schemeClr val="tx2"/>
                </a:solidFill>
                <a:latin typeface="Calibri" pitchFamily="34" charset="0"/>
                <a:ea typeface="Calibri" pitchFamily="34" charset="-122"/>
                <a:cs typeface="Calibri" pitchFamily="34" charset="-120"/>
              </a:rPr>
              <a:t>engine-only, cross-tenant</a:t>
            </a:r>
            <a:endParaRPr lang="en-US" sz="900" dirty="0"/>
          </a:p>
        </p:txBody>
      </p:sp>
      <p:sp>
        <p:nvSpPr>
          <p:cNvPr id="30" name="Text 23"/>
          <p:cNvSpPr txBox="1"/>
          <p:nvPr/>
        </p:nvSpPr>
        <p:spPr>
          <a:xfrm>
            <a:off x="8339328" y="1810512"/>
            <a:ext cx="3291840" cy="329184"/>
          </a:xfrm>
          <a:prstGeom prst="rect">
            <a:avLst/>
          </a:prstGeom>
          <a:noFill/>
          <a:ln/>
        </p:spPr>
        <p:txBody>
          <a:bodyPr wrap="square" lIns="0" tIns="0" rIns="0" bIns="0" rtlCol="0" anchor="t"/>
          <a:lstStyle/>
          <a:p>
            <a:pPr marL="0" indent="0">
              <a:buNone/>
            </a:pPr>
            <a:r>
              <a:rPr lang="en-US" sz="1000" dirty="0">
                <a:solidFill>
                  <a:schemeClr val="tx1"/>
                </a:solidFill>
                <a:latin typeface="Courier New" pitchFamily="34" charset="0"/>
                <a:ea typeface="Courier New" pitchFamily="34" charset="-122"/>
                <a:cs typeface="Courier New" pitchFamily="34" charset="-120"/>
              </a:rPr>
              <a:t>te_concurrency_slots · te_queue_backlog</a:t>
            </a:r>
            <a:endParaRPr lang="en-US" sz="1000" dirty="0"/>
          </a:p>
        </p:txBody>
      </p:sp>
      <p:sp>
        <p:nvSpPr>
          <p:cNvPr id="31" name="Shape 24"/>
          <p:cNvSpPr/>
          <p:nvPr/>
        </p:nvSpPr>
        <p:spPr>
          <a:xfrm>
            <a:off x="7863840" y="2267712"/>
            <a:ext cx="3867912" cy="713232"/>
          </a:xfrm>
          <a:prstGeom prst="roundRect">
            <a:avLst>
              <a:gd name="adj" fmla="val 7692"/>
            </a:avLst>
          </a:prstGeom>
          <a:solidFill>
            <a:schemeClr val="bg1"/>
          </a:solidFill>
          <a:ln/>
        </p:spPr>
        <p:txBody>
          <a:bodyPr/>
          <a:lstStyle/>
          <a:p>
            <a:endParaRPr lang="en-US"/>
          </a:p>
        </p:txBody>
      </p:sp>
      <p:sp>
        <p:nvSpPr>
          <p:cNvPr id="32" name="Shape 25"/>
          <p:cNvSpPr/>
          <p:nvPr/>
        </p:nvSpPr>
        <p:spPr>
          <a:xfrm>
            <a:off x="7863840" y="2267712"/>
            <a:ext cx="3867912" cy="713232"/>
          </a:xfrm>
          <a:prstGeom prst="roundRect">
            <a:avLst>
              <a:gd name="adj" fmla="val 7692"/>
            </a:avLst>
          </a:prstGeom>
          <a:solidFill>
            <a:schemeClr val="accent2">
              <a:alpha val="10000"/>
            </a:schemeClr>
          </a:solidFill>
          <a:ln/>
        </p:spPr>
        <p:txBody>
          <a:bodyPr/>
          <a:lstStyle/>
          <a:p>
            <a:endParaRPr lang="en-US"/>
          </a:p>
        </p:txBody>
      </p:sp>
      <p:pic>
        <p:nvPicPr>
          <p:cNvPr id="33" name="Image 4" descr="preencoded.png"/>
          <p:cNvPicPr>
            <a:picLocks noChangeAspect="1"/>
          </p:cNvPicPr>
          <p:nvPr/>
        </p:nvPicPr>
        <p:blipFill>
          <a:blip r:embed="rId6"/>
          <a:stretch>
            <a:fillRect/>
          </a:stretch>
        </p:blipFill>
        <p:spPr>
          <a:xfrm>
            <a:off x="8001000" y="2377440"/>
            <a:ext cx="237744" cy="237744"/>
          </a:xfrm>
          <a:prstGeom prst="rect">
            <a:avLst/>
          </a:prstGeom>
        </p:spPr>
      </p:pic>
      <p:sp>
        <p:nvSpPr>
          <p:cNvPr id="34" name="Text 26"/>
          <p:cNvSpPr txBox="1"/>
          <p:nvPr/>
        </p:nvSpPr>
        <p:spPr>
          <a:xfrm>
            <a:off x="8339328" y="2331720"/>
            <a:ext cx="1737360" cy="256032"/>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Scheduling</a:t>
            </a:r>
            <a:endParaRPr lang="en-US" sz="1200" dirty="0"/>
          </a:p>
        </p:txBody>
      </p:sp>
      <p:sp>
        <p:nvSpPr>
          <p:cNvPr id="35" name="Text 27"/>
          <p:cNvSpPr txBox="1"/>
          <p:nvPr/>
        </p:nvSpPr>
        <p:spPr>
          <a:xfrm>
            <a:off x="8339328" y="2615184"/>
            <a:ext cx="3291840" cy="329184"/>
          </a:xfrm>
          <a:prstGeom prst="rect">
            <a:avLst/>
          </a:prstGeom>
          <a:noFill/>
          <a:ln/>
        </p:spPr>
        <p:txBody>
          <a:bodyPr wrap="square" lIns="0" tIns="0" rIns="0" bIns="0" rtlCol="0" anchor="t"/>
          <a:lstStyle/>
          <a:p>
            <a:pPr marL="0" indent="0">
              <a:buNone/>
            </a:pPr>
            <a:r>
              <a:rPr lang="en-US" sz="1000" dirty="0">
                <a:solidFill>
                  <a:schemeClr val="tx1"/>
                </a:solidFill>
                <a:latin typeface="Courier New" pitchFamily="34" charset="0"/>
                <a:ea typeface="Courier New" pitchFamily="34" charset="-122"/>
                <a:cs typeface="Courier New" pitchFamily="34" charset="-120"/>
              </a:rPr>
              <a:t>te_timers · te_wait_conditions · te_dependencies</a:t>
            </a:r>
            <a:endParaRPr lang="en-US" sz="1000" dirty="0"/>
          </a:p>
        </p:txBody>
      </p:sp>
      <p:grpSp>
        <p:nvGrpSpPr>
          <p:cNvPr id="62" name="Group 61">
            <a:extLst>
              <a:ext uri="{FF2B5EF4-FFF2-40B4-BE49-F238E27FC236}">
                <a16:creationId xmlns:a16="http://schemas.microsoft.com/office/drawing/2014/main" id="{DBC7CFE8-8B65-01AA-4B83-9AEE90696127}"/>
              </a:ext>
            </a:extLst>
          </p:cNvPr>
          <p:cNvGrpSpPr/>
          <p:nvPr/>
        </p:nvGrpSpPr>
        <p:grpSpPr>
          <a:xfrm>
            <a:off x="7863840" y="4663440"/>
            <a:ext cx="3867912" cy="897810"/>
            <a:chOff x="7863840" y="3072384"/>
            <a:chExt cx="3867912" cy="897810"/>
          </a:xfrm>
        </p:grpSpPr>
        <p:sp>
          <p:nvSpPr>
            <p:cNvPr id="36" name="Shape 28"/>
            <p:cNvSpPr/>
            <p:nvPr/>
          </p:nvSpPr>
          <p:spPr>
            <a:xfrm>
              <a:off x="7863840" y="3072384"/>
              <a:ext cx="3867912" cy="713232"/>
            </a:xfrm>
            <a:prstGeom prst="roundRect">
              <a:avLst>
                <a:gd name="adj" fmla="val 7692"/>
              </a:avLst>
            </a:prstGeom>
            <a:solidFill>
              <a:schemeClr val="bg1"/>
            </a:solidFill>
            <a:ln/>
          </p:spPr>
          <p:txBody>
            <a:bodyPr/>
            <a:lstStyle/>
            <a:p>
              <a:endParaRPr lang="en-US"/>
            </a:p>
          </p:txBody>
        </p:sp>
        <p:sp>
          <p:nvSpPr>
            <p:cNvPr id="37" name="Shape 29"/>
            <p:cNvSpPr/>
            <p:nvPr/>
          </p:nvSpPr>
          <p:spPr>
            <a:xfrm>
              <a:off x="7863840" y="3072384"/>
              <a:ext cx="3867912" cy="897810"/>
            </a:xfrm>
            <a:prstGeom prst="roundRect">
              <a:avLst>
                <a:gd name="adj" fmla="val 7692"/>
              </a:avLst>
            </a:prstGeom>
            <a:solidFill>
              <a:schemeClr val="accent2">
                <a:alpha val="10000"/>
              </a:schemeClr>
            </a:solidFill>
            <a:ln/>
          </p:spPr>
          <p:txBody>
            <a:bodyPr/>
            <a:lstStyle/>
            <a:p>
              <a:endParaRPr lang="en-US"/>
            </a:p>
          </p:txBody>
        </p:sp>
        <p:pic>
          <p:nvPicPr>
            <p:cNvPr id="38" name="Image 5" descr="preencoded.png"/>
            <p:cNvPicPr>
              <a:picLocks noChangeAspect="1"/>
            </p:cNvPicPr>
            <p:nvPr/>
          </p:nvPicPr>
          <p:blipFill>
            <a:blip r:embed="rId6"/>
            <a:stretch>
              <a:fillRect/>
            </a:stretch>
          </p:blipFill>
          <p:spPr>
            <a:xfrm>
              <a:off x="8001000" y="3182112"/>
              <a:ext cx="237744" cy="237744"/>
            </a:xfrm>
            <a:prstGeom prst="rect">
              <a:avLst/>
            </a:prstGeom>
          </p:spPr>
        </p:pic>
        <p:sp>
          <p:nvSpPr>
            <p:cNvPr id="39" name="Text 30"/>
            <p:cNvSpPr txBox="1"/>
            <p:nvPr/>
          </p:nvSpPr>
          <p:spPr>
            <a:xfrm>
              <a:off x="8339328" y="3136392"/>
              <a:ext cx="1737360" cy="256032"/>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Identity</a:t>
              </a:r>
              <a:endParaRPr lang="en-US" sz="1200" dirty="0"/>
            </a:p>
          </p:txBody>
        </p:sp>
        <p:sp>
          <p:nvSpPr>
            <p:cNvPr id="40" name="Shape 31"/>
            <p:cNvSpPr/>
            <p:nvPr/>
          </p:nvSpPr>
          <p:spPr>
            <a:xfrm>
              <a:off x="11247120" y="3145536"/>
              <a:ext cx="384048" cy="201168"/>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41" name="Text 32"/>
            <p:cNvSpPr txBox="1"/>
            <p:nvPr/>
          </p:nvSpPr>
          <p:spPr>
            <a:xfrm>
              <a:off x="11247120" y="3145536"/>
              <a:ext cx="384048"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P2</a:t>
              </a:r>
              <a:endParaRPr lang="en-US" sz="900" dirty="0"/>
            </a:p>
          </p:txBody>
        </p:sp>
        <p:sp>
          <p:nvSpPr>
            <p:cNvPr id="42" name="Text 33"/>
            <p:cNvSpPr txBox="1"/>
            <p:nvPr/>
          </p:nvSpPr>
          <p:spPr>
            <a:xfrm>
              <a:off x="8339328" y="3419856"/>
              <a:ext cx="3291840" cy="329184"/>
            </a:xfrm>
            <a:prstGeom prst="rect">
              <a:avLst/>
            </a:prstGeom>
            <a:noFill/>
            <a:ln/>
          </p:spPr>
          <p:txBody>
            <a:bodyPr wrap="square" lIns="0" tIns="0" rIns="0" bIns="0" rtlCol="0" anchor="t"/>
            <a:lstStyle/>
            <a:p>
              <a:r>
                <a:rPr lang="en-US" sz="1000" dirty="0" err="1">
                  <a:solidFill>
                    <a:schemeClr val="tx1"/>
                  </a:solidFill>
                  <a:latin typeface="Courier New" pitchFamily="34" charset="0"/>
                  <a:ea typeface="Courier New" pitchFamily="34" charset="-122"/>
                  <a:cs typeface="Courier New" pitchFamily="34" charset="-120"/>
                </a:rPr>
                <a:t>te_dedup</a:t>
              </a:r>
              <a:r>
                <a:rPr lang="en-US" sz="1000" dirty="0">
                  <a:solidFill>
                    <a:schemeClr val="tx1"/>
                  </a:solidFill>
                  <a:latin typeface="Courier New" pitchFamily="34" charset="0"/>
                  <a:ea typeface="Courier New" pitchFamily="34" charset="-122"/>
                  <a:cs typeface="Courier New" pitchFamily="34" charset="-120"/>
                </a:rPr>
                <a:t> - </a:t>
              </a:r>
              <a:r>
                <a:rPr lang="en-US" sz="1000" dirty="0"/>
                <a:t>blocks duplicated task creation</a:t>
              </a:r>
              <a:br>
                <a:rPr lang="en-US" sz="1000" dirty="0">
                  <a:latin typeface="Courier New" pitchFamily="34" charset="0"/>
                  <a:ea typeface="Courier New" pitchFamily="34" charset="-122"/>
                  <a:cs typeface="Courier New" pitchFamily="34" charset="-120"/>
                </a:rPr>
              </a:br>
              <a:r>
                <a:rPr lang="en-US" sz="1000" dirty="0" err="1">
                  <a:solidFill>
                    <a:schemeClr val="tx1"/>
                  </a:solidFill>
                  <a:latin typeface="Courier New" pitchFamily="34" charset="0"/>
                  <a:ea typeface="Courier New" pitchFamily="34" charset="-122"/>
                  <a:cs typeface="Courier New" pitchFamily="34" charset="-120"/>
                </a:rPr>
                <a:t>te_supersede_heads</a:t>
              </a:r>
              <a:r>
                <a:rPr lang="en-US" sz="1000" dirty="0">
                  <a:solidFill>
                    <a:schemeClr val="tx1"/>
                  </a:solidFill>
                  <a:latin typeface="Courier New" pitchFamily="34" charset="0"/>
                  <a:ea typeface="Courier New" pitchFamily="34" charset="-122"/>
                  <a:cs typeface="Courier New" pitchFamily="34" charset="-120"/>
                </a:rPr>
                <a:t> - </a:t>
              </a:r>
              <a:r>
                <a:rPr lang="en-US" sz="1000" dirty="0"/>
                <a:t>newer revision automatically cancels the older in-flight task.</a:t>
              </a:r>
            </a:p>
          </p:txBody>
        </p:sp>
      </p:grpSp>
      <p:grpSp>
        <p:nvGrpSpPr>
          <p:cNvPr id="61" name="Group 60">
            <a:extLst>
              <a:ext uri="{FF2B5EF4-FFF2-40B4-BE49-F238E27FC236}">
                <a16:creationId xmlns:a16="http://schemas.microsoft.com/office/drawing/2014/main" id="{CF4C8758-1CF2-D253-1374-00B421CF0B40}"/>
              </a:ext>
            </a:extLst>
          </p:cNvPr>
          <p:cNvGrpSpPr/>
          <p:nvPr/>
        </p:nvGrpSpPr>
        <p:grpSpPr>
          <a:xfrm>
            <a:off x="7863840" y="3076956"/>
            <a:ext cx="3867912" cy="713232"/>
            <a:chOff x="7863840" y="3877056"/>
            <a:chExt cx="3867912" cy="713232"/>
          </a:xfrm>
        </p:grpSpPr>
        <p:sp>
          <p:nvSpPr>
            <p:cNvPr id="43" name="Shape 34"/>
            <p:cNvSpPr/>
            <p:nvPr/>
          </p:nvSpPr>
          <p:spPr>
            <a:xfrm>
              <a:off x="7863840" y="3877056"/>
              <a:ext cx="3867912" cy="713232"/>
            </a:xfrm>
            <a:prstGeom prst="roundRect">
              <a:avLst>
                <a:gd name="adj" fmla="val 7692"/>
              </a:avLst>
            </a:prstGeom>
            <a:solidFill>
              <a:schemeClr val="bg1"/>
            </a:solidFill>
            <a:ln/>
          </p:spPr>
          <p:txBody>
            <a:bodyPr/>
            <a:lstStyle/>
            <a:p>
              <a:endParaRPr lang="en-US"/>
            </a:p>
          </p:txBody>
        </p:sp>
        <p:sp>
          <p:nvSpPr>
            <p:cNvPr id="44" name="Shape 35"/>
            <p:cNvSpPr/>
            <p:nvPr/>
          </p:nvSpPr>
          <p:spPr>
            <a:xfrm>
              <a:off x="7863840" y="3877056"/>
              <a:ext cx="3867912" cy="713232"/>
            </a:xfrm>
            <a:prstGeom prst="roundRect">
              <a:avLst>
                <a:gd name="adj" fmla="val 7692"/>
              </a:avLst>
            </a:prstGeom>
            <a:solidFill>
              <a:schemeClr val="accent2">
                <a:alpha val="10000"/>
              </a:schemeClr>
            </a:solidFill>
            <a:ln/>
          </p:spPr>
          <p:txBody>
            <a:bodyPr/>
            <a:lstStyle/>
            <a:p>
              <a:endParaRPr lang="en-US"/>
            </a:p>
          </p:txBody>
        </p:sp>
        <p:pic>
          <p:nvPicPr>
            <p:cNvPr id="45" name="Image 6" descr="preencoded.png"/>
            <p:cNvPicPr>
              <a:picLocks noChangeAspect="1"/>
            </p:cNvPicPr>
            <p:nvPr/>
          </p:nvPicPr>
          <p:blipFill>
            <a:blip r:embed="rId6"/>
            <a:stretch>
              <a:fillRect/>
            </a:stretch>
          </p:blipFill>
          <p:spPr>
            <a:xfrm>
              <a:off x="8001000" y="3986784"/>
              <a:ext cx="237744" cy="237744"/>
            </a:xfrm>
            <a:prstGeom prst="rect">
              <a:avLst/>
            </a:prstGeom>
          </p:spPr>
        </p:pic>
        <p:sp>
          <p:nvSpPr>
            <p:cNvPr id="46" name="Text 36"/>
            <p:cNvSpPr txBox="1"/>
            <p:nvPr/>
          </p:nvSpPr>
          <p:spPr>
            <a:xfrm>
              <a:off x="8339328" y="3941064"/>
              <a:ext cx="1737360" cy="256032"/>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Audit &amp; metadata</a:t>
              </a:r>
              <a:endParaRPr lang="en-US" sz="1200" dirty="0"/>
            </a:p>
          </p:txBody>
        </p:sp>
        <p:sp>
          <p:nvSpPr>
            <p:cNvPr id="47" name="Text 37"/>
            <p:cNvSpPr txBox="1"/>
            <p:nvPr/>
          </p:nvSpPr>
          <p:spPr>
            <a:xfrm>
              <a:off x="8339328" y="4224528"/>
              <a:ext cx="3291840" cy="329184"/>
            </a:xfrm>
            <a:prstGeom prst="rect">
              <a:avLst/>
            </a:prstGeom>
            <a:noFill/>
            <a:ln/>
          </p:spPr>
          <p:txBody>
            <a:bodyPr wrap="square" lIns="0" tIns="0" rIns="0" bIns="0" rtlCol="0" anchor="t"/>
            <a:lstStyle/>
            <a:p>
              <a:pPr marL="0" indent="0">
                <a:buNone/>
              </a:pPr>
              <a:r>
                <a:rPr lang="en-US" sz="1000" dirty="0">
                  <a:solidFill>
                    <a:schemeClr val="tx1"/>
                  </a:solidFill>
                  <a:latin typeface="Courier New" pitchFamily="34" charset="0"/>
                  <a:ea typeface="Courier New" pitchFamily="34" charset="-122"/>
                  <a:cs typeface="Courier New" pitchFamily="34" charset="-120"/>
                </a:rPr>
                <a:t>te_events · te_task_entries · te_tags · te_resource_refs</a:t>
              </a:r>
              <a:endParaRPr lang="en-US" sz="1000" dirty="0"/>
            </a:p>
          </p:txBody>
        </p:sp>
      </p:grpSp>
      <p:grpSp>
        <p:nvGrpSpPr>
          <p:cNvPr id="63" name="Group 62">
            <a:extLst>
              <a:ext uri="{FF2B5EF4-FFF2-40B4-BE49-F238E27FC236}">
                <a16:creationId xmlns:a16="http://schemas.microsoft.com/office/drawing/2014/main" id="{CAA57381-B6D4-36D6-C86D-1E6154E29256}"/>
              </a:ext>
            </a:extLst>
          </p:cNvPr>
          <p:cNvGrpSpPr/>
          <p:nvPr/>
        </p:nvGrpSpPr>
        <p:grpSpPr>
          <a:xfrm>
            <a:off x="7863840" y="3877056"/>
            <a:ext cx="3867912" cy="713232"/>
            <a:chOff x="7863840" y="4681728"/>
            <a:chExt cx="3867912" cy="713232"/>
          </a:xfrm>
        </p:grpSpPr>
        <p:sp>
          <p:nvSpPr>
            <p:cNvPr id="48" name="Shape 38"/>
            <p:cNvSpPr/>
            <p:nvPr/>
          </p:nvSpPr>
          <p:spPr>
            <a:xfrm>
              <a:off x="7863840" y="4681728"/>
              <a:ext cx="3867912" cy="713232"/>
            </a:xfrm>
            <a:prstGeom prst="roundRect">
              <a:avLst>
                <a:gd name="adj" fmla="val 7692"/>
              </a:avLst>
            </a:prstGeom>
            <a:solidFill>
              <a:schemeClr val="bg1"/>
            </a:solidFill>
            <a:ln/>
          </p:spPr>
          <p:txBody>
            <a:bodyPr/>
            <a:lstStyle/>
            <a:p>
              <a:endParaRPr lang="en-US"/>
            </a:p>
          </p:txBody>
        </p:sp>
        <p:sp>
          <p:nvSpPr>
            <p:cNvPr id="49" name="Shape 39"/>
            <p:cNvSpPr/>
            <p:nvPr/>
          </p:nvSpPr>
          <p:spPr>
            <a:xfrm>
              <a:off x="7863840" y="4681728"/>
              <a:ext cx="3867912" cy="713232"/>
            </a:xfrm>
            <a:prstGeom prst="roundRect">
              <a:avLst>
                <a:gd name="adj" fmla="val 7692"/>
              </a:avLst>
            </a:prstGeom>
            <a:solidFill>
              <a:schemeClr val="accent2">
                <a:alpha val="4000"/>
              </a:schemeClr>
            </a:solidFill>
            <a:ln w="9525">
              <a:solidFill>
                <a:schemeClr val="accent2"/>
              </a:solidFill>
              <a:prstDash val="dash"/>
            </a:ln>
          </p:spPr>
          <p:txBody>
            <a:bodyPr/>
            <a:lstStyle/>
            <a:p>
              <a:endParaRPr lang="en-US"/>
            </a:p>
          </p:txBody>
        </p:sp>
        <p:pic>
          <p:nvPicPr>
            <p:cNvPr id="50" name="Image 7" descr="preencoded.png"/>
            <p:cNvPicPr>
              <a:picLocks noChangeAspect="1"/>
            </p:cNvPicPr>
            <p:nvPr/>
          </p:nvPicPr>
          <p:blipFill>
            <a:blip r:embed="rId6"/>
            <a:stretch>
              <a:fillRect/>
            </a:stretch>
          </p:blipFill>
          <p:spPr>
            <a:xfrm>
              <a:off x="8001000" y="4791456"/>
              <a:ext cx="237744" cy="237744"/>
            </a:xfrm>
            <a:prstGeom prst="rect">
              <a:avLst/>
            </a:prstGeom>
          </p:spPr>
        </p:pic>
        <p:sp>
          <p:nvSpPr>
            <p:cNvPr id="51" name="Text 40"/>
            <p:cNvSpPr txBox="1"/>
            <p:nvPr/>
          </p:nvSpPr>
          <p:spPr>
            <a:xfrm>
              <a:off x="8339328" y="4745736"/>
              <a:ext cx="1737360" cy="256032"/>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Platform-owned</a:t>
              </a:r>
              <a:endParaRPr lang="en-US" sz="1200" dirty="0"/>
            </a:p>
          </p:txBody>
        </p:sp>
        <p:sp>
          <p:nvSpPr>
            <p:cNvPr id="52" name="Text 41"/>
            <p:cNvSpPr txBox="1"/>
            <p:nvPr/>
          </p:nvSpPr>
          <p:spPr>
            <a:xfrm>
              <a:off x="9921240" y="4764024"/>
              <a:ext cx="1737360" cy="237744"/>
            </a:xfrm>
            <a:prstGeom prst="rect">
              <a:avLst/>
            </a:prstGeom>
            <a:noFill/>
            <a:ln/>
          </p:spPr>
          <p:txBody>
            <a:bodyPr wrap="square" lIns="0" tIns="0" rIns="0" bIns="0" rtlCol="0" anchor="t"/>
            <a:lstStyle/>
            <a:p>
              <a:pPr marL="0" indent="0" algn="r">
                <a:buNone/>
              </a:pPr>
              <a:r>
                <a:rPr lang="en-US" sz="900" dirty="0">
                  <a:solidFill>
                    <a:schemeClr val="tx2"/>
                  </a:solidFill>
                  <a:latin typeface="Calibri" pitchFamily="34" charset="0"/>
                  <a:ea typeface="Calibri" pitchFamily="34" charset="-122"/>
                  <a:cs typeface="Calibri" pitchFamily="34" charset="-120"/>
                </a:rPr>
                <a:t>event-broker-sdk / toolkit-db</a:t>
              </a:r>
              <a:endParaRPr lang="en-US" sz="900" dirty="0"/>
            </a:p>
          </p:txBody>
        </p:sp>
        <p:sp>
          <p:nvSpPr>
            <p:cNvPr id="53" name="Text 42"/>
            <p:cNvSpPr txBox="1"/>
            <p:nvPr/>
          </p:nvSpPr>
          <p:spPr>
            <a:xfrm>
              <a:off x="8339328" y="5029200"/>
              <a:ext cx="3291840" cy="329184"/>
            </a:xfrm>
            <a:prstGeom prst="rect">
              <a:avLst/>
            </a:prstGeom>
            <a:noFill/>
            <a:ln/>
          </p:spPr>
          <p:txBody>
            <a:bodyPr wrap="square" lIns="0" tIns="0" rIns="0" bIns="0" rtlCol="0" anchor="t"/>
            <a:lstStyle/>
            <a:p>
              <a:pPr marL="0" indent="0">
                <a:buNone/>
              </a:pPr>
              <a:r>
                <a:rPr lang="en-US" sz="1000" dirty="0">
                  <a:latin typeface="Courier New" pitchFamily="34" charset="0"/>
                  <a:ea typeface="Courier New" pitchFamily="34" charset="-122"/>
                  <a:cs typeface="Courier New" pitchFamily="34" charset="-120"/>
                </a:rPr>
                <a:t>e</a:t>
              </a:r>
              <a:r>
                <a:rPr lang="en-US" sz="1000" dirty="0">
                  <a:solidFill>
                    <a:schemeClr val="tx1"/>
                  </a:solidFill>
                  <a:latin typeface="Courier New" pitchFamily="34" charset="0"/>
                  <a:ea typeface="Courier New" pitchFamily="34" charset="-122"/>
                  <a:cs typeface="Courier New" pitchFamily="34" charset="-120"/>
                </a:rPr>
                <a:t>vents outbox tables · consumer offsets</a:t>
              </a:r>
              <a:endParaRPr lang="en-US" sz="1000" dirty="0"/>
            </a:p>
          </p:txBody>
        </p:sp>
      </p:grpSp>
      <p:sp>
        <p:nvSpPr>
          <p:cNvPr id="54" name="Shape 43"/>
          <p:cNvSpPr/>
          <p:nvPr/>
        </p:nvSpPr>
        <p:spPr>
          <a:xfrm>
            <a:off x="7863840" y="5647269"/>
            <a:ext cx="3867912" cy="713232"/>
          </a:xfrm>
          <a:prstGeom prst="roundRect">
            <a:avLst>
              <a:gd name="adj" fmla="val 7692"/>
            </a:avLst>
          </a:prstGeom>
          <a:solidFill>
            <a:schemeClr val="bg1"/>
          </a:solidFill>
          <a:ln/>
        </p:spPr>
        <p:txBody>
          <a:bodyPr/>
          <a:lstStyle/>
          <a:p>
            <a:endParaRPr lang="en-US"/>
          </a:p>
        </p:txBody>
      </p:sp>
      <p:sp>
        <p:nvSpPr>
          <p:cNvPr id="55" name="Shape 44"/>
          <p:cNvSpPr/>
          <p:nvPr/>
        </p:nvSpPr>
        <p:spPr>
          <a:xfrm>
            <a:off x="7863840" y="5647269"/>
            <a:ext cx="3867912" cy="713232"/>
          </a:xfrm>
          <a:prstGeom prst="roundRect">
            <a:avLst>
              <a:gd name="adj" fmla="val 7692"/>
            </a:avLst>
          </a:prstGeom>
          <a:solidFill>
            <a:schemeClr val="accent2">
              <a:alpha val="10000"/>
            </a:schemeClr>
          </a:solidFill>
          <a:ln/>
        </p:spPr>
        <p:txBody>
          <a:bodyPr/>
          <a:lstStyle/>
          <a:p>
            <a:endParaRPr lang="en-US"/>
          </a:p>
        </p:txBody>
      </p:sp>
      <p:pic>
        <p:nvPicPr>
          <p:cNvPr id="56" name="Image 8" descr="preencoded.png"/>
          <p:cNvPicPr>
            <a:picLocks noChangeAspect="1"/>
          </p:cNvPicPr>
          <p:nvPr/>
        </p:nvPicPr>
        <p:blipFill>
          <a:blip r:embed="rId6"/>
          <a:stretch>
            <a:fillRect/>
          </a:stretch>
        </p:blipFill>
        <p:spPr>
          <a:xfrm>
            <a:off x="8001000" y="5756997"/>
            <a:ext cx="237744" cy="237744"/>
          </a:xfrm>
          <a:prstGeom prst="rect">
            <a:avLst/>
          </a:prstGeom>
        </p:spPr>
      </p:pic>
      <p:sp>
        <p:nvSpPr>
          <p:cNvPr id="57" name="Text 45"/>
          <p:cNvSpPr txBox="1"/>
          <p:nvPr/>
        </p:nvSpPr>
        <p:spPr>
          <a:xfrm>
            <a:off x="8339328" y="5711277"/>
            <a:ext cx="1737360" cy="256032"/>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Worker health</a:t>
            </a:r>
            <a:endParaRPr lang="en-US" sz="1200" dirty="0"/>
          </a:p>
        </p:txBody>
      </p:sp>
      <p:sp>
        <p:nvSpPr>
          <p:cNvPr id="58" name="Shape 46"/>
          <p:cNvSpPr/>
          <p:nvPr/>
        </p:nvSpPr>
        <p:spPr>
          <a:xfrm>
            <a:off x="11247120" y="5720421"/>
            <a:ext cx="384048" cy="201168"/>
          </a:xfrm>
          <a:prstGeom prst="roundRect">
            <a:avLst>
              <a:gd name="adj" fmla="val 50000"/>
            </a:avLst>
          </a:prstGeom>
          <a:solidFill>
            <a:schemeClr val="bg1"/>
          </a:solidFill>
          <a:ln w="9525">
            <a:solidFill>
              <a:schemeClr val="tx2"/>
            </a:solidFill>
            <a:prstDash val="solid"/>
          </a:ln>
        </p:spPr>
        <p:txBody>
          <a:bodyPr/>
          <a:lstStyle/>
          <a:p>
            <a:endParaRPr lang="en-US"/>
          </a:p>
        </p:txBody>
      </p:sp>
      <p:sp>
        <p:nvSpPr>
          <p:cNvPr id="59" name="Text 47"/>
          <p:cNvSpPr txBox="1"/>
          <p:nvPr/>
        </p:nvSpPr>
        <p:spPr>
          <a:xfrm>
            <a:off x="11247120" y="5720421"/>
            <a:ext cx="384048" cy="201168"/>
          </a:xfrm>
          <a:prstGeom prst="rect">
            <a:avLst/>
          </a:prstGeom>
          <a:noFill/>
          <a:ln/>
        </p:spPr>
        <p:txBody>
          <a:bodyPr wrap="square" lIns="0" tIns="0" rIns="0" bIns="0" rtlCol="0" anchor="ctr"/>
          <a:lstStyle/>
          <a:p>
            <a:pPr marL="0" indent="0" algn="ctr">
              <a:buNone/>
            </a:pPr>
            <a:r>
              <a:rPr lang="en-US" sz="900" b="1" dirty="0">
                <a:solidFill>
                  <a:schemeClr val="tx1"/>
                </a:solidFill>
                <a:latin typeface="Calibri" pitchFamily="34" charset="0"/>
                <a:ea typeface="Calibri" pitchFamily="34" charset="-122"/>
                <a:cs typeface="Calibri" pitchFamily="34" charset="-120"/>
              </a:rPr>
              <a:t>P3</a:t>
            </a:r>
            <a:endParaRPr lang="en-US" sz="900" dirty="0"/>
          </a:p>
        </p:txBody>
      </p:sp>
      <p:sp>
        <p:nvSpPr>
          <p:cNvPr id="60" name="Text 48"/>
          <p:cNvSpPr txBox="1"/>
          <p:nvPr/>
        </p:nvSpPr>
        <p:spPr>
          <a:xfrm>
            <a:off x="8339328" y="5994741"/>
            <a:ext cx="3291840" cy="329184"/>
          </a:xfrm>
          <a:prstGeom prst="rect">
            <a:avLst/>
          </a:prstGeom>
          <a:noFill/>
          <a:ln/>
        </p:spPr>
        <p:txBody>
          <a:bodyPr wrap="square" lIns="0" tIns="0" rIns="0" bIns="0" rtlCol="0" anchor="t"/>
          <a:lstStyle/>
          <a:p>
            <a:pPr marL="0" indent="0">
              <a:buNone/>
            </a:pPr>
            <a:r>
              <a:rPr lang="en-US" sz="1000" dirty="0">
                <a:solidFill>
                  <a:schemeClr val="tx1"/>
                </a:solidFill>
                <a:latin typeface="Courier New" pitchFamily="34" charset="0"/>
                <a:ea typeface="Courier New" pitchFamily="34" charset="-122"/>
                <a:cs typeface="Courier New" pitchFamily="34" charset="-120"/>
              </a:rPr>
              <a:t>te_worker_blacklist</a:t>
            </a:r>
            <a:endParaRPr lang="en-US" sz="10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D6641-2162-AD6C-67C4-41AEB3561963}"/>
            </a:ext>
          </a:extLst>
        </p:cNvPr>
        <p:cNvGrpSpPr/>
        <p:nvPr/>
      </p:nvGrpSpPr>
      <p:grpSpPr>
        <a:xfrm>
          <a:off x="0" y="0"/>
          <a:ext cx="0" cy="0"/>
          <a:chOff x="0" y="0"/>
          <a:chExt cx="0" cy="0"/>
        </a:xfrm>
      </p:grpSpPr>
      <p:sp>
        <p:nvSpPr>
          <p:cNvPr id="20" name="Text 0">
            <a:extLst>
              <a:ext uri="{FF2B5EF4-FFF2-40B4-BE49-F238E27FC236}">
                <a16:creationId xmlns:a16="http://schemas.microsoft.com/office/drawing/2014/main" id="{F59C7E0E-B75E-910B-E850-B283C7933BAB}"/>
              </a:ext>
            </a:extLst>
          </p:cNvPr>
          <p:cNvSpPr txBox="1">
            <a:spLocks/>
          </p:cNvSpPr>
          <p:nvPr/>
        </p:nvSpPr>
        <p:spPr>
          <a:xfrm>
            <a:off x="731520" y="1828800"/>
            <a:ext cx="2743200" cy="640080"/>
          </a:xfrm>
          <a:prstGeom prst="rect">
            <a:avLst/>
          </a:prstGeom>
          <a:noFill/>
          <a:ln/>
        </p:spPr>
        <p:txBody>
          <a:bodyPr wrap="square" lIns="0" tIns="0" rIns="0" bIns="0" rtlCol="0"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800" b="1" dirty="0">
                <a:solidFill>
                  <a:srgbClr val="6BA5F0"/>
                </a:solidFill>
              </a:rPr>
              <a:t>03</a:t>
            </a:r>
            <a:endParaRPr lang="en-US" sz="2800" dirty="0">
              <a:solidFill>
                <a:srgbClr val="6BA5F0"/>
              </a:solidFill>
            </a:endParaRPr>
          </a:p>
        </p:txBody>
      </p:sp>
      <p:sp>
        <p:nvSpPr>
          <p:cNvPr id="21" name="Text 0">
            <a:extLst>
              <a:ext uri="{FF2B5EF4-FFF2-40B4-BE49-F238E27FC236}">
                <a16:creationId xmlns:a16="http://schemas.microsoft.com/office/drawing/2014/main" id="{B00F5843-357D-187D-22EC-8B2D3FFCEF43}"/>
              </a:ext>
            </a:extLst>
          </p:cNvPr>
          <p:cNvSpPr>
            <a:spLocks noGrp="1"/>
          </p:cNvSpPr>
          <p:nvPr>
            <p:ph type="title" idx="101" hasCustomPrompt="1"/>
          </p:nvPr>
        </p:nvSpPr>
        <p:spPr>
          <a:xfrm>
            <a:off x="731520" y="2514600"/>
            <a:ext cx="10058400" cy="1005840"/>
          </a:xfrm>
          <a:prstGeom prst="rect">
            <a:avLst/>
          </a:prstGeom>
          <a:noFill/>
          <a:ln/>
        </p:spPr>
        <p:txBody>
          <a:bodyPr wrap="square" lIns="0" tIns="0" rIns="0" bIns="0" rtlCol="0" anchor="t"/>
          <a:lstStyle/>
          <a:p>
            <a:pPr marL="0" indent="0" algn="l">
              <a:buNone/>
            </a:pPr>
            <a:r>
              <a:rPr lang="en-US" sz="4400" b="1" dirty="0">
                <a:solidFill>
                  <a:schemeClr val="bg1"/>
                </a:solidFill>
                <a:latin typeface="Arial" pitchFamily="34" charset="0"/>
                <a:ea typeface="Arial" pitchFamily="34" charset="-122"/>
                <a:cs typeface="Arial" pitchFamily="34" charset="-120"/>
              </a:rPr>
              <a:t>Main flows</a:t>
            </a:r>
            <a:endParaRPr lang="en-US" sz="4400" dirty="0"/>
          </a:p>
        </p:txBody>
      </p:sp>
      <p:sp>
        <p:nvSpPr>
          <p:cNvPr id="22" name="Text 0">
            <a:extLst>
              <a:ext uri="{FF2B5EF4-FFF2-40B4-BE49-F238E27FC236}">
                <a16:creationId xmlns:a16="http://schemas.microsoft.com/office/drawing/2014/main" id="{23BCE150-8E02-0A5F-BCB3-D07C8C09B535}"/>
              </a:ext>
            </a:extLst>
          </p:cNvPr>
          <p:cNvSpPr>
            <a:spLocks noGrp="1"/>
          </p:cNvSpPr>
          <p:nvPr>
            <p:ph type="body" idx="102" hasCustomPrompt="1"/>
          </p:nvPr>
        </p:nvSpPr>
        <p:spPr>
          <a:xfrm>
            <a:off x="731520" y="3611880"/>
            <a:ext cx="9144000" cy="822960"/>
          </a:xfrm>
          <a:prstGeom prst="rect">
            <a:avLst/>
          </a:prstGeom>
          <a:noFill/>
          <a:ln/>
        </p:spPr>
        <p:txBody>
          <a:bodyPr wrap="square" lIns="0" tIns="0" rIns="0" bIns="0" rtlCol="0" anchor="t"/>
          <a:lstStyle/>
          <a:p>
            <a:pPr marL="0" indent="0">
              <a:buNone/>
            </a:pPr>
            <a:r>
              <a:rPr lang="en-US" sz="2000" dirty="0"/>
              <a:t>Create → claim → complete, claiming, fencing, timeouts, admission and waits</a:t>
            </a:r>
          </a:p>
        </p:txBody>
      </p:sp>
      <p:pic>
        <p:nvPicPr>
          <p:cNvPr id="23" name="Image 0" descr="preencoded.png">
            <a:extLst>
              <a:ext uri="{FF2B5EF4-FFF2-40B4-BE49-F238E27FC236}">
                <a16:creationId xmlns:a16="http://schemas.microsoft.com/office/drawing/2014/main" id="{8EBAE031-4AED-6951-F78C-147FCD6ED751}"/>
              </a:ext>
            </a:extLst>
          </p:cNvPr>
          <p:cNvPicPr>
            <a:picLocks noChangeAspect="1"/>
          </p:cNvPicPr>
          <p:nvPr/>
        </p:nvPicPr>
        <p:blipFill>
          <a:blip r:embed="rId3">
            <a:alphaModFix amt="25000"/>
          </a:blip>
          <a:stretch>
            <a:fillRect/>
          </a:stretch>
        </p:blipFill>
        <p:spPr>
          <a:xfrm>
            <a:off x="9509760" y="1920240"/>
            <a:ext cx="1828800" cy="1828800"/>
          </a:xfrm>
          <a:prstGeom prst="rect">
            <a:avLst/>
          </a:prstGeom>
        </p:spPr>
      </p:pic>
      <p:sp>
        <p:nvSpPr>
          <p:cNvPr id="24" name="Shape 3">
            <a:extLst>
              <a:ext uri="{FF2B5EF4-FFF2-40B4-BE49-F238E27FC236}">
                <a16:creationId xmlns:a16="http://schemas.microsoft.com/office/drawing/2014/main" id="{31FE11E8-C607-E0A2-E268-361FF4FE848A}"/>
              </a:ext>
            </a:extLst>
          </p:cNvPr>
          <p:cNvSpPr/>
          <p:nvPr/>
        </p:nvSpPr>
        <p:spPr>
          <a:xfrm>
            <a:off x="731520" y="4937760"/>
            <a:ext cx="1174750"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25" name="Text 4">
            <a:extLst>
              <a:ext uri="{FF2B5EF4-FFF2-40B4-BE49-F238E27FC236}">
                <a16:creationId xmlns:a16="http://schemas.microsoft.com/office/drawing/2014/main" id="{AA9EC87D-15EE-B29F-20D5-94C3E2D630AE}"/>
              </a:ext>
            </a:extLst>
          </p:cNvPr>
          <p:cNvSpPr txBox="1"/>
          <p:nvPr/>
        </p:nvSpPr>
        <p:spPr>
          <a:xfrm>
            <a:off x="731520" y="4949046"/>
            <a:ext cx="1174750"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Happy path</a:t>
            </a:r>
            <a:endParaRPr lang="en-US" sz="1300" dirty="0"/>
          </a:p>
        </p:txBody>
      </p:sp>
      <p:sp>
        <p:nvSpPr>
          <p:cNvPr id="26" name="Shape 5">
            <a:extLst>
              <a:ext uri="{FF2B5EF4-FFF2-40B4-BE49-F238E27FC236}">
                <a16:creationId xmlns:a16="http://schemas.microsoft.com/office/drawing/2014/main" id="{8D257EB5-8363-6441-71C4-CE9AE30D2280}"/>
              </a:ext>
            </a:extLst>
          </p:cNvPr>
          <p:cNvSpPr/>
          <p:nvPr/>
        </p:nvSpPr>
        <p:spPr>
          <a:xfrm>
            <a:off x="2043430" y="4937760"/>
            <a:ext cx="1336548"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27" name="Text 6">
            <a:extLst>
              <a:ext uri="{FF2B5EF4-FFF2-40B4-BE49-F238E27FC236}">
                <a16:creationId xmlns:a16="http://schemas.microsoft.com/office/drawing/2014/main" id="{F01FF808-1D81-F84A-49A4-3404A7E476F4}"/>
              </a:ext>
            </a:extLst>
          </p:cNvPr>
          <p:cNvSpPr txBox="1"/>
          <p:nvPr/>
        </p:nvSpPr>
        <p:spPr>
          <a:xfrm>
            <a:off x="2043430" y="4949046"/>
            <a:ext cx="1336548"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Atomic claim</a:t>
            </a:r>
            <a:endParaRPr lang="en-US" sz="1300" dirty="0"/>
          </a:p>
        </p:txBody>
      </p:sp>
      <p:sp>
        <p:nvSpPr>
          <p:cNvPr id="28" name="Shape 7">
            <a:extLst>
              <a:ext uri="{FF2B5EF4-FFF2-40B4-BE49-F238E27FC236}">
                <a16:creationId xmlns:a16="http://schemas.microsoft.com/office/drawing/2014/main" id="{D80303B0-3292-590E-72AB-A2B82C69120E}"/>
              </a:ext>
            </a:extLst>
          </p:cNvPr>
          <p:cNvSpPr/>
          <p:nvPr/>
        </p:nvSpPr>
        <p:spPr>
          <a:xfrm>
            <a:off x="3517138" y="4937760"/>
            <a:ext cx="1417447"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29" name="Text 8">
            <a:extLst>
              <a:ext uri="{FF2B5EF4-FFF2-40B4-BE49-F238E27FC236}">
                <a16:creationId xmlns:a16="http://schemas.microsoft.com/office/drawing/2014/main" id="{7D82CCAE-6FAF-7101-9B0F-6AF9DB4B8411}"/>
              </a:ext>
            </a:extLst>
          </p:cNvPr>
          <p:cNvSpPr txBox="1"/>
          <p:nvPr/>
        </p:nvSpPr>
        <p:spPr>
          <a:xfrm>
            <a:off x="3517138" y="4949046"/>
            <a:ext cx="1417447"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Lease fencing</a:t>
            </a:r>
            <a:endParaRPr lang="en-US" sz="1300" dirty="0"/>
          </a:p>
        </p:txBody>
      </p:sp>
      <p:sp>
        <p:nvSpPr>
          <p:cNvPr id="30" name="Shape 9">
            <a:extLst>
              <a:ext uri="{FF2B5EF4-FFF2-40B4-BE49-F238E27FC236}">
                <a16:creationId xmlns:a16="http://schemas.microsoft.com/office/drawing/2014/main" id="{11E79191-CDAB-6A8B-CC11-F063D82E3C45}"/>
              </a:ext>
            </a:extLst>
          </p:cNvPr>
          <p:cNvSpPr/>
          <p:nvPr/>
        </p:nvSpPr>
        <p:spPr>
          <a:xfrm>
            <a:off x="5071745" y="4937760"/>
            <a:ext cx="1660144"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31" name="Text 10">
            <a:extLst>
              <a:ext uri="{FF2B5EF4-FFF2-40B4-BE49-F238E27FC236}">
                <a16:creationId xmlns:a16="http://schemas.microsoft.com/office/drawing/2014/main" id="{509F5608-C6E9-4530-A748-454D3E8FB5A8}"/>
              </a:ext>
            </a:extLst>
          </p:cNvPr>
          <p:cNvSpPr txBox="1"/>
          <p:nvPr/>
        </p:nvSpPr>
        <p:spPr>
          <a:xfrm>
            <a:off x="5071745" y="4949046"/>
            <a:ext cx="1660144"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Timeouts &amp; retry</a:t>
            </a:r>
            <a:endParaRPr lang="en-US" sz="1300" dirty="0"/>
          </a:p>
        </p:txBody>
      </p:sp>
      <p:sp>
        <p:nvSpPr>
          <p:cNvPr id="32" name="Shape 11">
            <a:extLst>
              <a:ext uri="{FF2B5EF4-FFF2-40B4-BE49-F238E27FC236}">
                <a16:creationId xmlns:a16="http://schemas.microsoft.com/office/drawing/2014/main" id="{777C0DFD-C242-47C1-7B78-BD6F3279D665}"/>
              </a:ext>
            </a:extLst>
          </p:cNvPr>
          <p:cNvSpPr/>
          <p:nvPr/>
        </p:nvSpPr>
        <p:spPr>
          <a:xfrm>
            <a:off x="6869049" y="4937760"/>
            <a:ext cx="1093851"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33" name="Text 12">
            <a:extLst>
              <a:ext uri="{FF2B5EF4-FFF2-40B4-BE49-F238E27FC236}">
                <a16:creationId xmlns:a16="http://schemas.microsoft.com/office/drawing/2014/main" id="{AF72A317-C7FD-48E5-FC0F-BD6B9B766250}"/>
              </a:ext>
            </a:extLst>
          </p:cNvPr>
          <p:cNvSpPr txBox="1"/>
          <p:nvPr/>
        </p:nvSpPr>
        <p:spPr>
          <a:xfrm>
            <a:off x="6869049" y="4949046"/>
            <a:ext cx="1093851"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Admission</a:t>
            </a:r>
            <a:endParaRPr lang="en-US" sz="1300" dirty="0"/>
          </a:p>
        </p:txBody>
      </p:sp>
      <p:sp>
        <p:nvSpPr>
          <p:cNvPr id="34" name="Shape 13">
            <a:extLst>
              <a:ext uri="{FF2B5EF4-FFF2-40B4-BE49-F238E27FC236}">
                <a16:creationId xmlns:a16="http://schemas.microsoft.com/office/drawing/2014/main" id="{5FBE5567-79A3-D281-D8E6-3D937D3AFCD3}"/>
              </a:ext>
            </a:extLst>
          </p:cNvPr>
          <p:cNvSpPr/>
          <p:nvPr/>
        </p:nvSpPr>
        <p:spPr>
          <a:xfrm>
            <a:off x="8100060" y="4937760"/>
            <a:ext cx="1417447"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35" name="Text 14">
            <a:extLst>
              <a:ext uri="{FF2B5EF4-FFF2-40B4-BE49-F238E27FC236}">
                <a16:creationId xmlns:a16="http://schemas.microsoft.com/office/drawing/2014/main" id="{D43835D3-AEEF-341D-89D9-211FB35BFFA2}"/>
              </a:ext>
            </a:extLst>
          </p:cNvPr>
          <p:cNvSpPr txBox="1"/>
          <p:nvPr/>
        </p:nvSpPr>
        <p:spPr>
          <a:xfrm>
            <a:off x="8100060" y="4949046"/>
            <a:ext cx="1417447"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Durable waits</a:t>
            </a:r>
            <a:endParaRPr lang="en-US" sz="1300" dirty="0"/>
          </a:p>
        </p:txBody>
      </p:sp>
    </p:spTree>
    <p:extLst>
      <p:ext uri="{BB962C8B-B14F-4D97-AF65-F5344CB8AC3E}">
        <p14:creationId xmlns:p14="http://schemas.microsoft.com/office/powerpoint/2010/main" val="3445010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Happy path: create → claim → run → complete</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Each arrow into the database is a single transaction; the event leaves through the outbox afterwards</a:t>
            </a:r>
            <a:endParaRPr lang="en-US" sz="1600" dirty="0"/>
          </a:p>
        </p:txBody>
      </p:sp>
      <p:sp>
        <p:nvSpPr>
          <p:cNvPr id="5" name="Shape 2"/>
          <p:cNvSpPr/>
          <p:nvPr/>
        </p:nvSpPr>
        <p:spPr>
          <a:xfrm>
            <a:off x="548640" y="1417320"/>
            <a:ext cx="1600200" cy="438912"/>
          </a:xfrm>
          <a:prstGeom prst="roundRect">
            <a:avLst>
              <a:gd name="adj" fmla="val 12500"/>
            </a:avLst>
          </a:prstGeom>
          <a:solidFill>
            <a:schemeClr val="bg1"/>
          </a:solidFill>
          <a:ln/>
        </p:spPr>
        <p:txBody>
          <a:bodyPr/>
          <a:lstStyle/>
          <a:p>
            <a:endParaRPr lang="en-US"/>
          </a:p>
        </p:txBody>
      </p:sp>
      <p:sp>
        <p:nvSpPr>
          <p:cNvPr id="6" name="Shape 3"/>
          <p:cNvSpPr/>
          <p:nvPr/>
        </p:nvSpPr>
        <p:spPr>
          <a:xfrm>
            <a:off x="548640" y="1417320"/>
            <a:ext cx="1600200" cy="438912"/>
          </a:xfrm>
          <a:prstGeom prst="roundRect">
            <a:avLst>
              <a:gd name="adj" fmla="val 12500"/>
            </a:avLst>
          </a:prstGeom>
          <a:solidFill>
            <a:schemeClr val="accent4">
              <a:lumMod val="40000"/>
              <a:lumOff val="60000"/>
              <a:alpha val="16000"/>
            </a:schemeClr>
          </a:solidFill>
          <a:ln w="15875">
            <a:solidFill>
              <a:srgbClr val="00B050"/>
            </a:solidFill>
            <a:prstDash val="solid"/>
          </a:ln>
        </p:spPr>
        <p:txBody>
          <a:bodyPr anchor="ctr"/>
          <a:lstStyle/>
          <a:p>
            <a:pPr algn="ctr"/>
            <a:r>
              <a:rPr lang="en-US" sz="1200" b="1" dirty="0">
                <a:latin typeface="Calibri" pitchFamily="34" charset="0"/>
                <a:cs typeface="Calibri" pitchFamily="34" charset="-120"/>
              </a:rPr>
              <a:t>Task Initiator</a:t>
            </a:r>
            <a:endParaRPr lang="en-US" sz="1200" dirty="0"/>
          </a:p>
        </p:txBody>
      </p:sp>
      <p:sp>
        <p:nvSpPr>
          <p:cNvPr id="8" name="Shape 5"/>
          <p:cNvSpPr/>
          <p:nvPr/>
        </p:nvSpPr>
        <p:spPr>
          <a:xfrm>
            <a:off x="2331720" y="1417320"/>
            <a:ext cx="1600200" cy="438912"/>
          </a:xfrm>
          <a:prstGeom prst="roundRect">
            <a:avLst>
              <a:gd name="adj" fmla="val 12500"/>
            </a:avLst>
          </a:prstGeom>
          <a:solidFill>
            <a:schemeClr val="bg1"/>
          </a:solidFill>
          <a:ln/>
        </p:spPr>
        <p:txBody>
          <a:bodyPr/>
          <a:lstStyle/>
          <a:p>
            <a:endParaRPr lang="en-US"/>
          </a:p>
        </p:txBody>
      </p:sp>
      <p:sp>
        <p:nvSpPr>
          <p:cNvPr id="9" name="Shape 6"/>
          <p:cNvSpPr/>
          <p:nvPr/>
        </p:nvSpPr>
        <p:spPr>
          <a:xfrm>
            <a:off x="2331720" y="1417320"/>
            <a:ext cx="1600200" cy="438912"/>
          </a:xfrm>
          <a:prstGeom prst="roundRect">
            <a:avLst>
              <a:gd name="adj" fmla="val 12500"/>
            </a:avLst>
          </a:prstGeom>
          <a:solidFill>
            <a:schemeClr val="accent5">
              <a:alpha val="16000"/>
            </a:schemeClr>
          </a:solidFill>
          <a:ln w="15875">
            <a:solidFill>
              <a:schemeClr val="accent5"/>
            </a:solidFill>
            <a:prstDash val="solid"/>
          </a:ln>
        </p:spPr>
        <p:txBody>
          <a:bodyPr anchor="ctr"/>
          <a:lstStyle/>
          <a:p>
            <a:pPr algn="ctr"/>
            <a:r>
              <a:rPr lang="en-US" sz="1200" b="1" dirty="0">
                <a:latin typeface="Calibri" pitchFamily="34" charset="0"/>
                <a:ea typeface="Calibri" pitchFamily="34" charset="-122"/>
                <a:cs typeface="Calibri" pitchFamily="34" charset="-120"/>
              </a:rPr>
              <a:t>Worker</a:t>
            </a:r>
            <a:endParaRPr lang="en-US" sz="1200" dirty="0"/>
          </a:p>
        </p:txBody>
      </p:sp>
      <p:sp>
        <p:nvSpPr>
          <p:cNvPr id="11" name="Shape 8"/>
          <p:cNvSpPr/>
          <p:nvPr/>
        </p:nvSpPr>
        <p:spPr>
          <a:xfrm>
            <a:off x="4114800" y="1417320"/>
            <a:ext cx="1600200" cy="438912"/>
          </a:xfrm>
          <a:prstGeom prst="roundRect">
            <a:avLst>
              <a:gd name="adj" fmla="val 12500"/>
            </a:avLst>
          </a:prstGeom>
          <a:solidFill>
            <a:schemeClr val="bg1"/>
          </a:solidFill>
          <a:ln/>
        </p:spPr>
        <p:txBody>
          <a:bodyPr/>
          <a:lstStyle/>
          <a:p>
            <a:endParaRPr lang="en-US"/>
          </a:p>
        </p:txBody>
      </p:sp>
      <p:sp>
        <p:nvSpPr>
          <p:cNvPr id="12" name="Shape 9"/>
          <p:cNvSpPr/>
          <p:nvPr/>
        </p:nvSpPr>
        <p:spPr>
          <a:xfrm>
            <a:off x="4114800" y="1417320"/>
            <a:ext cx="1600200" cy="438912"/>
          </a:xfrm>
          <a:prstGeom prst="roundRect">
            <a:avLst>
              <a:gd name="adj" fmla="val 12500"/>
            </a:avLst>
          </a:prstGeom>
          <a:solidFill>
            <a:schemeClr val="accent1">
              <a:alpha val="16000"/>
            </a:schemeClr>
          </a:solidFill>
          <a:ln w="15875">
            <a:solidFill>
              <a:schemeClr val="accent1"/>
            </a:solidFill>
            <a:prstDash val="solid"/>
          </a:ln>
        </p:spPr>
        <p:txBody>
          <a:bodyPr anchor="ctr"/>
          <a:lstStyle/>
          <a:p>
            <a:pPr algn="ctr"/>
            <a:r>
              <a:rPr lang="en-US" sz="1200" b="1" dirty="0">
                <a:latin typeface="Calibri" pitchFamily="34" charset="0"/>
                <a:ea typeface="Calibri" pitchFamily="34" charset="-122"/>
                <a:cs typeface="Calibri" pitchFamily="34" charset="-120"/>
              </a:rPr>
              <a:t>Task Engine</a:t>
            </a:r>
            <a:endParaRPr lang="en-US" sz="1200" dirty="0"/>
          </a:p>
        </p:txBody>
      </p:sp>
      <p:sp>
        <p:nvSpPr>
          <p:cNvPr id="14" name="Shape 11"/>
          <p:cNvSpPr/>
          <p:nvPr/>
        </p:nvSpPr>
        <p:spPr>
          <a:xfrm>
            <a:off x="5897880" y="1417320"/>
            <a:ext cx="1600200" cy="438912"/>
          </a:xfrm>
          <a:prstGeom prst="roundRect">
            <a:avLst>
              <a:gd name="adj" fmla="val 12500"/>
            </a:avLst>
          </a:prstGeom>
          <a:solidFill>
            <a:schemeClr val="bg1"/>
          </a:solidFill>
          <a:ln/>
        </p:spPr>
        <p:txBody>
          <a:bodyPr/>
          <a:lstStyle/>
          <a:p>
            <a:endParaRPr lang="en-US"/>
          </a:p>
        </p:txBody>
      </p:sp>
      <p:sp>
        <p:nvSpPr>
          <p:cNvPr id="15" name="Shape 12"/>
          <p:cNvSpPr/>
          <p:nvPr/>
        </p:nvSpPr>
        <p:spPr>
          <a:xfrm>
            <a:off x="5897880" y="1417320"/>
            <a:ext cx="1600200" cy="438912"/>
          </a:xfrm>
          <a:prstGeom prst="roundRect">
            <a:avLst>
              <a:gd name="adj" fmla="val 12500"/>
            </a:avLst>
          </a:prstGeom>
          <a:solidFill>
            <a:schemeClr val="accent2">
              <a:alpha val="16000"/>
            </a:schemeClr>
          </a:solidFill>
          <a:ln w="15875">
            <a:solidFill>
              <a:schemeClr val="accent2"/>
            </a:solidFill>
            <a:prstDash val="solid"/>
          </a:ln>
        </p:spPr>
        <p:txBody>
          <a:bodyPr anchor="ctr"/>
          <a:lstStyle/>
          <a:p>
            <a:pPr algn="ctr"/>
            <a:r>
              <a:rPr lang="en-US" sz="1200" b="1" dirty="0">
                <a:latin typeface="Calibri" pitchFamily="34" charset="0"/>
                <a:ea typeface="Calibri" pitchFamily="34" charset="-122"/>
                <a:cs typeface="Calibri" pitchFamily="34" charset="-120"/>
              </a:rPr>
              <a:t>Database</a:t>
            </a:r>
            <a:endParaRPr lang="en-US" sz="1200" dirty="0"/>
          </a:p>
        </p:txBody>
      </p:sp>
      <p:sp>
        <p:nvSpPr>
          <p:cNvPr id="17" name="Shape 14"/>
          <p:cNvSpPr/>
          <p:nvPr/>
        </p:nvSpPr>
        <p:spPr>
          <a:xfrm>
            <a:off x="1348740" y="1856232"/>
            <a:ext cx="91" cy="4568800"/>
          </a:xfrm>
          <a:prstGeom prst="line">
            <a:avLst/>
          </a:prstGeom>
          <a:noFill/>
          <a:ln w="9525">
            <a:solidFill>
              <a:schemeClr val="tx2"/>
            </a:solidFill>
            <a:prstDash val="dash"/>
            <a:headEnd type="none"/>
            <a:tailEnd type="none"/>
          </a:ln>
        </p:spPr>
        <p:txBody>
          <a:bodyPr/>
          <a:lstStyle/>
          <a:p>
            <a:endParaRPr lang="en-US"/>
          </a:p>
        </p:txBody>
      </p:sp>
      <p:sp>
        <p:nvSpPr>
          <p:cNvPr id="18" name="Shape 15"/>
          <p:cNvSpPr/>
          <p:nvPr/>
        </p:nvSpPr>
        <p:spPr>
          <a:xfrm>
            <a:off x="3131820" y="1856232"/>
            <a:ext cx="91" cy="4568800"/>
          </a:xfrm>
          <a:prstGeom prst="line">
            <a:avLst/>
          </a:prstGeom>
          <a:noFill/>
          <a:ln w="9525">
            <a:solidFill>
              <a:schemeClr val="tx2"/>
            </a:solidFill>
            <a:prstDash val="dash"/>
            <a:headEnd type="none"/>
            <a:tailEnd type="none"/>
          </a:ln>
        </p:spPr>
        <p:txBody>
          <a:bodyPr/>
          <a:lstStyle/>
          <a:p>
            <a:endParaRPr lang="en-US"/>
          </a:p>
        </p:txBody>
      </p:sp>
      <p:sp>
        <p:nvSpPr>
          <p:cNvPr id="19" name="Shape 16"/>
          <p:cNvSpPr/>
          <p:nvPr/>
        </p:nvSpPr>
        <p:spPr>
          <a:xfrm>
            <a:off x="4914900" y="1856232"/>
            <a:ext cx="91" cy="4568800"/>
          </a:xfrm>
          <a:prstGeom prst="line">
            <a:avLst/>
          </a:prstGeom>
          <a:noFill/>
          <a:ln w="9525">
            <a:solidFill>
              <a:schemeClr val="tx2"/>
            </a:solidFill>
            <a:prstDash val="dash"/>
            <a:headEnd type="none"/>
            <a:tailEnd type="none"/>
          </a:ln>
        </p:spPr>
        <p:txBody>
          <a:bodyPr/>
          <a:lstStyle/>
          <a:p>
            <a:endParaRPr lang="en-US"/>
          </a:p>
        </p:txBody>
      </p:sp>
      <p:sp>
        <p:nvSpPr>
          <p:cNvPr id="20" name="Shape 17"/>
          <p:cNvSpPr/>
          <p:nvPr/>
        </p:nvSpPr>
        <p:spPr>
          <a:xfrm>
            <a:off x="6697980" y="1856232"/>
            <a:ext cx="91" cy="4568800"/>
          </a:xfrm>
          <a:prstGeom prst="line">
            <a:avLst/>
          </a:prstGeom>
          <a:noFill/>
          <a:ln w="9525">
            <a:solidFill>
              <a:schemeClr val="tx2"/>
            </a:solidFill>
            <a:prstDash val="dash"/>
            <a:headEnd type="none"/>
            <a:tailEnd type="none"/>
          </a:ln>
        </p:spPr>
        <p:txBody>
          <a:bodyPr/>
          <a:lstStyle/>
          <a:p>
            <a:endParaRPr lang="en-US"/>
          </a:p>
        </p:txBody>
      </p:sp>
      <p:sp>
        <p:nvSpPr>
          <p:cNvPr id="21" name="Shape 18"/>
          <p:cNvSpPr/>
          <p:nvPr/>
        </p:nvSpPr>
        <p:spPr>
          <a:xfrm>
            <a:off x="1348740" y="2253996"/>
            <a:ext cx="3566160" cy="91"/>
          </a:xfrm>
          <a:prstGeom prst="line">
            <a:avLst/>
          </a:prstGeom>
          <a:noFill/>
          <a:ln w="19050">
            <a:solidFill>
              <a:schemeClr val="tx1"/>
            </a:solidFill>
            <a:prstDash val="solid"/>
            <a:headEnd type="none"/>
            <a:tailEnd type="triangle"/>
          </a:ln>
        </p:spPr>
        <p:txBody>
          <a:bodyPr/>
          <a:lstStyle/>
          <a:p>
            <a:endParaRPr lang="en-US"/>
          </a:p>
        </p:txBody>
      </p:sp>
      <p:sp>
        <p:nvSpPr>
          <p:cNvPr id="22" name="Shape 19"/>
          <p:cNvSpPr/>
          <p:nvPr/>
        </p:nvSpPr>
        <p:spPr>
          <a:xfrm>
            <a:off x="2165477" y="2043684"/>
            <a:ext cx="1932686" cy="173736"/>
          </a:xfrm>
          <a:prstGeom prst="rect">
            <a:avLst/>
          </a:prstGeom>
          <a:solidFill>
            <a:schemeClr val="bg1"/>
          </a:solidFill>
          <a:ln/>
        </p:spPr>
        <p:txBody>
          <a:bodyPr/>
          <a:lstStyle/>
          <a:p>
            <a:endParaRPr lang="en-US"/>
          </a:p>
        </p:txBody>
      </p:sp>
      <p:sp>
        <p:nvSpPr>
          <p:cNvPr id="23" name="Text 20"/>
          <p:cNvSpPr txBox="1"/>
          <p:nvPr/>
        </p:nvSpPr>
        <p:spPr>
          <a:xfrm>
            <a:off x="2119757" y="2034540"/>
            <a:ext cx="202412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POST /tasks + Idempotency-Key</a:t>
            </a:r>
            <a:endParaRPr lang="en-US" sz="1000" dirty="0"/>
          </a:p>
        </p:txBody>
      </p:sp>
      <p:sp>
        <p:nvSpPr>
          <p:cNvPr id="24" name="Shape 21"/>
          <p:cNvSpPr/>
          <p:nvPr/>
        </p:nvSpPr>
        <p:spPr>
          <a:xfrm>
            <a:off x="4914900" y="2537460"/>
            <a:ext cx="1783080" cy="91"/>
          </a:xfrm>
          <a:prstGeom prst="line">
            <a:avLst/>
          </a:prstGeom>
          <a:noFill/>
          <a:ln w="19050">
            <a:solidFill>
              <a:schemeClr val="tx1"/>
            </a:solidFill>
            <a:prstDash val="solid"/>
            <a:headEnd type="none"/>
            <a:tailEnd type="triangle"/>
          </a:ln>
        </p:spPr>
        <p:txBody>
          <a:bodyPr/>
          <a:lstStyle/>
          <a:p>
            <a:endParaRPr lang="en-US"/>
          </a:p>
        </p:txBody>
      </p:sp>
      <p:sp>
        <p:nvSpPr>
          <p:cNvPr id="25" name="Shape 22"/>
          <p:cNvSpPr/>
          <p:nvPr/>
        </p:nvSpPr>
        <p:spPr>
          <a:xfrm>
            <a:off x="5431282" y="2327148"/>
            <a:ext cx="750316" cy="173736"/>
          </a:xfrm>
          <a:prstGeom prst="rect">
            <a:avLst/>
          </a:prstGeom>
          <a:solidFill>
            <a:schemeClr val="bg1"/>
          </a:solidFill>
          <a:ln/>
        </p:spPr>
        <p:txBody>
          <a:bodyPr/>
          <a:lstStyle/>
          <a:p>
            <a:endParaRPr lang="en-US"/>
          </a:p>
        </p:txBody>
      </p:sp>
      <p:sp>
        <p:nvSpPr>
          <p:cNvPr id="26" name="Text 23"/>
          <p:cNvSpPr txBox="1"/>
          <p:nvPr/>
        </p:nvSpPr>
        <p:spPr>
          <a:xfrm>
            <a:off x="5385562" y="2318004"/>
            <a:ext cx="84175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create txn</a:t>
            </a:r>
            <a:endParaRPr lang="en-US" sz="1000" dirty="0"/>
          </a:p>
        </p:txBody>
      </p:sp>
      <p:sp>
        <p:nvSpPr>
          <p:cNvPr id="27" name="Text 24"/>
          <p:cNvSpPr txBox="1"/>
          <p:nvPr/>
        </p:nvSpPr>
        <p:spPr>
          <a:xfrm>
            <a:off x="6972300" y="2414016"/>
            <a:ext cx="4759452" cy="24688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BEGIN · reserve queue depth · INSERT task (queued) · outbox · COMMIT</a:t>
            </a:r>
            <a:endParaRPr lang="en-US" sz="1000" dirty="0"/>
          </a:p>
        </p:txBody>
      </p:sp>
      <p:sp>
        <p:nvSpPr>
          <p:cNvPr id="28" name="Shape 25"/>
          <p:cNvSpPr/>
          <p:nvPr/>
        </p:nvSpPr>
        <p:spPr>
          <a:xfrm flipH="1">
            <a:off x="1348740" y="2820924"/>
            <a:ext cx="3566160" cy="91"/>
          </a:xfrm>
          <a:prstGeom prst="line">
            <a:avLst/>
          </a:prstGeom>
          <a:noFill/>
          <a:ln w="12700">
            <a:solidFill>
              <a:schemeClr val="tx2"/>
            </a:solidFill>
            <a:prstDash val="dash"/>
            <a:headEnd type="none"/>
            <a:tailEnd type="triangle"/>
          </a:ln>
        </p:spPr>
        <p:txBody>
          <a:bodyPr/>
          <a:lstStyle/>
          <a:p>
            <a:endParaRPr lang="en-US"/>
          </a:p>
        </p:txBody>
      </p:sp>
      <p:sp>
        <p:nvSpPr>
          <p:cNvPr id="29" name="Shape 26"/>
          <p:cNvSpPr/>
          <p:nvPr/>
        </p:nvSpPr>
        <p:spPr>
          <a:xfrm>
            <a:off x="2507742" y="2610612"/>
            <a:ext cx="1248156" cy="173736"/>
          </a:xfrm>
          <a:prstGeom prst="rect">
            <a:avLst/>
          </a:prstGeom>
          <a:solidFill>
            <a:schemeClr val="bg1"/>
          </a:solidFill>
          <a:ln/>
        </p:spPr>
        <p:txBody>
          <a:bodyPr/>
          <a:lstStyle/>
          <a:p>
            <a:endParaRPr lang="en-US"/>
          </a:p>
        </p:txBody>
      </p:sp>
      <p:sp>
        <p:nvSpPr>
          <p:cNvPr id="30" name="Text 27"/>
          <p:cNvSpPr txBox="1"/>
          <p:nvPr/>
        </p:nvSpPr>
        <p:spPr>
          <a:xfrm>
            <a:off x="2462022" y="2601468"/>
            <a:ext cx="133959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201 Created {task}</a:t>
            </a:r>
            <a:endParaRPr lang="en-US" sz="1000" dirty="0"/>
          </a:p>
        </p:txBody>
      </p:sp>
      <p:sp>
        <p:nvSpPr>
          <p:cNvPr id="31" name="Text 28"/>
          <p:cNvSpPr txBox="1"/>
          <p:nvPr/>
        </p:nvSpPr>
        <p:spPr>
          <a:xfrm>
            <a:off x="6972300" y="2697480"/>
            <a:ext cx="4759452" cy="24688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signal newTask wakes parked long-polls</a:t>
            </a:r>
            <a:endParaRPr lang="en-US" sz="1000" dirty="0"/>
          </a:p>
        </p:txBody>
      </p:sp>
      <p:sp>
        <p:nvSpPr>
          <p:cNvPr id="32" name="Shape 29"/>
          <p:cNvSpPr/>
          <p:nvPr/>
        </p:nvSpPr>
        <p:spPr>
          <a:xfrm>
            <a:off x="3131820" y="3104388"/>
            <a:ext cx="1783080" cy="91"/>
          </a:xfrm>
          <a:prstGeom prst="line">
            <a:avLst/>
          </a:prstGeom>
          <a:noFill/>
          <a:ln w="19050">
            <a:solidFill>
              <a:schemeClr val="tx1"/>
            </a:solidFill>
            <a:prstDash val="solid"/>
            <a:headEnd type="none"/>
            <a:tailEnd type="triangle"/>
          </a:ln>
        </p:spPr>
        <p:txBody>
          <a:bodyPr/>
          <a:lstStyle/>
          <a:p>
            <a:endParaRPr lang="en-US"/>
          </a:p>
        </p:txBody>
      </p:sp>
      <p:sp>
        <p:nvSpPr>
          <p:cNvPr id="33" name="Shape 30"/>
          <p:cNvSpPr/>
          <p:nvPr/>
        </p:nvSpPr>
        <p:spPr>
          <a:xfrm>
            <a:off x="3204972" y="2894076"/>
            <a:ext cx="1636776" cy="173736"/>
          </a:xfrm>
          <a:prstGeom prst="rect">
            <a:avLst/>
          </a:prstGeom>
          <a:solidFill>
            <a:schemeClr val="bg1"/>
          </a:solidFill>
          <a:ln/>
        </p:spPr>
        <p:txBody>
          <a:bodyPr/>
          <a:lstStyle/>
          <a:p>
            <a:endParaRPr lang="en-US"/>
          </a:p>
        </p:txBody>
      </p:sp>
      <p:sp>
        <p:nvSpPr>
          <p:cNvPr id="34" name="Text 31"/>
          <p:cNvSpPr txBox="1"/>
          <p:nvPr/>
        </p:nvSpPr>
        <p:spPr>
          <a:xfrm>
            <a:off x="3186683" y="2933304"/>
            <a:ext cx="2244417" cy="152795"/>
          </a:xfrm>
          <a:prstGeom prst="rect">
            <a:avLst/>
          </a:prstGeom>
          <a:noFill/>
          <a:ln/>
        </p:spPr>
        <p:txBody>
          <a:bodyPr wrap="square" lIns="0" tIns="0" rIns="0" bIns="0" rtlCol="0" anchor="b"/>
          <a:lstStyle/>
          <a:p>
            <a:pPr marL="0" indent="0">
              <a:buNone/>
            </a:pPr>
            <a:r>
              <a:rPr lang="en-US" sz="1000" dirty="0">
                <a:solidFill>
                  <a:schemeClr val="tx1"/>
                </a:solidFill>
                <a:latin typeface="Calibri" pitchFamily="34" charset="0"/>
                <a:ea typeface="Calibri" pitchFamily="34" charset="-122"/>
                <a:cs typeface="Calibri" pitchFamily="34" charset="-120"/>
              </a:rPr>
              <a:t>POST /tasks/claim (long-poll) or </a:t>
            </a:r>
            <a:r>
              <a:rPr lang="en-US" sz="1000" dirty="0" err="1">
                <a:solidFill>
                  <a:schemeClr val="tx1"/>
                </a:solidFill>
                <a:latin typeface="Calibri" pitchFamily="34" charset="0"/>
                <a:ea typeface="Calibri" pitchFamily="34" charset="-122"/>
                <a:cs typeface="Calibri" pitchFamily="34" charset="-120"/>
              </a:rPr>
              <a:t>gRPC</a:t>
            </a:r>
            <a:r>
              <a:rPr lang="en-US" sz="1000" dirty="0">
                <a:solidFill>
                  <a:schemeClr val="tx1"/>
                </a:solidFill>
                <a:latin typeface="Calibri" pitchFamily="34" charset="0"/>
                <a:ea typeface="Calibri" pitchFamily="34" charset="-122"/>
                <a:cs typeface="Calibri" pitchFamily="34" charset="-120"/>
              </a:rPr>
              <a:t>)</a:t>
            </a:r>
            <a:endParaRPr lang="en-US" sz="1000" dirty="0"/>
          </a:p>
        </p:txBody>
      </p:sp>
      <p:sp>
        <p:nvSpPr>
          <p:cNvPr id="35" name="Shape 32"/>
          <p:cNvSpPr/>
          <p:nvPr/>
        </p:nvSpPr>
        <p:spPr>
          <a:xfrm>
            <a:off x="4914900" y="3387852"/>
            <a:ext cx="1783080" cy="91"/>
          </a:xfrm>
          <a:prstGeom prst="line">
            <a:avLst/>
          </a:prstGeom>
          <a:noFill/>
          <a:ln w="19050">
            <a:solidFill>
              <a:schemeClr val="tx1"/>
            </a:solidFill>
            <a:prstDash val="solid"/>
            <a:headEnd type="none"/>
            <a:tailEnd type="triangle"/>
          </a:ln>
        </p:spPr>
        <p:txBody>
          <a:bodyPr/>
          <a:lstStyle/>
          <a:p>
            <a:endParaRPr lang="en-US"/>
          </a:p>
        </p:txBody>
      </p:sp>
      <p:sp>
        <p:nvSpPr>
          <p:cNvPr id="36" name="Shape 33"/>
          <p:cNvSpPr/>
          <p:nvPr/>
        </p:nvSpPr>
        <p:spPr>
          <a:xfrm>
            <a:off x="5462397" y="3177540"/>
            <a:ext cx="688086" cy="173736"/>
          </a:xfrm>
          <a:prstGeom prst="rect">
            <a:avLst/>
          </a:prstGeom>
          <a:solidFill>
            <a:schemeClr val="bg1"/>
          </a:solidFill>
          <a:ln/>
        </p:spPr>
        <p:txBody>
          <a:bodyPr/>
          <a:lstStyle/>
          <a:p>
            <a:endParaRPr lang="en-US"/>
          </a:p>
        </p:txBody>
      </p:sp>
      <p:sp>
        <p:nvSpPr>
          <p:cNvPr id="37" name="Text 34"/>
          <p:cNvSpPr txBox="1"/>
          <p:nvPr/>
        </p:nvSpPr>
        <p:spPr>
          <a:xfrm>
            <a:off x="5416677" y="3168396"/>
            <a:ext cx="77952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claim txn</a:t>
            </a:r>
            <a:endParaRPr lang="en-US" sz="1000" dirty="0"/>
          </a:p>
        </p:txBody>
      </p:sp>
      <p:sp>
        <p:nvSpPr>
          <p:cNvPr id="38" name="Text 35"/>
          <p:cNvSpPr txBox="1"/>
          <p:nvPr/>
        </p:nvSpPr>
        <p:spPr>
          <a:xfrm>
            <a:off x="6972300" y="3264408"/>
            <a:ext cx="4759452" cy="24688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reserve slot WHERE used &lt; limit · UPDATE state=claimed WHERE state=queued</a:t>
            </a:r>
            <a:endParaRPr lang="en-US" sz="1000" dirty="0"/>
          </a:p>
        </p:txBody>
      </p:sp>
      <p:sp>
        <p:nvSpPr>
          <p:cNvPr id="39" name="Shape 36"/>
          <p:cNvSpPr/>
          <p:nvPr/>
        </p:nvSpPr>
        <p:spPr>
          <a:xfrm flipH="1">
            <a:off x="3131820" y="3671316"/>
            <a:ext cx="1783080" cy="91"/>
          </a:xfrm>
          <a:prstGeom prst="line">
            <a:avLst/>
          </a:prstGeom>
          <a:noFill/>
          <a:ln w="12700">
            <a:solidFill>
              <a:schemeClr val="tx2"/>
            </a:solidFill>
            <a:prstDash val="dash"/>
            <a:headEnd type="none"/>
            <a:tailEnd type="triangle"/>
          </a:ln>
        </p:spPr>
        <p:txBody>
          <a:bodyPr/>
          <a:lstStyle/>
          <a:p>
            <a:endParaRPr lang="en-US"/>
          </a:p>
        </p:txBody>
      </p:sp>
      <p:sp>
        <p:nvSpPr>
          <p:cNvPr id="40" name="Shape 37"/>
          <p:cNvSpPr/>
          <p:nvPr/>
        </p:nvSpPr>
        <p:spPr>
          <a:xfrm>
            <a:off x="3430397" y="3461004"/>
            <a:ext cx="1185926" cy="173736"/>
          </a:xfrm>
          <a:prstGeom prst="rect">
            <a:avLst/>
          </a:prstGeom>
          <a:solidFill>
            <a:schemeClr val="bg1"/>
          </a:solidFill>
          <a:ln/>
        </p:spPr>
        <p:txBody>
          <a:bodyPr/>
          <a:lstStyle/>
          <a:p>
            <a:endParaRPr lang="en-US"/>
          </a:p>
        </p:txBody>
      </p:sp>
      <p:sp>
        <p:nvSpPr>
          <p:cNvPr id="41" name="Text 38"/>
          <p:cNvSpPr txBox="1"/>
          <p:nvPr/>
        </p:nvSpPr>
        <p:spPr>
          <a:xfrm>
            <a:off x="3384677" y="3451860"/>
            <a:ext cx="127736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200 {task, lease}</a:t>
            </a:r>
            <a:endParaRPr lang="en-US" sz="1000" dirty="0"/>
          </a:p>
        </p:txBody>
      </p:sp>
      <p:sp>
        <p:nvSpPr>
          <p:cNvPr id="42" name="Text 39"/>
          <p:cNvSpPr txBox="1"/>
          <p:nvPr/>
        </p:nvSpPr>
        <p:spPr>
          <a:xfrm>
            <a:off x="6972300" y="3547872"/>
            <a:ext cx="4759452" cy="24688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lease = lease_token (new UUIDv7) + lease_epoch (+1) + attempt</a:t>
            </a:r>
            <a:endParaRPr lang="en-US" sz="1000" dirty="0"/>
          </a:p>
        </p:txBody>
      </p:sp>
      <p:sp>
        <p:nvSpPr>
          <p:cNvPr id="43" name="Shape 40"/>
          <p:cNvSpPr/>
          <p:nvPr/>
        </p:nvSpPr>
        <p:spPr>
          <a:xfrm>
            <a:off x="3131820" y="3954780"/>
            <a:ext cx="1783080" cy="91"/>
          </a:xfrm>
          <a:prstGeom prst="line">
            <a:avLst/>
          </a:prstGeom>
          <a:noFill/>
          <a:ln w="19050">
            <a:solidFill>
              <a:schemeClr val="tx1"/>
            </a:solidFill>
            <a:prstDash val="solid"/>
            <a:headEnd type="none"/>
            <a:tailEnd type="triangle"/>
          </a:ln>
        </p:spPr>
        <p:txBody>
          <a:bodyPr/>
          <a:lstStyle/>
          <a:p>
            <a:endParaRPr lang="en-US"/>
          </a:p>
        </p:txBody>
      </p:sp>
      <p:sp>
        <p:nvSpPr>
          <p:cNvPr id="44" name="Shape 41"/>
          <p:cNvSpPr/>
          <p:nvPr/>
        </p:nvSpPr>
        <p:spPr>
          <a:xfrm>
            <a:off x="3368167" y="3744468"/>
            <a:ext cx="1310386" cy="173736"/>
          </a:xfrm>
          <a:prstGeom prst="rect">
            <a:avLst/>
          </a:prstGeom>
          <a:solidFill>
            <a:schemeClr val="bg1"/>
          </a:solidFill>
          <a:ln/>
        </p:spPr>
        <p:txBody>
          <a:bodyPr/>
          <a:lstStyle/>
          <a:p>
            <a:endParaRPr lang="en-US"/>
          </a:p>
        </p:txBody>
      </p:sp>
      <p:sp>
        <p:nvSpPr>
          <p:cNvPr id="45" name="Text 42"/>
          <p:cNvSpPr txBox="1"/>
          <p:nvPr/>
        </p:nvSpPr>
        <p:spPr>
          <a:xfrm>
            <a:off x="3322447" y="3735324"/>
            <a:ext cx="140182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start {lease_token}</a:t>
            </a:r>
            <a:endParaRPr lang="en-US" sz="1000" dirty="0"/>
          </a:p>
        </p:txBody>
      </p:sp>
      <p:sp>
        <p:nvSpPr>
          <p:cNvPr id="46" name="Shape 43"/>
          <p:cNvSpPr/>
          <p:nvPr/>
        </p:nvSpPr>
        <p:spPr>
          <a:xfrm>
            <a:off x="2720340" y="4114800"/>
            <a:ext cx="4142232" cy="695401"/>
          </a:xfrm>
          <a:prstGeom prst="roundRect">
            <a:avLst>
              <a:gd name="adj" fmla="val 2630"/>
            </a:avLst>
          </a:prstGeom>
          <a:ln w="9525">
            <a:solidFill>
              <a:schemeClr val="tx2"/>
            </a:solidFill>
            <a:prstDash val="dash"/>
          </a:ln>
        </p:spPr>
        <p:txBody>
          <a:bodyPr/>
          <a:lstStyle/>
          <a:p>
            <a:endParaRPr lang="en-US"/>
          </a:p>
        </p:txBody>
      </p:sp>
      <p:sp>
        <p:nvSpPr>
          <p:cNvPr id="47" name="Shape 44"/>
          <p:cNvSpPr/>
          <p:nvPr/>
        </p:nvSpPr>
        <p:spPr>
          <a:xfrm>
            <a:off x="2720340" y="4114800"/>
            <a:ext cx="420350" cy="182880"/>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48" name="Text 45"/>
          <p:cNvSpPr txBox="1"/>
          <p:nvPr/>
        </p:nvSpPr>
        <p:spPr>
          <a:xfrm>
            <a:off x="2720340" y="4114800"/>
            <a:ext cx="420350" cy="182880"/>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loop</a:t>
            </a:r>
            <a:endParaRPr lang="en-US" sz="900" dirty="0"/>
          </a:p>
        </p:txBody>
      </p:sp>
      <p:sp>
        <p:nvSpPr>
          <p:cNvPr id="49" name="Shape 46"/>
          <p:cNvSpPr/>
          <p:nvPr/>
        </p:nvSpPr>
        <p:spPr>
          <a:xfrm>
            <a:off x="3131820" y="4394149"/>
            <a:ext cx="1783080" cy="91"/>
          </a:xfrm>
          <a:prstGeom prst="line">
            <a:avLst/>
          </a:prstGeom>
          <a:noFill/>
          <a:ln w="19050">
            <a:solidFill>
              <a:schemeClr val="tx1"/>
            </a:solidFill>
            <a:prstDash val="solid"/>
            <a:headEnd type="none"/>
            <a:tailEnd type="triangle"/>
          </a:ln>
        </p:spPr>
        <p:txBody>
          <a:bodyPr/>
          <a:lstStyle/>
          <a:p>
            <a:endParaRPr lang="en-US"/>
          </a:p>
        </p:txBody>
      </p:sp>
      <p:sp>
        <p:nvSpPr>
          <p:cNvPr id="50" name="Shape 47"/>
          <p:cNvSpPr/>
          <p:nvPr/>
        </p:nvSpPr>
        <p:spPr>
          <a:xfrm>
            <a:off x="3243707" y="4183837"/>
            <a:ext cx="1559306" cy="173736"/>
          </a:xfrm>
          <a:prstGeom prst="rect">
            <a:avLst/>
          </a:prstGeom>
          <a:solidFill>
            <a:schemeClr val="bg1"/>
          </a:solidFill>
          <a:ln/>
        </p:spPr>
        <p:txBody>
          <a:bodyPr/>
          <a:lstStyle/>
          <a:p>
            <a:endParaRPr lang="en-US"/>
          </a:p>
        </p:txBody>
      </p:sp>
      <p:sp>
        <p:nvSpPr>
          <p:cNvPr id="51" name="Text 48"/>
          <p:cNvSpPr txBox="1"/>
          <p:nvPr/>
        </p:nvSpPr>
        <p:spPr>
          <a:xfrm>
            <a:off x="3197987" y="4174693"/>
            <a:ext cx="165074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heartbeat {lease_token}</a:t>
            </a:r>
            <a:endParaRPr lang="en-US" sz="1000" dirty="0"/>
          </a:p>
        </p:txBody>
      </p:sp>
      <p:sp>
        <p:nvSpPr>
          <p:cNvPr id="52" name="Text 49"/>
          <p:cNvSpPr txBox="1"/>
          <p:nvPr/>
        </p:nvSpPr>
        <p:spPr>
          <a:xfrm>
            <a:off x="6972300" y="4270705"/>
            <a:ext cx="4759452" cy="24688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response carries cancel_requested → stop gracefully</a:t>
            </a:r>
            <a:endParaRPr lang="en-US" sz="1000" dirty="0"/>
          </a:p>
        </p:txBody>
      </p:sp>
      <p:sp>
        <p:nvSpPr>
          <p:cNvPr id="53" name="Shape 50"/>
          <p:cNvSpPr/>
          <p:nvPr/>
        </p:nvSpPr>
        <p:spPr>
          <a:xfrm>
            <a:off x="4914900" y="4677613"/>
            <a:ext cx="1783080" cy="91"/>
          </a:xfrm>
          <a:prstGeom prst="line">
            <a:avLst/>
          </a:prstGeom>
          <a:noFill/>
          <a:ln w="19050">
            <a:solidFill>
              <a:schemeClr val="tx1"/>
            </a:solidFill>
            <a:prstDash val="solid"/>
            <a:headEnd type="none"/>
            <a:tailEnd type="triangle"/>
          </a:ln>
        </p:spPr>
        <p:txBody>
          <a:bodyPr/>
          <a:lstStyle/>
          <a:p>
            <a:endParaRPr lang="en-US"/>
          </a:p>
        </p:txBody>
      </p:sp>
      <p:sp>
        <p:nvSpPr>
          <p:cNvPr id="54" name="Shape 51"/>
          <p:cNvSpPr/>
          <p:nvPr/>
        </p:nvSpPr>
        <p:spPr>
          <a:xfrm>
            <a:off x="5586857" y="4467301"/>
            <a:ext cx="439166" cy="173736"/>
          </a:xfrm>
          <a:prstGeom prst="rect">
            <a:avLst/>
          </a:prstGeom>
          <a:solidFill>
            <a:schemeClr val="bg1"/>
          </a:solidFill>
          <a:ln/>
        </p:spPr>
        <p:txBody>
          <a:bodyPr/>
          <a:lstStyle/>
          <a:p>
            <a:endParaRPr lang="en-US"/>
          </a:p>
        </p:txBody>
      </p:sp>
      <p:sp>
        <p:nvSpPr>
          <p:cNvPr id="55" name="Text 52"/>
          <p:cNvSpPr txBox="1"/>
          <p:nvPr/>
        </p:nvSpPr>
        <p:spPr>
          <a:xfrm>
            <a:off x="5541137" y="4458157"/>
            <a:ext cx="53060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renew</a:t>
            </a:r>
            <a:endParaRPr lang="en-US" sz="1000" dirty="0"/>
          </a:p>
        </p:txBody>
      </p:sp>
      <p:sp>
        <p:nvSpPr>
          <p:cNvPr id="56" name="Text 53"/>
          <p:cNvSpPr txBox="1"/>
          <p:nvPr/>
        </p:nvSpPr>
        <p:spPr>
          <a:xfrm>
            <a:off x="6972300" y="4554169"/>
            <a:ext cx="4759452" cy="24688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UPDATE lease_until = now + lease WHERE lease_token = ?</a:t>
            </a:r>
            <a:endParaRPr lang="en-US" sz="1000" dirty="0"/>
          </a:p>
        </p:txBody>
      </p:sp>
      <p:sp>
        <p:nvSpPr>
          <p:cNvPr id="57" name="Shape 54"/>
          <p:cNvSpPr/>
          <p:nvPr/>
        </p:nvSpPr>
        <p:spPr>
          <a:xfrm>
            <a:off x="3131820" y="5046116"/>
            <a:ext cx="1783080" cy="91"/>
          </a:xfrm>
          <a:prstGeom prst="line">
            <a:avLst/>
          </a:prstGeom>
          <a:noFill/>
          <a:ln w="19050">
            <a:solidFill>
              <a:schemeClr val="tx1"/>
            </a:solidFill>
            <a:prstDash val="solid"/>
            <a:headEnd type="none"/>
            <a:tailEnd type="triangle"/>
          </a:ln>
        </p:spPr>
        <p:txBody>
          <a:bodyPr/>
          <a:lstStyle/>
          <a:p>
            <a:endParaRPr lang="en-US"/>
          </a:p>
        </p:txBody>
      </p:sp>
      <p:sp>
        <p:nvSpPr>
          <p:cNvPr id="58" name="Shape 55"/>
          <p:cNvSpPr/>
          <p:nvPr/>
        </p:nvSpPr>
        <p:spPr>
          <a:xfrm>
            <a:off x="3710432" y="4835804"/>
            <a:ext cx="625856" cy="173736"/>
          </a:xfrm>
          <a:prstGeom prst="rect">
            <a:avLst/>
          </a:prstGeom>
          <a:solidFill>
            <a:schemeClr val="bg1"/>
          </a:solidFill>
          <a:ln/>
        </p:spPr>
        <p:txBody>
          <a:bodyPr/>
          <a:lstStyle/>
          <a:p>
            <a:endParaRPr lang="en-US"/>
          </a:p>
        </p:txBody>
      </p:sp>
      <p:sp>
        <p:nvSpPr>
          <p:cNvPr id="59" name="Text 56"/>
          <p:cNvSpPr txBox="1"/>
          <p:nvPr/>
        </p:nvSpPr>
        <p:spPr>
          <a:xfrm>
            <a:off x="3664712" y="4826660"/>
            <a:ext cx="71729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progress</a:t>
            </a:r>
            <a:endParaRPr lang="en-US" sz="1000" dirty="0"/>
          </a:p>
        </p:txBody>
      </p:sp>
      <p:sp>
        <p:nvSpPr>
          <p:cNvPr id="60" name="Text 57"/>
          <p:cNvSpPr txBox="1"/>
          <p:nvPr/>
        </p:nvSpPr>
        <p:spPr>
          <a:xfrm>
            <a:off x="6972300" y="4837633"/>
            <a:ext cx="4759452" cy="416966"/>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buffered in Progress Cache, flushed in batches</a:t>
            </a:r>
            <a:endParaRPr lang="en-US" sz="1000" dirty="0"/>
          </a:p>
        </p:txBody>
      </p:sp>
      <p:sp>
        <p:nvSpPr>
          <p:cNvPr id="61" name="Shape 58"/>
          <p:cNvSpPr/>
          <p:nvPr/>
        </p:nvSpPr>
        <p:spPr>
          <a:xfrm>
            <a:off x="3131820" y="5414620"/>
            <a:ext cx="1783080" cy="91"/>
          </a:xfrm>
          <a:prstGeom prst="line">
            <a:avLst/>
          </a:prstGeom>
          <a:noFill/>
          <a:ln w="19050">
            <a:solidFill>
              <a:schemeClr val="tx1"/>
            </a:solidFill>
            <a:prstDash val="solid"/>
            <a:headEnd type="none"/>
            <a:tailEnd type="triangle"/>
          </a:ln>
        </p:spPr>
        <p:txBody>
          <a:bodyPr/>
          <a:lstStyle/>
          <a:p>
            <a:endParaRPr lang="en-US"/>
          </a:p>
        </p:txBody>
      </p:sp>
      <p:sp>
        <p:nvSpPr>
          <p:cNvPr id="62" name="Shape 59"/>
          <p:cNvSpPr/>
          <p:nvPr/>
        </p:nvSpPr>
        <p:spPr>
          <a:xfrm>
            <a:off x="3212592" y="5204308"/>
            <a:ext cx="1621536" cy="173736"/>
          </a:xfrm>
          <a:prstGeom prst="rect">
            <a:avLst/>
          </a:prstGeom>
          <a:solidFill>
            <a:schemeClr val="bg1"/>
          </a:solidFill>
          <a:ln/>
        </p:spPr>
        <p:txBody>
          <a:bodyPr/>
          <a:lstStyle/>
          <a:p>
            <a:endParaRPr lang="en-US"/>
          </a:p>
        </p:txBody>
      </p:sp>
      <p:sp>
        <p:nvSpPr>
          <p:cNvPr id="63" name="Text 60"/>
          <p:cNvSpPr txBox="1"/>
          <p:nvPr/>
        </p:nvSpPr>
        <p:spPr>
          <a:xfrm>
            <a:off x="3166872" y="5195164"/>
            <a:ext cx="171297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complete {token, result}</a:t>
            </a:r>
            <a:endParaRPr lang="en-US" sz="1000" dirty="0"/>
          </a:p>
        </p:txBody>
      </p:sp>
      <p:sp>
        <p:nvSpPr>
          <p:cNvPr id="64" name="Shape 61"/>
          <p:cNvSpPr/>
          <p:nvPr/>
        </p:nvSpPr>
        <p:spPr>
          <a:xfrm>
            <a:off x="4914900" y="5698084"/>
            <a:ext cx="1783080" cy="91"/>
          </a:xfrm>
          <a:prstGeom prst="line">
            <a:avLst/>
          </a:prstGeom>
          <a:noFill/>
          <a:ln w="19050">
            <a:solidFill>
              <a:schemeClr val="tx1"/>
            </a:solidFill>
            <a:prstDash val="solid"/>
            <a:headEnd type="none"/>
            <a:tailEnd type="triangle"/>
          </a:ln>
        </p:spPr>
        <p:txBody>
          <a:bodyPr/>
          <a:lstStyle/>
          <a:p>
            <a:endParaRPr lang="en-US"/>
          </a:p>
        </p:txBody>
      </p:sp>
      <p:sp>
        <p:nvSpPr>
          <p:cNvPr id="65" name="Shape 62"/>
          <p:cNvSpPr/>
          <p:nvPr/>
        </p:nvSpPr>
        <p:spPr>
          <a:xfrm>
            <a:off x="5431282" y="5487772"/>
            <a:ext cx="750316" cy="173736"/>
          </a:xfrm>
          <a:prstGeom prst="rect">
            <a:avLst/>
          </a:prstGeom>
          <a:solidFill>
            <a:schemeClr val="bg1"/>
          </a:solidFill>
          <a:ln/>
        </p:spPr>
        <p:txBody>
          <a:bodyPr/>
          <a:lstStyle/>
          <a:p>
            <a:endParaRPr lang="en-US"/>
          </a:p>
        </p:txBody>
      </p:sp>
      <p:sp>
        <p:nvSpPr>
          <p:cNvPr id="66" name="Text 63"/>
          <p:cNvSpPr txBox="1"/>
          <p:nvPr/>
        </p:nvSpPr>
        <p:spPr>
          <a:xfrm>
            <a:off x="5385562" y="5478628"/>
            <a:ext cx="84175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finish txn</a:t>
            </a:r>
            <a:endParaRPr lang="en-US" sz="1000" dirty="0"/>
          </a:p>
        </p:txBody>
      </p:sp>
      <p:sp>
        <p:nvSpPr>
          <p:cNvPr id="67" name="Text 64"/>
          <p:cNvSpPr txBox="1"/>
          <p:nvPr/>
        </p:nvSpPr>
        <p:spPr>
          <a:xfrm>
            <a:off x="6972300" y="5574640"/>
            <a:ext cx="4759452" cy="24688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UPDATE state=completed WHERE lease_token=? · release slots · outbox</a:t>
            </a:r>
            <a:endParaRPr lang="en-US" sz="1000" dirty="0"/>
          </a:p>
        </p:txBody>
      </p:sp>
      <p:sp>
        <p:nvSpPr>
          <p:cNvPr id="68" name="Shape 65"/>
          <p:cNvSpPr/>
          <p:nvPr/>
        </p:nvSpPr>
        <p:spPr>
          <a:xfrm flipH="1">
            <a:off x="3131820" y="5981548"/>
            <a:ext cx="1783080" cy="91"/>
          </a:xfrm>
          <a:prstGeom prst="line">
            <a:avLst/>
          </a:prstGeom>
          <a:noFill/>
          <a:ln w="12700">
            <a:solidFill>
              <a:schemeClr val="tx2"/>
            </a:solidFill>
            <a:prstDash val="dash"/>
            <a:headEnd type="none"/>
            <a:tailEnd type="triangle"/>
          </a:ln>
        </p:spPr>
        <p:txBody>
          <a:bodyPr/>
          <a:lstStyle/>
          <a:p>
            <a:endParaRPr lang="en-US"/>
          </a:p>
        </p:txBody>
      </p:sp>
      <p:sp>
        <p:nvSpPr>
          <p:cNvPr id="69" name="Shape 66"/>
          <p:cNvSpPr/>
          <p:nvPr/>
        </p:nvSpPr>
        <p:spPr>
          <a:xfrm>
            <a:off x="3772662" y="5771236"/>
            <a:ext cx="501396" cy="173736"/>
          </a:xfrm>
          <a:prstGeom prst="rect">
            <a:avLst/>
          </a:prstGeom>
          <a:solidFill>
            <a:schemeClr val="bg1"/>
          </a:solidFill>
          <a:ln/>
        </p:spPr>
        <p:txBody>
          <a:bodyPr/>
          <a:lstStyle/>
          <a:p>
            <a:endParaRPr lang="en-US"/>
          </a:p>
        </p:txBody>
      </p:sp>
      <p:sp>
        <p:nvSpPr>
          <p:cNvPr id="70" name="Text 67"/>
          <p:cNvSpPr txBox="1"/>
          <p:nvPr/>
        </p:nvSpPr>
        <p:spPr>
          <a:xfrm>
            <a:off x="3726942" y="5762092"/>
            <a:ext cx="59283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200 OK</a:t>
            </a:r>
            <a:endParaRPr lang="en-US" sz="1000" dirty="0"/>
          </a:p>
        </p:txBody>
      </p:sp>
      <p:sp>
        <p:nvSpPr>
          <p:cNvPr id="71" name="Shape 68"/>
          <p:cNvSpPr/>
          <p:nvPr/>
        </p:nvSpPr>
        <p:spPr>
          <a:xfrm>
            <a:off x="662940" y="6123280"/>
            <a:ext cx="6720840" cy="210312"/>
          </a:xfrm>
          <a:prstGeom prst="roundRect">
            <a:avLst>
              <a:gd name="adj" fmla="val 26087"/>
            </a:avLst>
          </a:prstGeom>
          <a:solidFill>
            <a:schemeClr val="bg1"/>
          </a:solidFill>
          <a:ln/>
        </p:spPr>
        <p:txBody>
          <a:bodyPr/>
          <a:lstStyle/>
          <a:p>
            <a:endParaRPr lang="en-US"/>
          </a:p>
        </p:txBody>
      </p:sp>
      <p:sp>
        <p:nvSpPr>
          <p:cNvPr id="72" name="Shape 69"/>
          <p:cNvSpPr/>
          <p:nvPr/>
        </p:nvSpPr>
        <p:spPr>
          <a:xfrm>
            <a:off x="662940" y="6123280"/>
            <a:ext cx="6720840" cy="210312"/>
          </a:xfrm>
          <a:prstGeom prst="roundRect">
            <a:avLst>
              <a:gd name="adj" fmla="val 26087"/>
            </a:avLst>
          </a:prstGeom>
          <a:solidFill>
            <a:schemeClr val="accent5">
              <a:alpha val="12000"/>
            </a:schemeClr>
          </a:solidFill>
          <a:ln w="15875">
            <a:solidFill>
              <a:schemeClr val="accent5"/>
            </a:solidFill>
            <a:prstDash val="dash"/>
          </a:ln>
        </p:spPr>
        <p:txBody>
          <a:bodyPr/>
          <a:lstStyle/>
          <a:p>
            <a:endParaRPr lang="en-US"/>
          </a:p>
        </p:txBody>
      </p:sp>
      <p:sp>
        <p:nvSpPr>
          <p:cNvPr id="73" name="Text 70"/>
          <p:cNvSpPr txBox="1"/>
          <p:nvPr/>
        </p:nvSpPr>
        <p:spPr>
          <a:xfrm>
            <a:off x="754380" y="6123280"/>
            <a:ext cx="6537960" cy="210312"/>
          </a:xfrm>
          <a:prstGeom prst="rect">
            <a:avLst/>
          </a:prstGeom>
          <a:noFill/>
          <a:ln/>
        </p:spPr>
        <p:txBody>
          <a:bodyPr wrap="square" lIns="0" tIns="0" rIns="0" bIns="0" rtlCol="0" anchor="ctr"/>
          <a:lstStyle/>
          <a:p>
            <a:pPr marL="0" indent="0" algn="ctr">
              <a:buNone/>
            </a:pPr>
            <a:r>
              <a:rPr lang="en-US" sz="1000" i="1" dirty="0">
                <a:solidFill>
                  <a:schemeClr val="tx2"/>
                </a:solidFill>
                <a:latin typeface="Calibri" pitchFamily="34" charset="0"/>
                <a:ea typeface="Calibri" pitchFamily="34" charset="-122"/>
                <a:cs typeface="Calibri" pitchFamily="34" charset="-120"/>
              </a:rPr>
              <a:t>Outbox relay → Event Broker: TaskCreated · TaskClaimed · TaskCompleted (at-least-once, deduped)</a:t>
            </a:r>
            <a:endParaRPr lang="en-US" sz="10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18</a:t>
            </a:fld>
            <a:endParaRPr lang="en-US"/>
          </a:p>
        </p:txBody>
      </p:sp>
      <p:sp>
        <p:nvSpPr>
          <p:cNvPr id="74" name="Rectangle 73">
            <a:extLst>
              <a:ext uri="{FF2B5EF4-FFF2-40B4-BE49-F238E27FC236}">
                <a16:creationId xmlns:a16="http://schemas.microsoft.com/office/drawing/2014/main" id="{BB0E1EAA-6D8B-AFB6-8F35-59B6987EF2AB}"/>
              </a:ext>
            </a:extLst>
          </p:cNvPr>
          <p:cNvSpPr/>
          <p:nvPr/>
        </p:nvSpPr>
        <p:spPr>
          <a:xfrm>
            <a:off x="9976104" y="1"/>
            <a:ext cx="2215896" cy="4846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t>1. To remove task initiator</a:t>
            </a:r>
            <a:br>
              <a:rPr lang="en-US" sz="1000" dirty="0"/>
            </a:br>
            <a:r>
              <a:rPr lang="en-US" sz="1000" dirty="0"/>
              <a:t>2. To add election SELECT in Worker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Atomic claim, step by step: two workers race for T42</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No SELECT … FOR UPDATE: each UPDATE's WHERE clause is the guard, re-checked by the database on the latest row</a:t>
            </a:r>
            <a:endParaRPr lang="en-US" sz="1600" dirty="0"/>
          </a:p>
        </p:txBody>
      </p:sp>
      <p:sp>
        <p:nvSpPr>
          <p:cNvPr id="5" name="Shape 2"/>
          <p:cNvSpPr/>
          <p:nvPr/>
        </p:nvSpPr>
        <p:spPr>
          <a:xfrm>
            <a:off x="457200" y="1417320"/>
            <a:ext cx="11274552" cy="411480"/>
          </a:xfrm>
          <a:prstGeom prst="roundRect">
            <a:avLst>
              <a:gd name="adj" fmla="val 13333"/>
            </a:avLst>
          </a:prstGeom>
          <a:solidFill>
            <a:schemeClr val="bg1"/>
          </a:solidFill>
          <a:ln/>
        </p:spPr>
        <p:txBody>
          <a:bodyPr/>
          <a:lstStyle/>
          <a:p>
            <a:endParaRPr lang="en-US"/>
          </a:p>
        </p:txBody>
      </p:sp>
      <p:sp>
        <p:nvSpPr>
          <p:cNvPr id="6" name="Shape 3"/>
          <p:cNvSpPr/>
          <p:nvPr/>
        </p:nvSpPr>
        <p:spPr>
          <a:xfrm>
            <a:off x="457200" y="1417320"/>
            <a:ext cx="11274552" cy="411480"/>
          </a:xfrm>
          <a:prstGeom prst="roundRect">
            <a:avLst>
              <a:gd name="adj" fmla="val 13333"/>
            </a:avLst>
          </a:prstGeom>
          <a:solidFill>
            <a:schemeClr val="accent1">
              <a:alpha val="10000"/>
            </a:schemeClr>
          </a:solidFill>
          <a:ln/>
        </p:spPr>
        <p:txBody>
          <a:bodyPr/>
          <a:lstStyle/>
          <a:p>
            <a:endParaRPr lang="en-US"/>
          </a:p>
        </p:txBody>
      </p:sp>
      <p:sp>
        <p:nvSpPr>
          <p:cNvPr id="7" name="Text 4"/>
          <p:cNvSpPr txBox="1"/>
          <p:nvPr/>
        </p:nvSpPr>
        <p:spPr>
          <a:xfrm>
            <a:off x="594360" y="1417320"/>
            <a:ext cx="11064240" cy="411480"/>
          </a:xfrm>
          <a:prstGeom prst="rect">
            <a:avLst/>
          </a:prstGeom>
          <a:noFill/>
          <a:ln/>
        </p:spPr>
        <p:txBody>
          <a:bodyPr wrap="square" lIns="0" tIns="0" rIns="0" bIns="0" rtlCol="0" anchor="ctr"/>
          <a:lstStyle/>
          <a:p>
            <a:pPr marL="0" indent="0">
              <a:buNone/>
            </a:pPr>
            <a:r>
              <a:rPr lang="en-US" sz="1200" b="1" dirty="0">
                <a:solidFill>
                  <a:schemeClr val="tx1"/>
                </a:solidFill>
                <a:latin typeface="Calibri" pitchFamily="34" charset="0"/>
                <a:ea typeface="Calibri" pitchFamily="34" charset="-122"/>
                <a:cs typeface="Calibri" pitchFamily="34" charset="-120"/>
              </a:rPr>
              <a:t>Setup:  </a:t>
            </a:r>
            <a:r>
              <a:rPr lang="en-US" sz="1200" dirty="0">
                <a:solidFill>
                  <a:schemeClr val="tx1"/>
                </a:solidFill>
                <a:latin typeface="Calibri" pitchFamily="34" charset="0"/>
                <a:ea typeface="Calibri" pitchFamily="34" charset="-122"/>
                <a:cs typeface="Calibri" pitchFamily="34" charset="-120"/>
              </a:rPr>
              <a:t>queue emails · concurrency limit 10, used 7 · queued T42 (priority 1), T43 (priority 2) · W1 and W2 call POST /tasks/claim at the same moment, on different nodes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3990062784"/>
              </p:ext>
            </p:extLst>
          </p:nvPr>
        </p:nvGraphicFramePr>
        <p:xfrm>
          <a:off x="457200" y="1938528"/>
          <a:ext cx="11274552" cy="2816352"/>
        </p:xfrm>
        <a:graphic>
          <a:graphicData uri="http://schemas.openxmlformats.org/drawingml/2006/table">
            <a:tbl>
              <a:tblPr/>
              <a:tblGrid>
                <a:gridCol w="141732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310896">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Worker 1 · transaction A</a:t>
                      </a:r>
                      <a:endParaRPr lang="en-US" sz="110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Worker 2 · transaction B</a:t>
                      </a:r>
                      <a:endParaRPr lang="en-US" sz="110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Why it is safe</a:t>
                      </a:r>
                      <a:endParaRPr lang="en-US" sz="110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21792">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1.  Pick candidates</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3"/>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SELECT … WHERE queue=emails AND state=queued ORDER BY priority, created_at LIMIT 32</a:t>
                      </a:r>
                      <a:r>
                        <a:rPr lang="en-US" sz="1050" dirty="0">
                          <a:solidFill>
                            <a:schemeClr val="tx1"/>
                          </a:solidFill>
                          <a:latin typeface="Calibri" pitchFamily="34" charset="0"/>
                          <a:ea typeface="Calibri" pitchFamily="34" charset="-122"/>
                          <a:cs typeface="Calibri" pitchFamily="34" charset="-120"/>
                        </a:rPr>
                        <a:t>  → [T42, T43]</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same query → [T42, T43]</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Plain read, no locks. Both choosing T42 is fine — the next steps decide</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21792">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2.  Reserve a slot</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3"/>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TXN: UPDATE te_concurrency_slots SET used=used+1 WHERE &lt;queue_global&gt; AND used&lt;limit</a:t>
                      </a:r>
                      <a:r>
                        <a:rPr lang="en-US" sz="1050" dirty="0">
                          <a:solidFill>
                            <a:schemeClr val="tx1"/>
                          </a:solidFill>
                          <a:latin typeface="Calibri" pitchFamily="34" charset="0"/>
                          <a:ea typeface="Calibri" pitchFamily="34" charset="-122"/>
                          <a:cs typeface="Calibri" pitchFamily="34" charset="-120"/>
                        </a:rPr>
                        <a:t>  → </a:t>
                      </a:r>
                      <a:r>
                        <a:rPr lang="en-US" sz="1050" b="1" dirty="0">
                          <a:solidFill>
                            <a:srgbClr val="00B050"/>
                          </a:solidFill>
                          <a:latin typeface="Calibri" pitchFamily="34" charset="0"/>
                          <a:ea typeface="Calibri" pitchFamily="34" charset="-122"/>
                          <a:cs typeface="Calibri" pitchFamily="34" charset="-120"/>
                        </a:rPr>
                        <a:t>1 row (7→8)</a:t>
                      </a:r>
                      <a:endParaRPr lang="en-US" sz="1050" dirty="0">
                        <a:solidFill>
                          <a:srgbClr val="00B050"/>
                        </a:solidFill>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same UPDATE → </a:t>
                      </a:r>
                      <a:r>
                        <a:rPr lang="en-US" sz="1050" b="1" dirty="0">
                          <a:solidFill>
                            <a:schemeClr val="tx1"/>
                          </a:solidFill>
                          <a:latin typeface="Calibri" pitchFamily="34" charset="0"/>
                          <a:ea typeface="Calibri" pitchFamily="34" charset="-122"/>
                          <a:cs typeface="Calibri" pitchFamily="34" charset="-120"/>
                        </a:rPr>
                        <a:t>waits</a:t>
                      </a:r>
                      <a:r>
                        <a:rPr lang="en-US" sz="1050" dirty="0">
                          <a:solidFill>
                            <a:schemeClr val="tx1"/>
                          </a:solidFill>
                          <a:latin typeface="Calibri" pitchFamily="34" charset="0"/>
                          <a:ea typeface="Calibri" pitchFamily="34" charset="-122"/>
                          <a:cs typeface="Calibri" pitchFamily="34" charset="-120"/>
                        </a:rPr>
                        <a:t> on the row lock held by A</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used &lt; limit is checked inside the UPDATE, under the row lock, so the limit can never be exceeded</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13232">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3.  Win the race</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3"/>
                    </a:solidFill>
                  </a:tcPr>
                </a:tc>
                <a:tc>
                  <a:txBody>
                    <a:bodyPr/>
                    <a:lstStyle/>
                    <a:p>
                      <a:pPr marL="0" indent="0">
                        <a:buNone/>
                      </a:pPr>
                      <a:r>
                        <a:rPr lang="en-US" sz="1000" dirty="0">
                          <a:solidFill>
                            <a:schemeClr val="tx1"/>
                          </a:solidFill>
                          <a:latin typeface="Courier New" pitchFamily="34" charset="0"/>
                          <a:ea typeface="Courier New" pitchFamily="34" charset="-122"/>
                          <a:cs typeface="Courier New" pitchFamily="34" charset="-120"/>
                        </a:rPr>
                        <a:t>TXN: UPDATE te_task_state SET state=claimed, lease_token=new, lease_epoch+1 WHERE id=T42 AND state=queued</a:t>
                      </a:r>
                      <a:r>
                        <a:rPr lang="en-US" sz="1050" dirty="0">
                          <a:solidFill>
                            <a:schemeClr val="tx1"/>
                          </a:solidFill>
                          <a:latin typeface="Calibri" pitchFamily="34" charset="0"/>
                          <a:ea typeface="Calibri" pitchFamily="34" charset="-122"/>
                          <a:cs typeface="Calibri" pitchFamily="34" charset="-120"/>
                        </a:rPr>
                        <a:t>  → </a:t>
                      </a:r>
                      <a:r>
                        <a:rPr lang="en-US" sz="1050" b="1" dirty="0">
                          <a:solidFill>
                            <a:srgbClr val="00B050"/>
                          </a:solidFill>
                          <a:latin typeface="Calibri" pitchFamily="34" charset="0"/>
                          <a:ea typeface="Calibri" pitchFamily="34" charset="-122"/>
                          <a:cs typeface="Calibri" pitchFamily="34" charset="-120"/>
                        </a:rPr>
                        <a:t>1 row</a:t>
                      </a:r>
                      <a:r>
                        <a:rPr lang="en-US" sz="1050" dirty="0">
                          <a:solidFill>
                            <a:schemeClr val="tx1"/>
                          </a:solidFill>
                          <a:latin typeface="Calibri" pitchFamily="34" charset="0"/>
                          <a:ea typeface="Calibri" pitchFamily="34" charset="-122"/>
                          <a:cs typeface="Calibri" pitchFamily="34" charset="-120"/>
                        </a:rPr>
                        <a:t> · COMMIT</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unblocked: slot 8→9, then same UPDATE on T42</a:t>
                      </a:r>
                      <a:br>
                        <a:rPr lang="en-US" sz="1050" dirty="0">
                          <a:solidFill>
                            <a:schemeClr val="tx1"/>
                          </a:solidFill>
                          <a:latin typeface="Calibri" pitchFamily="34" charset="0"/>
                          <a:ea typeface="Calibri" pitchFamily="34" charset="-122"/>
                          <a:cs typeface="Calibri" pitchFamily="34" charset="-120"/>
                        </a:rPr>
                      </a:br>
                      <a:r>
                        <a:rPr lang="en-US" sz="1050" dirty="0">
                          <a:solidFill>
                            <a:schemeClr val="tx1"/>
                          </a:solidFill>
                          <a:latin typeface="Calibri" pitchFamily="34" charset="0"/>
                          <a:ea typeface="Calibri" pitchFamily="34" charset="-122"/>
                          <a:cs typeface="Calibri" pitchFamily="34" charset="-120"/>
                        </a:rPr>
                        <a:t>→ </a:t>
                      </a:r>
                      <a:r>
                        <a:rPr lang="en-US" sz="1050" b="1" dirty="0">
                          <a:solidFill>
                            <a:srgbClr val="FF0000"/>
                          </a:solidFill>
                          <a:latin typeface="Calibri" pitchFamily="34" charset="0"/>
                          <a:ea typeface="Calibri" pitchFamily="34" charset="-122"/>
                          <a:cs typeface="Calibri" pitchFamily="34" charset="-120"/>
                        </a:rPr>
                        <a:t>0 rows</a:t>
                      </a:r>
                      <a:r>
                        <a:rPr lang="en-US" sz="1050" dirty="0">
                          <a:solidFill>
                            <a:schemeClr val="tx1"/>
                          </a:solidFill>
                          <a:latin typeface="Calibri" pitchFamily="34" charset="0"/>
                          <a:ea typeface="Calibri" pitchFamily="34" charset="-122"/>
                          <a:cs typeface="Calibri" pitchFamily="34" charset="-120"/>
                        </a:rPr>
                        <a:t> (already claimed)</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The database re-checks WHERE against the latest committed row: only one UPDATE can still see state=queued</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486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  Finish</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3"/>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TXN: queue depth −1 · delete queue-timeout timer · outbox TaskClaimed → returns {T42, lease T1}</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release slot (9→8) · try T43</a:t>
                      </a:r>
                      <a:br>
                        <a:rPr lang="en-US" sz="1050" dirty="0">
                          <a:solidFill>
                            <a:schemeClr val="tx1"/>
                          </a:solidFill>
                          <a:latin typeface="Calibri" pitchFamily="34" charset="0"/>
                          <a:ea typeface="Calibri" pitchFamily="34" charset="-122"/>
                          <a:cs typeface="Calibri" pitchFamily="34" charset="-120"/>
                        </a:rPr>
                      </a:br>
                      <a:r>
                        <a:rPr lang="en-US" sz="1050" dirty="0">
                          <a:solidFill>
                            <a:schemeClr val="tx1"/>
                          </a:solidFill>
                          <a:latin typeface="Calibri" pitchFamily="34" charset="0"/>
                          <a:ea typeface="Calibri" pitchFamily="34" charset="-122"/>
                          <a:cs typeface="Calibri" pitchFamily="34" charset="-120"/>
                        </a:rPr>
                        <a:t>→ </a:t>
                      </a:r>
                      <a:r>
                        <a:rPr lang="en-US" sz="1050" b="1" dirty="0">
                          <a:solidFill>
                            <a:srgbClr val="00B050"/>
                          </a:solidFill>
                          <a:latin typeface="Calibri" pitchFamily="34" charset="0"/>
                          <a:ea typeface="Calibri" pitchFamily="34" charset="-122"/>
                          <a:cs typeface="Calibri" pitchFamily="34" charset="-120"/>
                        </a:rPr>
                        <a:t>1 row</a:t>
                      </a:r>
                      <a:r>
                        <a:rPr lang="en-US" sz="1050" dirty="0">
                          <a:solidFill>
                            <a:schemeClr val="tx1"/>
                          </a:solidFill>
                          <a:latin typeface="Calibri" pitchFamily="34" charset="0"/>
                          <a:ea typeface="Calibri" pitchFamily="34" charset="-122"/>
                          <a:cs typeface="Calibri" pitchFamily="34" charset="-120"/>
                        </a:rPr>
                        <a:t> · COMMIT → returns {T43, lease T2}</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The loser moves on inside the same request; it never sees an error</a:t>
                      </a:r>
                      <a:endParaRPr lang="en-US" sz="1050" dirty="0">
                        <a:latin typeface="Calibri" charset="0"/>
                        <a:ea typeface="Calibri" charset="0"/>
                        <a:cs typeface="Calibri" charset="0"/>
                      </a:endParaRPr>
                    </a:p>
                  </a:txBody>
                  <a:tcPr marL="73152" marR="73152" marT="36576" marB="36576"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9" name="Text 5"/>
          <p:cNvSpPr txBox="1"/>
          <p:nvPr/>
        </p:nvSpPr>
        <p:spPr>
          <a:xfrm>
            <a:off x="457200" y="4892040"/>
            <a:ext cx="36576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Critical details</a:t>
            </a:r>
            <a:endParaRPr lang="en-US" sz="1400" dirty="0"/>
          </a:p>
        </p:txBody>
      </p:sp>
      <p:sp>
        <p:nvSpPr>
          <p:cNvPr id="10" name="Text 6"/>
          <p:cNvSpPr txBox="1"/>
          <p:nvPr/>
        </p:nvSpPr>
        <p:spPr>
          <a:xfrm>
            <a:off x="457200" y="5202936"/>
            <a:ext cx="3657600" cy="585216"/>
          </a:xfrm>
          <a:prstGeom prst="rect">
            <a:avLst/>
          </a:prstGeom>
          <a:noFill/>
          <a:ln/>
        </p:spPr>
        <p:txBody>
          <a:bodyPr wrap="square" lIns="0" tIns="0" rIns="0" bIns="0" rtlCol="0" anchor="t"/>
          <a:lstStyle/>
          <a:p>
            <a:pPr marL="0" indent="0">
              <a:buNone/>
            </a:pPr>
            <a:r>
              <a:rPr lang="en-US" sz="1000" b="1" dirty="0">
                <a:solidFill>
                  <a:schemeClr val="tx1"/>
                </a:solidFill>
                <a:latin typeface="Calibri" pitchFamily="34" charset="0"/>
                <a:ea typeface="Calibri" pitchFamily="34" charset="-122"/>
                <a:cs typeface="Calibri" pitchFamily="34" charset="-120"/>
              </a:rPr>
              <a:t>  TXN - single transaction to: </a:t>
            </a:r>
            <a:r>
              <a:rPr lang="en-US" sz="1000" dirty="0">
                <a:solidFill>
                  <a:schemeClr val="tx1"/>
                </a:solidFill>
                <a:latin typeface="Calibri" pitchFamily="34" charset="0"/>
                <a:ea typeface="Calibri" pitchFamily="34" charset="-122"/>
                <a:cs typeface="Calibri" pitchFamily="34" charset="-120"/>
              </a:rPr>
              <a:t>reserve a slot, update state, queue depth −1, timer delete and outbox row commit together — or not at all</a:t>
            </a:r>
            <a:endParaRPr lang="en-US" sz="1000" dirty="0"/>
          </a:p>
        </p:txBody>
      </p:sp>
      <p:sp>
        <p:nvSpPr>
          <p:cNvPr id="11" name="Text 7"/>
          <p:cNvSpPr txBox="1"/>
          <p:nvPr/>
        </p:nvSpPr>
        <p:spPr>
          <a:xfrm>
            <a:off x="4261104" y="5202936"/>
            <a:ext cx="3657600" cy="585216"/>
          </a:xfrm>
          <a:prstGeom prst="rect">
            <a:avLst/>
          </a:prstGeom>
          <a:noFill/>
          <a:ln/>
        </p:spPr>
        <p:txBody>
          <a:bodyPr wrap="square" lIns="0" tIns="0" rIns="0" bIns="0" rtlCol="0" anchor="t"/>
          <a:lstStyle/>
          <a:p>
            <a:pPr marL="0" indent="0">
              <a:buNone/>
            </a:pPr>
            <a:r>
              <a:rPr lang="en-US" sz="1000" b="1" dirty="0">
                <a:solidFill>
                  <a:schemeClr val="tx1"/>
                </a:solidFill>
                <a:latin typeface="Calibri" pitchFamily="34" charset="0"/>
                <a:ea typeface="Calibri" pitchFamily="34" charset="-122"/>
                <a:cs typeface="Calibri" pitchFamily="34" charset="-120"/>
              </a:rPr>
              <a:t>Hot counter row: </a:t>
            </a:r>
            <a:r>
              <a:rPr lang="en-US" sz="1000" dirty="0">
                <a:solidFill>
                  <a:schemeClr val="tx1"/>
                </a:solidFill>
                <a:latin typeface="Calibri" pitchFamily="34" charset="0"/>
                <a:ea typeface="Calibri" pitchFamily="34" charset="-122"/>
                <a:cs typeface="Calibri" pitchFamily="34" charset="-120"/>
              </a:rPr>
              <a:t>every claim on a queue locks the same queue_global row until commit, so claims serialize per queue; concurrency_shards splits it into S rows</a:t>
            </a:r>
            <a:endParaRPr lang="en-US" sz="1000" dirty="0"/>
          </a:p>
        </p:txBody>
      </p:sp>
      <p:sp>
        <p:nvSpPr>
          <p:cNvPr id="12" name="Text 8"/>
          <p:cNvSpPr txBox="1"/>
          <p:nvPr/>
        </p:nvSpPr>
        <p:spPr>
          <a:xfrm>
            <a:off x="8065008" y="5202936"/>
            <a:ext cx="3657600" cy="585216"/>
          </a:xfrm>
          <a:prstGeom prst="rect">
            <a:avLst/>
          </a:prstGeom>
          <a:noFill/>
          <a:ln/>
        </p:spPr>
        <p:txBody>
          <a:bodyPr wrap="square" lIns="0" tIns="0" rIns="0" bIns="0" rtlCol="0" anchor="t"/>
          <a:lstStyle/>
          <a:p>
            <a:pPr marL="0" indent="0">
              <a:buNone/>
            </a:pPr>
            <a:r>
              <a:rPr lang="en-US" sz="1000" b="1" dirty="0">
                <a:solidFill>
                  <a:schemeClr val="tx1"/>
                </a:solidFill>
                <a:latin typeface="Calibri" pitchFamily="34" charset="0"/>
                <a:ea typeface="Calibri" pitchFamily="34" charset="-122"/>
                <a:cs typeface="Calibri" pitchFamily="34" charset="-120"/>
              </a:rPr>
              <a:t>Isolation level: </a:t>
            </a:r>
            <a:r>
              <a:rPr lang="en-US" sz="1000" dirty="0">
                <a:solidFill>
                  <a:schemeClr val="tx1"/>
                </a:solidFill>
                <a:latin typeface="Calibri" pitchFamily="34" charset="0"/>
                <a:ea typeface="Calibri" pitchFamily="34" charset="-122"/>
                <a:cs typeface="Calibri" pitchFamily="34" charset="-120"/>
              </a:rPr>
              <a:t>UPDATE must re-read the latest committed row (PG READ COMMITTED, MySQL, SQLite). Under PG REPEATABLE READ the loser gets a serialization error = lost race</a:t>
            </a:r>
            <a:endParaRPr lang="en-US" sz="1000" dirty="0"/>
          </a:p>
        </p:txBody>
      </p:sp>
      <p:sp>
        <p:nvSpPr>
          <p:cNvPr id="13" name="Text 9"/>
          <p:cNvSpPr txBox="1"/>
          <p:nvPr/>
        </p:nvSpPr>
        <p:spPr>
          <a:xfrm>
            <a:off x="457200" y="5806440"/>
            <a:ext cx="3657600" cy="585216"/>
          </a:xfrm>
          <a:prstGeom prst="rect">
            <a:avLst/>
          </a:prstGeom>
          <a:noFill/>
          <a:ln/>
        </p:spPr>
        <p:txBody>
          <a:bodyPr wrap="square" lIns="0" tIns="0" rIns="0" bIns="0" rtlCol="0" anchor="t"/>
          <a:lstStyle/>
          <a:p>
            <a:pPr marL="0" indent="0">
              <a:buNone/>
            </a:pPr>
            <a:r>
              <a:rPr lang="en-US" sz="1000" b="1" dirty="0">
                <a:solidFill>
                  <a:srgbClr val="000000"/>
                </a:solidFill>
                <a:latin typeface="Calibri" pitchFamily="34" charset="0"/>
                <a:ea typeface="Calibri" pitchFamily="34" charset="-122"/>
                <a:cs typeface="Calibri" pitchFamily="34" charset="-120"/>
              </a:rPr>
              <a:t>Supported on any databases: </a:t>
            </a:r>
            <a:r>
              <a:rPr lang="en-US" sz="1000" dirty="0">
                <a:solidFill>
                  <a:srgbClr val="000000"/>
                </a:solidFill>
                <a:latin typeface="Calibri" pitchFamily="34" charset="0"/>
                <a:ea typeface="Calibri" pitchFamily="34" charset="-122"/>
                <a:cs typeface="Calibri" pitchFamily="34" charset="-120"/>
              </a:rPr>
              <a:t>PostgreSQL, MariaDB, SQLite</a:t>
            </a:r>
            <a:endParaRPr lang="en-US" sz="1000" dirty="0">
              <a:solidFill>
                <a:srgbClr val="000000"/>
              </a:solidFill>
            </a:endParaRPr>
          </a:p>
        </p:txBody>
      </p:sp>
      <p:sp>
        <p:nvSpPr>
          <p:cNvPr id="14" name="Text 10"/>
          <p:cNvSpPr txBox="1"/>
          <p:nvPr/>
        </p:nvSpPr>
        <p:spPr>
          <a:xfrm>
            <a:off x="4261104" y="5806440"/>
            <a:ext cx="3657600" cy="585216"/>
          </a:xfrm>
          <a:prstGeom prst="rect">
            <a:avLst/>
          </a:prstGeom>
          <a:noFill/>
          <a:ln/>
        </p:spPr>
        <p:txBody>
          <a:bodyPr wrap="square" lIns="0" tIns="0" rIns="0" bIns="0" rtlCol="0" anchor="t"/>
          <a:lstStyle/>
          <a:p>
            <a:pPr marL="0" indent="0">
              <a:buNone/>
            </a:pPr>
            <a:r>
              <a:rPr lang="en-US" sz="1000" b="1" dirty="0">
                <a:solidFill>
                  <a:schemeClr val="tx1"/>
                </a:solidFill>
                <a:latin typeface="Calibri" pitchFamily="34" charset="0"/>
                <a:ea typeface="Calibri" pitchFamily="34" charset="-122"/>
                <a:cs typeface="Calibri" pitchFamily="34" charset="-120"/>
              </a:rPr>
              <a:t>Full dimension: </a:t>
            </a:r>
            <a:r>
              <a:rPr lang="en-US" sz="1000" dirty="0">
                <a:solidFill>
                  <a:schemeClr val="tx1"/>
                </a:solidFill>
                <a:latin typeface="Calibri" pitchFamily="34" charset="0"/>
                <a:ea typeface="Calibri" pitchFamily="34" charset="-122"/>
                <a:cs typeface="Calibri" pitchFamily="34" charset="-120"/>
              </a:rPr>
              <a:t>queue full → stop this queue; tenant or type full → exclude it and rescan (≤ 8 × 32 candidates); nothing claimed → 429</a:t>
            </a:r>
            <a:endParaRPr lang="en-US" sz="1000" dirty="0"/>
          </a:p>
        </p:txBody>
      </p:sp>
      <p:sp>
        <p:nvSpPr>
          <p:cNvPr id="15" name="Text 11"/>
          <p:cNvSpPr txBox="1"/>
          <p:nvPr/>
        </p:nvSpPr>
        <p:spPr>
          <a:xfrm>
            <a:off x="8065008" y="5806440"/>
            <a:ext cx="3657600" cy="585216"/>
          </a:xfrm>
          <a:prstGeom prst="rect">
            <a:avLst/>
          </a:prstGeom>
          <a:noFill/>
          <a:ln/>
        </p:spPr>
        <p:txBody>
          <a:bodyPr wrap="square" lIns="0" tIns="0" rIns="0" bIns="0" rtlCol="0" anchor="t"/>
          <a:lstStyle/>
          <a:p>
            <a:pPr marL="0" indent="0">
              <a:buNone/>
            </a:pPr>
            <a:r>
              <a:rPr lang="en-US" sz="1000" b="1" dirty="0">
                <a:latin typeface="Calibri" pitchFamily="34" charset="0"/>
                <a:ea typeface="Calibri" pitchFamily="34" charset="-122"/>
                <a:cs typeface="Calibri" pitchFamily="34" charset="-120"/>
              </a:rPr>
              <a:t>Several queues: </a:t>
            </a:r>
            <a:r>
              <a:rPr lang="en-US" sz="1000" dirty="0">
                <a:solidFill>
                  <a:schemeClr val="tx1"/>
                </a:solidFill>
                <a:latin typeface="Calibri" pitchFamily="34" charset="0"/>
                <a:ea typeface="Calibri" pitchFamily="34" charset="-122"/>
                <a:cs typeface="Calibri" pitchFamily="34" charset="-120"/>
              </a:rPr>
              <a:t>DESIGN tries queues in request order, first hit wins; PRD wants the highest priority across queues — open gap</a:t>
            </a:r>
            <a:endParaRPr lang="en-US" sz="1000" dirty="0"/>
          </a:p>
        </p:txBody>
      </p:sp>
      <p:sp>
        <p:nvSpPr>
          <p:cNvPr id="25"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19</a:t>
            </a:fld>
            <a:endParaRPr lang="en-US"/>
          </a:p>
        </p:txBody>
      </p:sp>
      <p:cxnSp>
        <p:nvCxnSpPr>
          <p:cNvPr id="16" name="Straight Connector 15">
            <a:extLst>
              <a:ext uri="{FF2B5EF4-FFF2-40B4-BE49-F238E27FC236}">
                <a16:creationId xmlns:a16="http://schemas.microsoft.com/office/drawing/2014/main" id="{7FB6FD25-198C-35C3-2637-98A18B6DCC85}"/>
              </a:ext>
            </a:extLst>
          </p:cNvPr>
          <p:cNvCxnSpPr/>
          <p:nvPr/>
        </p:nvCxnSpPr>
        <p:spPr>
          <a:xfrm>
            <a:off x="1786466" y="2971800"/>
            <a:ext cx="0" cy="1481667"/>
          </a:xfrm>
          <a:prstGeom prst="line">
            <a:avLst/>
          </a:prstGeom>
          <a:ln w="127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0D95DF4-8D06-5424-27B8-DBA1A2BE2D58}"/>
              </a:ext>
            </a:extLst>
          </p:cNvPr>
          <p:cNvCxnSpPr>
            <a:cxnSpLocks/>
          </p:cNvCxnSpPr>
          <p:nvPr/>
        </p:nvCxnSpPr>
        <p:spPr>
          <a:xfrm>
            <a:off x="457200" y="5202936"/>
            <a:ext cx="0" cy="166963"/>
          </a:xfrm>
          <a:prstGeom prst="line">
            <a:avLst/>
          </a:prstGeom>
          <a:ln w="127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EFCABC62-7D2C-E034-857F-6A7BA37E4A92}"/>
              </a:ext>
            </a:extLst>
          </p:cNvPr>
          <p:cNvSpPr/>
          <p:nvPr/>
        </p:nvSpPr>
        <p:spPr>
          <a:xfrm>
            <a:off x="7772400" y="0"/>
            <a:ext cx="4419601" cy="2560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Mention contention &amp; mitigation, use proper algorithm; Re-use Event broker?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Lease fencing stops zombie workers</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A stalled worker that wakes up after losing its lease cannot change the task</a:t>
            </a:r>
            <a:endParaRPr lang="en-US" sz="1600" dirty="0"/>
          </a:p>
        </p:txBody>
      </p:sp>
      <p:sp>
        <p:nvSpPr>
          <p:cNvPr id="5" name="Shape 2"/>
          <p:cNvSpPr/>
          <p:nvPr/>
        </p:nvSpPr>
        <p:spPr>
          <a:xfrm>
            <a:off x="723900" y="1417320"/>
            <a:ext cx="1691640" cy="438912"/>
          </a:xfrm>
          <a:prstGeom prst="roundRect">
            <a:avLst>
              <a:gd name="adj" fmla="val 12500"/>
            </a:avLst>
          </a:prstGeom>
          <a:solidFill>
            <a:schemeClr val="bg1"/>
          </a:solidFill>
          <a:ln/>
        </p:spPr>
        <p:txBody>
          <a:bodyPr/>
          <a:lstStyle/>
          <a:p>
            <a:endParaRPr lang="en-US"/>
          </a:p>
        </p:txBody>
      </p:sp>
      <p:sp>
        <p:nvSpPr>
          <p:cNvPr id="6" name="Shape 3"/>
          <p:cNvSpPr/>
          <p:nvPr/>
        </p:nvSpPr>
        <p:spPr>
          <a:xfrm>
            <a:off x="723900" y="1417320"/>
            <a:ext cx="1691640" cy="438912"/>
          </a:xfrm>
          <a:prstGeom prst="roundRect">
            <a:avLst>
              <a:gd name="adj" fmla="val 12500"/>
            </a:avLst>
          </a:prstGeom>
          <a:solidFill>
            <a:schemeClr val="accent5">
              <a:alpha val="16000"/>
            </a:schemeClr>
          </a:solidFill>
          <a:ln w="15875">
            <a:solidFill>
              <a:schemeClr val="accent5"/>
            </a:solidFill>
            <a:prstDash val="solid"/>
          </a:ln>
        </p:spPr>
        <p:txBody>
          <a:bodyPr/>
          <a:lstStyle/>
          <a:p>
            <a:endParaRPr lang="en-US"/>
          </a:p>
        </p:txBody>
      </p:sp>
      <p:sp>
        <p:nvSpPr>
          <p:cNvPr id="7" name="Text 4"/>
          <p:cNvSpPr txBox="1"/>
          <p:nvPr/>
        </p:nvSpPr>
        <p:spPr>
          <a:xfrm>
            <a:off x="778764" y="1417320"/>
            <a:ext cx="158191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Worker A</a:t>
            </a:r>
            <a:endParaRPr lang="en-US" sz="1200" dirty="0"/>
          </a:p>
        </p:txBody>
      </p:sp>
      <p:sp>
        <p:nvSpPr>
          <p:cNvPr id="8" name="Shape 5"/>
          <p:cNvSpPr/>
          <p:nvPr/>
        </p:nvSpPr>
        <p:spPr>
          <a:xfrm>
            <a:off x="2948940" y="1417320"/>
            <a:ext cx="1691640" cy="438912"/>
          </a:xfrm>
          <a:prstGeom prst="roundRect">
            <a:avLst>
              <a:gd name="adj" fmla="val 12500"/>
            </a:avLst>
          </a:prstGeom>
          <a:solidFill>
            <a:schemeClr val="bg1"/>
          </a:solidFill>
          <a:ln/>
        </p:spPr>
        <p:txBody>
          <a:bodyPr/>
          <a:lstStyle/>
          <a:p>
            <a:endParaRPr lang="en-US"/>
          </a:p>
        </p:txBody>
      </p:sp>
      <p:sp>
        <p:nvSpPr>
          <p:cNvPr id="9" name="Shape 6"/>
          <p:cNvSpPr/>
          <p:nvPr/>
        </p:nvSpPr>
        <p:spPr>
          <a:xfrm>
            <a:off x="2948940" y="1417320"/>
            <a:ext cx="1691640" cy="438912"/>
          </a:xfrm>
          <a:prstGeom prst="roundRect">
            <a:avLst>
              <a:gd name="adj" fmla="val 12500"/>
            </a:avLst>
          </a:prstGeom>
          <a:solidFill>
            <a:schemeClr val="accent1">
              <a:alpha val="16000"/>
            </a:schemeClr>
          </a:solidFill>
          <a:ln w="15875">
            <a:solidFill>
              <a:schemeClr val="accent1"/>
            </a:solidFill>
            <a:prstDash val="solid"/>
          </a:ln>
        </p:spPr>
        <p:txBody>
          <a:bodyPr/>
          <a:lstStyle/>
          <a:p>
            <a:endParaRPr lang="en-US"/>
          </a:p>
        </p:txBody>
      </p:sp>
      <p:sp>
        <p:nvSpPr>
          <p:cNvPr id="10" name="Text 7"/>
          <p:cNvSpPr txBox="1"/>
          <p:nvPr/>
        </p:nvSpPr>
        <p:spPr>
          <a:xfrm>
            <a:off x="3003804" y="1417320"/>
            <a:ext cx="158191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Task Engine + DB</a:t>
            </a:r>
            <a:endParaRPr lang="en-US" sz="1200" dirty="0"/>
          </a:p>
        </p:txBody>
      </p:sp>
      <p:sp>
        <p:nvSpPr>
          <p:cNvPr id="11" name="Shape 8"/>
          <p:cNvSpPr/>
          <p:nvPr/>
        </p:nvSpPr>
        <p:spPr>
          <a:xfrm>
            <a:off x="5173980" y="1417320"/>
            <a:ext cx="1691640" cy="438912"/>
          </a:xfrm>
          <a:prstGeom prst="roundRect">
            <a:avLst>
              <a:gd name="adj" fmla="val 12500"/>
            </a:avLst>
          </a:prstGeom>
          <a:solidFill>
            <a:schemeClr val="bg1"/>
          </a:solidFill>
          <a:ln/>
        </p:spPr>
        <p:txBody>
          <a:bodyPr/>
          <a:lstStyle/>
          <a:p>
            <a:endParaRPr lang="en-US"/>
          </a:p>
        </p:txBody>
      </p:sp>
      <p:sp>
        <p:nvSpPr>
          <p:cNvPr id="12" name="Shape 9"/>
          <p:cNvSpPr/>
          <p:nvPr/>
        </p:nvSpPr>
        <p:spPr>
          <a:xfrm>
            <a:off x="5173980" y="1417320"/>
            <a:ext cx="1691640" cy="438912"/>
          </a:xfrm>
          <a:prstGeom prst="roundRect">
            <a:avLst>
              <a:gd name="adj" fmla="val 12500"/>
            </a:avLst>
          </a:prstGeom>
          <a:solidFill>
            <a:schemeClr val="accent5">
              <a:alpha val="16000"/>
            </a:schemeClr>
          </a:solidFill>
          <a:ln w="15875">
            <a:solidFill>
              <a:schemeClr val="accent5"/>
            </a:solidFill>
            <a:prstDash val="solid"/>
          </a:ln>
        </p:spPr>
        <p:txBody>
          <a:bodyPr/>
          <a:lstStyle/>
          <a:p>
            <a:endParaRPr lang="en-US"/>
          </a:p>
        </p:txBody>
      </p:sp>
      <p:sp>
        <p:nvSpPr>
          <p:cNvPr id="13" name="Text 10"/>
          <p:cNvSpPr txBox="1"/>
          <p:nvPr/>
        </p:nvSpPr>
        <p:spPr>
          <a:xfrm>
            <a:off x="5228844" y="1417320"/>
            <a:ext cx="158191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Worker B</a:t>
            </a:r>
            <a:endParaRPr lang="en-US" sz="1200" dirty="0"/>
          </a:p>
        </p:txBody>
      </p:sp>
      <p:sp>
        <p:nvSpPr>
          <p:cNvPr id="14" name="Shape 11"/>
          <p:cNvSpPr/>
          <p:nvPr/>
        </p:nvSpPr>
        <p:spPr>
          <a:xfrm>
            <a:off x="1569720" y="1856232"/>
            <a:ext cx="91" cy="4626864"/>
          </a:xfrm>
          <a:prstGeom prst="line">
            <a:avLst/>
          </a:prstGeom>
          <a:noFill/>
          <a:ln w="9525">
            <a:solidFill>
              <a:schemeClr val="tx2"/>
            </a:solidFill>
            <a:prstDash val="dash"/>
            <a:headEnd type="none"/>
            <a:tailEnd type="none"/>
          </a:ln>
        </p:spPr>
        <p:txBody>
          <a:bodyPr/>
          <a:lstStyle/>
          <a:p>
            <a:endParaRPr lang="en-US"/>
          </a:p>
        </p:txBody>
      </p:sp>
      <p:sp>
        <p:nvSpPr>
          <p:cNvPr id="15" name="Shape 12"/>
          <p:cNvSpPr/>
          <p:nvPr/>
        </p:nvSpPr>
        <p:spPr>
          <a:xfrm>
            <a:off x="3794760" y="1856232"/>
            <a:ext cx="91" cy="4626864"/>
          </a:xfrm>
          <a:prstGeom prst="line">
            <a:avLst/>
          </a:prstGeom>
          <a:noFill/>
          <a:ln w="9525">
            <a:solidFill>
              <a:schemeClr val="tx2"/>
            </a:solidFill>
            <a:prstDash val="dash"/>
            <a:headEnd type="none"/>
            <a:tailEnd type="none"/>
          </a:ln>
        </p:spPr>
        <p:txBody>
          <a:bodyPr/>
          <a:lstStyle/>
          <a:p>
            <a:endParaRPr lang="en-US"/>
          </a:p>
        </p:txBody>
      </p:sp>
      <p:sp>
        <p:nvSpPr>
          <p:cNvPr id="16" name="Shape 13"/>
          <p:cNvSpPr/>
          <p:nvPr/>
        </p:nvSpPr>
        <p:spPr>
          <a:xfrm>
            <a:off x="6019800" y="1856232"/>
            <a:ext cx="91" cy="4626864"/>
          </a:xfrm>
          <a:prstGeom prst="line">
            <a:avLst/>
          </a:prstGeom>
          <a:noFill/>
          <a:ln w="9525">
            <a:solidFill>
              <a:schemeClr val="tx2"/>
            </a:solidFill>
            <a:prstDash val="dash"/>
            <a:headEnd type="none"/>
            <a:tailEnd type="none"/>
          </a:ln>
        </p:spPr>
        <p:txBody>
          <a:bodyPr/>
          <a:lstStyle/>
          <a:p>
            <a:endParaRPr lang="en-US"/>
          </a:p>
        </p:txBody>
      </p:sp>
      <p:sp>
        <p:nvSpPr>
          <p:cNvPr id="17" name="Shape 14"/>
          <p:cNvSpPr/>
          <p:nvPr/>
        </p:nvSpPr>
        <p:spPr>
          <a:xfrm>
            <a:off x="1569720" y="2295144"/>
            <a:ext cx="2225040" cy="91"/>
          </a:xfrm>
          <a:prstGeom prst="line">
            <a:avLst/>
          </a:prstGeom>
          <a:noFill/>
          <a:ln w="19050">
            <a:solidFill>
              <a:schemeClr val="tx1"/>
            </a:solidFill>
            <a:prstDash val="solid"/>
            <a:headEnd type="none"/>
            <a:tailEnd type="triangle"/>
          </a:ln>
        </p:spPr>
        <p:txBody>
          <a:bodyPr/>
          <a:lstStyle/>
          <a:p>
            <a:endParaRPr lang="en-US"/>
          </a:p>
        </p:txBody>
      </p:sp>
      <p:sp>
        <p:nvSpPr>
          <p:cNvPr id="18" name="Shape 15"/>
          <p:cNvSpPr/>
          <p:nvPr/>
        </p:nvSpPr>
        <p:spPr>
          <a:xfrm>
            <a:off x="2462657" y="2084832"/>
            <a:ext cx="439166" cy="173736"/>
          </a:xfrm>
          <a:prstGeom prst="rect">
            <a:avLst/>
          </a:prstGeom>
          <a:solidFill>
            <a:schemeClr val="bg1"/>
          </a:solidFill>
          <a:ln/>
        </p:spPr>
        <p:txBody>
          <a:bodyPr/>
          <a:lstStyle/>
          <a:p>
            <a:endParaRPr lang="en-US"/>
          </a:p>
        </p:txBody>
      </p:sp>
      <p:sp>
        <p:nvSpPr>
          <p:cNvPr id="19" name="Text 16"/>
          <p:cNvSpPr txBox="1"/>
          <p:nvPr/>
        </p:nvSpPr>
        <p:spPr>
          <a:xfrm>
            <a:off x="2416937" y="2075688"/>
            <a:ext cx="53060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claim</a:t>
            </a:r>
            <a:endParaRPr lang="en-US" sz="1000" dirty="0"/>
          </a:p>
        </p:txBody>
      </p:sp>
      <p:sp>
        <p:nvSpPr>
          <p:cNvPr id="20" name="Shape 17"/>
          <p:cNvSpPr/>
          <p:nvPr/>
        </p:nvSpPr>
        <p:spPr>
          <a:xfrm flipH="1">
            <a:off x="1569720" y="2660904"/>
            <a:ext cx="2225040" cy="91"/>
          </a:xfrm>
          <a:prstGeom prst="line">
            <a:avLst/>
          </a:prstGeom>
          <a:noFill/>
          <a:ln w="12700">
            <a:solidFill>
              <a:schemeClr val="tx2"/>
            </a:solidFill>
            <a:prstDash val="dash"/>
            <a:headEnd type="none"/>
            <a:tailEnd type="triangle"/>
          </a:ln>
        </p:spPr>
        <p:txBody>
          <a:bodyPr/>
          <a:lstStyle/>
          <a:p>
            <a:endParaRPr lang="en-US"/>
          </a:p>
        </p:txBody>
      </p:sp>
      <p:sp>
        <p:nvSpPr>
          <p:cNvPr id="21" name="Shape 18"/>
          <p:cNvSpPr/>
          <p:nvPr/>
        </p:nvSpPr>
        <p:spPr>
          <a:xfrm>
            <a:off x="1964817" y="2450592"/>
            <a:ext cx="1434846" cy="173736"/>
          </a:xfrm>
          <a:prstGeom prst="rect">
            <a:avLst/>
          </a:prstGeom>
          <a:solidFill>
            <a:schemeClr val="bg1"/>
          </a:solidFill>
          <a:ln/>
        </p:spPr>
        <p:txBody>
          <a:bodyPr/>
          <a:lstStyle/>
          <a:p>
            <a:endParaRPr lang="en-US"/>
          </a:p>
        </p:txBody>
      </p:sp>
      <p:sp>
        <p:nvSpPr>
          <p:cNvPr id="22" name="Text 19"/>
          <p:cNvSpPr txBox="1"/>
          <p:nvPr/>
        </p:nvSpPr>
        <p:spPr>
          <a:xfrm>
            <a:off x="1919097" y="2441448"/>
            <a:ext cx="152628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token = T1, epoch = 7</a:t>
            </a:r>
            <a:endParaRPr lang="en-US" sz="1000" dirty="0"/>
          </a:p>
        </p:txBody>
      </p:sp>
      <p:sp>
        <p:nvSpPr>
          <p:cNvPr id="23" name="Shape 20"/>
          <p:cNvSpPr/>
          <p:nvPr/>
        </p:nvSpPr>
        <p:spPr>
          <a:xfrm>
            <a:off x="1642872" y="2807208"/>
            <a:ext cx="2011680" cy="274320"/>
          </a:xfrm>
          <a:prstGeom prst="roundRect">
            <a:avLst>
              <a:gd name="adj" fmla="val 20000"/>
            </a:avLst>
          </a:prstGeom>
          <a:solidFill>
            <a:schemeClr val="bg1"/>
          </a:solidFill>
          <a:ln/>
        </p:spPr>
        <p:txBody>
          <a:bodyPr/>
          <a:lstStyle/>
          <a:p>
            <a:endParaRPr lang="en-US"/>
          </a:p>
        </p:txBody>
      </p:sp>
      <p:sp>
        <p:nvSpPr>
          <p:cNvPr id="24" name="Shape 21"/>
          <p:cNvSpPr/>
          <p:nvPr/>
        </p:nvSpPr>
        <p:spPr>
          <a:xfrm>
            <a:off x="1642872" y="2807208"/>
            <a:ext cx="2011680" cy="274320"/>
          </a:xfrm>
          <a:prstGeom prst="roundRect">
            <a:avLst>
              <a:gd name="adj" fmla="val 20000"/>
            </a:avLst>
          </a:prstGeom>
          <a:solidFill>
            <a:schemeClr val="accent4">
              <a:alpha val="20000"/>
            </a:schemeClr>
          </a:solidFill>
          <a:ln w="15875">
            <a:solidFill>
              <a:schemeClr val="accent4"/>
            </a:solidFill>
            <a:prstDash val="solid"/>
          </a:ln>
        </p:spPr>
        <p:txBody>
          <a:bodyPr/>
          <a:lstStyle/>
          <a:p>
            <a:endParaRPr lang="en-US"/>
          </a:p>
        </p:txBody>
      </p:sp>
      <p:sp>
        <p:nvSpPr>
          <p:cNvPr id="25" name="Text 22"/>
          <p:cNvSpPr txBox="1"/>
          <p:nvPr/>
        </p:nvSpPr>
        <p:spPr>
          <a:xfrm>
            <a:off x="1706880" y="2807208"/>
            <a:ext cx="1883664" cy="274320"/>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pause / network split …</a:t>
            </a:r>
            <a:endParaRPr lang="en-US" sz="1000" dirty="0"/>
          </a:p>
        </p:txBody>
      </p:sp>
      <p:sp>
        <p:nvSpPr>
          <p:cNvPr id="26" name="Shape 23"/>
          <p:cNvSpPr/>
          <p:nvPr/>
        </p:nvSpPr>
        <p:spPr>
          <a:xfrm>
            <a:off x="3867912" y="3172968"/>
            <a:ext cx="2057400" cy="493776"/>
          </a:xfrm>
          <a:prstGeom prst="roundRect">
            <a:avLst>
              <a:gd name="adj" fmla="val 11111"/>
            </a:avLst>
          </a:prstGeom>
          <a:solidFill>
            <a:schemeClr val="bg1"/>
          </a:solidFill>
          <a:ln/>
        </p:spPr>
        <p:txBody>
          <a:bodyPr/>
          <a:lstStyle/>
          <a:p>
            <a:endParaRPr lang="en-US"/>
          </a:p>
        </p:txBody>
      </p:sp>
      <p:sp>
        <p:nvSpPr>
          <p:cNvPr id="27" name="Shape 24"/>
          <p:cNvSpPr/>
          <p:nvPr/>
        </p:nvSpPr>
        <p:spPr>
          <a:xfrm>
            <a:off x="3867912" y="3172968"/>
            <a:ext cx="2057400" cy="493776"/>
          </a:xfrm>
          <a:prstGeom prst="roundRect">
            <a:avLst>
              <a:gd name="adj" fmla="val 11111"/>
            </a:avLst>
          </a:prstGeom>
          <a:solidFill>
            <a:schemeClr val="accent1">
              <a:alpha val="20000"/>
            </a:schemeClr>
          </a:solidFill>
          <a:ln w="15875">
            <a:solidFill>
              <a:schemeClr val="accent1"/>
            </a:solidFill>
            <a:prstDash val="solid"/>
          </a:ln>
        </p:spPr>
        <p:txBody>
          <a:bodyPr/>
          <a:lstStyle/>
          <a:p>
            <a:endParaRPr lang="en-US"/>
          </a:p>
        </p:txBody>
      </p:sp>
      <p:sp>
        <p:nvSpPr>
          <p:cNvPr id="28" name="Text 25"/>
          <p:cNvSpPr txBox="1"/>
          <p:nvPr/>
        </p:nvSpPr>
        <p:spPr>
          <a:xfrm>
            <a:off x="3931920" y="3172968"/>
            <a:ext cx="1929384" cy="493776"/>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lease scan: lease_until passed → scheduled (backoff), token cleared</a:t>
            </a:r>
            <a:endParaRPr lang="en-US" sz="1000" dirty="0"/>
          </a:p>
        </p:txBody>
      </p:sp>
      <p:sp>
        <p:nvSpPr>
          <p:cNvPr id="29" name="Shape 26"/>
          <p:cNvSpPr/>
          <p:nvPr/>
        </p:nvSpPr>
        <p:spPr>
          <a:xfrm flipH="1">
            <a:off x="3794760" y="3977640"/>
            <a:ext cx="2225040" cy="91"/>
          </a:xfrm>
          <a:prstGeom prst="line">
            <a:avLst/>
          </a:prstGeom>
          <a:noFill/>
          <a:ln w="19050">
            <a:solidFill>
              <a:schemeClr val="tx1"/>
            </a:solidFill>
            <a:prstDash val="solid"/>
            <a:headEnd type="none"/>
            <a:tailEnd type="triangle"/>
          </a:ln>
        </p:spPr>
        <p:txBody>
          <a:bodyPr/>
          <a:lstStyle/>
          <a:p>
            <a:endParaRPr lang="en-US"/>
          </a:p>
        </p:txBody>
      </p:sp>
      <p:sp>
        <p:nvSpPr>
          <p:cNvPr id="30" name="Shape 27"/>
          <p:cNvSpPr/>
          <p:nvPr/>
        </p:nvSpPr>
        <p:spPr>
          <a:xfrm>
            <a:off x="4438777" y="3767328"/>
            <a:ext cx="937006" cy="173736"/>
          </a:xfrm>
          <a:prstGeom prst="rect">
            <a:avLst/>
          </a:prstGeom>
          <a:solidFill>
            <a:schemeClr val="bg1"/>
          </a:solidFill>
          <a:ln/>
        </p:spPr>
        <p:txBody>
          <a:bodyPr/>
          <a:lstStyle/>
          <a:p>
            <a:endParaRPr lang="en-US"/>
          </a:p>
        </p:txBody>
      </p:sp>
      <p:sp>
        <p:nvSpPr>
          <p:cNvPr id="31" name="Text 28"/>
          <p:cNvSpPr txBox="1"/>
          <p:nvPr/>
        </p:nvSpPr>
        <p:spPr>
          <a:xfrm>
            <a:off x="4393057" y="3758184"/>
            <a:ext cx="102844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claim (later)</a:t>
            </a:r>
            <a:endParaRPr lang="en-US" sz="1000" dirty="0"/>
          </a:p>
        </p:txBody>
      </p:sp>
      <p:sp>
        <p:nvSpPr>
          <p:cNvPr id="32" name="Shape 29"/>
          <p:cNvSpPr/>
          <p:nvPr/>
        </p:nvSpPr>
        <p:spPr>
          <a:xfrm>
            <a:off x="3794760" y="4343400"/>
            <a:ext cx="2225040" cy="91"/>
          </a:xfrm>
          <a:prstGeom prst="line">
            <a:avLst/>
          </a:prstGeom>
          <a:noFill/>
          <a:ln w="12700">
            <a:solidFill>
              <a:schemeClr val="tx2"/>
            </a:solidFill>
            <a:prstDash val="dash"/>
            <a:headEnd type="none"/>
            <a:tailEnd type="triangle"/>
          </a:ln>
        </p:spPr>
        <p:txBody>
          <a:bodyPr/>
          <a:lstStyle/>
          <a:p>
            <a:endParaRPr lang="en-US"/>
          </a:p>
        </p:txBody>
      </p:sp>
      <p:sp>
        <p:nvSpPr>
          <p:cNvPr id="33" name="Shape 30"/>
          <p:cNvSpPr/>
          <p:nvPr/>
        </p:nvSpPr>
        <p:spPr>
          <a:xfrm>
            <a:off x="4189857" y="4133088"/>
            <a:ext cx="1434846" cy="173736"/>
          </a:xfrm>
          <a:prstGeom prst="rect">
            <a:avLst/>
          </a:prstGeom>
          <a:solidFill>
            <a:schemeClr val="bg1"/>
          </a:solidFill>
          <a:ln/>
        </p:spPr>
        <p:txBody>
          <a:bodyPr/>
          <a:lstStyle/>
          <a:p>
            <a:endParaRPr lang="en-US"/>
          </a:p>
        </p:txBody>
      </p:sp>
      <p:sp>
        <p:nvSpPr>
          <p:cNvPr id="34" name="Text 31"/>
          <p:cNvSpPr txBox="1"/>
          <p:nvPr/>
        </p:nvSpPr>
        <p:spPr>
          <a:xfrm>
            <a:off x="4144137" y="4123944"/>
            <a:ext cx="152628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token = T2, epoch = 8</a:t>
            </a:r>
            <a:endParaRPr lang="en-US" sz="1000" dirty="0"/>
          </a:p>
        </p:txBody>
      </p:sp>
      <p:sp>
        <p:nvSpPr>
          <p:cNvPr id="35" name="Shape 32"/>
          <p:cNvSpPr/>
          <p:nvPr/>
        </p:nvSpPr>
        <p:spPr>
          <a:xfrm>
            <a:off x="1569720" y="4709160"/>
            <a:ext cx="2225040" cy="91"/>
          </a:xfrm>
          <a:prstGeom prst="line">
            <a:avLst/>
          </a:prstGeom>
          <a:noFill/>
          <a:ln w="19050">
            <a:solidFill>
              <a:schemeClr val="tx1"/>
            </a:solidFill>
            <a:prstDash val="solid"/>
            <a:headEnd type="none"/>
            <a:tailEnd type="triangle"/>
          </a:ln>
        </p:spPr>
        <p:txBody>
          <a:bodyPr/>
          <a:lstStyle/>
          <a:p>
            <a:endParaRPr lang="en-US"/>
          </a:p>
        </p:txBody>
      </p:sp>
      <p:sp>
        <p:nvSpPr>
          <p:cNvPr id="36" name="Shape 33"/>
          <p:cNvSpPr/>
          <p:nvPr/>
        </p:nvSpPr>
        <p:spPr>
          <a:xfrm>
            <a:off x="2213737" y="4498848"/>
            <a:ext cx="937006" cy="173736"/>
          </a:xfrm>
          <a:prstGeom prst="rect">
            <a:avLst/>
          </a:prstGeom>
          <a:solidFill>
            <a:schemeClr val="bg1"/>
          </a:solidFill>
          <a:ln/>
        </p:spPr>
        <p:txBody>
          <a:bodyPr/>
          <a:lstStyle/>
          <a:p>
            <a:endParaRPr lang="en-US"/>
          </a:p>
        </p:txBody>
      </p:sp>
      <p:sp>
        <p:nvSpPr>
          <p:cNvPr id="37" name="Text 34"/>
          <p:cNvSpPr txBox="1"/>
          <p:nvPr/>
        </p:nvSpPr>
        <p:spPr>
          <a:xfrm>
            <a:off x="2168017" y="4489704"/>
            <a:ext cx="102844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complete {T1}</a:t>
            </a:r>
            <a:endParaRPr lang="en-US" sz="1000" dirty="0"/>
          </a:p>
        </p:txBody>
      </p:sp>
      <p:sp>
        <p:nvSpPr>
          <p:cNvPr id="38" name="Shape 35"/>
          <p:cNvSpPr/>
          <p:nvPr/>
        </p:nvSpPr>
        <p:spPr>
          <a:xfrm>
            <a:off x="3867912" y="4855464"/>
            <a:ext cx="2057400" cy="384048"/>
          </a:xfrm>
          <a:prstGeom prst="roundRect">
            <a:avLst>
              <a:gd name="adj" fmla="val 14286"/>
            </a:avLst>
          </a:prstGeom>
          <a:solidFill>
            <a:schemeClr val="bg1"/>
          </a:solidFill>
          <a:ln/>
        </p:spPr>
        <p:txBody>
          <a:bodyPr/>
          <a:lstStyle/>
          <a:p>
            <a:endParaRPr lang="en-US"/>
          </a:p>
        </p:txBody>
      </p:sp>
      <p:sp>
        <p:nvSpPr>
          <p:cNvPr id="39" name="Shape 36"/>
          <p:cNvSpPr/>
          <p:nvPr/>
        </p:nvSpPr>
        <p:spPr>
          <a:xfrm>
            <a:off x="3867912" y="4855464"/>
            <a:ext cx="2057400" cy="384048"/>
          </a:xfrm>
          <a:prstGeom prst="roundRect">
            <a:avLst>
              <a:gd name="adj" fmla="val 14286"/>
            </a:avLst>
          </a:prstGeom>
          <a:solidFill>
            <a:schemeClr val="accent1">
              <a:alpha val="20000"/>
            </a:schemeClr>
          </a:solidFill>
          <a:ln w="15875">
            <a:solidFill>
              <a:schemeClr val="accent1"/>
            </a:solidFill>
            <a:prstDash val="solid"/>
          </a:ln>
        </p:spPr>
        <p:txBody>
          <a:bodyPr/>
          <a:lstStyle/>
          <a:p>
            <a:endParaRPr lang="en-US"/>
          </a:p>
        </p:txBody>
      </p:sp>
      <p:sp>
        <p:nvSpPr>
          <p:cNvPr id="40" name="Text 37"/>
          <p:cNvSpPr txBox="1"/>
          <p:nvPr/>
        </p:nvSpPr>
        <p:spPr>
          <a:xfrm>
            <a:off x="3931920" y="4855464"/>
            <a:ext cx="1929384" cy="384048"/>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UPDATE … WHERE lease_token = T1 → 0 rows</a:t>
            </a:r>
            <a:endParaRPr lang="en-US" sz="1000" dirty="0"/>
          </a:p>
        </p:txBody>
      </p:sp>
      <p:sp>
        <p:nvSpPr>
          <p:cNvPr id="41" name="Shape 38"/>
          <p:cNvSpPr/>
          <p:nvPr/>
        </p:nvSpPr>
        <p:spPr>
          <a:xfrm flipH="1">
            <a:off x="1569720" y="5550408"/>
            <a:ext cx="2225040" cy="91"/>
          </a:xfrm>
          <a:prstGeom prst="line">
            <a:avLst/>
          </a:prstGeom>
          <a:noFill/>
          <a:ln w="12700">
            <a:solidFill>
              <a:srgbClr val="C00000"/>
            </a:solidFill>
            <a:prstDash val="dash"/>
            <a:headEnd type="none"/>
            <a:tailEnd type="triangle"/>
          </a:ln>
        </p:spPr>
        <p:txBody>
          <a:bodyPr/>
          <a:lstStyle/>
          <a:p>
            <a:endParaRPr lang="en-US"/>
          </a:p>
        </p:txBody>
      </p:sp>
      <p:sp>
        <p:nvSpPr>
          <p:cNvPr id="42" name="Shape 39"/>
          <p:cNvSpPr/>
          <p:nvPr/>
        </p:nvSpPr>
        <p:spPr>
          <a:xfrm>
            <a:off x="2156485" y="5340096"/>
            <a:ext cx="1051509" cy="173736"/>
          </a:xfrm>
          <a:prstGeom prst="rect">
            <a:avLst/>
          </a:prstGeom>
          <a:solidFill>
            <a:schemeClr val="bg1"/>
          </a:solidFill>
          <a:ln/>
        </p:spPr>
        <p:txBody>
          <a:bodyPr/>
          <a:lstStyle/>
          <a:p>
            <a:endParaRPr lang="en-US"/>
          </a:p>
        </p:txBody>
      </p:sp>
      <p:sp>
        <p:nvSpPr>
          <p:cNvPr id="43" name="Text 40"/>
          <p:cNvSpPr txBox="1"/>
          <p:nvPr/>
        </p:nvSpPr>
        <p:spPr>
          <a:xfrm>
            <a:off x="2110765" y="5330952"/>
            <a:ext cx="1142949" cy="201168"/>
          </a:xfrm>
          <a:prstGeom prst="rect">
            <a:avLst/>
          </a:prstGeom>
          <a:noFill/>
          <a:ln/>
        </p:spPr>
        <p:txBody>
          <a:bodyPr wrap="square" lIns="0" tIns="0" rIns="0" bIns="0" rtlCol="0" anchor="b"/>
          <a:lstStyle/>
          <a:p>
            <a:pPr marL="0" indent="0" algn="ctr">
              <a:buNone/>
            </a:pPr>
            <a:r>
              <a:rPr lang="en-US" sz="1000" b="1" dirty="0">
                <a:solidFill>
                  <a:srgbClr val="C00000"/>
                </a:solidFill>
                <a:latin typeface="Calibri" pitchFamily="34" charset="0"/>
                <a:ea typeface="Calibri" pitchFamily="34" charset="-122"/>
                <a:cs typeface="Calibri" pitchFamily="34" charset="-120"/>
              </a:rPr>
              <a:t>409 LEASE_LOST</a:t>
            </a:r>
            <a:endParaRPr lang="en-US" sz="1000" dirty="0">
              <a:solidFill>
                <a:srgbClr val="C00000"/>
              </a:solidFill>
            </a:endParaRPr>
          </a:p>
        </p:txBody>
      </p:sp>
      <p:sp>
        <p:nvSpPr>
          <p:cNvPr id="44" name="Shape 41"/>
          <p:cNvSpPr/>
          <p:nvPr/>
        </p:nvSpPr>
        <p:spPr>
          <a:xfrm flipH="1">
            <a:off x="3794760" y="5916168"/>
            <a:ext cx="2225040" cy="91"/>
          </a:xfrm>
          <a:prstGeom prst="line">
            <a:avLst/>
          </a:prstGeom>
          <a:noFill/>
          <a:ln w="19050">
            <a:solidFill>
              <a:schemeClr val="tx1"/>
            </a:solidFill>
            <a:prstDash val="solid"/>
            <a:headEnd type="none"/>
            <a:tailEnd type="triangle"/>
          </a:ln>
        </p:spPr>
        <p:txBody>
          <a:bodyPr/>
          <a:lstStyle/>
          <a:p>
            <a:endParaRPr lang="en-US"/>
          </a:p>
        </p:txBody>
      </p:sp>
      <p:sp>
        <p:nvSpPr>
          <p:cNvPr id="45" name="Shape 42"/>
          <p:cNvSpPr/>
          <p:nvPr/>
        </p:nvSpPr>
        <p:spPr>
          <a:xfrm>
            <a:off x="4438777" y="5705856"/>
            <a:ext cx="937006" cy="173736"/>
          </a:xfrm>
          <a:prstGeom prst="rect">
            <a:avLst/>
          </a:prstGeom>
          <a:solidFill>
            <a:schemeClr val="bg1"/>
          </a:solidFill>
          <a:ln/>
        </p:spPr>
        <p:txBody>
          <a:bodyPr/>
          <a:lstStyle/>
          <a:p>
            <a:endParaRPr lang="en-US"/>
          </a:p>
        </p:txBody>
      </p:sp>
      <p:sp>
        <p:nvSpPr>
          <p:cNvPr id="46" name="Text 43"/>
          <p:cNvSpPr txBox="1"/>
          <p:nvPr/>
        </p:nvSpPr>
        <p:spPr>
          <a:xfrm>
            <a:off x="4393057" y="5696712"/>
            <a:ext cx="102844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complete {T2}</a:t>
            </a:r>
            <a:endParaRPr lang="en-US" sz="1000" dirty="0"/>
          </a:p>
        </p:txBody>
      </p:sp>
      <p:sp>
        <p:nvSpPr>
          <p:cNvPr id="47" name="Shape 44"/>
          <p:cNvSpPr/>
          <p:nvPr/>
        </p:nvSpPr>
        <p:spPr>
          <a:xfrm>
            <a:off x="3794760" y="6281928"/>
            <a:ext cx="2225040" cy="91"/>
          </a:xfrm>
          <a:prstGeom prst="line">
            <a:avLst/>
          </a:prstGeom>
          <a:noFill/>
          <a:ln w="12700">
            <a:solidFill>
              <a:srgbClr val="00B050"/>
            </a:solidFill>
            <a:prstDash val="dash"/>
            <a:headEnd type="none"/>
            <a:tailEnd type="triangle"/>
          </a:ln>
        </p:spPr>
        <p:txBody>
          <a:bodyPr/>
          <a:lstStyle/>
          <a:p>
            <a:endParaRPr lang="en-US"/>
          </a:p>
        </p:txBody>
      </p:sp>
      <p:sp>
        <p:nvSpPr>
          <p:cNvPr id="48" name="Shape 45"/>
          <p:cNvSpPr/>
          <p:nvPr/>
        </p:nvSpPr>
        <p:spPr>
          <a:xfrm>
            <a:off x="4645381" y="6071616"/>
            <a:ext cx="523799" cy="173736"/>
          </a:xfrm>
          <a:prstGeom prst="rect">
            <a:avLst/>
          </a:prstGeom>
          <a:solidFill>
            <a:schemeClr val="bg1"/>
          </a:solidFill>
          <a:ln/>
        </p:spPr>
        <p:txBody>
          <a:bodyPr/>
          <a:lstStyle/>
          <a:p>
            <a:endParaRPr lang="en-US"/>
          </a:p>
        </p:txBody>
      </p:sp>
      <p:sp>
        <p:nvSpPr>
          <p:cNvPr id="49" name="Text 46"/>
          <p:cNvSpPr txBox="1"/>
          <p:nvPr/>
        </p:nvSpPr>
        <p:spPr>
          <a:xfrm>
            <a:off x="4599661" y="6062472"/>
            <a:ext cx="615239" cy="201168"/>
          </a:xfrm>
          <a:prstGeom prst="rect">
            <a:avLst/>
          </a:prstGeom>
          <a:noFill/>
          <a:ln/>
        </p:spPr>
        <p:txBody>
          <a:bodyPr wrap="square" lIns="0" tIns="0" rIns="0" bIns="0" rtlCol="0" anchor="b"/>
          <a:lstStyle/>
          <a:p>
            <a:pPr marL="0" indent="0" algn="ctr">
              <a:buNone/>
            </a:pPr>
            <a:r>
              <a:rPr lang="en-US" sz="1000" b="1" dirty="0">
                <a:solidFill>
                  <a:srgbClr val="00B050"/>
                </a:solidFill>
                <a:latin typeface="Calibri" pitchFamily="34" charset="0"/>
                <a:ea typeface="Calibri" pitchFamily="34" charset="-122"/>
                <a:cs typeface="Calibri" pitchFamily="34" charset="-120"/>
              </a:rPr>
              <a:t>200 OK</a:t>
            </a:r>
            <a:endParaRPr lang="en-US" sz="1000" dirty="0">
              <a:solidFill>
                <a:srgbClr val="00B050"/>
              </a:solidFill>
            </a:endParaRPr>
          </a:p>
        </p:txBody>
      </p:sp>
      <p:sp>
        <p:nvSpPr>
          <p:cNvPr id="50" name="Shape 47"/>
          <p:cNvSpPr/>
          <p:nvPr/>
        </p:nvSpPr>
        <p:spPr>
          <a:xfrm>
            <a:off x="7498080" y="1417320"/>
            <a:ext cx="4233672" cy="4800600"/>
          </a:xfrm>
          <a:prstGeom prst="roundRect">
            <a:avLst>
              <a:gd name="adj" fmla="val 1296"/>
            </a:avLst>
          </a:prstGeom>
          <a:solidFill>
            <a:schemeClr val="bg1"/>
          </a:solidFill>
          <a:ln/>
        </p:spPr>
        <p:txBody>
          <a:bodyPr/>
          <a:lstStyle/>
          <a:p>
            <a:endParaRPr lang="en-US"/>
          </a:p>
        </p:txBody>
      </p:sp>
      <p:sp>
        <p:nvSpPr>
          <p:cNvPr id="51" name="Shape 48"/>
          <p:cNvSpPr/>
          <p:nvPr/>
        </p:nvSpPr>
        <p:spPr>
          <a:xfrm>
            <a:off x="7498080" y="1417320"/>
            <a:ext cx="4233672" cy="4800600"/>
          </a:xfrm>
          <a:prstGeom prst="roundRect">
            <a:avLst>
              <a:gd name="adj" fmla="val 1296"/>
            </a:avLst>
          </a:prstGeom>
          <a:solidFill>
            <a:schemeClr val="bg2"/>
          </a:solidFill>
          <a:ln/>
        </p:spPr>
        <p:txBody>
          <a:bodyPr/>
          <a:lstStyle/>
          <a:p>
            <a:endParaRPr lang="en-US"/>
          </a:p>
        </p:txBody>
      </p:sp>
      <p:sp>
        <p:nvSpPr>
          <p:cNvPr id="52" name="Text 49"/>
          <p:cNvSpPr txBox="1"/>
          <p:nvPr/>
        </p:nvSpPr>
        <p:spPr>
          <a:xfrm>
            <a:off x="7726680" y="1554480"/>
            <a:ext cx="3840480" cy="36576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The worker contract</a:t>
            </a:r>
            <a:endParaRPr lang="en-US" sz="1600" dirty="0"/>
          </a:p>
        </p:txBody>
      </p:sp>
      <p:sp>
        <p:nvSpPr>
          <p:cNvPr id="53" name="Shape 50"/>
          <p:cNvSpPr/>
          <p:nvPr/>
        </p:nvSpPr>
        <p:spPr>
          <a:xfrm>
            <a:off x="7726680" y="2103120"/>
            <a:ext cx="438912" cy="438912"/>
          </a:xfrm>
          <a:prstGeom prst="ellipse">
            <a:avLst/>
          </a:prstGeom>
          <a:solidFill>
            <a:schemeClr val="accent1">
              <a:lumMod val="40000"/>
              <a:lumOff val="60000"/>
            </a:schemeClr>
          </a:solidFill>
          <a:ln/>
        </p:spPr>
        <p:txBody>
          <a:bodyPr/>
          <a:lstStyle/>
          <a:p>
            <a:endParaRPr lang="en-US"/>
          </a:p>
        </p:txBody>
      </p:sp>
      <p:pic>
        <p:nvPicPr>
          <p:cNvPr id="54" name="Image 0" descr="preencoded.png"/>
          <p:cNvPicPr>
            <a:picLocks noChangeAspect="1"/>
          </p:cNvPicPr>
          <p:nvPr/>
        </p:nvPicPr>
        <p:blipFill>
          <a:blip r:embed="rId3"/>
          <a:stretch>
            <a:fillRect/>
          </a:stretch>
        </p:blipFill>
        <p:spPr>
          <a:xfrm>
            <a:off x="7836408" y="2212848"/>
            <a:ext cx="219456" cy="219456"/>
          </a:xfrm>
          <a:prstGeom prst="rect">
            <a:avLst/>
          </a:prstGeom>
        </p:spPr>
      </p:pic>
      <p:sp>
        <p:nvSpPr>
          <p:cNvPr id="55" name="Text 51"/>
          <p:cNvSpPr txBox="1"/>
          <p:nvPr/>
        </p:nvSpPr>
        <p:spPr>
          <a:xfrm>
            <a:off x="8321040" y="2057400"/>
            <a:ext cx="3291840" cy="713232"/>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Send lease_token on start, heartbeat, progress, checkpoint, complete, set-wait</a:t>
            </a:r>
            <a:endParaRPr lang="en-US" sz="1300" dirty="0"/>
          </a:p>
        </p:txBody>
      </p:sp>
      <p:sp>
        <p:nvSpPr>
          <p:cNvPr id="56" name="Shape 52"/>
          <p:cNvSpPr/>
          <p:nvPr/>
        </p:nvSpPr>
        <p:spPr>
          <a:xfrm>
            <a:off x="7726680" y="2907792"/>
            <a:ext cx="438912" cy="438912"/>
          </a:xfrm>
          <a:prstGeom prst="ellipse">
            <a:avLst/>
          </a:prstGeom>
          <a:solidFill>
            <a:schemeClr val="accent6">
              <a:lumMod val="60000"/>
              <a:lumOff val="40000"/>
            </a:schemeClr>
          </a:solidFill>
          <a:ln/>
        </p:spPr>
        <p:txBody>
          <a:bodyPr/>
          <a:lstStyle/>
          <a:p>
            <a:endParaRPr lang="en-US"/>
          </a:p>
        </p:txBody>
      </p:sp>
      <p:pic>
        <p:nvPicPr>
          <p:cNvPr id="57" name="Image 1" descr="preencoded.png"/>
          <p:cNvPicPr>
            <a:picLocks noChangeAspect="1"/>
          </p:cNvPicPr>
          <p:nvPr/>
        </p:nvPicPr>
        <p:blipFill>
          <a:blip r:embed="rId4"/>
          <a:stretch>
            <a:fillRect/>
          </a:stretch>
        </p:blipFill>
        <p:spPr>
          <a:xfrm>
            <a:off x="7836408" y="3017520"/>
            <a:ext cx="219456" cy="219456"/>
          </a:xfrm>
          <a:prstGeom prst="rect">
            <a:avLst/>
          </a:prstGeom>
        </p:spPr>
      </p:pic>
      <p:sp>
        <p:nvSpPr>
          <p:cNvPr id="58" name="Text 53"/>
          <p:cNvSpPr txBox="1"/>
          <p:nvPr/>
        </p:nvSpPr>
        <p:spPr>
          <a:xfrm>
            <a:off x="8321040" y="2862072"/>
            <a:ext cx="3291840" cy="713232"/>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LEASE_LOST is final: abandon the task, never retry the call</a:t>
            </a:r>
            <a:endParaRPr lang="en-US" sz="1300" dirty="0"/>
          </a:p>
        </p:txBody>
      </p:sp>
      <p:sp>
        <p:nvSpPr>
          <p:cNvPr id="59" name="Shape 54"/>
          <p:cNvSpPr/>
          <p:nvPr/>
        </p:nvSpPr>
        <p:spPr>
          <a:xfrm>
            <a:off x="7726680" y="3712464"/>
            <a:ext cx="438912" cy="438912"/>
          </a:xfrm>
          <a:prstGeom prst="ellipse">
            <a:avLst/>
          </a:prstGeom>
          <a:solidFill>
            <a:schemeClr val="accent1">
              <a:lumMod val="40000"/>
              <a:lumOff val="60000"/>
            </a:schemeClr>
          </a:solidFill>
          <a:ln/>
        </p:spPr>
        <p:txBody>
          <a:bodyPr/>
          <a:lstStyle/>
          <a:p>
            <a:endParaRPr lang="en-US"/>
          </a:p>
        </p:txBody>
      </p:sp>
      <p:pic>
        <p:nvPicPr>
          <p:cNvPr id="60" name="Image 2" descr="preencoded.png"/>
          <p:cNvPicPr>
            <a:picLocks noChangeAspect="1"/>
          </p:cNvPicPr>
          <p:nvPr/>
        </p:nvPicPr>
        <p:blipFill>
          <a:blip r:embed="rId5"/>
          <a:stretch>
            <a:fillRect/>
          </a:stretch>
        </p:blipFill>
        <p:spPr>
          <a:xfrm>
            <a:off x="7836408" y="3822192"/>
            <a:ext cx="219456" cy="219456"/>
          </a:xfrm>
          <a:prstGeom prst="rect">
            <a:avLst/>
          </a:prstGeom>
        </p:spPr>
      </p:pic>
      <p:sp>
        <p:nvSpPr>
          <p:cNvPr id="61" name="Text 55"/>
          <p:cNvSpPr txBox="1"/>
          <p:nvPr/>
        </p:nvSpPr>
        <p:spPr>
          <a:xfrm>
            <a:off x="8321040" y="3666744"/>
            <a:ext cx="3291840" cy="713232"/>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Pass lease_epoch to external systems — reject writes with a lower epoch</a:t>
            </a:r>
            <a:endParaRPr lang="en-US" sz="1300" dirty="0"/>
          </a:p>
        </p:txBody>
      </p:sp>
      <p:sp>
        <p:nvSpPr>
          <p:cNvPr id="62" name="Shape 56"/>
          <p:cNvSpPr/>
          <p:nvPr/>
        </p:nvSpPr>
        <p:spPr>
          <a:xfrm>
            <a:off x="7726680" y="4517136"/>
            <a:ext cx="438912" cy="438912"/>
          </a:xfrm>
          <a:prstGeom prst="ellipse">
            <a:avLst/>
          </a:prstGeom>
          <a:solidFill>
            <a:schemeClr val="accent1">
              <a:lumMod val="40000"/>
              <a:lumOff val="60000"/>
            </a:schemeClr>
          </a:solidFill>
          <a:ln/>
        </p:spPr>
        <p:txBody>
          <a:bodyPr/>
          <a:lstStyle/>
          <a:p>
            <a:endParaRPr lang="en-US"/>
          </a:p>
        </p:txBody>
      </p:sp>
      <p:pic>
        <p:nvPicPr>
          <p:cNvPr id="63" name="Image 3" descr="preencoded.png"/>
          <p:cNvPicPr>
            <a:picLocks noChangeAspect="1"/>
          </p:cNvPicPr>
          <p:nvPr/>
        </p:nvPicPr>
        <p:blipFill>
          <a:blip r:embed="rId6"/>
          <a:stretch>
            <a:fillRect/>
          </a:stretch>
        </p:blipFill>
        <p:spPr>
          <a:xfrm>
            <a:off x="7836408" y="4626864"/>
            <a:ext cx="219456" cy="219456"/>
          </a:xfrm>
          <a:prstGeom prst="rect">
            <a:avLst/>
          </a:prstGeom>
        </p:spPr>
      </p:pic>
      <p:sp>
        <p:nvSpPr>
          <p:cNvPr id="64" name="Text 57"/>
          <p:cNvSpPr txBox="1"/>
          <p:nvPr/>
        </p:nvSpPr>
        <p:spPr>
          <a:xfrm>
            <a:off x="8321040" y="4471416"/>
            <a:ext cx="3291840" cy="713232"/>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Execution is at-least-once: make handlers idempotent</a:t>
            </a:r>
            <a:endParaRPr lang="en-US" sz="1300" dirty="0"/>
          </a:p>
        </p:txBody>
      </p:sp>
      <p:sp>
        <p:nvSpPr>
          <p:cNvPr id="65" name="Shape 58"/>
          <p:cNvSpPr/>
          <p:nvPr/>
        </p:nvSpPr>
        <p:spPr>
          <a:xfrm>
            <a:off x="7726680" y="5321808"/>
            <a:ext cx="438912" cy="438912"/>
          </a:xfrm>
          <a:prstGeom prst="ellipse">
            <a:avLst/>
          </a:prstGeom>
          <a:solidFill>
            <a:schemeClr val="accent1">
              <a:lumMod val="40000"/>
              <a:lumOff val="60000"/>
            </a:schemeClr>
          </a:solidFill>
          <a:ln/>
        </p:spPr>
        <p:txBody>
          <a:bodyPr/>
          <a:lstStyle/>
          <a:p>
            <a:endParaRPr lang="en-US"/>
          </a:p>
        </p:txBody>
      </p:sp>
      <p:pic>
        <p:nvPicPr>
          <p:cNvPr id="66" name="Image 4" descr="preencoded.png"/>
          <p:cNvPicPr>
            <a:picLocks noChangeAspect="1"/>
          </p:cNvPicPr>
          <p:nvPr/>
        </p:nvPicPr>
        <p:blipFill>
          <a:blip r:embed="rId7"/>
          <a:stretch>
            <a:fillRect/>
          </a:stretch>
        </p:blipFill>
        <p:spPr>
          <a:xfrm>
            <a:off x="7836408" y="5431536"/>
            <a:ext cx="219456" cy="219456"/>
          </a:xfrm>
          <a:prstGeom prst="rect">
            <a:avLst/>
          </a:prstGeom>
        </p:spPr>
      </p:pic>
      <p:sp>
        <p:nvSpPr>
          <p:cNvPr id="67" name="Text 59"/>
          <p:cNvSpPr txBox="1"/>
          <p:nvPr/>
        </p:nvSpPr>
        <p:spPr>
          <a:xfrm>
            <a:off x="8321040" y="5276088"/>
            <a:ext cx="3291840" cy="713232"/>
          </a:xfrm>
          <a:prstGeom prst="rect">
            <a:avLst/>
          </a:prstGeom>
          <a:noFill/>
          <a:ln/>
        </p:spPr>
        <p:txBody>
          <a:bodyPr wrap="square" lIns="0" tIns="0" rIns="0" bIns="0" rtlCol="0" anchor="ctr"/>
          <a:lstStyle/>
          <a:p>
            <a:pPr marL="0" indent="0">
              <a:buNone/>
            </a:pPr>
            <a:r>
              <a:rPr lang="en-US" sz="1300" dirty="0">
                <a:solidFill>
                  <a:schemeClr val="tx1"/>
                </a:solidFill>
                <a:latin typeface="Calibri" pitchFamily="34" charset="0"/>
                <a:ea typeface="Calibri" pitchFamily="34" charset="-122"/>
                <a:cs typeface="Calibri" pitchFamily="34" charset="-120"/>
              </a:rPr>
              <a:t>Heartbeat inside the lease (default 30 s); the SDK does it for you</a:t>
            </a:r>
            <a:endParaRPr lang="en-US" sz="13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Cancellation: three modes, one terminal state</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Producers ask; a leased task is stopped by its worker or forced by the engine; unleased tasks end at once</a:t>
            </a:r>
            <a:endParaRPr lang="en-US" sz="1600" dirty="0"/>
          </a:p>
        </p:txBody>
      </p:sp>
      <p:sp>
        <p:nvSpPr>
          <p:cNvPr id="5" name="Text 2"/>
          <p:cNvSpPr txBox="1"/>
          <p:nvPr/>
        </p:nvSpPr>
        <p:spPr>
          <a:xfrm>
            <a:off x="457200" y="1417320"/>
            <a:ext cx="27432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Three modes</a:t>
            </a:r>
            <a:endParaRPr lang="en-US" sz="1400" dirty="0"/>
          </a:p>
        </p:txBody>
      </p:sp>
      <p:sp>
        <p:nvSpPr>
          <p:cNvPr id="6" name="Shape 3"/>
          <p:cNvSpPr/>
          <p:nvPr/>
        </p:nvSpPr>
        <p:spPr>
          <a:xfrm>
            <a:off x="457200" y="1783080"/>
            <a:ext cx="4846320" cy="987552"/>
          </a:xfrm>
          <a:prstGeom prst="roundRect">
            <a:avLst>
              <a:gd name="adj" fmla="val 5556"/>
            </a:avLst>
          </a:prstGeom>
          <a:solidFill>
            <a:schemeClr val="bg1"/>
          </a:solidFill>
          <a:ln/>
        </p:spPr>
        <p:txBody>
          <a:bodyPr/>
          <a:lstStyle/>
          <a:p>
            <a:endParaRPr lang="en-US"/>
          </a:p>
        </p:txBody>
      </p:sp>
      <p:sp>
        <p:nvSpPr>
          <p:cNvPr id="7" name="Shape 4"/>
          <p:cNvSpPr/>
          <p:nvPr/>
        </p:nvSpPr>
        <p:spPr>
          <a:xfrm>
            <a:off x="457200" y="1783080"/>
            <a:ext cx="4846320" cy="987552"/>
          </a:xfrm>
          <a:prstGeom prst="roundRect">
            <a:avLst>
              <a:gd name="adj" fmla="val 5556"/>
            </a:avLst>
          </a:prstGeom>
          <a:solidFill>
            <a:schemeClr val="bg2"/>
          </a:solidFill>
          <a:ln/>
        </p:spPr>
        <p:txBody>
          <a:bodyPr/>
          <a:lstStyle/>
          <a:p>
            <a:endParaRPr lang="en-US"/>
          </a:p>
        </p:txBody>
      </p:sp>
      <p:sp>
        <p:nvSpPr>
          <p:cNvPr id="8" name="Shape 5"/>
          <p:cNvSpPr/>
          <p:nvPr/>
        </p:nvSpPr>
        <p:spPr>
          <a:xfrm>
            <a:off x="594360" y="1920240"/>
            <a:ext cx="1051560" cy="329184"/>
          </a:xfrm>
          <a:prstGeom prst="roundRect">
            <a:avLst>
              <a:gd name="adj" fmla="val 50000"/>
            </a:avLst>
          </a:prstGeom>
          <a:solidFill>
            <a:schemeClr val="accent5"/>
          </a:solidFill>
          <a:ln/>
        </p:spPr>
        <p:txBody>
          <a:bodyPr/>
          <a:lstStyle/>
          <a:p>
            <a:endParaRPr lang="en-US"/>
          </a:p>
        </p:txBody>
      </p:sp>
      <p:sp>
        <p:nvSpPr>
          <p:cNvPr id="9" name="Text 6"/>
          <p:cNvSpPr txBox="1"/>
          <p:nvPr/>
        </p:nvSpPr>
        <p:spPr>
          <a:xfrm>
            <a:off x="594360" y="1920240"/>
            <a:ext cx="1051560" cy="329184"/>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requested</a:t>
            </a:r>
            <a:endParaRPr lang="en-US" sz="1200" dirty="0"/>
          </a:p>
        </p:txBody>
      </p:sp>
      <p:sp>
        <p:nvSpPr>
          <p:cNvPr id="10" name="Text 7"/>
          <p:cNvSpPr txBox="1"/>
          <p:nvPr/>
        </p:nvSpPr>
        <p:spPr>
          <a:xfrm>
            <a:off x="1783080" y="1856232"/>
            <a:ext cx="3429000" cy="566928"/>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Sets cancel_requested. The worker sees it in the heartbeat response, stops and completes as cancelled.</a:t>
            </a:r>
            <a:endParaRPr lang="en-US" sz="1100" dirty="0"/>
          </a:p>
        </p:txBody>
      </p:sp>
      <p:sp>
        <p:nvSpPr>
          <p:cNvPr id="11" name="Text 8"/>
          <p:cNvSpPr txBox="1"/>
          <p:nvPr/>
        </p:nvSpPr>
        <p:spPr>
          <a:xfrm>
            <a:off x="1783080" y="2441448"/>
            <a:ext cx="3429000" cy="256032"/>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cancellable=false: </a:t>
            </a:r>
            <a:r>
              <a:rPr lang="en-US" sz="1000" b="1" dirty="0">
                <a:solidFill>
                  <a:schemeClr val="tx1"/>
                </a:solidFill>
                <a:latin typeface="Calibri" pitchFamily="34" charset="0"/>
                <a:ea typeface="Calibri" pitchFamily="34" charset="-122"/>
                <a:cs typeface="Calibri" pitchFamily="34" charset="-120"/>
              </a:rPr>
              <a:t>rejected</a:t>
            </a:r>
            <a:r>
              <a:rPr lang="en-US" sz="1000" dirty="0">
                <a:solidFill>
                  <a:schemeClr val="tx2"/>
                </a:solidFill>
                <a:latin typeface="Calibri" pitchFamily="34" charset="0"/>
                <a:ea typeface="Calibri" pitchFamily="34" charset="-122"/>
                <a:cs typeface="Calibri" pitchFamily="34" charset="-120"/>
              </a:rPr>
              <a:t>    result: </a:t>
            </a:r>
            <a:r>
              <a:rPr lang="en-US" sz="1000" b="1" dirty="0">
                <a:solidFill>
                  <a:schemeClr val="tx1"/>
                </a:solidFill>
                <a:latin typeface="Courier New" pitchFamily="34" charset="0"/>
                <a:ea typeface="Courier New" pitchFamily="34" charset="-122"/>
                <a:cs typeface="Courier New" pitchFamily="34" charset="-120"/>
              </a:rPr>
              <a:t>cancelled</a:t>
            </a:r>
            <a:endParaRPr lang="en-US" sz="1000" dirty="0"/>
          </a:p>
        </p:txBody>
      </p:sp>
      <p:sp>
        <p:nvSpPr>
          <p:cNvPr id="12" name="Shape 9"/>
          <p:cNvSpPr/>
          <p:nvPr/>
        </p:nvSpPr>
        <p:spPr>
          <a:xfrm>
            <a:off x="457200" y="2880360"/>
            <a:ext cx="4846320" cy="987552"/>
          </a:xfrm>
          <a:prstGeom prst="roundRect">
            <a:avLst>
              <a:gd name="adj" fmla="val 5556"/>
            </a:avLst>
          </a:prstGeom>
          <a:solidFill>
            <a:schemeClr val="bg1"/>
          </a:solidFill>
          <a:ln/>
        </p:spPr>
        <p:txBody>
          <a:bodyPr/>
          <a:lstStyle/>
          <a:p>
            <a:endParaRPr lang="en-US"/>
          </a:p>
        </p:txBody>
      </p:sp>
      <p:sp>
        <p:nvSpPr>
          <p:cNvPr id="13" name="Shape 10"/>
          <p:cNvSpPr/>
          <p:nvPr/>
        </p:nvSpPr>
        <p:spPr>
          <a:xfrm>
            <a:off x="457200" y="2880360"/>
            <a:ext cx="4846320" cy="987552"/>
          </a:xfrm>
          <a:prstGeom prst="roundRect">
            <a:avLst>
              <a:gd name="adj" fmla="val 5556"/>
            </a:avLst>
          </a:prstGeom>
          <a:solidFill>
            <a:schemeClr val="bg2"/>
          </a:solidFill>
          <a:ln/>
        </p:spPr>
        <p:txBody>
          <a:bodyPr/>
          <a:lstStyle/>
          <a:p>
            <a:endParaRPr lang="en-US"/>
          </a:p>
        </p:txBody>
      </p:sp>
      <p:sp>
        <p:nvSpPr>
          <p:cNvPr id="14" name="Shape 11"/>
          <p:cNvSpPr/>
          <p:nvPr/>
        </p:nvSpPr>
        <p:spPr>
          <a:xfrm>
            <a:off x="594360" y="3017520"/>
            <a:ext cx="1051560" cy="329184"/>
          </a:xfrm>
          <a:prstGeom prst="roundRect">
            <a:avLst>
              <a:gd name="adj" fmla="val 50000"/>
            </a:avLst>
          </a:prstGeom>
          <a:solidFill>
            <a:schemeClr val="accent1"/>
          </a:solidFill>
          <a:ln/>
        </p:spPr>
        <p:txBody>
          <a:bodyPr/>
          <a:lstStyle/>
          <a:p>
            <a:endParaRPr lang="en-US"/>
          </a:p>
        </p:txBody>
      </p:sp>
      <p:sp>
        <p:nvSpPr>
          <p:cNvPr id="15" name="Text 12"/>
          <p:cNvSpPr txBox="1"/>
          <p:nvPr/>
        </p:nvSpPr>
        <p:spPr>
          <a:xfrm>
            <a:off x="594360" y="3017520"/>
            <a:ext cx="1051560" cy="329184"/>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graceful</a:t>
            </a:r>
            <a:endParaRPr lang="en-US" sz="1200" dirty="0"/>
          </a:p>
        </p:txBody>
      </p:sp>
      <p:sp>
        <p:nvSpPr>
          <p:cNvPr id="16" name="Text 13"/>
          <p:cNvSpPr txBox="1"/>
          <p:nvPr/>
        </p:nvSpPr>
        <p:spPr>
          <a:xfrm>
            <a:off x="1783080" y="2953512"/>
            <a:ext cx="3429000" cy="566928"/>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Same, plus a grace period. No ack in time → escalates to forced.</a:t>
            </a:r>
            <a:endParaRPr lang="en-US" sz="1100" dirty="0"/>
          </a:p>
        </p:txBody>
      </p:sp>
      <p:sp>
        <p:nvSpPr>
          <p:cNvPr id="17" name="Text 14"/>
          <p:cNvSpPr txBox="1"/>
          <p:nvPr/>
        </p:nvSpPr>
        <p:spPr>
          <a:xfrm>
            <a:off x="1783080" y="3538728"/>
            <a:ext cx="3429000" cy="256032"/>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cancellable=false: </a:t>
            </a:r>
            <a:r>
              <a:rPr lang="en-US" sz="1000" b="1" dirty="0">
                <a:solidFill>
                  <a:schemeClr val="tx1"/>
                </a:solidFill>
                <a:latin typeface="Calibri" pitchFamily="34" charset="0"/>
                <a:ea typeface="Calibri" pitchFamily="34" charset="-122"/>
                <a:cs typeface="Calibri" pitchFamily="34" charset="-120"/>
              </a:rPr>
              <a:t>rejected</a:t>
            </a:r>
            <a:r>
              <a:rPr lang="en-US" sz="1000" dirty="0">
                <a:solidFill>
                  <a:schemeClr val="tx2"/>
                </a:solidFill>
                <a:latin typeface="Calibri" pitchFamily="34" charset="0"/>
                <a:ea typeface="Calibri" pitchFamily="34" charset="-122"/>
                <a:cs typeface="Calibri" pitchFamily="34" charset="-120"/>
              </a:rPr>
              <a:t>    result: </a:t>
            </a:r>
            <a:r>
              <a:rPr lang="en-US" sz="1000" b="1" dirty="0">
                <a:solidFill>
                  <a:schemeClr val="tx1"/>
                </a:solidFill>
                <a:latin typeface="Courier New" pitchFamily="34" charset="0"/>
                <a:ea typeface="Courier New" pitchFamily="34" charset="-122"/>
                <a:cs typeface="Courier New" pitchFamily="34" charset="-120"/>
              </a:rPr>
              <a:t>cancelled</a:t>
            </a:r>
            <a:endParaRPr lang="en-US" sz="1000" dirty="0"/>
          </a:p>
        </p:txBody>
      </p:sp>
      <p:sp>
        <p:nvSpPr>
          <p:cNvPr id="18" name="Shape 15"/>
          <p:cNvSpPr/>
          <p:nvPr/>
        </p:nvSpPr>
        <p:spPr>
          <a:xfrm>
            <a:off x="457200" y="3977640"/>
            <a:ext cx="4846320" cy="987552"/>
          </a:xfrm>
          <a:prstGeom prst="roundRect">
            <a:avLst>
              <a:gd name="adj" fmla="val 5556"/>
            </a:avLst>
          </a:prstGeom>
          <a:solidFill>
            <a:schemeClr val="bg1"/>
          </a:solidFill>
          <a:ln/>
        </p:spPr>
        <p:txBody>
          <a:bodyPr/>
          <a:lstStyle/>
          <a:p>
            <a:endParaRPr lang="en-US"/>
          </a:p>
        </p:txBody>
      </p:sp>
      <p:sp>
        <p:nvSpPr>
          <p:cNvPr id="19" name="Shape 16"/>
          <p:cNvSpPr/>
          <p:nvPr/>
        </p:nvSpPr>
        <p:spPr>
          <a:xfrm>
            <a:off x="457200" y="3977640"/>
            <a:ext cx="4846320" cy="987552"/>
          </a:xfrm>
          <a:prstGeom prst="roundRect">
            <a:avLst>
              <a:gd name="adj" fmla="val 5556"/>
            </a:avLst>
          </a:prstGeom>
          <a:solidFill>
            <a:schemeClr val="bg2"/>
          </a:solidFill>
          <a:ln/>
        </p:spPr>
        <p:txBody>
          <a:bodyPr/>
          <a:lstStyle/>
          <a:p>
            <a:endParaRPr lang="en-US"/>
          </a:p>
        </p:txBody>
      </p:sp>
      <p:sp>
        <p:nvSpPr>
          <p:cNvPr id="20" name="Shape 17"/>
          <p:cNvSpPr/>
          <p:nvPr/>
        </p:nvSpPr>
        <p:spPr>
          <a:xfrm>
            <a:off x="594360" y="4114800"/>
            <a:ext cx="1051560" cy="329184"/>
          </a:xfrm>
          <a:prstGeom prst="roundRect">
            <a:avLst>
              <a:gd name="adj" fmla="val 50000"/>
            </a:avLst>
          </a:prstGeom>
          <a:solidFill>
            <a:schemeClr val="accent4"/>
          </a:solidFill>
          <a:ln/>
        </p:spPr>
        <p:txBody>
          <a:bodyPr/>
          <a:lstStyle/>
          <a:p>
            <a:endParaRPr lang="en-US"/>
          </a:p>
        </p:txBody>
      </p:sp>
      <p:sp>
        <p:nvSpPr>
          <p:cNvPr id="21" name="Text 18"/>
          <p:cNvSpPr txBox="1"/>
          <p:nvPr/>
        </p:nvSpPr>
        <p:spPr>
          <a:xfrm>
            <a:off x="594360" y="4114800"/>
            <a:ext cx="1051560" cy="329184"/>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forced</a:t>
            </a:r>
            <a:endParaRPr lang="en-US" sz="1200" dirty="0"/>
          </a:p>
        </p:txBody>
      </p:sp>
      <p:sp>
        <p:nvSpPr>
          <p:cNvPr id="22" name="Text 19"/>
          <p:cNvSpPr txBox="1"/>
          <p:nvPr/>
        </p:nvSpPr>
        <p:spPr>
          <a:xfrm>
            <a:off x="1783080" y="4050792"/>
            <a:ext cx="3429000" cy="566928"/>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Ends the task now and clears the lease; the worker's next call gets 409 LEASE_LOST. Propagates to children.</a:t>
            </a:r>
            <a:endParaRPr lang="en-US" sz="1100" dirty="0"/>
          </a:p>
        </p:txBody>
      </p:sp>
      <p:sp>
        <p:nvSpPr>
          <p:cNvPr id="23" name="Text 20"/>
          <p:cNvSpPr txBox="1"/>
          <p:nvPr/>
        </p:nvSpPr>
        <p:spPr>
          <a:xfrm>
            <a:off x="1783080" y="4636008"/>
            <a:ext cx="3429000" cy="256032"/>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cancellable=false: </a:t>
            </a:r>
            <a:r>
              <a:rPr lang="en-US" sz="1000" b="1" dirty="0">
                <a:solidFill>
                  <a:schemeClr val="accent4"/>
                </a:solidFill>
                <a:latin typeface="Calibri" pitchFamily="34" charset="0"/>
                <a:ea typeface="Calibri" pitchFamily="34" charset="-122"/>
                <a:cs typeface="Calibri" pitchFamily="34" charset="-120"/>
              </a:rPr>
              <a:t>overridden</a:t>
            </a:r>
            <a:r>
              <a:rPr lang="en-US" sz="1000" dirty="0">
                <a:solidFill>
                  <a:schemeClr val="tx2"/>
                </a:solidFill>
                <a:latin typeface="Calibri" pitchFamily="34" charset="0"/>
                <a:ea typeface="Calibri" pitchFamily="34" charset="-122"/>
                <a:cs typeface="Calibri" pitchFamily="34" charset="-120"/>
              </a:rPr>
              <a:t>    result: </a:t>
            </a:r>
            <a:r>
              <a:rPr lang="en-US" sz="1000" b="1" dirty="0">
                <a:solidFill>
                  <a:schemeClr val="tx1"/>
                </a:solidFill>
                <a:latin typeface="Courier New" pitchFamily="34" charset="0"/>
                <a:ea typeface="Courier New" pitchFamily="34" charset="-122"/>
                <a:cs typeface="Courier New" pitchFamily="34" charset="-120"/>
              </a:rPr>
              <a:t>forciblyCancelled</a:t>
            </a:r>
            <a:endParaRPr lang="en-US" sz="1000" dirty="0"/>
          </a:p>
        </p:txBody>
      </p:sp>
      <p:sp>
        <p:nvSpPr>
          <p:cNvPr id="24" name="Shape 21"/>
          <p:cNvSpPr/>
          <p:nvPr/>
        </p:nvSpPr>
        <p:spPr>
          <a:xfrm>
            <a:off x="457200" y="5120640"/>
            <a:ext cx="4846320" cy="1115568"/>
          </a:xfrm>
          <a:prstGeom prst="roundRect">
            <a:avLst>
              <a:gd name="adj" fmla="val 4918"/>
            </a:avLst>
          </a:prstGeom>
          <a:solidFill>
            <a:schemeClr val="bg1"/>
          </a:solidFill>
          <a:ln/>
        </p:spPr>
        <p:txBody>
          <a:bodyPr/>
          <a:lstStyle/>
          <a:p>
            <a:endParaRPr lang="en-US"/>
          </a:p>
        </p:txBody>
      </p:sp>
      <p:sp>
        <p:nvSpPr>
          <p:cNvPr id="25" name="Shape 22"/>
          <p:cNvSpPr/>
          <p:nvPr/>
        </p:nvSpPr>
        <p:spPr>
          <a:xfrm>
            <a:off x="457200" y="5120640"/>
            <a:ext cx="4846320" cy="1115568"/>
          </a:xfrm>
          <a:prstGeom prst="roundRect">
            <a:avLst>
              <a:gd name="adj" fmla="val 4918"/>
            </a:avLst>
          </a:prstGeom>
          <a:solidFill>
            <a:schemeClr val="accent6">
              <a:alpha val="10000"/>
            </a:schemeClr>
          </a:solidFill>
          <a:ln/>
        </p:spPr>
        <p:txBody>
          <a:bodyPr/>
          <a:lstStyle/>
          <a:p>
            <a:endParaRPr lang="en-US"/>
          </a:p>
        </p:txBody>
      </p:sp>
      <p:sp>
        <p:nvSpPr>
          <p:cNvPr id="26" name="Text 23"/>
          <p:cNvSpPr txBox="1"/>
          <p:nvPr/>
        </p:nvSpPr>
        <p:spPr>
          <a:xfrm>
            <a:off x="594360" y="5166360"/>
            <a:ext cx="4617720" cy="1024128"/>
          </a:xfrm>
          <a:prstGeom prst="rect">
            <a:avLst/>
          </a:prstGeom>
          <a:noFill/>
          <a:ln/>
        </p:spPr>
        <p:txBody>
          <a:bodyPr wrap="square" lIns="0" tIns="0" rIns="0" bIns="0" rtlCol="0" anchor="t"/>
          <a:lstStyle/>
          <a:p>
            <a:pPr marL="0" indent="0">
              <a:buNone/>
            </a:pPr>
            <a:r>
              <a:rPr lang="en-US" sz="1100" b="1" dirty="0">
                <a:solidFill>
                  <a:schemeClr val="tx1"/>
                </a:solidFill>
                <a:latin typeface="Calibri" pitchFamily="34" charset="0"/>
                <a:ea typeface="Calibri" pitchFamily="34" charset="-122"/>
                <a:cs typeface="Calibri" pitchFamily="34" charset="-120"/>
              </a:rPr>
              <a:t>No lease → cancelled at once, any mode</a:t>
            </a:r>
            <a:endParaRPr lang="en-US" sz="1100" dirty="0"/>
          </a:p>
          <a:p>
            <a:pPr marL="0" indent="0">
              <a:buNone/>
            </a:pPr>
            <a:r>
              <a:rPr lang="en-US" sz="1000" dirty="0">
                <a:solidFill>
                  <a:schemeClr val="tx1"/>
                </a:solidFill>
                <a:latin typeface="Calibri" pitchFamily="34" charset="0"/>
                <a:ea typeface="Calibri" pitchFamily="34" charset="-122"/>
                <a:cs typeface="Calibri" pitchFamily="34" charset="-120"/>
              </a:rPr>
              <a:t>queued · scheduled · blocked · waiting have no worker to ask. Who may cancel: producer or admin with the cancel permission; bulk cancel (P2). Events: taskCancelRequested, taskCancelled.</a:t>
            </a:r>
            <a:endParaRPr lang="en-US" sz="1100" dirty="0"/>
          </a:p>
        </p:txBody>
      </p:sp>
      <p:sp>
        <p:nvSpPr>
          <p:cNvPr id="27" name="Text 24"/>
          <p:cNvSpPr txBox="1"/>
          <p:nvPr/>
        </p:nvSpPr>
        <p:spPr>
          <a:xfrm>
            <a:off x="5623560" y="1417320"/>
            <a:ext cx="4572000" cy="27432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Graceful cancel, end to end</a:t>
            </a:r>
            <a:endParaRPr lang="en-US" sz="1400" dirty="0"/>
          </a:p>
        </p:txBody>
      </p:sp>
      <p:sp>
        <p:nvSpPr>
          <p:cNvPr id="28" name="Shape 25"/>
          <p:cNvSpPr/>
          <p:nvPr/>
        </p:nvSpPr>
        <p:spPr>
          <a:xfrm>
            <a:off x="5795772" y="1783080"/>
            <a:ext cx="1691640" cy="438912"/>
          </a:xfrm>
          <a:prstGeom prst="roundRect">
            <a:avLst>
              <a:gd name="adj" fmla="val 12500"/>
            </a:avLst>
          </a:prstGeom>
          <a:solidFill>
            <a:schemeClr val="bg1"/>
          </a:solidFill>
          <a:ln/>
        </p:spPr>
        <p:txBody>
          <a:bodyPr/>
          <a:lstStyle/>
          <a:p>
            <a:endParaRPr lang="en-US"/>
          </a:p>
        </p:txBody>
      </p:sp>
      <p:sp>
        <p:nvSpPr>
          <p:cNvPr id="29" name="Shape 26"/>
          <p:cNvSpPr/>
          <p:nvPr/>
        </p:nvSpPr>
        <p:spPr>
          <a:xfrm>
            <a:off x="5795772" y="1783080"/>
            <a:ext cx="1691640" cy="438912"/>
          </a:xfrm>
          <a:prstGeom prst="roundRect">
            <a:avLst>
              <a:gd name="adj" fmla="val 12500"/>
            </a:avLst>
          </a:prstGeom>
          <a:solidFill>
            <a:schemeClr val="accent5">
              <a:alpha val="16000"/>
            </a:schemeClr>
          </a:solidFill>
          <a:ln w="15875">
            <a:solidFill>
              <a:schemeClr val="accent5"/>
            </a:solidFill>
            <a:prstDash val="solid"/>
          </a:ln>
        </p:spPr>
        <p:txBody>
          <a:bodyPr/>
          <a:lstStyle/>
          <a:p>
            <a:endParaRPr lang="en-US"/>
          </a:p>
        </p:txBody>
      </p:sp>
      <p:sp>
        <p:nvSpPr>
          <p:cNvPr id="30" name="Text 27"/>
          <p:cNvSpPr txBox="1"/>
          <p:nvPr/>
        </p:nvSpPr>
        <p:spPr>
          <a:xfrm>
            <a:off x="5850636" y="1783080"/>
            <a:ext cx="158191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Producer</a:t>
            </a:r>
            <a:endParaRPr lang="en-US" sz="1200" dirty="0"/>
          </a:p>
        </p:txBody>
      </p:sp>
      <p:sp>
        <p:nvSpPr>
          <p:cNvPr id="31" name="Shape 28"/>
          <p:cNvSpPr/>
          <p:nvPr/>
        </p:nvSpPr>
        <p:spPr>
          <a:xfrm>
            <a:off x="7831836" y="1783080"/>
            <a:ext cx="1691640" cy="438912"/>
          </a:xfrm>
          <a:prstGeom prst="roundRect">
            <a:avLst>
              <a:gd name="adj" fmla="val 12500"/>
            </a:avLst>
          </a:prstGeom>
          <a:solidFill>
            <a:schemeClr val="bg1"/>
          </a:solidFill>
          <a:ln/>
        </p:spPr>
        <p:txBody>
          <a:bodyPr/>
          <a:lstStyle/>
          <a:p>
            <a:endParaRPr lang="en-US"/>
          </a:p>
        </p:txBody>
      </p:sp>
      <p:sp>
        <p:nvSpPr>
          <p:cNvPr id="32" name="Shape 29"/>
          <p:cNvSpPr/>
          <p:nvPr/>
        </p:nvSpPr>
        <p:spPr>
          <a:xfrm>
            <a:off x="7831836" y="1783080"/>
            <a:ext cx="1691640" cy="438912"/>
          </a:xfrm>
          <a:prstGeom prst="roundRect">
            <a:avLst>
              <a:gd name="adj" fmla="val 12500"/>
            </a:avLst>
          </a:prstGeom>
          <a:solidFill>
            <a:schemeClr val="accent1">
              <a:alpha val="16000"/>
            </a:schemeClr>
          </a:solidFill>
          <a:ln w="15875">
            <a:solidFill>
              <a:schemeClr val="accent1"/>
            </a:solidFill>
            <a:prstDash val="solid"/>
          </a:ln>
        </p:spPr>
        <p:txBody>
          <a:bodyPr/>
          <a:lstStyle/>
          <a:p>
            <a:endParaRPr lang="en-US"/>
          </a:p>
        </p:txBody>
      </p:sp>
      <p:sp>
        <p:nvSpPr>
          <p:cNvPr id="33" name="Text 30"/>
          <p:cNvSpPr txBox="1"/>
          <p:nvPr/>
        </p:nvSpPr>
        <p:spPr>
          <a:xfrm>
            <a:off x="7886700" y="1783080"/>
            <a:ext cx="158191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Task Engine</a:t>
            </a:r>
            <a:endParaRPr lang="en-US" sz="1200" dirty="0"/>
          </a:p>
        </p:txBody>
      </p:sp>
      <p:sp>
        <p:nvSpPr>
          <p:cNvPr id="34" name="Shape 31"/>
          <p:cNvSpPr/>
          <p:nvPr/>
        </p:nvSpPr>
        <p:spPr>
          <a:xfrm>
            <a:off x="9867900" y="1783080"/>
            <a:ext cx="1691640" cy="438912"/>
          </a:xfrm>
          <a:prstGeom prst="roundRect">
            <a:avLst>
              <a:gd name="adj" fmla="val 12500"/>
            </a:avLst>
          </a:prstGeom>
          <a:solidFill>
            <a:schemeClr val="bg1"/>
          </a:solidFill>
          <a:ln/>
        </p:spPr>
        <p:txBody>
          <a:bodyPr/>
          <a:lstStyle/>
          <a:p>
            <a:endParaRPr lang="en-US"/>
          </a:p>
        </p:txBody>
      </p:sp>
      <p:sp>
        <p:nvSpPr>
          <p:cNvPr id="35" name="Shape 32"/>
          <p:cNvSpPr/>
          <p:nvPr/>
        </p:nvSpPr>
        <p:spPr>
          <a:xfrm>
            <a:off x="9867900" y="1783080"/>
            <a:ext cx="1691640" cy="438912"/>
          </a:xfrm>
          <a:prstGeom prst="roundRect">
            <a:avLst>
              <a:gd name="adj" fmla="val 12500"/>
            </a:avLst>
          </a:prstGeom>
          <a:solidFill>
            <a:schemeClr val="accent5">
              <a:alpha val="16000"/>
            </a:schemeClr>
          </a:solidFill>
          <a:ln w="15875">
            <a:solidFill>
              <a:schemeClr val="accent5"/>
            </a:solidFill>
            <a:prstDash val="solid"/>
          </a:ln>
        </p:spPr>
        <p:txBody>
          <a:bodyPr/>
          <a:lstStyle/>
          <a:p>
            <a:endParaRPr lang="en-US"/>
          </a:p>
        </p:txBody>
      </p:sp>
      <p:sp>
        <p:nvSpPr>
          <p:cNvPr id="36" name="Text 33"/>
          <p:cNvSpPr txBox="1"/>
          <p:nvPr/>
        </p:nvSpPr>
        <p:spPr>
          <a:xfrm>
            <a:off x="9922764" y="1783080"/>
            <a:ext cx="158191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Worker</a:t>
            </a:r>
            <a:endParaRPr lang="en-US" sz="1200" dirty="0"/>
          </a:p>
        </p:txBody>
      </p:sp>
      <p:sp>
        <p:nvSpPr>
          <p:cNvPr id="37" name="Shape 34"/>
          <p:cNvSpPr/>
          <p:nvPr/>
        </p:nvSpPr>
        <p:spPr>
          <a:xfrm>
            <a:off x="6641592" y="2221992"/>
            <a:ext cx="91" cy="3955694"/>
          </a:xfrm>
          <a:prstGeom prst="line">
            <a:avLst/>
          </a:prstGeom>
          <a:noFill/>
          <a:ln w="9525">
            <a:solidFill>
              <a:schemeClr val="tx2"/>
            </a:solidFill>
            <a:prstDash val="dash"/>
            <a:headEnd type="none"/>
            <a:tailEnd type="none"/>
          </a:ln>
        </p:spPr>
        <p:txBody>
          <a:bodyPr/>
          <a:lstStyle/>
          <a:p>
            <a:endParaRPr lang="en-US"/>
          </a:p>
        </p:txBody>
      </p:sp>
      <p:sp>
        <p:nvSpPr>
          <p:cNvPr id="38" name="Shape 35"/>
          <p:cNvSpPr/>
          <p:nvPr/>
        </p:nvSpPr>
        <p:spPr>
          <a:xfrm>
            <a:off x="8677656" y="2221992"/>
            <a:ext cx="91" cy="3955694"/>
          </a:xfrm>
          <a:prstGeom prst="line">
            <a:avLst/>
          </a:prstGeom>
          <a:noFill/>
          <a:ln w="9525">
            <a:solidFill>
              <a:schemeClr val="tx2"/>
            </a:solidFill>
            <a:prstDash val="dash"/>
            <a:headEnd type="none"/>
            <a:tailEnd type="none"/>
          </a:ln>
        </p:spPr>
        <p:txBody>
          <a:bodyPr/>
          <a:lstStyle/>
          <a:p>
            <a:endParaRPr lang="en-US"/>
          </a:p>
        </p:txBody>
      </p:sp>
      <p:sp>
        <p:nvSpPr>
          <p:cNvPr id="39" name="Shape 36"/>
          <p:cNvSpPr/>
          <p:nvPr/>
        </p:nvSpPr>
        <p:spPr>
          <a:xfrm>
            <a:off x="10713720" y="2221992"/>
            <a:ext cx="91" cy="3955694"/>
          </a:xfrm>
          <a:prstGeom prst="line">
            <a:avLst/>
          </a:prstGeom>
          <a:noFill/>
          <a:ln w="9525">
            <a:solidFill>
              <a:schemeClr val="tx2"/>
            </a:solidFill>
            <a:prstDash val="dash"/>
            <a:headEnd type="none"/>
            <a:tailEnd type="none"/>
          </a:ln>
        </p:spPr>
        <p:txBody>
          <a:bodyPr/>
          <a:lstStyle/>
          <a:p>
            <a:endParaRPr lang="en-US"/>
          </a:p>
        </p:txBody>
      </p:sp>
      <p:sp>
        <p:nvSpPr>
          <p:cNvPr id="40" name="Shape 37"/>
          <p:cNvSpPr/>
          <p:nvPr/>
        </p:nvSpPr>
        <p:spPr>
          <a:xfrm>
            <a:off x="6641592" y="2628900"/>
            <a:ext cx="2036064" cy="91"/>
          </a:xfrm>
          <a:prstGeom prst="line">
            <a:avLst/>
          </a:prstGeom>
          <a:noFill/>
          <a:ln w="19050">
            <a:solidFill>
              <a:schemeClr val="tx1"/>
            </a:solidFill>
            <a:prstDash val="solid"/>
            <a:headEnd type="none"/>
            <a:tailEnd type="triangle"/>
          </a:ln>
        </p:spPr>
        <p:txBody>
          <a:bodyPr/>
          <a:lstStyle/>
          <a:p>
            <a:endParaRPr lang="en-US"/>
          </a:p>
        </p:txBody>
      </p:sp>
      <p:sp>
        <p:nvSpPr>
          <p:cNvPr id="41" name="Shape 38"/>
          <p:cNvSpPr/>
          <p:nvPr/>
        </p:nvSpPr>
        <p:spPr>
          <a:xfrm>
            <a:off x="6848856" y="2418588"/>
            <a:ext cx="1621536" cy="173736"/>
          </a:xfrm>
          <a:prstGeom prst="rect">
            <a:avLst/>
          </a:prstGeom>
          <a:solidFill>
            <a:schemeClr val="bg1"/>
          </a:solidFill>
          <a:ln/>
        </p:spPr>
        <p:txBody>
          <a:bodyPr/>
          <a:lstStyle/>
          <a:p>
            <a:endParaRPr lang="en-US"/>
          </a:p>
        </p:txBody>
      </p:sp>
      <p:sp>
        <p:nvSpPr>
          <p:cNvPr id="42" name="Text 39"/>
          <p:cNvSpPr txBox="1"/>
          <p:nvPr/>
        </p:nvSpPr>
        <p:spPr>
          <a:xfrm>
            <a:off x="6803136" y="2409444"/>
            <a:ext cx="171297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POST …/cancel {graceful}</a:t>
            </a:r>
            <a:endParaRPr lang="en-US" sz="1000" dirty="0"/>
          </a:p>
        </p:txBody>
      </p:sp>
      <p:sp>
        <p:nvSpPr>
          <p:cNvPr id="43" name="Shape 40"/>
          <p:cNvSpPr/>
          <p:nvPr/>
        </p:nvSpPr>
        <p:spPr>
          <a:xfrm>
            <a:off x="8750808" y="2743200"/>
            <a:ext cx="1874520" cy="331013"/>
          </a:xfrm>
          <a:prstGeom prst="roundRect">
            <a:avLst>
              <a:gd name="adj" fmla="val 16575"/>
            </a:avLst>
          </a:prstGeom>
          <a:solidFill>
            <a:schemeClr val="bg1"/>
          </a:solidFill>
          <a:ln/>
        </p:spPr>
        <p:txBody>
          <a:bodyPr/>
          <a:lstStyle/>
          <a:p>
            <a:endParaRPr lang="en-US"/>
          </a:p>
        </p:txBody>
      </p:sp>
      <p:sp>
        <p:nvSpPr>
          <p:cNvPr id="44" name="Shape 41"/>
          <p:cNvSpPr/>
          <p:nvPr/>
        </p:nvSpPr>
        <p:spPr>
          <a:xfrm>
            <a:off x="8750808" y="2743200"/>
            <a:ext cx="1874520" cy="331013"/>
          </a:xfrm>
          <a:prstGeom prst="roundRect">
            <a:avLst>
              <a:gd name="adj" fmla="val 16575"/>
            </a:avLst>
          </a:prstGeom>
          <a:solidFill>
            <a:schemeClr val="accent1">
              <a:alpha val="20000"/>
            </a:schemeClr>
          </a:solidFill>
          <a:ln w="15875">
            <a:solidFill>
              <a:schemeClr val="accent1"/>
            </a:solidFill>
            <a:prstDash val="solid"/>
          </a:ln>
        </p:spPr>
        <p:txBody>
          <a:bodyPr/>
          <a:lstStyle/>
          <a:p>
            <a:endParaRPr lang="en-US"/>
          </a:p>
        </p:txBody>
      </p:sp>
      <p:sp>
        <p:nvSpPr>
          <p:cNvPr id="45" name="Text 42"/>
          <p:cNvSpPr txBox="1"/>
          <p:nvPr/>
        </p:nvSpPr>
        <p:spPr>
          <a:xfrm>
            <a:off x="8814816" y="2743200"/>
            <a:ext cx="1746504" cy="331013"/>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cancel_requested = true · start grace timer</a:t>
            </a:r>
            <a:endParaRPr lang="en-US" sz="1000" dirty="0"/>
          </a:p>
        </p:txBody>
      </p:sp>
      <p:sp>
        <p:nvSpPr>
          <p:cNvPr id="46" name="Shape 43"/>
          <p:cNvSpPr/>
          <p:nvPr/>
        </p:nvSpPr>
        <p:spPr>
          <a:xfrm flipH="1">
            <a:off x="6641592" y="3353105"/>
            <a:ext cx="2036064" cy="91"/>
          </a:xfrm>
          <a:prstGeom prst="line">
            <a:avLst/>
          </a:prstGeom>
          <a:noFill/>
          <a:ln w="12700">
            <a:solidFill>
              <a:schemeClr val="tx2"/>
            </a:solidFill>
            <a:prstDash val="dash"/>
            <a:headEnd type="none"/>
            <a:tailEnd type="triangle"/>
          </a:ln>
        </p:spPr>
        <p:txBody>
          <a:bodyPr/>
          <a:lstStyle/>
          <a:p>
            <a:endParaRPr lang="en-US"/>
          </a:p>
        </p:txBody>
      </p:sp>
      <p:sp>
        <p:nvSpPr>
          <p:cNvPr id="47" name="Shape 44"/>
          <p:cNvSpPr/>
          <p:nvPr/>
        </p:nvSpPr>
        <p:spPr>
          <a:xfrm>
            <a:off x="6973316" y="3142793"/>
            <a:ext cx="1372616" cy="173736"/>
          </a:xfrm>
          <a:prstGeom prst="rect">
            <a:avLst/>
          </a:prstGeom>
          <a:solidFill>
            <a:schemeClr val="bg1"/>
          </a:solidFill>
          <a:ln/>
        </p:spPr>
        <p:txBody>
          <a:bodyPr/>
          <a:lstStyle/>
          <a:p>
            <a:endParaRPr lang="en-US"/>
          </a:p>
        </p:txBody>
      </p:sp>
      <p:sp>
        <p:nvSpPr>
          <p:cNvPr id="48" name="Text 45"/>
          <p:cNvSpPr txBox="1"/>
          <p:nvPr/>
        </p:nvSpPr>
        <p:spPr>
          <a:xfrm>
            <a:off x="6927596" y="3133649"/>
            <a:ext cx="146405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200 · cancel pending</a:t>
            </a:r>
            <a:endParaRPr lang="en-US" sz="1000" dirty="0"/>
          </a:p>
        </p:txBody>
      </p:sp>
      <p:sp>
        <p:nvSpPr>
          <p:cNvPr id="49" name="Shape 46"/>
          <p:cNvSpPr/>
          <p:nvPr/>
        </p:nvSpPr>
        <p:spPr>
          <a:xfrm flipH="1">
            <a:off x="8677656" y="3654857"/>
            <a:ext cx="2036064" cy="91"/>
          </a:xfrm>
          <a:prstGeom prst="line">
            <a:avLst/>
          </a:prstGeom>
          <a:noFill/>
          <a:ln w="19050">
            <a:solidFill>
              <a:schemeClr val="tx1"/>
            </a:solidFill>
            <a:prstDash val="solid"/>
            <a:headEnd type="none"/>
            <a:tailEnd type="triangle"/>
          </a:ln>
        </p:spPr>
        <p:txBody>
          <a:bodyPr/>
          <a:lstStyle/>
          <a:p>
            <a:endParaRPr lang="en-US"/>
          </a:p>
        </p:txBody>
      </p:sp>
      <p:sp>
        <p:nvSpPr>
          <p:cNvPr id="50" name="Shape 47"/>
          <p:cNvSpPr/>
          <p:nvPr/>
        </p:nvSpPr>
        <p:spPr>
          <a:xfrm>
            <a:off x="8916035" y="3444545"/>
            <a:ext cx="1559306" cy="173736"/>
          </a:xfrm>
          <a:prstGeom prst="rect">
            <a:avLst/>
          </a:prstGeom>
          <a:solidFill>
            <a:schemeClr val="bg1"/>
          </a:solidFill>
          <a:ln/>
        </p:spPr>
        <p:txBody>
          <a:bodyPr/>
          <a:lstStyle/>
          <a:p>
            <a:endParaRPr lang="en-US"/>
          </a:p>
        </p:txBody>
      </p:sp>
      <p:sp>
        <p:nvSpPr>
          <p:cNvPr id="51" name="Text 48"/>
          <p:cNvSpPr txBox="1"/>
          <p:nvPr/>
        </p:nvSpPr>
        <p:spPr>
          <a:xfrm>
            <a:off x="8870315" y="3435401"/>
            <a:ext cx="165074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heartbeat {lease_token}</a:t>
            </a:r>
            <a:endParaRPr lang="en-US" sz="1000" dirty="0"/>
          </a:p>
        </p:txBody>
      </p:sp>
      <p:sp>
        <p:nvSpPr>
          <p:cNvPr id="52" name="Shape 49"/>
          <p:cNvSpPr/>
          <p:nvPr/>
        </p:nvSpPr>
        <p:spPr>
          <a:xfrm>
            <a:off x="8677656" y="3956609"/>
            <a:ext cx="2036064" cy="91"/>
          </a:xfrm>
          <a:prstGeom prst="line">
            <a:avLst/>
          </a:prstGeom>
          <a:noFill/>
          <a:ln w="12700">
            <a:solidFill>
              <a:schemeClr val="tx2"/>
            </a:solidFill>
            <a:prstDash val="dash"/>
            <a:headEnd type="none"/>
            <a:tailEnd type="triangle"/>
          </a:ln>
        </p:spPr>
        <p:txBody>
          <a:bodyPr/>
          <a:lstStyle/>
          <a:p>
            <a:endParaRPr lang="en-US"/>
          </a:p>
        </p:txBody>
      </p:sp>
      <p:sp>
        <p:nvSpPr>
          <p:cNvPr id="53" name="Shape 50"/>
          <p:cNvSpPr/>
          <p:nvPr/>
        </p:nvSpPr>
        <p:spPr>
          <a:xfrm>
            <a:off x="8750808" y="3746297"/>
            <a:ext cx="1889760" cy="173736"/>
          </a:xfrm>
          <a:prstGeom prst="rect">
            <a:avLst/>
          </a:prstGeom>
          <a:solidFill>
            <a:schemeClr val="bg1"/>
          </a:solidFill>
          <a:ln/>
        </p:spPr>
        <p:txBody>
          <a:bodyPr/>
          <a:lstStyle/>
          <a:p>
            <a:endParaRPr lang="en-US"/>
          </a:p>
        </p:txBody>
      </p:sp>
      <p:sp>
        <p:nvSpPr>
          <p:cNvPr id="54" name="Text 51"/>
          <p:cNvSpPr txBox="1"/>
          <p:nvPr/>
        </p:nvSpPr>
        <p:spPr>
          <a:xfrm>
            <a:off x="8705088" y="3737153"/>
            <a:ext cx="1981200" cy="201168"/>
          </a:xfrm>
          <a:prstGeom prst="rect">
            <a:avLst/>
          </a:prstGeom>
          <a:noFill/>
          <a:ln/>
        </p:spPr>
        <p:txBody>
          <a:bodyPr wrap="square" lIns="0" tIns="0" rIns="0" bIns="0" rtlCol="0" anchor="b"/>
          <a:lstStyle/>
          <a:p>
            <a:pPr marL="0" indent="0" algn="ctr">
              <a:buNone/>
            </a:pPr>
            <a:r>
              <a:rPr lang="en-US" sz="1000" b="1" dirty="0">
                <a:solidFill>
                  <a:schemeClr val="tx1"/>
                </a:solidFill>
                <a:latin typeface="Calibri" pitchFamily="34" charset="0"/>
                <a:ea typeface="Calibri" pitchFamily="34" charset="-122"/>
                <a:cs typeface="Calibri" pitchFamily="34" charset="-120"/>
              </a:rPr>
              <a:t>200 {cancel_requested: true}</a:t>
            </a:r>
            <a:endParaRPr lang="en-US" sz="1000" dirty="0"/>
          </a:p>
        </p:txBody>
      </p:sp>
      <p:sp>
        <p:nvSpPr>
          <p:cNvPr id="55" name="Shape 52"/>
          <p:cNvSpPr/>
          <p:nvPr/>
        </p:nvSpPr>
        <p:spPr>
          <a:xfrm>
            <a:off x="10786872" y="4070909"/>
            <a:ext cx="896112" cy="331013"/>
          </a:xfrm>
          <a:prstGeom prst="roundRect">
            <a:avLst>
              <a:gd name="adj" fmla="val 16575"/>
            </a:avLst>
          </a:prstGeom>
          <a:solidFill>
            <a:schemeClr val="bg1"/>
          </a:solidFill>
          <a:ln/>
        </p:spPr>
        <p:txBody>
          <a:bodyPr/>
          <a:lstStyle/>
          <a:p>
            <a:endParaRPr lang="en-US"/>
          </a:p>
        </p:txBody>
      </p:sp>
      <p:sp>
        <p:nvSpPr>
          <p:cNvPr id="56" name="Shape 53"/>
          <p:cNvSpPr/>
          <p:nvPr/>
        </p:nvSpPr>
        <p:spPr>
          <a:xfrm>
            <a:off x="10786872" y="4070909"/>
            <a:ext cx="896112" cy="331013"/>
          </a:xfrm>
          <a:prstGeom prst="roundRect">
            <a:avLst>
              <a:gd name="adj" fmla="val 16575"/>
            </a:avLst>
          </a:prstGeom>
          <a:solidFill>
            <a:schemeClr val="accent1">
              <a:alpha val="20000"/>
            </a:schemeClr>
          </a:solidFill>
          <a:ln w="15875">
            <a:solidFill>
              <a:schemeClr val="accent1"/>
            </a:solidFill>
            <a:prstDash val="solid"/>
          </a:ln>
        </p:spPr>
        <p:txBody>
          <a:bodyPr/>
          <a:lstStyle/>
          <a:p>
            <a:endParaRPr lang="en-US"/>
          </a:p>
        </p:txBody>
      </p:sp>
      <p:sp>
        <p:nvSpPr>
          <p:cNvPr id="57" name="Text 54"/>
          <p:cNvSpPr txBox="1"/>
          <p:nvPr/>
        </p:nvSpPr>
        <p:spPr>
          <a:xfrm>
            <a:off x="10850880" y="4070909"/>
            <a:ext cx="768096" cy="331013"/>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stop work, clean up</a:t>
            </a:r>
            <a:endParaRPr lang="en-US" sz="1000" dirty="0"/>
          </a:p>
        </p:txBody>
      </p:sp>
      <p:sp>
        <p:nvSpPr>
          <p:cNvPr id="58" name="Shape 55"/>
          <p:cNvSpPr/>
          <p:nvPr/>
        </p:nvSpPr>
        <p:spPr>
          <a:xfrm flipH="1">
            <a:off x="8677656" y="4680814"/>
            <a:ext cx="2036064" cy="91"/>
          </a:xfrm>
          <a:prstGeom prst="line">
            <a:avLst/>
          </a:prstGeom>
          <a:noFill/>
          <a:ln w="19050">
            <a:solidFill>
              <a:schemeClr val="tx1"/>
            </a:solidFill>
            <a:prstDash val="solid"/>
            <a:headEnd type="none"/>
            <a:tailEnd type="triangle"/>
          </a:ln>
        </p:spPr>
        <p:txBody>
          <a:bodyPr/>
          <a:lstStyle/>
          <a:p>
            <a:endParaRPr lang="en-US"/>
          </a:p>
        </p:txBody>
      </p:sp>
      <p:sp>
        <p:nvSpPr>
          <p:cNvPr id="59" name="Shape 56"/>
          <p:cNvSpPr/>
          <p:nvPr/>
        </p:nvSpPr>
        <p:spPr>
          <a:xfrm>
            <a:off x="8760460" y="4470502"/>
            <a:ext cx="1870456" cy="173736"/>
          </a:xfrm>
          <a:prstGeom prst="rect">
            <a:avLst/>
          </a:prstGeom>
          <a:solidFill>
            <a:schemeClr val="bg1"/>
          </a:solidFill>
          <a:ln/>
        </p:spPr>
        <p:txBody>
          <a:bodyPr/>
          <a:lstStyle/>
          <a:p>
            <a:endParaRPr lang="en-US"/>
          </a:p>
        </p:txBody>
      </p:sp>
      <p:sp>
        <p:nvSpPr>
          <p:cNvPr id="60" name="Text 57"/>
          <p:cNvSpPr txBox="1"/>
          <p:nvPr/>
        </p:nvSpPr>
        <p:spPr>
          <a:xfrm>
            <a:off x="8714740" y="4461358"/>
            <a:ext cx="196189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complete {result: cancelled}</a:t>
            </a:r>
            <a:endParaRPr lang="en-US" sz="1000" dirty="0"/>
          </a:p>
        </p:txBody>
      </p:sp>
      <p:sp>
        <p:nvSpPr>
          <p:cNvPr id="61" name="Shape 58"/>
          <p:cNvSpPr/>
          <p:nvPr/>
        </p:nvSpPr>
        <p:spPr>
          <a:xfrm>
            <a:off x="8750808" y="4795114"/>
            <a:ext cx="1874520" cy="331013"/>
          </a:xfrm>
          <a:prstGeom prst="roundRect">
            <a:avLst>
              <a:gd name="adj" fmla="val 16575"/>
            </a:avLst>
          </a:prstGeom>
          <a:solidFill>
            <a:schemeClr val="bg1"/>
          </a:solidFill>
          <a:ln/>
        </p:spPr>
        <p:txBody>
          <a:bodyPr/>
          <a:lstStyle/>
          <a:p>
            <a:endParaRPr lang="en-US"/>
          </a:p>
        </p:txBody>
      </p:sp>
      <p:sp>
        <p:nvSpPr>
          <p:cNvPr id="62" name="Shape 59"/>
          <p:cNvSpPr/>
          <p:nvPr/>
        </p:nvSpPr>
        <p:spPr>
          <a:xfrm>
            <a:off x="8750808" y="4795114"/>
            <a:ext cx="1874520" cy="331013"/>
          </a:xfrm>
          <a:prstGeom prst="roundRect">
            <a:avLst>
              <a:gd name="adj" fmla="val 16575"/>
            </a:avLst>
          </a:prstGeom>
          <a:solidFill>
            <a:schemeClr val="accent6">
              <a:alpha val="20000"/>
            </a:schemeClr>
          </a:solidFill>
          <a:ln w="15875">
            <a:solidFill>
              <a:schemeClr val="accent6"/>
            </a:solidFill>
            <a:prstDash val="solid"/>
          </a:ln>
        </p:spPr>
        <p:txBody>
          <a:bodyPr/>
          <a:lstStyle/>
          <a:p>
            <a:endParaRPr lang="en-US"/>
          </a:p>
        </p:txBody>
      </p:sp>
      <p:sp>
        <p:nvSpPr>
          <p:cNvPr id="63" name="Text 60"/>
          <p:cNvSpPr txBox="1"/>
          <p:nvPr/>
        </p:nvSpPr>
        <p:spPr>
          <a:xfrm>
            <a:off x="8814816" y="4795114"/>
            <a:ext cx="1746504" cy="331013"/>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cancelled · slot released · taskCancelled</a:t>
            </a:r>
            <a:endParaRPr lang="en-US" sz="1000" dirty="0"/>
          </a:p>
        </p:txBody>
      </p:sp>
      <p:sp>
        <p:nvSpPr>
          <p:cNvPr id="64" name="Shape 61"/>
          <p:cNvSpPr/>
          <p:nvPr/>
        </p:nvSpPr>
        <p:spPr>
          <a:xfrm>
            <a:off x="5955792" y="5254142"/>
            <a:ext cx="5443728" cy="228600"/>
          </a:xfrm>
          <a:prstGeom prst="roundRect">
            <a:avLst>
              <a:gd name="adj" fmla="val 24000"/>
            </a:avLst>
          </a:prstGeom>
          <a:solidFill>
            <a:schemeClr val="bg1"/>
          </a:solidFill>
          <a:ln/>
        </p:spPr>
        <p:txBody>
          <a:bodyPr/>
          <a:lstStyle/>
          <a:p>
            <a:endParaRPr lang="en-US"/>
          </a:p>
        </p:txBody>
      </p:sp>
      <p:sp>
        <p:nvSpPr>
          <p:cNvPr id="65" name="Shape 62"/>
          <p:cNvSpPr/>
          <p:nvPr/>
        </p:nvSpPr>
        <p:spPr>
          <a:xfrm>
            <a:off x="5955792" y="5254142"/>
            <a:ext cx="5443728" cy="228600"/>
          </a:xfrm>
          <a:prstGeom prst="roundRect">
            <a:avLst>
              <a:gd name="adj" fmla="val 24000"/>
            </a:avLst>
          </a:prstGeom>
          <a:solidFill>
            <a:schemeClr val="accent4">
              <a:alpha val="12000"/>
            </a:schemeClr>
          </a:solidFill>
          <a:ln w="15875">
            <a:solidFill>
              <a:schemeClr val="accent4"/>
            </a:solidFill>
            <a:prstDash val="dash"/>
          </a:ln>
        </p:spPr>
        <p:txBody>
          <a:bodyPr/>
          <a:lstStyle/>
          <a:p>
            <a:endParaRPr lang="en-US"/>
          </a:p>
        </p:txBody>
      </p:sp>
      <p:sp>
        <p:nvSpPr>
          <p:cNvPr id="66" name="Text 63"/>
          <p:cNvSpPr txBox="1"/>
          <p:nvPr/>
        </p:nvSpPr>
        <p:spPr>
          <a:xfrm>
            <a:off x="6047232" y="5254142"/>
            <a:ext cx="5260848" cy="228600"/>
          </a:xfrm>
          <a:prstGeom prst="rect">
            <a:avLst/>
          </a:prstGeom>
          <a:noFill/>
          <a:ln/>
        </p:spPr>
        <p:txBody>
          <a:bodyPr wrap="square" lIns="0" tIns="0" rIns="0" bIns="0" rtlCol="0" anchor="ctr"/>
          <a:lstStyle/>
          <a:p>
            <a:pPr marL="0" indent="0" algn="ctr">
              <a:buNone/>
            </a:pPr>
            <a:r>
              <a:rPr lang="en-US" sz="1000" i="1" dirty="0">
                <a:solidFill>
                  <a:schemeClr val="tx2"/>
                </a:solidFill>
                <a:latin typeface="Calibri" pitchFamily="34" charset="0"/>
                <a:ea typeface="Calibri" pitchFamily="34" charset="-122"/>
                <a:cs typeface="Calibri" pitchFamily="34" charset="-120"/>
              </a:rPr>
              <a:t>Grace runs out first → engine forces it: forciblyCancelled, lease cleared</a:t>
            </a:r>
            <a:endParaRPr lang="en-US" sz="1000" dirty="0"/>
          </a:p>
        </p:txBody>
      </p:sp>
      <p:sp>
        <p:nvSpPr>
          <p:cNvPr id="67" name="Shape 64"/>
          <p:cNvSpPr/>
          <p:nvPr/>
        </p:nvSpPr>
        <p:spPr>
          <a:xfrm flipH="1">
            <a:off x="8677656" y="5706770"/>
            <a:ext cx="2036064" cy="91"/>
          </a:xfrm>
          <a:prstGeom prst="line">
            <a:avLst/>
          </a:prstGeom>
          <a:noFill/>
          <a:ln w="19050">
            <a:solidFill>
              <a:schemeClr val="tx1"/>
            </a:solidFill>
            <a:prstDash val="solid"/>
            <a:headEnd type="none"/>
            <a:tailEnd type="triangle"/>
          </a:ln>
        </p:spPr>
        <p:txBody>
          <a:bodyPr/>
          <a:lstStyle/>
          <a:p>
            <a:endParaRPr lang="en-US"/>
          </a:p>
        </p:txBody>
      </p:sp>
      <p:sp>
        <p:nvSpPr>
          <p:cNvPr id="68" name="Shape 65"/>
          <p:cNvSpPr/>
          <p:nvPr/>
        </p:nvSpPr>
        <p:spPr>
          <a:xfrm>
            <a:off x="8791575" y="5496458"/>
            <a:ext cx="1808226" cy="173736"/>
          </a:xfrm>
          <a:prstGeom prst="rect">
            <a:avLst/>
          </a:prstGeom>
          <a:solidFill>
            <a:schemeClr val="bg1"/>
          </a:solidFill>
          <a:ln/>
        </p:spPr>
        <p:txBody>
          <a:bodyPr/>
          <a:lstStyle/>
          <a:p>
            <a:endParaRPr lang="en-US"/>
          </a:p>
        </p:txBody>
      </p:sp>
      <p:sp>
        <p:nvSpPr>
          <p:cNvPr id="69" name="Text 66"/>
          <p:cNvSpPr txBox="1"/>
          <p:nvPr/>
        </p:nvSpPr>
        <p:spPr>
          <a:xfrm>
            <a:off x="8745855" y="5487314"/>
            <a:ext cx="189966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late complete {lease_token}</a:t>
            </a:r>
            <a:endParaRPr lang="en-US" sz="1000" dirty="0"/>
          </a:p>
        </p:txBody>
      </p:sp>
      <p:sp>
        <p:nvSpPr>
          <p:cNvPr id="70" name="Shape 67"/>
          <p:cNvSpPr/>
          <p:nvPr/>
        </p:nvSpPr>
        <p:spPr>
          <a:xfrm>
            <a:off x="8677656" y="6008522"/>
            <a:ext cx="2036064" cy="91"/>
          </a:xfrm>
          <a:prstGeom prst="line">
            <a:avLst/>
          </a:prstGeom>
          <a:noFill/>
          <a:ln w="12700">
            <a:solidFill>
              <a:srgbClr val="C00000"/>
            </a:solidFill>
            <a:prstDash val="dash"/>
            <a:headEnd type="none"/>
            <a:tailEnd type="triangle"/>
          </a:ln>
        </p:spPr>
        <p:txBody>
          <a:bodyPr/>
          <a:lstStyle/>
          <a:p>
            <a:endParaRPr lang="en-US"/>
          </a:p>
        </p:txBody>
      </p:sp>
      <p:sp>
        <p:nvSpPr>
          <p:cNvPr id="71" name="Shape 68"/>
          <p:cNvSpPr/>
          <p:nvPr/>
        </p:nvSpPr>
        <p:spPr>
          <a:xfrm>
            <a:off x="9169933" y="5798210"/>
            <a:ext cx="1051509" cy="173736"/>
          </a:xfrm>
          <a:prstGeom prst="rect">
            <a:avLst/>
          </a:prstGeom>
          <a:solidFill>
            <a:schemeClr val="bg1"/>
          </a:solidFill>
          <a:ln/>
        </p:spPr>
        <p:txBody>
          <a:bodyPr/>
          <a:lstStyle/>
          <a:p>
            <a:endParaRPr lang="en-US"/>
          </a:p>
        </p:txBody>
      </p:sp>
      <p:sp>
        <p:nvSpPr>
          <p:cNvPr id="72" name="Text 69"/>
          <p:cNvSpPr txBox="1"/>
          <p:nvPr/>
        </p:nvSpPr>
        <p:spPr>
          <a:xfrm>
            <a:off x="9124213" y="5789066"/>
            <a:ext cx="1142949" cy="201168"/>
          </a:xfrm>
          <a:prstGeom prst="rect">
            <a:avLst/>
          </a:prstGeom>
          <a:noFill/>
          <a:ln/>
        </p:spPr>
        <p:txBody>
          <a:bodyPr wrap="square" lIns="0" tIns="0" rIns="0" bIns="0" rtlCol="0" anchor="b"/>
          <a:lstStyle/>
          <a:p>
            <a:pPr marL="0" indent="0" algn="ctr">
              <a:buNone/>
            </a:pPr>
            <a:r>
              <a:rPr lang="en-US" sz="1000" b="1" dirty="0">
                <a:solidFill>
                  <a:srgbClr val="C00000"/>
                </a:solidFill>
                <a:latin typeface="Calibri" pitchFamily="34" charset="0"/>
                <a:ea typeface="Calibri" pitchFamily="34" charset="-122"/>
                <a:cs typeface="Calibri" pitchFamily="34" charset="-120"/>
              </a:rPr>
              <a:t>409 LEASE_LOST</a:t>
            </a:r>
            <a:endParaRPr lang="en-US" sz="1000" dirty="0">
              <a:solidFill>
                <a:srgbClr val="C00000"/>
              </a:solidFill>
            </a:endParaRPr>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Timeouts and retries: two mechanisms, one rule set</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Hot per-run deadlines are columns scanned every second; rare absolute deadlines are durable timer rows</a:t>
            </a:r>
            <a:endParaRPr lang="en-US" sz="1600" dirty="0"/>
          </a:p>
        </p:txBody>
      </p:sp>
      <p:graphicFrame>
        <p:nvGraphicFramePr>
          <p:cNvPr id="19" name="Table 0"/>
          <p:cNvGraphicFramePr>
            <a:graphicFrameLocks noGrp="1"/>
          </p:cNvGraphicFramePr>
          <p:nvPr/>
        </p:nvGraphicFramePr>
        <p:xfrm>
          <a:off x="457200" y="1463040"/>
          <a:ext cx="6858000" cy="3246120"/>
        </p:xfrm>
        <a:graphic>
          <a:graphicData uri="http://schemas.openxmlformats.org/drawingml/2006/table">
            <a:tbl>
              <a:tblPr/>
              <a:tblGrid>
                <a:gridCol w="2286000">
                  <a:extLst>
                    <a:ext uri="{9D8B030D-6E8A-4147-A177-3AD203B41FA5}">
                      <a16:colId xmlns:a16="http://schemas.microsoft.com/office/drawing/2014/main" val="20000"/>
                    </a:ext>
                  </a:extLst>
                </a:gridCol>
                <a:gridCol w="2108200">
                  <a:extLst>
                    <a:ext uri="{9D8B030D-6E8A-4147-A177-3AD203B41FA5}">
                      <a16:colId xmlns:a16="http://schemas.microsoft.com/office/drawing/2014/main" val="20001"/>
                    </a:ext>
                  </a:extLst>
                </a:gridCol>
                <a:gridCol w="2463800">
                  <a:extLst>
                    <a:ext uri="{9D8B030D-6E8A-4147-A177-3AD203B41FA5}">
                      <a16:colId xmlns:a16="http://schemas.microsoft.com/office/drawing/2014/main" val="20002"/>
                    </a:ext>
                  </a:extLst>
                </a:gridCol>
              </a:tblGrid>
              <a:tr h="405765">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Timeout</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Stored as</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On expiry</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05765">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Queue</a:t>
                      </a:r>
                      <a:br>
                        <a:rPr lang="en-US" sz="1200" b="1" dirty="0">
                          <a:solidFill>
                            <a:schemeClr val="tx1"/>
                          </a:solidFill>
                          <a:latin typeface="Calibri" pitchFamily="34" charset="0"/>
                          <a:ea typeface="Calibri" pitchFamily="34" charset="-122"/>
                          <a:cs typeface="Calibri" pitchFamily="34" charset="-120"/>
                        </a:rPr>
                      </a:br>
                      <a:r>
                        <a:rPr lang="en-US" sz="900" b="0" dirty="0">
                          <a:solidFill>
                            <a:schemeClr val="tx1"/>
                          </a:solidFill>
                          <a:latin typeface="Calibri" pitchFamily="34" charset="0"/>
                          <a:ea typeface="Calibri" pitchFamily="34" charset="-122"/>
                          <a:cs typeface="Calibri" pitchFamily="34" charset="-120"/>
                        </a:rPr>
                        <a:t>Nobody claimed it in time</a:t>
                      </a:r>
                      <a:endParaRPr lang="en-US" sz="900" b="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te_timers row</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terminal · timedOut</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05765">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Assignment (</a:t>
                      </a:r>
                      <a:r>
                        <a:rPr lang="en-US" sz="1200" b="1" dirty="0" err="1">
                          <a:solidFill>
                            <a:schemeClr val="tx1"/>
                          </a:solidFill>
                          <a:latin typeface="Calibri" pitchFamily="34" charset="0"/>
                          <a:ea typeface="Calibri" pitchFamily="34" charset="-122"/>
                          <a:cs typeface="Calibri" pitchFamily="34" charset="-120"/>
                        </a:rPr>
                        <a:t>claim→start</a:t>
                      </a:r>
                      <a:r>
                        <a:rPr lang="en-US" sz="1200" b="1" dirty="0">
                          <a:solidFill>
                            <a:schemeClr val="tx1"/>
                          </a:solidFill>
                          <a:latin typeface="Calibri" pitchFamily="34" charset="0"/>
                          <a:ea typeface="Calibri" pitchFamily="34" charset="-122"/>
                          <a:cs typeface="Calibri" pitchFamily="34" charset="-120"/>
                        </a:rPr>
                        <a:t>)</a:t>
                      </a:r>
                    </a:p>
                    <a:p>
                      <a:pPr marL="0" indent="0">
                        <a:buNone/>
                      </a:pPr>
                      <a:r>
                        <a:rPr lang="en-US" sz="900" dirty="0">
                          <a:latin typeface="Calibri" charset="0"/>
                          <a:ea typeface="Calibri" charset="0"/>
                          <a:cs typeface="Calibri" charset="0"/>
                        </a:rPr>
                        <a:t>claimed, but the worker never started it</a:t>
                      </a: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column + lease scan</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retry w/ backoff · counts vs worker</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5765">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Heartbeat (lease)</a:t>
                      </a:r>
                      <a:br>
                        <a:rPr lang="en-US" sz="1200" b="1" dirty="0">
                          <a:solidFill>
                            <a:schemeClr val="tx1"/>
                          </a:solidFill>
                          <a:latin typeface="Calibri" pitchFamily="34" charset="0"/>
                          <a:ea typeface="Calibri" pitchFamily="34" charset="-122"/>
                          <a:cs typeface="Calibri" pitchFamily="34" charset="-120"/>
                        </a:rPr>
                      </a:br>
                      <a:r>
                        <a:rPr lang="en-US" sz="900" b="0" dirty="0">
                          <a:solidFill>
                            <a:schemeClr val="tx1"/>
                          </a:solidFill>
                          <a:latin typeface="Calibri" pitchFamily="34" charset="0"/>
                          <a:ea typeface="Calibri" pitchFamily="34" charset="-122"/>
                          <a:cs typeface="Calibri" pitchFamily="34" charset="-120"/>
                        </a:rPr>
                        <a:t>Worker went silent mid-run</a:t>
                      </a:r>
                      <a:endParaRPr lang="en-US" sz="900" b="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lease_until column</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retry w/ backoff · counts vs worker</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05765">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Execution (</a:t>
                      </a:r>
                      <a:r>
                        <a:rPr lang="en-US" sz="1200" b="1" dirty="0" err="1">
                          <a:solidFill>
                            <a:schemeClr val="tx1"/>
                          </a:solidFill>
                          <a:latin typeface="Calibri" pitchFamily="34" charset="0"/>
                          <a:ea typeface="Calibri" pitchFamily="34" charset="-122"/>
                          <a:cs typeface="Calibri" pitchFamily="34" charset="-120"/>
                        </a:rPr>
                        <a:t>start→end</a:t>
                      </a:r>
                      <a:r>
                        <a:rPr lang="en-US" sz="1200" b="1" dirty="0">
                          <a:solidFill>
                            <a:schemeClr val="tx1"/>
                          </a:solidFill>
                          <a:latin typeface="Calibri" pitchFamily="34" charset="0"/>
                          <a:ea typeface="Calibri" pitchFamily="34" charset="-122"/>
                          <a:cs typeface="Calibri" pitchFamily="34" charset="-120"/>
                        </a:rPr>
                        <a:t>)</a:t>
                      </a:r>
                      <a:br>
                        <a:rPr lang="en-US" sz="1200" b="1" dirty="0">
                          <a:solidFill>
                            <a:schemeClr val="tx1"/>
                          </a:solidFill>
                          <a:latin typeface="Calibri" pitchFamily="34" charset="0"/>
                          <a:ea typeface="Calibri" pitchFamily="34" charset="-122"/>
                          <a:cs typeface="Calibri" pitchFamily="34" charset="-120"/>
                        </a:rPr>
                      </a:br>
                      <a:r>
                        <a:rPr lang="en-US" sz="900" b="0" dirty="0">
                          <a:solidFill>
                            <a:schemeClr val="tx1"/>
                          </a:solidFill>
                          <a:latin typeface="Calibri" pitchFamily="34" charset="0"/>
                          <a:ea typeface="Calibri" pitchFamily="34" charset="-122"/>
                          <a:cs typeface="Calibri" pitchFamily="34" charset="-120"/>
                        </a:rPr>
                        <a:t>A single run took too long</a:t>
                      </a:r>
                      <a:endParaRPr lang="en-US" sz="900" b="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column + lease scan</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terminal · never retried</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05765">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Lifetime</a:t>
                      </a:r>
                      <a:br>
                        <a:rPr lang="en-US" sz="1200" b="1" dirty="0">
                          <a:solidFill>
                            <a:schemeClr val="tx1"/>
                          </a:solidFill>
                          <a:latin typeface="Calibri" pitchFamily="34" charset="0"/>
                          <a:ea typeface="Calibri" pitchFamily="34" charset="-122"/>
                          <a:cs typeface="Calibri" pitchFamily="34" charset="-120"/>
                        </a:rPr>
                      </a:br>
                      <a:r>
                        <a:rPr lang="en-US" sz="900" b="0" dirty="0">
                          <a:solidFill>
                            <a:schemeClr val="tx1"/>
                          </a:solidFill>
                          <a:latin typeface="Calibri" pitchFamily="34" charset="0"/>
                          <a:ea typeface="Calibri" pitchFamily="34" charset="-122"/>
                          <a:cs typeface="Calibri" pitchFamily="34" charset="-120"/>
                        </a:rPr>
                        <a:t>Task too old, stop everything</a:t>
                      </a:r>
                      <a:endParaRPr lang="en-US" sz="900" b="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te_timers row</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terminal · overrides retries</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05765">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SLA deadline</a:t>
                      </a:r>
                      <a:br>
                        <a:rPr lang="en-US" sz="1200" b="1" dirty="0">
                          <a:solidFill>
                            <a:schemeClr val="tx1"/>
                          </a:solidFill>
                          <a:latin typeface="Calibri" pitchFamily="34" charset="0"/>
                          <a:ea typeface="Calibri" pitchFamily="34" charset="-122"/>
                          <a:cs typeface="Calibri" pitchFamily="34" charset="-120"/>
                        </a:rPr>
                      </a:br>
                      <a:r>
                        <a:rPr lang="en-US" sz="900" b="0" dirty="0">
                          <a:solidFill>
                            <a:schemeClr val="tx1"/>
                          </a:solidFill>
                          <a:latin typeface="Calibri" pitchFamily="34" charset="0"/>
                          <a:ea typeface="Calibri" pitchFamily="34" charset="-122"/>
                          <a:cs typeface="Calibri" pitchFamily="34" charset="-120"/>
                        </a:rPr>
                        <a:t>Late — raise an alert/event, but keep running</a:t>
                      </a:r>
                      <a:endParaRPr lang="en-US" sz="900" b="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te_timers row</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slaBreached event only</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05765">
                <a:tc>
                  <a:txBody>
                    <a:bodyPr/>
                    <a:lstStyle/>
                    <a:p>
                      <a:pPr marL="0" indent="0">
                        <a:buNone/>
                      </a:pPr>
                      <a:r>
                        <a:rPr lang="en-US" sz="1200" b="1" dirty="0">
                          <a:solidFill>
                            <a:schemeClr val="tx1"/>
                          </a:solidFill>
                          <a:latin typeface="Calibri" pitchFamily="34" charset="0"/>
                          <a:ea typeface="Calibri" pitchFamily="34" charset="-122"/>
                          <a:cs typeface="Calibri" pitchFamily="34" charset="-120"/>
                        </a:rPr>
                        <a:t>+ Scheduled / wait</a:t>
                      </a:r>
                      <a:br>
                        <a:rPr lang="en-US" sz="1200" b="1" dirty="0">
                          <a:solidFill>
                            <a:schemeClr val="tx1"/>
                          </a:solidFill>
                          <a:latin typeface="Calibri" pitchFamily="34" charset="0"/>
                          <a:ea typeface="Calibri" pitchFamily="34" charset="-122"/>
                          <a:cs typeface="Calibri" pitchFamily="34" charset="-120"/>
                        </a:rPr>
                      </a:br>
                      <a:r>
                        <a:rPr lang="en-US" sz="800" b="0" dirty="0">
                          <a:solidFill>
                            <a:schemeClr val="tx1"/>
                          </a:solidFill>
                          <a:latin typeface="Calibri" pitchFamily="34" charset="0"/>
                          <a:ea typeface="Calibri" pitchFamily="34" charset="-122"/>
                          <a:cs typeface="Calibri" pitchFamily="34" charset="-120"/>
                        </a:rPr>
                        <a:t>moves a task from scheduled to queued</a:t>
                      </a:r>
                      <a:endParaRPr lang="en-US" sz="800" b="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ourier New" pitchFamily="34" charset="0"/>
                          <a:ea typeface="Courier New" pitchFamily="34" charset="-122"/>
                          <a:cs typeface="Courier New" pitchFamily="34" charset="-120"/>
                        </a:rPr>
                        <a:t>te_timers row</a:t>
                      </a:r>
                      <a:endParaRPr lang="en-US" sz="1200" dirty="0">
                        <a:latin typeface="Courier New" charset="0"/>
                        <a:ea typeface="Courier New" charset="0"/>
                        <a:cs typeface="Courier New"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re-queue · resume or fail</a:t>
                      </a:r>
                      <a:endParaRPr lang="en-US" sz="1200" dirty="0">
                        <a:latin typeface="Calibri" charset="0"/>
                        <a:ea typeface="Calibri" charset="0"/>
                        <a:cs typeface="Calibri" charset="0"/>
                      </a:endParaRPr>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6" name="Shape 2"/>
          <p:cNvSpPr/>
          <p:nvPr/>
        </p:nvSpPr>
        <p:spPr>
          <a:xfrm>
            <a:off x="457200" y="4754880"/>
            <a:ext cx="6858000" cy="1463040"/>
          </a:xfrm>
          <a:prstGeom prst="roundRect">
            <a:avLst>
              <a:gd name="adj" fmla="val 3750"/>
            </a:avLst>
          </a:prstGeom>
          <a:solidFill>
            <a:schemeClr val="bg1"/>
          </a:solidFill>
          <a:ln/>
        </p:spPr>
        <p:txBody>
          <a:bodyPr/>
          <a:lstStyle/>
          <a:p>
            <a:endParaRPr lang="en-US"/>
          </a:p>
        </p:txBody>
      </p:sp>
      <p:sp>
        <p:nvSpPr>
          <p:cNvPr id="7" name="Shape 3"/>
          <p:cNvSpPr/>
          <p:nvPr/>
        </p:nvSpPr>
        <p:spPr>
          <a:xfrm>
            <a:off x="457200" y="4937760"/>
            <a:ext cx="6858000" cy="1280160"/>
          </a:xfrm>
          <a:prstGeom prst="roundRect">
            <a:avLst>
              <a:gd name="adj" fmla="val 3750"/>
            </a:avLst>
          </a:prstGeom>
          <a:solidFill>
            <a:schemeClr val="accent4">
              <a:alpha val="7000"/>
            </a:schemeClr>
          </a:solidFill>
          <a:ln/>
        </p:spPr>
        <p:txBody>
          <a:bodyPr/>
          <a:lstStyle/>
          <a:p>
            <a:endParaRPr lang="en-US"/>
          </a:p>
        </p:txBody>
      </p:sp>
      <p:sp>
        <p:nvSpPr>
          <p:cNvPr id="8" name="Text 4"/>
          <p:cNvSpPr txBox="1"/>
          <p:nvPr/>
        </p:nvSpPr>
        <p:spPr>
          <a:xfrm>
            <a:off x="640080" y="5047488"/>
            <a:ext cx="6492240" cy="1078992"/>
          </a:xfrm>
          <a:prstGeom prst="rect">
            <a:avLst/>
          </a:prstGeom>
          <a:noFill/>
          <a:ln/>
        </p:spPr>
        <p:txBody>
          <a:bodyPr wrap="square" lIns="0" tIns="0" rIns="0" bIns="0" rtlCol="0" anchor="ctr"/>
          <a:lstStyle/>
          <a:p>
            <a:pPr marL="0" indent="0">
              <a:buNone/>
            </a:pPr>
            <a:r>
              <a:rPr lang="en-US" sz="1200" b="1" dirty="0">
                <a:solidFill>
                  <a:schemeClr val="tx1"/>
                </a:solidFill>
                <a:latin typeface="Calibri" pitchFamily="34" charset="0"/>
                <a:ea typeface="Calibri" pitchFamily="34" charset="-122"/>
                <a:cs typeface="Calibri" pitchFamily="34" charset="-120"/>
              </a:rPr>
              <a:t>Considered: </a:t>
            </a:r>
            <a:r>
              <a:rPr lang="en-US" sz="1200" dirty="0">
                <a:solidFill>
                  <a:schemeClr val="tx1"/>
                </a:solidFill>
                <a:latin typeface="Calibri" pitchFamily="34" charset="0"/>
                <a:ea typeface="Calibri" pitchFamily="34" charset="-122"/>
                <a:cs typeface="Calibri" pitchFamily="34" charset="-120"/>
              </a:rPr>
              <a:t>a te_timers row per heartbeat — rejected: ~10K DELETE+INSERT/s at 100K running tasks would make it the hottest table. </a:t>
            </a:r>
            <a:r>
              <a:rPr lang="en-US" sz="1200" b="1" dirty="0">
                <a:solidFill>
                  <a:schemeClr val="tx1"/>
                </a:solidFill>
                <a:latin typeface="Calibri" pitchFamily="34" charset="0"/>
                <a:ea typeface="Calibri" pitchFamily="34" charset="-122"/>
                <a:cs typeface="Calibri" pitchFamily="34" charset="-120"/>
              </a:rPr>
              <a:t>Chosen: </a:t>
            </a:r>
            <a:r>
              <a:rPr lang="en-US" sz="1200" dirty="0">
                <a:solidFill>
                  <a:schemeClr val="tx1"/>
                </a:solidFill>
                <a:latin typeface="Calibri" pitchFamily="34" charset="0"/>
                <a:ea typeface="Calibri" pitchFamily="34" charset="-122"/>
                <a:cs typeface="Calibri" pitchFamily="34" charset="-120"/>
              </a:rPr>
              <a:t>deadline columns + partial indexes, sharded lease scan ≤ 1 s; durable timer wheel only for rare deadlines (ADR-0003).</a:t>
            </a:r>
            <a:endParaRPr lang="en-US" sz="1200" dirty="0"/>
          </a:p>
        </p:txBody>
      </p:sp>
      <p:sp>
        <p:nvSpPr>
          <p:cNvPr id="9" name="Text 5"/>
          <p:cNvSpPr txBox="1"/>
          <p:nvPr/>
        </p:nvSpPr>
        <p:spPr>
          <a:xfrm>
            <a:off x="7772400" y="1463040"/>
            <a:ext cx="393192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Retry with backoff</a:t>
            </a:r>
            <a:endParaRPr lang="en-US" sz="1500" dirty="0"/>
          </a:p>
        </p:txBody>
      </p:sp>
      <p:sp>
        <p:nvSpPr>
          <p:cNvPr id="10" name="Shape 6"/>
          <p:cNvSpPr/>
          <p:nvPr/>
        </p:nvSpPr>
        <p:spPr>
          <a:xfrm>
            <a:off x="7772400" y="1874520"/>
            <a:ext cx="1554480" cy="502920"/>
          </a:xfrm>
          <a:prstGeom prst="roundRect">
            <a:avLst>
              <a:gd name="adj" fmla="val 10909"/>
            </a:avLst>
          </a:prstGeom>
          <a:solidFill>
            <a:schemeClr val="bg1"/>
          </a:solidFill>
          <a:ln/>
        </p:spPr>
        <p:txBody>
          <a:bodyPr/>
          <a:lstStyle/>
          <a:p>
            <a:endParaRPr lang="en-US"/>
          </a:p>
        </p:txBody>
      </p:sp>
      <p:sp>
        <p:nvSpPr>
          <p:cNvPr id="11" name="Shape 7"/>
          <p:cNvSpPr/>
          <p:nvPr/>
        </p:nvSpPr>
        <p:spPr>
          <a:xfrm>
            <a:off x="7772400" y="1874520"/>
            <a:ext cx="1554480" cy="502920"/>
          </a:xfrm>
          <a:prstGeom prst="roundRect">
            <a:avLst>
              <a:gd name="adj" fmla="val 10909"/>
            </a:avLst>
          </a:prstGeom>
          <a:solidFill>
            <a:schemeClr val="accent1">
              <a:alpha val="22000"/>
            </a:schemeClr>
          </a:solidFill>
          <a:ln w="15875">
            <a:solidFill>
              <a:schemeClr val="accent1"/>
            </a:solidFill>
            <a:prstDash val="solid"/>
          </a:ln>
        </p:spPr>
        <p:txBody>
          <a:bodyPr/>
          <a:lstStyle/>
          <a:p>
            <a:endParaRPr lang="en-US"/>
          </a:p>
        </p:txBody>
      </p:sp>
      <p:sp>
        <p:nvSpPr>
          <p:cNvPr id="12" name="Text 8"/>
          <p:cNvSpPr txBox="1"/>
          <p:nvPr/>
        </p:nvSpPr>
        <p:spPr>
          <a:xfrm>
            <a:off x="7827264" y="1874520"/>
            <a:ext cx="1444752" cy="50292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running</a:t>
            </a:r>
            <a:endParaRPr lang="en-US" sz="1300" dirty="0"/>
          </a:p>
        </p:txBody>
      </p:sp>
      <p:sp>
        <p:nvSpPr>
          <p:cNvPr id="13" name="Shape 9"/>
          <p:cNvSpPr/>
          <p:nvPr/>
        </p:nvSpPr>
        <p:spPr>
          <a:xfrm>
            <a:off x="7772400" y="3063240"/>
            <a:ext cx="1554480" cy="502920"/>
          </a:xfrm>
          <a:prstGeom prst="roundRect">
            <a:avLst>
              <a:gd name="adj" fmla="val 10909"/>
            </a:avLst>
          </a:prstGeom>
          <a:solidFill>
            <a:schemeClr val="bg1"/>
          </a:solidFill>
          <a:ln/>
        </p:spPr>
        <p:txBody>
          <a:bodyPr/>
          <a:lstStyle/>
          <a:p>
            <a:endParaRPr lang="en-US"/>
          </a:p>
        </p:txBody>
      </p:sp>
      <p:sp>
        <p:nvSpPr>
          <p:cNvPr id="14" name="Shape 10"/>
          <p:cNvSpPr/>
          <p:nvPr/>
        </p:nvSpPr>
        <p:spPr>
          <a:xfrm>
            <a:off x="7772400" y="3063240"/>
            <a:ext cx="1554480" cy="502920"/>
          </a:xfrm>
          <a:prstGeom prst="roundRect">
            <a:avLst>
              <a:gd name="adj" fmla="val 10909"/>
            </a:avLst>
          </a:prstGeom>
          <a:solidFill>
            <a:schemeClr val="accent5">
              <a:alpha val="16000"/>
            </a:schemeClr>
          </a:solidFill>
          <a:ln w="15875">
            <a:solidFill>
              <a:schemeClr val="accent5"/>
            </a:solidFill>
            <a:prstDash val="solid"/>
          </a:ln>
        </p:spPr>
        <p:txBody>
          <a:bodyPr/>
          <a:lstStyle/>
          <a:p>
            <a:endParaRPr lang="en-US"/>
          </a:p>
        </p:txBody>
      </p:sp>
      <p:sp>
        <p:nvSpPr>
          <p:cNvPr id="15" name="Text 11"/>
          <p:cNvSpPr txBox="1"/>
          <p:nvPr/>
        </p:nvSpPr>
        <p:spPr>
          <a:xfrm>
            <a:off x="7827264" y="3063240"/>
            <a:ext cx="1444752" cy="50292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scheduled</a:t>
            </a:r>
            <a:endParaRPr lang="en-US" sz="1300" dirty="0"/>
          </a:p>
        </p:txBody>
      </p:sp>
      <p:sp>
        <p:nvSpPr>
          <p:cNvPr id="16" name="Shape 12"/>
          <p:cNvSpPr/>
          <p:nvPr/>
        </p:nvSpPr>
        <p:spPr>
          <a:xfrm>
            <a:off x="7772400" y="4206240"/>
            <a:ext cx="1554480" cy="502920"/>
          </a:xfrm>
          <a:prstGeom prst="roundRect">
            <a:avLst>
              <a:gd name="adj" fmla="val 10909"/>
            </a:avLst>
          </a:prstGeom>
          <a:solidFill>
            <a:schemeClr val="bg1"/>
          </a:solidFill>
          <a:ln/>
        </p:spPr>
        <p:txBody>
          <a:bodyPr/>
          <a:lstStyle/>
          <a:p>
            <a:endParaRPr lang="en-US"/>
          </a:p>
        </p:txBody>
      </p:sp>
      <p:sp>
        <p:nvSpPr>
          <p:cNvPr id="17" name="Shape 13"/>
          <p:cNvSpPr/>
          <p:nvPr/>
        </p:nvSpPr>
        <p:spPr>
          <a:xfrm>
            <a:off x="7772400" y="4206240"/>
            <a:ext cx="1554480" cy="502920"/>
          </a:xfrm>
          <a:prstGeom prst="roundRect">
            <a:avLst>
              <a:gd name="adj" fmla="val 10909"/>
            </a:avLst>
          </a:prstGeom>
          <a:solidFill>
            <a:schemeClr val="accent1">
              <a:alpha val="22000"/>
            </a:schemeClr>
          </a:solidFill>
          <a:ln w="15875">
            <a:solidFill>
              <a:schemeClr val="accent1"/>
            </a:solidFill>
            <a:prstDash val="solid"/>
          </a:ln>
        </p:spPr>
        <p:txBody>
          <a:bodyPr/>
          <a:lstStyle/>
          <a:p>
            <a:endParaRPr lang="en-US"/>
          </a:p>
        </p:txBody>
      </p:sp>
      <p:sp>
        <p:nvSpPr>
          <p:cNvPr id="18" name="Text 14"/>
          <p:cNvSpPr txBox="1"/>
          <p:nvPr/>
        </p:nvSpPr>
        <p:spPr>
          <a:xfrm>
            <a:off x="7827264" y="4206240"/>
            <a:ext cx="1444752" cy="50292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queued</a:t>
            </a:r>
            <a:endParaRPr lang="en-US" sz="1300" dirty="0"/>
          </a:p>
        </p:txBody>
      </p:sp>
      <p:sp>
        <p:nvSpPr>
          <p:cNvPr id="4" name="Shape 15"/>
          <p:cNvSpPr/>
          <p:nvPr/>
        </p:nvSpPr>
        <p:spPr>
          <a:xfrm>
            <a:off x="9966960" y="3063240"/>
            <a:ext cx="1764792" cy="502920"/>
          </a:xfrm>
          <a:prstGeom prst="roundRect">
            <a:avLst>
              <a:gd name="adj" fmla="val 10909"/>
            </a:avLst>
          </a:prstGeom>
          <a:solidFill>
            <a:schemeClr val="bg1"/>
          </a:solidFill>
          <a:ln/>
        </p:spPr>
        <p:txBody>
          <a:bodyPr/>
          <a:lstStyle/>
          <a:p>
            <a:endParaRPr lang="en-US"/>
          </a:p>
        </p:txBody>
      </p:sp>
      <p:sp>
        <p:nvSpPr>
          <p:cNvPr id="20" name="Shape 16"/>
          <p:cNvSpPr/>
          <p:nvPr/>
        </p:nvSpPr>
        <p:spPr>
          <a:xfrm>
            <a:off x="9966960" y="3063240"/>
            <a:ext cx="1764792" cy="502920"/>
          </a:xfrm>
          <a:prstGeom prst="roundRect">
            <a:avLst>
              <a:gd name="adj" fmla="val 10909"/>
            </a:avLst>
          </a:prstGeom>
          <a:solidFill>
            <a:schemeClr val="accent6">
              <a:lumMod val="20000"/>
              <a:lumOff val="80000"/>
            </a:schemeClr>
          </a:solidFill>
          <a:ln w="15875">
            <a:solidFill>
              <a:schemeClr val="accent4"/>
            </a:solidFill>
            <a:prstDash val="solid"/>
          </a:ln>
        </p:spPr>
        <p:txBody>
          <a:bodyPr/>
          <a:lstStyle/>
          <a:p>
            <a:endParaRPr lang="en-US"/>
          </a:p>
        </p:txBody>
      </p:sp>
      <p:sp>
        <p:nvSpPr>
          <p:cNvPr id="21" name="Text 17"/>
          <p:cNvSpPr txBox="1"/>
          <p:nvPr/>
        </p:nvSpPr>
        <p:spPr>
          <a:xfrm>
            <a:off x="10021824" y="3063240"/>
            <a:ext cx="1655064" cy="50292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failed / DLQ</a:t>
            </a:r>
            <a:endParaRPr lang="en-US" sz="1300" dirty="0"/>
          </a:p>
        </p:txBody>
      </p:sp>
      <p:sp>
        <p:nvSpPr>
          <p:cNvPr id="22" name="Shape 18"/>
          <p:cNvSpPr/>
          <p:nvPr/>
        </p:nvSpPr>
        <p:spPr>
          <a:xfrm>
            <a:off x="8549640" y="2377440"/>
            <a:ext cx="91" cy="685800"/>
          </a:xfrm>
          <a:prstGeom prst="line">
            <a:avLst/>
          </a:prstGeom>
          <a:noFill/>
          <a:ln w="15875">
            <a:solidFill>
              <a:schemeClr val="accent4"/>
            </a:solidFill>
            <a:prstDash val="solid"/>
            <a:headEnd type="none"/>
            <a:tailEnd type="triangle"/>
          </a:ln>
        </p:spPr>
        <p:txBody>
          <a:bodyPr/>
          <a:lstStyle/>
          <a:p>
            <a:endParaRPr lang="en-US"/>
          </a:p>
        </p:txBody>
      </p:sp>
      <p:sp>
        <p:nvSpPr>
          <p:cNvPr id="23" name="Text 19"/>
          <p:cNvSpPr txBox="1"/>
          <p:nvPr/>
        </p:nvSpPr>
        <p:spPr>
          <a:xfrm>
            <a:off x="8641080" y="2578608"/>
            <a:ext cx="2011680" cy="274320"/>
          </a:xfrm>
          <a:prstGeom prst="rect">
            <a:avLst/>
          </a:prstGeom>
          <a:noFill/>
          <a:ln/>
        </p:spPr>
        <p:txBody>
          <a:bodyPr wrap="square" lIns="0" tIns="0" rIns="0" bIns="0" rtlCol="0" anchor="t"/>
          <a:lstStyle/>
          <a:p>
            <a:pPr marL="0" indent="0">
              <a:buNone/>
            </a:pPr>
            <a:r>
              <a:rPr lang="en-US" sz="1100" dirty="0">
                <a:solidFill>
                  <a:schemeClr val="accent4"/>
                </a:solidFill>
                <a:latin typeface="Calibri" pitchFamily="34" charset="0"/>
                <a:ea typeface="Calibri" pitchFamily="34" charset="-122"/>
                <a:cs typeface="Calibri" pitchFamily="34" charset="-120"/>
              </a:rPr>
              <a:t>retryable, attempts left</a:t>
            </a:r>
            <a:endParaRPr lang="en-US" sz="1100" dirty="0"/>
          </a:p>
        </p:txBody>
      </p:sp>
      <p:sp>
        <p:nvSpPr>
          <p:cNvPr id="24" name="Shape 20"/>
          <p:cNvSpPr/>
          <p:nvPr/>
        </p:nvSpPr>
        <p:spPr>
          <a:xfrm>
            <a:off x="8549640" y="3566160"/>
            <a:ext cx="91" cy="640080"/>
          </a:xfrm>
          <a:prstGeom prst="line">
            <a:avLst/>
          </a:prstGeom>
          <a:noFill/>
          <a:ln w="15875">
            <a:solidFill>
              <a:schemeClr val="tx2"/>
            </a:solidFill>
            <a:prstDash val="solid"/>
            <a:headEnd type="none"/>
            <a:tailEnd type="triangle"/>
          </a:ln>
        </p:spPr>
        <p:txBody>
          <a:bodyPr/>
          <a:lstStyle/>
          <a:p>
            <a:endParaRPr lang="en-US"/>
          </a:p>
        </p:txBody>
      </p:sp>
      <p:sp>
        <p:nvSpPr>
          <p:cNvPr id="25" name="Text 21"/>
          <p:cNvSpPr txBox="1"/>
          <p:nvPr/>
        </p:nvSpPr>
        <p:spPr>
          <a:xfrm>
            <a:off x="8641080" y="3749040"/>
            <a:ext cx="1828800" cy="274320"/>
          </a:xfrm>
          <a:prstGeom prst="rect">
            <a:avLst/>
          </a:prstGeom>
          <a:noFill/>
          <a:ln/>
        </p:spPr>
        <p:txBody>
          <a:bodyPr wrap="square" lIns="0" tIns="0" rIns="0" bIns="0" rtlCol="0" anchor="t"/>
          <a:lstStyle/>
          <a:p>
            <a:pPr marL="0" indent="0">
              <a:buNone/>
            </a:pPr>
            <a:r>
              <a:rPr lang="en-US" sz="1100" dirty="0">
                <a:solidFill>
                  <a:schemeClr val="tx1"/>
                </a:solidFill>
                <a:latin typeface="Calibri" pitchFamily="34" charset="0"/>
                <a:ea typeface="Calibri" pitchFamily="34" charset="-122"/>
                <a:cs typeface="Calibri" pitchFamily="34" charset="-120"/>
              </a:rPr>
              <a:t>timer at run_after</a:t>
            </a:r>
            <a:endParaRPr lang="en-US" sz="1100" dirty="0"/>
          </a:p>
        </p:txBody>
      </p:sp>
      <p:sp>
        <p:nvSpPr>
          <p:cNvPr id="26" name="Shape 22"/>
          <p:cNvSpPr/>
          <p:nvPr/>
        </p:nvSpPr>
        <p:spPr>
          <a:xfrm>
            <a:off x="9326880" y="2121408"/>
            <a:ext cx="1517904" cy="91"/>
          </a:xfrm>
          <a:prstGeom prst="line">
            <a:avLst/>
          </a:prstGeom>
          <a:noFill/>
          <a:ln w="15875">
            <a:solidFill>
              <a:schemeClr val="accent4"/>
            </a:solidFill>
            <a:prstDash val="solid"/>
            <a:headEnd type="none"/>
            <a:tailEnd type="none"/>
          </a:ln>
        </p:spPr>
        <p:txBody>
          <a:bodyPr/>
          <a:lstStyle/>
          <a:p>
            <a:endParaRPr lang="en-US"/>
          </a:p>
        </p:txBody>
      </p:sp>
      <p:sp>
        <p:nvSpPr>
          <p:cNvPr id="27" name="Shape 23"/>
          <p:cNvSpPr/>
          <p:nvPr/>
        </p:nvSpPr>
        <p:spPr>
          <a:xfrm>
            <a:off x="10844784" y="2121408"/>
            <a:ext cx="91" cy="941832"/>
          </a:xfrm>
          <a:prstGeom prst="line">
            <a:avLst/>
          </a:prstGeom>
          <a:noFill/>
          <a:ln w="15875">
            <a:solidFill>
              <a:srgbClr val="C00000"/>
            </a:solidFill>
            <a:prstDash val="solid"/>
            <a:headEnd type="none"/>
            <a:tailEnd type="triangle"/>
          </a:ln>
        </p:spPr>
        <p:txBody>
          <a:bodyPr/>
          <a:lstStyle/>
          <a:p>
            <a:endParaRPr lang="en-US"/>
          </a:p>
        </p:txBody>
      </p:sp>
      <p:sp>
        <p:nvSpPr>
          <p:cNvPr id="28" name="Text 24"/>
          <p:cNvSpPr txBox="1"/>
          <p:nvPr/>
        </p:nvSpPr>
        <p:spPr>
          <a:xfrm>
            <a:off x="9555480" y="1865376"/>
            <a:ext cx="1188720" cy="237744"/>
          </a:xfrm>
          <a:prstGeom prst="rect">
            <a:avLst/>
          </a:prstGeom>
          <a:noFill/>
          <a:ln/>
        </p:spPr>
        <p:txBody>
          <a:bodyPr wrap="square" lIns="0" tIns="0" rIns="0" bIns="0" rtlCol="0" anchor="t"/>
          <a:lstStyle/>
          <a:p>
            <a:pPr marL="0" indent="0">
              <a:buNone/>
            </a:pPr>
            <a:r>
              <a:rPr lang="en-US" sz="1100" dirty="0">
                <a:solidFill>
                  <a:srgbClr val="C00000"/>
                </a:solidFill>
                <a:latin typeface="Calibri" pitchFamily="34" charset="0"/>
                <a:ea typeface="Calibri" pitchFamily="34" charset="-122"/>
                <a:cs typeface="Calibri" pitchFamily="34" charset="-120"/>
              </a:rPr>
              <a:t>exhausted</a:t>
            </a:r>
            <a:endParaRPr lang="en-US" sz="1100" dirty="0">
              <a:solidFill>
                <a:srgbClr val="C00000"/>
              </a:solidFill>
            </a:endParaRPr>
          </a:p>
        </p:txBody>
      </p:sp>
      <p:sp>
        <p:nvSpPr>
          <p:cNvPr id="29" name="Shape 25"/>
          <p:cNvSpPr/>
          <p:nvPr/>
        </p:nvSpPr>
        <p:spPr>
          <a:xfrm>
            <a:off x="7772400" y="4937760"/>
            <a:ext cx="3959352" cy="1280160"/>
          </a:xfrm>
          <a:prstGeom prst="roundRect">
            <a:avLst>
              <a:gd name="adj" fmla="val 4286"/>
            </a:avLst>
          </a:prstGeom>
          <a:solidFill>
            <a:schemeClr val="tx1"/>
          </a:solidFill>
          <a:ln/>
        </p:spPr>
        <p:txBody>
          <a:bodyPr/>
          <a:lstStyle/>
          <a:p>
            <a:endParaRPr lang="en-US"/>
          </a:p>
        </p:txBody>
      </p:sp>
      <p:sp>
        <p:nvSpPr>
          <p:cNvPr id="30" name="Text 26"/>
          <p:cNvSpPr txBox="1"/>
          <p:nvPr/>
        </p:nvSpPr>
        <p:spPr>
          <a:xfrm>
            <a:off x="7936992" y="5047488"/>
            <a:ext cx="3685032" cy="1060704"/>
          </a:xfrm>
          <a:prstGeom prst="rect">
            <a:avLst/>
          </a:prstGeom>
          <a:noFill/>
          <a:ln/>
        </p:spPr>
        <p:txBody>
          <a:bodyPr wrap="square" lIns="0" tIns="0" rIns="0" bIns="0" rtlCol="0" anchor="t"/>
          <a:lstStyle/>
          <a:p>
            <a:pPr marL="0" indent="0">
              <a:lnSpc>
                <a:spcPct val="100000"/>
              </a:lnSpc>
              <a:buNone/>
            </a:pPr>
            <a:r>
              <a:rPr lang="en-US" sz="1100" dirty="0">
                <a:solidFill>
                  <a:schemeClr val="bg1"/>
                </a:solidFill>
                <a:latin typeface="Courier New" pitchFamily="34" charset="0"/>
                <a:ea typeface="Courier New" pitchFamily="34" charset="-122"/>
                <a:cs typeface="Courier New" pitchFamily="34" charset="-120"/>
              </a:rPr>
              <a:t>fixed  delay = base</a:t>
            </a:r>
            <a:endParaRPr lang="en-US" sz="1100" dirty="0"/>
          </a:p>
          <a:p>
            <a:pPr marL="0" indent="0">
              <a:lnSpc>
                <a:spcPct val="100000"/>
              </a:lnSpc>
              <a:buNone/>
            </a:pPr>
            <a:r>
              <a:rPr lang="en-US" sz="1100" dirty="0">
                <a:solidFill>
                  <a:schemeClr val="bg1"/>
                </a:solidFill>
                <a:latin typeface="Courier New" pitchFamily="34" charset="0"/>
                <a:ea typeface="Courier New" pitchFamily="34" charset="-122"/>
                <a:cs typeface="Courier New" pitchFamily="34" charset="-120"/>
              </a:rPr>
              <a:t>linear delay = base × attempt</a:t>
            </a:r>
            <a:endParaRPr lang="en-US" sz="1100" dirty="0"/>
          </a:p>
          <a:p>
            <a:pPr marL="0" indent="0">
              <a:lnSpc>
                <a:spcPct val="100000"/>
              </a:lnSpc>
              <a:buNone/>
            </a:pPr>
            <a:r>
              <a:rPr lang="en-US" sz="1100" dirty="0">
                <a:solidFill>
                  <a:schemeClr val="bg1"/>
                </a:solidFill>
                <a:latin typeface="Courier New" pitchFamily="34" charset="0"/>
                <a:ea typeface="Courier New" pitchFamily="34" charset="-122"/>
                <a:cs typeface="Courier New" pitchFamily="34" charset="-120"/>
              </a:rPr>
              <a:t>exp    delay = base × 2^(attempt−1)</a:t>
            </a:r>
            <a:endParaRPr lang="en-US" sz="1100" dirty="0"/>
          </a:p>
          <a:p>
            <a:pPr marL="0" indent="0">
              <a:lnSpc>
                <a:spcPct val="100000"/>
              </a:lnSpc>
              <a:buNone/>
            </a:pPr>
            <a:r>
              <a:rPr lang="en-US" sz="1100" dirty="0">
                <a:solidFill>
                  <a:schemeClr val="bg1"/>
                </a:solidFill>
                <a:latin typeface="Courier New" pitchFamily="34" charset="0"/>
                <a:ea typeface="Courier New" pitchFamily="34" charset="-122"/>
                <a:cs typeface="Courier New" pitchFamily="34" charset="-120"/>
              </a:rPr>
              <a:t>then   min(delay, max) + jitter</a:t>
            </a:r>
            <a:endParaRPr lang="en-US" sz="1100" dirty="0"/>
          </a:p>
        </p:txBody>
      </p:sp>
      <p:sp>
        <p:nvSpPr>
          <p:cNvPr id="5"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22</a:t>
            </a:fld>
            <a:endParaRPr lang="en-US"/>
          </a:p>
        </p:txBody>
      </p:sp>
      <p:sp>
        <p:nvSpPr>
          <p:cNvPr id="31" name="Rectangle 30">
            <a:extLst>
              <a:ext uri="{FF2B5EF4-FFF2-40B4-BE49-F238E27FC236}">
                <a16:creationId xmlns:a16="http://schemas.microsoft.com/office/drawing/2014/main" id="{10D51D79-AB73-E8F4-6A74-8788C5FDF0FF}"/>
              </a:ext>
            </a:extLst>
          </p:cNvPr>
          <p:cNvSpPr/>
          <p:nvPr/>
        </p:nvSpPr>
        <p:spPr>
          <a:xfrm>
            <a:off x="9646920" y="0"/>
            <a:ext cx="2545080" cy="384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indent="-228600">
              <a:buFont typeface="+mj-lt"/>
              <a:buAutoNum type="arabicPeriod"/>
            </a:pPr>
            <a:r>
              <a:rPr lang="en-US" sz="1000" dirty="0"/>
              <a:t>Use Headroom approach?</a:t>
            </a:r>
          </a:p>
          <a:p>
            <a:pPr marL="228600" indent="-228600">
              <a:buFont typeface="+mj-lt"/>
              <a:buAutoNum type="arabicPeriod"/>
            </a:pPr>
            <a:r>
              <a:rPr lang="en-US" sz="1000" dirty="0"/>
              <a:t>split </a:t>
            </a:r>
            <a:r>
              <a:rPr lang="en-US" sz="1000" dirty="0" err="1"/>
              <a:t>Heartbit</a:t>
            </a:r>
            <a:r>
              <a:rPr lang="en-US" sz="1000" dirty="0"/>
              <a:t> by 2 ?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Creating a task: one transaction, five gates</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Authorization always runs first; any refusal rolls back the whole transaction</a:t>
            </a:r>
            <a:endParaRPr lang="en-US" sz="1600" dirty="0"/>
          </a:p>
        </p:txBody>
      </p:sp>
      <p:sp>
        <p:nvSpPr>
          <p:cNvPr id="5" name="Shape 2"/>
          <p:cNvSpPr/>
          <p:nvPr/>
        </p:nvSpPr>
        <p:spPr>
          <a:xfrm>
            <a:off x="457200" y="1508760"/>
            <a:ext cx="1673352" cy="1691640"/>
          </a:xfrm>
          <a:prstGeom prst="roundRect">
            <a:avLst>
              <a:gd name="adj" fmla="val 3279"/>
            </a:avLst>
          </a:prstGeom>
          <a:solidFill>
            <a:schemeClr val="bg1"/>
          </a:solidFill>
          <a:ln/>
        </p:spPr>
        <p:txBody>
          <a:bodyPr/>
          <a:lstStyle/>
          <a:p>
            <a:endParaRPr lang="en-US"/>
          </a:p>
        </p:txBody>
      </p:sp>
      <p:sp>
        <p:nvSpPr>
          <p:cNvPr id="6" name="Shape 3"/>
          <p:cNvSpPr/>
          <p:nvPr/>
        </p:nvSpPr>
        <p:spPr>
          <a:xfrm>
            <a:off x="457200" y="1508760"/>
            <a:ext cx="1673352" cy="1691640"/>
          </a:xfrm>
          <a:prstGeom prst="roundRect">
            <a:avLst>
              <a:gd name="adj" fmla="val 3279"/>
            </a:avLst>
          </a:prstGeom>
          <a:solidFill>
            <a:schemeClr val="accent1">
              <a:alpha val="14000"/>
            </a:schemeClr>
          </a:solidFill>
          <a:ln w="15875">
            <a:solidFill>
              <a:schemeClr val="accent1"/>
            </a:solidFill>
            <a:prstDash val="solid"/>
          </a:ln>
        </p:spPr>
        <p:txBody>
          <a:bodyPr/>
          <a:lstStyle/>
          <a:p>
            <a:endParaRPr lang="en-US"/>
          </a:p>
        </p:txBody>
      </p:sp>
      <p:sp>
        <p:nvSpPr>
          <p:cNvPr id="7" name="Shape 4"/>
          <p:cNvSpPr/>
          <p:nvPr/>
        </p:nvSpPr>
        <p:spPr>
          <a:xfrm>
            <a:off x="1046988" y="1627632"/>
            <a:ext cx="493776" cy="493776"/>
          </a:xfrm>
          <a:prstGeom prst="ellipse">
            <a:avLst/>
          </a:prstGeom>
          <a:solidFill>
            <a:schemeClr val="tx2">
              <a:lumMod val="25000"/>
              <a:lumOff val="75000"/>
            </a:schemeClr>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70432" y="1751076"/>
            <a:ext cx="246888" cy="246888"/>
          </a:xfrm>
          <a:prstGeom prst="rect">
            <a:avLst/>
          </a:prstGeom>
        </p:spPr>
      </p:pic>
      <p:sp>
        <p:nvSpPr>
          <p:cNvPr id="9" name="Text 5"/>
          <p:cNvSpPr txBox="1"/>
          <p:nvPr/>
        </p:nvSpPr>
        <p:spPr>
          <a:xfrm>
            <a:off x="530352" y="2194560"/>
            <a:ext cx="1527048" cy="274320"/>
          </a:xfrm>
          <a:prstGeom prst="rect">
            <a:avLst/>
          </a:prstGeom>
          <a:noFill/>
          <a:ln/>
        </p:spPr>
        <p:txBody>
          <a:bodyPr wrap="square" lIns="0" tIns="0" rIns="0" bIns="0" rtlCol="0" anchor="t"/>
          <a:lstStyle/>
          <a:p>
            <a:pPr marL="0" indent="0" algn="ctr">
              <a:buNone/>
            </a:pPr>
            <a:r>
              <a:rPr lang="en-US" sz="1300" b="1" dirty="0">
                <a:solidFill>
                  <a:schemeClr val="tx1"/>
                </a:solidFill>
                <a:latin typeface="Calibri" pitchFamily="34" charset="0"/>
                <a:ea typeface="Calibri" pitchFamily="34" charset="-122"/>
                <a:cs typeface="Calibri" pitchFamily="34" charset="-120"/>
              </a:rPr>
              <a:t>Authorize</a:t>
            </a:r>
            <a:endParaRPr lang="en-US" sz="1300" dirty="0"/>
          </a:p>
        </p:txBody>
      </p:sp>
      <p:sp>
        <p:nvSpPr>
          <p:cNvPr id="10" name="Text 6"/>
          <p:cNvSpPr txBox="1"/>
          <p:nvPr/>
        </p:nvSpPr>
        <p:spPr>
          <a:xfrm>
            <a:off x="548640" y="2487168"/>
            <a:ext cx="1490472" cy="640080"/>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PDP create · fail-closed</a:t>
            </a:r>
            <a:endParaRPr lang="en-US" sz="1100" dirty="0"/>
          </a:p>
        </p:txBody>
      </p:sp>
      <p:sp>
        <p:nvSpPr>
          <p:cNvPr id="11" name="Shape 7"/>
          <p:cNvSpPr/>
          <p:nvPr/>
        </p:nvSpPr>
        <p:spPr>
          <a:xfrm>
            <a:off x="2148840" y="2350008"/>
            <a:ext cx="210312" cy="91"/>
          </a:xfrm>
          <a:prstGeom prst="line">
            <a:avLst/>
          </a:prstGeom>
          <a:noFill/>
          <a:ln w="19050">
            <a:solidFill>
              <a:schemeClr val="tx1"/>
            </a:solidFill>
            <a:prstDash val="solid"/>
            <a:headEnd type="none"/>
            <a:tailEnd type="triangle"/>
          </a:ln>
        </p:spPr>
        <p:txBody>
          <a:bodyPr/>
          <a:lstStyle/>
          <a:p>
            <a:endParaRPr lang="en-US"/>
          </a:p>
        </p:txBody>
      </p:sp>
      <p:sp>
        <p:nvSpPr>
          <p:cNvPr id="12" name="Shape 8"/>
          <p:cNvSpPr/>
          <p:nvPr/>
        </p:nvSpPr>
        <p:spPr>
          <a:xfrm>
            <a:off x="1293876" y="3200400"/>
            <a:ext cx="91" cy="256032"/>
          </a:xfrm>
          <a:prstGeom prst="line">
            <a:avLst/>
          </a:prstGeom>
          <a:noFill/>
          <a:ln w="12700">
            <a:solidFill>
              <a:schemeClr val="accent4"/>
            </a:solidFill>
            <a:prstDash val="solid"/>
            <a:headEnd type="none"/>
            <a:tailEnd type="triangle"/>
          </a:ln>
        </p:spPr>
        <p:txBody>
          <a:bodyPr/>
          <a:lstStyle/>
          <a:p>
            <a:endParaRPr lang="en-US"/>
          </a:p>
        </p:txBody>
      </p:sp>
      <p:sp>
        <p:nvSpPr>
          <p:cNvPr id="13" name="Shape 9"/>
          <p:cNvSpPr/>
          <p:nvPr/>
        </p:nvSpPr>
        <p:spPr>
          <a:xfrm>
            <a:off x="457200" y="3456432"/>
            <a:ext cx="1673352" cy="566928"/>
          </a:xfrm>
          <a:prstGeom prst="roundRect">
            <a:avLst>
              <a:gd name="adj" fmla="val 9677"/>
            </a:avLst>
          </a:prstGeom>
          <a:solidFill>
            <a:schemeClr val="bg1"/>
          </a:solidFill>
          <a:ln/>
        </p:spPr>
        <p:txBody>
          <a:bodyPr/>
          <a:lstStyle/>
          <a:p>
            <a:endParaRPr lang="en-US"/>
          </a:p>
        </p:txBody>
      </p:sp>
      <p:sp>
        <p:nvSpPr>
          <p:cNvPr id="14" name="Shape 10"/>
          <p:cNvSpPr/>
          <p:nvPr/>
        </p:nvSpPr>
        <p:spPr>
          <a:xfrm>
            <a:off x="457200" y="3456432"/>
            <a:ext cx="1673352" cy="566928"/>
          </a:xfrm>
          <a:prstGeom prst="roundRect">
            <a:avLst>
              <a:gd name="adj" fmla="val 9677"/>
            </a:avLst>
          </a:prstGeom>
          <a:solidFill>
            <a:schemeClr val="accent5">
              <a:lumMod val="20000"/>
              <a:lumOff val="80000"/>
            </a:schemeClr>
          </a:solidFill>
          <a:ln/>
        </p:spPr>
        <p:txBody>
          <a:bodyPr/>
          <a:lstStyle/>
          <a:p>
            <a:endParaRPr lang="en-US"/>
          </a:p>
        </p:txBody>
      </p:sp>
      <p:sp>
        <p:nvSpPr>
          <p:cNvPr id="15" name="Text 11"/>
          <p:cNvSpPr txBox="1"/>
          <p:nvPr/>
        </p:nvSpPr>
        <p:spPr>
          <a:xfrm>
            <a:off x="512064" y="3456432"/>
            <a:ext cx="1563624"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403 permission_denied</a:t>
            </a:r>
            <a:endParaRPr lang="en-US" sz="1100" dirty="0"/>
          </a:p>
        </p:txBody>
      </p:sp>
      <p:sp>
        <p:nvSpPr>
          <p:cNvPr id="16" name="Shape 12"/>
          <p:cNvSpPr/>
          <p:nvPr/>
        </p:nvSpPr>
        <p:spPr>
          <a:xfrm>
            <a:off x="2377440" y="1508760"/>
            <a:ext cx="1673352" cy="1691640"/>
          </a:xfrm>
          <a:prstGeom prst="roundRect">
            <a:avLst>
              <a:gd name="adj" fmla="val 3279"/>
            </a:avLst>
          </a:prstGeom>
          <a:solidFill>
            <a:schemeClr val="bg1"/>
          </a:solidFill>
          <a:ln/>
        </p:spPr>
        <p:txBody>
          <a:bodyPr/>
          <a:lstStyle/>
          <a:p>
            <a:endParaRPr lang="en-US"/>
          </a:p>
        </p:txBody>
      </p:sp>
      <p:sp>
        <p:nvSpPr>
          <p:cNvPr id="17" name="Shape 13"/>
          <p:cNvSpPr/>
          <p:nvPr/>
        </p:nvSpPr>
        <p:spPr>
          <a:xfrm>
            <a:off x="2377440" y="1508760"/>
            <a:ext cx="1673352" cy="1691640"/>
          </a:xfrm>
          <a:prstGeom prst="roundRect">
            <a:avLst>
              <a:gd name="adj" fmla="val 3279"/>
            </a:avLst>
          </a:prstGeom>
          <a:solidFill>
            <a:schemeClr val="accent1">
              <a:alpha val="14000"/>
            </a:schemeClr>
          </a:solidFill>
          <a:ln w="15875">
            <a:solidFill>
              <a:schemeClr val="accent1"/>
            </a:solidFill>
            <a:prstDash val="solid"/>
          </a:ln>
        </p:spPr>
        <p:txBody>
          <a:bodyPr/>
          <a:lstStyle/>
          <a:p>
            <a:endParaRPr lang="en-US"/>
          </a:p>
        </p:txBody>
      </p:sp>
      <p:sp>
        <p:nvSpPr>
          <p:cNvPr id="18" name="Shape 14"/>
          <p:cNvSpPr/>
          <p:nvPr/>
        </p:nvSpPr>
        <p:spPr>
          <a:xfrm>
            <a:off x="2967228" y="1627632"/>
            <a:ext cx="493776" cy="493776"/>
          </a:xfrm>
          <a:prstGeom prst="ellipse">
            <a:avLst/>
          </a:prstGeom>
          <a:solidFill>
            <a:schemeClr val="tx2">
              <a:lumMod val="25000"/>
              <a:lumOff val="75000"/>
            </a:schemeClr>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3090672" y="1751076"/>
            <a:ext cx="246888" cy="246888"/>
          </a:xfrm>
          <a:prstGeom prst="rect">
            <a:avLst/>
          </a:prstGeom>
        </p:spPr>
      </p:pic>
      <p:sp>
        <p:nvSpPr>
          <p:cNvPr id="20" name="Text 15"/>
          <p:cNvSpPr txBox="1"/>
          <p:nvPr/>
        </p:nvSpPr>
        <p:spPr>
          <a:xfrm>
            <a:off x="2450592" y="2194560"/>
            <a:ext cx="1527048" cy="274320"/>
          </a:xfrm>
          <a:prstGeom prst="rect">
            <a:avLst/>
          </a:prstGeom>
          <a:noFill/>
          <a:ln/>
        </p:spPr>
        <p:txBody>
          <a:bodyPr wrap="square" lIns="0" tIns="0" rIns="0" bIns="0" rtlCol="0" anchor="t"/>
          <a:lstStyle/>
          <a:p>
            <a:pPr marL="0" indent="0" algn="ctr">
              <a:buNone/>
            </a:pPr>
            <a:r>
              <a:rPr lang="en-US" sz="1300" b="1" dirty="0">
                <a:solidFill>
                  <a:schemeClr val="tx1"/>
                </a:solidFill>
                <a:latin typeface="Calibri" pitchFamily="34" charset="0"/>
                <a:ea typeface="Calibri" pitchFamily="34" charset="-122"/>
                <a:cs typeface="Calibri" pitchFamily="34" charset="-120"/>
              </a:rPr>
              <a:t>Validate</a:t>
            </a:r>
            <a:endParaRPr lang="en-US" sz="1300" dirty="0"/>
          </a:p>
        </p:txBody>
      </p:sp>
      <p:sp>
        <p:nvSpPr>
          <p:cNvPr id="21" name="Text 16"/>
          <p:cNvSpPr txBox="1"/>
          <p:nvPr/>
        </p:nvSpPr>
        <p:spPr>
          <a:xfrm>
            <a:off x="2468880" y="2487168"/>
            <a:ext cx="1490472" cy="640080"/>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GTS schema · 64 KiB · cross-refs</a:t>
            </a:r>
            <a:endParaRPr lang="en-US" sz="1100" dirty="0"/>
          </a:p>
        </p:txBody>
      </p:sp>
      <p:sp>
        <p:nvSpPr>
          <p:cNvPr id="22" name="Shape 17"/>
          <p:cNvSpPr/>
          <p:nvPr/>
        </p:nvSpPr>
        <p:spPr>
          <a:xfrm>
            <a:off x="4069080" y="2350008"/>
            <a:ext cx="210312" cy="91"/>
          </a:xfrm>
          <a:prstGeom prst="line">
            <a:avLst/>
          </a:prstGeom>
          <a:noFill/>
          <a:ln w="19050">
            <a:solidFill>
              <a:schemeClr val="tx1"/>
            </a:solidFill>
            <a:prstDash val="solid"/>
            <a:headEnd type="none"/>
            <a:tailEnd type="triangle"/>
          </a:ln>
        </p:spPr>
        <p:txBody>
          <a:bodyPr/>
          <a:lstStyle/>
          <a:p>
            <a:endParaRPr lang="en-US"/>
          </a:p>
        </p:txBody>
      </p:sp>
      <p:sp>
        <p:nvSpPr>
          <p:cNvPr id="23" name="Shape 18"/>
          <p:cNvSpPr/>
          <p:nvPr/>
        </p:nvSpPr>
        <p:spPr>
          <a:xfrm>
            <a:off x="3214116" y="3200400"/>
            <a:ext cx="91" cy="256032"/>
          </a:xfrm>
          <a:prstGeom prst="line">
            <a:avLst/>
          </a:prstGeom>
          <a:noFill/>
          <a:ln w="12700">
            <a:solidFill>
              <a:schemeClr val="accent4"/>
            </a:solidFill>
            <a:prstDash val="solid"/>
            <a:headEnd type="none"/>
            <a:tailEnd type="triangle"/>
          </a:ln>
        </p:spPr>
        <p:txBody>
          <a:bodyPr/>
          <a:lstStyle/>
          <a:p>
            <a:endParaRPr lang="en-US"/>
          </a:p>
        </p:txBody>
      </p:sp>
      <p:sp>
        <p:nvSpPr>
          <p:cNvPr id="24" name="Shape 19"/>
          <p:cNvSpPr/>
          <p:nvPr/>
        </p:nvSpPr>
        <p:spPr>
          <a:xfrm>
            <a:off x="2377440" y="3456432"/>
            <a:ext cx="1673352" cy="566928"/>
          </a:xfrm>
          <a:prstGeom prst="roundRect">
            <a:avLst>
              <a:gd name="adj" fmla="val 9677"/>
            </a:avLst>
          </a:prstGeom>
          <a:solidFill>
            <a:schemeClr val="bg1"/>
          </a:solidFill>
          <a:ln/>
        </p:spPr>
        <p:txBody>
          <a:bodyPr/>
          <a:lstStyle/>
          <a:p>
            <a:endParaRPr lang="en-US"/>
          </a:p>
        </p:txBody>
      </p:sp>
      <p:sp>
        <p:nvSpPr>
          <p:cNvPr id="25" name="Shape 20"/>
          <p:cNvSpPr/>
          <p:nvPr/>
        </p:nvSpPr>
        <p:spPr>
          <a:xfrm>
            <a:off x="2377440" y="3456432"/>
            <a:ext cx="1673352" cy="566928"/>
          </a:xfrm>
          <a:prstGeom prst="roundRect">
            <a:avLst>
              <a:gd name="adj" fmla="val 9677"/>
            </a:avLst>
          </a:prstGeom>
          <a:solidFill>
            <a:schemeClr val="accent5">
              <a:lumMod val="20000"/>
              <a:lumOff val="80000"/>
            </a:schemeClr>
          </a:solidFill>
          <a:ln/>
        </p:spPr>
        <p:txBody>
          <a:bodyPr/>
          <a:lstStyle/>
          <a:p>
            <a:endParaRPr lang="en-US"/>
          </a:p>
        </p:txBody>
      </p:sp>
      <p:sp>
        <p:nvSpPr>
          <p:cNvPr id="26" name="Text 21"/>
          <p:cNvSpPr txBox="1"/>
          <p:nvPr/>
        </p:nvSpPr>
        <p:spPr>
          <a:xfrm>
            <a:off x="2432304" y="3456432"/>
            <a:ext cx="1563624"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400 · 413 too large</a:t>
            </a:r>
            <a:endParaRPr lang="en-US" sz="1100" dirty="0"/>
          </a:p>
        </p:txBody>
      </p:sp>
      <p:sp>
        <p:nvSpPr>
          <p:cNvPr id="27" name="Shape 22"/>
          <p:cNvSpPr/>
          <p:nvPr/>
        </p:nvSpPr>
        <p:spPr>
          <a:xfrm>
            <a:off x="4297680" y="1508760"/>
            <a:ext cx="1673352" cy="1691640"/>
          </a:xfrm>
          <a:prstGeom prst="roundRect">
            <a:avLst>
              <a:gd name="adj" fmla="val 3279"/>
            </a:avLst>
          </a:prstGeom>
          <a:solidFill>
            <a:schemeClr val="bg1"/>
          </a:solidFill>
          <a:ln/>
        </p:spPr>
        <p:txBody>
          <a:bodyPr/>
          <a:lstStyle/>
          <a:p>
            <a:endParaRPr lang="en-US"/>
          </a:p>
        </p:txBody>
      </p:sp>
      <p:sp>
        <p:nvSpPr>
          <p:cNvPr id="28" name="Shape 23"/>
          <p:cNvSpPr/>
          <p:nvPr/>
        </p:nvSpPr>
        <p:spPr>
          <a:xfrm>
            <a:off x="4297680" y="1508760"/>
            <a:ext cx="1673352" cy="1691640"/>
          </a:xfrm>
          <a:prstGeom prst="roundRect">
            <a:avLst>
              <a:gd name="adj" fmla="val 3279"/>
            </a:avLst>
          </a:prstGeom>
          <a:solidFill>
            <a:schemeClr val="accent1">
              <a:alpha val="14000"/>
            </a:schemeClr>
          </a:solidFill>
          <a:ln w="15875">
            <a:solidFill>
              <a:schemeClr val="accent1"/>
            </a:solidFill>
            <a:prstDash val="solid"/>
          </a:ln>
        </p:spPr>
        <p:txBody>
          <a:bodyPr/>
          <a:lstStyle/>
          <a:p>
            <a:endParaRPr lang="en-US"/>
          </a:p>
        </p:txBody>
      </p:sp>
      <p:sp>
        <p:nvSpPr>
          <p:cNvPr id="29" name="Shape 24"/>
          <p:cNvSpPr/>
          <p:nvPr/>
        </p:nvSpPr>
        <p:spPr>
          <a:xfrm>
            <a:off x="4887468" y="1627632"/>
            <a:ext cx="493776" cy="493776"/>
          </a:xfrm>
          <a:prstGeom prst="ellipse">
            <a:avLst/>
          </a:prstGeom>
          <a:solidFill>
            <a:schemeClr val="tx2">
              <a:lumMod val="25000"/>
              <a:lumOff val="75000"/>
            </a:schemeClr>
          </a:solidFill>
          <a:ln/>
        </p:spPr>
        <p:txBody>
          <a:bodyPr/>
          <a:lstStyle/>
          <a:p>
            <a:endParaRPr lang="en-US"/>
          </a:p>
        </p:txBody>
      </p:sp>
      <p:pic>
        <p:nvPicPr>
          <p:cNvPr id="30" name="Image 2" descr="preencoded.png"/>
          <p:cNvPicPr>
            <a:picLocks noChangeAspect="1"/>
          </p:cNvPicPr>
          <p:nvPr/>
        </p:nvPicPr>
        <p:blipFill>
          <a:blip r:embed="rId5"/>
          <a:stretch>
            <a:fillRect/>
          </a:stretch>
        </p:blipFill>
        <p:spPr>
          <a:xfrm>
            <a:off x="5010912" y="1751076"/>
            <a:ext cx="246888" cy="246888"/>
          </a:xfrm>
          <a:prstGeom prst="rect">
            <a:avLst/>
          </a:prstGeom>
        </p:spPr>
      </p:pic>
      <p:sp>
        <p:nvSpPr>
          <p:cNvPr id="31" name="Text 25"/>
          <p:cNvSpPr txBox="1"/>
          <p:nvPr/>
        </p:nvSpPr>
        <p:spPr>
          <a:xfrm>
            <a:off x="4370832" y="2194560"/>
            <a:ext cx="1527048" cy="274320"/>
          </a:xfrm>
          <a:prstGeom prst="rect">
            <a:avLst/>
          </a:prstGeom>
          <a:noFill/>
          <a:ln/>
        </p:spPr>
        <p:txBody>
          <a:bodyPr wrap="square" lIns="0" tIns="0" rIns="0" bIns="0" rtlCol="0" anchor="t"/>
          <a:lstStyle/>
          <a:p>
            <a:pPr marL="0" indent="0" algn="ctr">
              <a:buNone/>
            </a:pPr>
            <a:r>
              <a:rPr lang="en-US" sz="1300" b="1" dirty="0">
                <a:solidFill>
                  <a:schemeClr val="tx1"/>
                </a:solidFill>
                <a:latin typeface="Calibri" pitchFamily="34" charset="0"/>
                <a:ea typeface="Calibri" pitchFamily="34" charset="-122"/>
                <a:cs typeface="Calibri" pitchFamily="34" charset="-120"/>
              </a:rPr>
              <a:t>Identity</a:t>
            </a:r>
            <a:endParaRPr lang="en-US" sz="1300" dirty="0"/>
          </a:p>
        </p:txBody>
      </p:sp>
      <p:sp>
        <p:nvSpPr>
          <p:cNvPr id="32" name="Text 26"/>
          <p:cNvSpPr txBox="1"/>
          <p:nvPr/>
        </p:nvSpPr>
        <p:spPr>
          <a:xfrm>
            <a:off x="4389120" y="2487168"/>
            <a:ext cx="1490472" cy="640080"/>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Idempotency-Key (P1) or derived dedup (P2)</a:t>
            </a:r>
            <a:endParaRPr lang="en-US" sz="1100" dirty="0"/>
          </a:p>
        </p:txBody>
      </p:sp>
      <p:sp>
        <p:nvSpPr>
          <p:cNvPr id="33" name="Shape 27"/>
          <p:cNvSpPr/>
          <p:nvPr/>
        </p:nvSpPr>
        <p:spPr>
          <a:xfrm>
            <a:off x="5989320" y="2350008"/>
            <a:ext cx="210312" cy="91"/>
          </a:xfrm>
          <a:prstGeom prst="line">
            <a:avLst/>
          </a:prstGeom>
          <a:noFill/>
          <a:ln w="19050">
            <a:solidFill>
              <a:schemeClr val="tx1"/>
            </a:solidFill>
            <a:prstDash val="solid"/>
            <a:headEnd type="none"/>
            <a:tailEnd type="triangle"/>
          </a:ln>
        </p:spPr>
        <p:txBody>
          <a:bodyPr/>
          <a:lstStyle/>
          <a:p>
            <a:endParaRPr lang="en-US"/>
          </a:p>
        </p:txBody>
      </p:sp>
      <p:sp>
        <p:nvSpPr>
          <p:cNvPr id="34" name="Shape 28"/>
          <p:cNvSpPr/>
          <p:nvPr/>
        </p:nvSpPr>
        <p:spPr>
          <a:xfrm>
            <a:off x="5134356" y="3200400"/>
            <a:ext cx="91" cy="256032"/>
          </a:xfrm>
          <a:prstGeom prst="line">
            <a:avLst/>
          </a:prstGeom>
          <a:noFill/>
          <a:ln w="12700">
            <a:solidFill>
              <a:schemeClr val="accent4"/>
            </a:solidFill>
            <a:prstDash val="solid"/>
            <a:headEnd type="none"/>
            <a:tailEnd type="triangle"/>
          </a:ln>
        </p:spPr>
        <p:txBody>
          <a:bodyPr/>
          <a:lstStyle/>
          <a:p>
            <a:endParaRPr lang="en-US"/>
          </a:p>
        </p:txBody>
      </p:sp>
      <p:sp>
        <p:nvSpPr>
          <p:cNvPr id="35" name="Shape 29"/>
          <p:cNvSpPr/>
          <p:nvPr/>
        </p:nvSpPr>
        <p:spPr>
          <a:xfrm>
            <a:off x="4297680" y="3456432"/>
            <a:ext cx="1673352" cy="566928"/>
          </a:xfrm>
          <a:prstGeom prst="roundRect">
            <a:avLst>
              <a:gd name="adj" fmla="val 9677"/>
            </a:avLst>
          </a:prstGeom>
          <a:solidFill>
            <a:schemeClr val="bg1"/>
          </a:solidFill>
          <a:ln/>
        </p:spPr>
        <p:txBody>
          <a:bodyPr/>
          <a:lstStyle/>
          <a:p>
            <a:endParaRPr lang="en-US"/>
          </a:p>
        </p:txBody>
      </p:sp>
      <p:sp>
        <p:nvSpPr>
          <p:cNvPr id="36" name="Shape 30"/>
          <p:cNvSpPr/>
          <p:nvPr/>
        </p:nvSpPr>
        <p:spPr>
          <a:xfrm>
            <a:off x="4297680" y="3456432"/>
            <a:ext cx="1673352" cy="566928"/>
          </a:xfrm>
          <a:prstGeom prst="roundRect">
            <a:avLst>
              <a:gd name="adj" fmla="val 9677"/>
            </a:avLst>
          </a:prstGeom>
          <a:solidFill>
            <a:schemeClr val="accent5">
              <a:lumMod val="20000"/>
              <a:lumOff val="80000"/>
            </a:schemeClr>
          </a:solidFill>
          <a:ln/>
        </p:spPr>
        <p:txBody>
          <a:bodyPr/>
          <a:lstStyle/>
          <a:p>
            <a:endParaRPr lang="en-US"/>
          </a:p>
        </p:txBody>
      </p:sp>
      <p:sp>
        <p:nvSpPr>
          <p:cNvPr id="37" name="Text 31"/>
          <p:cNvSpPr txBox="1"/>
          <p:nvPr/>
        </p:nvSpPr>
        <p:spPr>
          <a:xfrm>
            <a:off x="4352544" y="3456432"/>
            <a:ext cx="1563624"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428 no key · 409 exists</a:t>
            </a:r>
            <a:endParaRPr lang="en-US" sz="1100" dirty="0"/>
          </a:p>
        </p:txBody>
      </p:sp>
      <p:sp>
        <p:nvSpPr>
          <p:cNvPr id="38" name="Shape 32"/>
          <p:cNvSpPr/>
          <p:nvPr/>
        </p:nvSpPr>
        <p:spPr>
          <a:xfrm>
            <a:off x="6217920" y="1508760"/>
            <a:ext cx="1673352" cy="1691640"/>
          </a:xfrm>
          <a:prstGeom prst="roundRect">
            <a:avLst>
              <a:gd name="adj" fmla="val 3279"/>
            </a:avLst>
          </a:prstGeom>
          <a:solidFill>
            <a:schemeClr val="bg1"/>
          </a:solidFill>
          <a:ln/>
        </p:spPr>
        <p:txBody>
          <a:bodyPr/>
          <a:lstStyle/>
          <a:p>
            <a:endParaRPr lang="en-US"/>
          </a:p>
        </p:txBody>
      </p:sp>
      <p:sp>
        <p:nvSpPr>
          <p:cNvPr id="39" name="Shape 33"/>
          <p:cNvSpPr/>
          <p:nvPr/>
        </p:nvSpPr>
        <p:spPr>
          <a:xfrm>
            <a:off x="6217920" y="1508760"/>
            <a:ext cx="1673352" cy="1691640"/>
          </a:xfrm>
          <a:prstGeom prst="roundRect">
            <a:avLst>
              <a:gd name="adj" fmla="val 3279"/>
            </a:avLst>
          </a:prstGeom>
          <a:solidFill>
            <a:schemeClr val="accent1">
              <a:alpha val="14000"/>
            </a:schemeClr>
          </a:solidFill>
          <a:ln w="15875">
            <a:solidFill>
              <a:schemeClr val="accent1"/>
            </a:solidFill>
            <a:prstDash val="solid"/>
          </a:ln>
        </p:spPr>
        <p:txBody>
          <a:bodyPr/>
          <a:lstStyle/>
          <a:p>
            <a:endParaRPr lang="en-US"/>
          </a:p>
        </p:txBody>
      </p:sp>
      <p:sp>
        <p:nvSpPr>
          <p:cNvPr id="40" name="Shape 34"/>
          <p:cNvSpPr/>
          <p:nvPr/>
        </p:nvSpPr>
        <p:spPr>
          <a:xfrm>
            <a:off x="6807708" y="1627632"/>
            <a:ext cx="493776" cy="493776"/>
          </a:xfrm>
          <a:prstGeom prst="ellipse">
            <a:avLst/>
          </a:prstGeom>
          <a:solidFill>
            <a:schemeClr val="tx2">
              <a:lumMod val="25000"/>
              <a:lumOff val="75000"/>
            </a:schemeClr>
          </a:solidFill>
          <a:ln/>
        </p:spPr>
        <p:txBody>
          <a:bodyPr/>
          <a:lstStyle/>
          <a:p>
            <a:endParaRPr lang="en-US"/>
          </a:p>
        </p:txBody>
      </p:sp>
      <p:pic>
        <p:nvPicPr>
          <p:cNvPr id="41" name="Image 3" descr="preencoded.png"/>
          <p:cNvPicPr>
            <a:picLocks noChangeAspect="1"/>
          </p:cNvPicPr>
          <p:nvPr/>
        </p:nvPicPr>
        <p:blipFill>
          <a:blip r:embed="rId6"/>
          <a:stretch>
            <a:fillRect/>
          </a:stretch>
        </p:blipFill>
        <p:spPr>
          <a:xfrm>
            <a:off x="6931152" y="1751076"/>
            <a:ext cx="246888" cy="246888"/>
          </a:xfrm>
          <a:prstGeom prst="rect">
            <a:avLst/>
          </a:prstGeom>
        </p:spPr>
      </p:pic>
      <p:sp>
        <p:nvSpPr>
          <p:cNvPr id="42" name="Text 35"/>
          <p:cNvSpPr txBox="1"/>
          <p:nvPr/>
        </p:nvSpPr>
        <p:spPr>
          <a:xfrm>
            <a:off x="6291072" y="2194560"/>
            <a:ext cx="1527048" cy="274320"/>
          </a:xfrm>
          <a:prstGeom prst="rect">
            <a:avLst/>
          </a:prstGeom>
          <a:noFill/>
          <a:ln/>
        </p:spPr>
        <p:txBody>
          <a:bodyPr wrap="square" lIns="0" tIns="0" rIns="0" bIns="0" rtlCol="0" anchor="t"/>
          <a:lstStyle/>
          <a:p>
            <a:pPr marL="0" indent="0" algn="ctr">
              <a:buNone/>
            </a:pPr>
            <a:r>
              <a:rPr lang="en-US" sz="1300" b="1" dirty="0">
                <a:solidFill>
                  <a:schemeClr val="tx1"/>
                </a:solidFill>
                <a:latin typeface="Calibri" pitchFamily="34" charset="0"/>
                <a:ea typeface="Calibri" pitchFamily="34" charset="-122"/>
                <a:cs typeface="Calibri" pitchFamily="34" charset="-120"/>
              </a:rPr>
              <a:t>Supersede  P2</a:t>
            </a:r>
            <a:endParaRPr lang="en-US" sz="1300" dirty="0"/>
          </a:p>
        </p:txBody>
      </p:sp>
      <p:sp>
        <p:nvSpPr>
          <p:cNvPr id="43" name="Text 36"/>
          <p:cNvSpPr txBox="1"/>
          <p:nvPr/>
        </p:nvSpPr>
        <p:spPr>
          <a:xfrm>
            <a:off x="6309360" y="2487168"/>
            <a:ext cx="1490472" cy="640080"/>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newer order cancels older task</a:t>
            </a:r>
            <a:endParaRPr lang="en-US" sz="1100" dirty="0"/>
          </a:p>
        </p:txBody>
      </p:sp>
      <p:sp>
        <p:nvSpPr>
          <p:cNvPr id="44" name="Shape 37"/>
          <p:cNvSpPr/>
          <p:nvPr/>
        </p:nvSpPr>
        <p:spPr>
          <a:xfrm>
            <a:off x="7909560" y="2350008"/>
            <a:ext cx="210312" cy="91"/>
          </a:xfrm>
          <a:prstGeom prst="line">
            <a:avLst/>
          </a:prstGeom>
          <a:noFill/>
          <a:ln w="19050">
            <a:solidFill>
              <a:schemeClr val="tx1"/>
            </a:solidFill>
            <a:prstDash val="solid"/>
            <a:headEnd type="none"/>
            <a:tailEnd type="triangle"/>
          </a:ln>
        </p:spPr>
        <p:txBody>
          <a:bodyPr/>
          <a:lstStyle/>
          <a:p>
            <a:endParaRPr lang="en-US"/>
          </a:p>
        </p:txBody>
      </p:sp>
      <p:sp>
        <p:nvSpPr>
          <p:cNvPr id="45" name="Shape 38"/>
          <p:cNvSpPr/>
          <p:nvPr/>
        </p:nvSpPr>
        <p:spPr>
          <a:xfrm>
            <a:off x="7054596" y="3200400"/>
            <a:ext cx="91" cy="256032"/>
          </a:xfrm>
          <a:prstGeom prst="line">
            <a:avLst/>
          </a:prstGeom>
          <a:noFill/>
          <a:ln w="12700">
            <a:solidFill>
              <a:schemeClr val="accent4"/>
            </a:solidFill>
            <a:prstDash val="solid"/>
            <a:headEnd type="none"/>
            <a:tailEnd type="triangle"/>
          </a:ln>
        </p:spPr>
        <p:txBody>
          <a:bodyPr/>
          <a:lstStyle/>
          <a:p>
            <a:endParaRPr lang="en-US"/>
          </a:p>
        </p:txBody>
      </p:sp>
      <p:sp>
        <p:nvSpPr>
          <p:cNvPr id="46" name="Shape 39"/>
          <p:cNvSpPr/>
          <p:nvPr/>
        </p:nvSpPr>
        <p:spPr>
          <a:xfrm>
            <a:off x="6217920" y="3456432"/>
            <a:ext cx="1673352" cy="566928"/>
          </a:xfrm>
          <a:prstGeom prst="roundRect">
            <a:avLst>
              <a:gd name="adj" fmla="val 9677"/>
            </a:avLst>
          </a:prstGeom>
          <a:solidFill>
            <a:schemeClr val="bg1"/>
          </a:solidFill>
          <a:ln/>
        </p:spPr>
        <p:txBody>
          <a:bodyPr/>
          <a:lstStyle/>
          <a:p>
            <a:endParaRPr lang="en-US"/>
          </a:p>
        </p:txBody>
      </p:sp>
      <p:sp>
        <p:nvSpPr>
          <p:cNvPr id="47" name="Shape 40"/>
          <p:cNvSpPr/>
          <p:nvPr/>
        </p:nvSpPr>
        <p:spPr>
          <a:xfrm>
            <a:off x="6217920" y="3456432"/>
            <a:ext cx="1673352" cy="566928"/>
          </a:xfrm>
          <a:prstGeom prst="roundRect">
            <a:avLst>
              <a:gd name="adj" fmla="val 9677"/>
            </a:avLst>
          </a:prstGeom>
          <a:solidFill>
            <a:schemeClr val="accent5">
              <a:lumMod val="20000"/>
              <a:lumOff val="80000"/>
            </a:schemeClr>
          </a:solidFill>
          <a:ln/>
        </p:spPr>
        <p:txBody>
          <a:bodyPr/>
          <a:lstStyle/>
          <a:p>
            <a:endParaRPr lang="en-US"/>
          </a:p>
        </p:txBody>
      </p:sp>
      <p:sp>
        <p:nvSpPr>
          <p:cNvPr id="48" name="Text 41"/>
          <p:cNvSpPr txBox="1"/>
          <p:nvPr/>
        </p:nvSpPr>
        <p:spPr>
          <a:xfrm>
            <a:off x="6272784" y="3456432"/>
            <a:ext cx="1563624"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400 STALE_ORDER</a:t>
            </a:r>
            <a:endParaRPr lang="en-US" sz="1100" dirty="0"/>
          </a:p>
        </p:txBody>
      </p:sp>
      <p:sp>
        <p:nvSpPr>
          <p:cNvPr id="49" name="Shape 42"/>
          <p:cNvSpPr/>
          <p:nvPr/>
        </p:nvSpPr>
        <p:spPr>
          <a:xfrm>
            <a:off x="8138160" y="1508760"/>
            <a:ext cx="1673352" cy="1691640"/>
          </a:xfrm>
          <a:prstGeom prst="roundRect">
            <a:avLst>
              <a:gd name="adj" fmla="val 3279"/>
            </a:avLst>
          </a:prstGeom>
          <a:solidFill>
            <a:schemeClr val="bg1"/>
          </a:solidFill>
          <a:ln/>
        </p:spPr>
        <p:txBody>
          <a:bodyPr/>
          <a:lstStyle/>
          <a:p>
            <a:endParaRPr lang="en-US"/>
          </a:p>
        </p:txBody>
      </p:sp>
      <p:sp>
        <p:nvSpPr>
          <p:cNvPr id="50" name="Shape 43"/>
          <p:cNvSpPr/>
          <p:nvPr/>
        </p:nvSpPr>
        <p:spPr>
          <a:xfrm>
            <a:off x="8138160" y="1508760"/>
            <a:ext cx="1673352" cy="1691640"/>
          </a:xfrm>
          <a:prstGeom prst="roundRect">
            <a:avLst>
              <a:gd name="adj" fmla="val 3279"/>
            </a:avLst>
          </a:prstGeom>
          <a:solidFill>
            <a:schemeClr val="accent1">
              <a:alpha val="14000"/>
            </a:schemeClr>
          </a:solidFill>
          <a:ln w="15875">
            <a:solidFill>
              <a:schemeClr val="accent1"/>
            </a:solidFill>
            <a:prstDash val="solid"/>
          </a:ln>
        </p:spPr>
        <p:txBody>
          <a:bodyPr/>
          <a:lstStyle/>
          <a:p>
            <a:endParaRPr lang="en-US"/>
          </a:p>
        </p:txBody>
      </p:sp>
      <p:sp>
        <p:nvSpPr>
          <p:cNvPr id="51" name="Shape 44"/>
          <p:cNvSpPr/>
          <p:nvPr/>
        </p:nvSpPr>
        <p:spPr>
          <a:xfrm>
            <a:off x="8727948" y="1627632"/>
            <a:ext cx="493776" cy="493776"/>
          </a:xfrm>
          <a:prstGeom prst="ellipse">
            <a:avLst/>
          </a:prstGeom>
          <a:solidFill>
            <a:schemeClr val="tx2">
              <a:lumMod val="25000"/>
              <a:lumOff val="75000"/>
            </a:schemeClr>
          </a:solidFill>
          <a:ln/>
        </p:spPr>
        <p:txBody>
          <a:bodyPr/>
          <a:lstStyle/>
          <a:p>
            <a:endParaRPr lang="en-US"/>
          </a:p>
        </p:txBody>
      </p:sp>
      <p:pic>
        <p:nvPicPr>
          <p:cNvPr id="52" name="Image 4" descr="preencoded.png"/>
          <p:cNvPicPr>
            <a:picLocks noChangeAspect="1"/>
          </p:cNvPicPr>
          <p:nvPr/>
        </p:nvPicPr>
        <p:blipFill>
          <a:blip r:embed="rId7"/>
          <a:stretch>
            <a:fillRect/>
          </a:stretch>
        </p:blipFill>
        <p:spPr>
          <a:xfrm>
            <a:off x="8851392" y="1751076"/>
            <a:ext cx="246888" cy="246888"/>
          </a:xfrm>
          <a:prstGeom prst="rect">
            <a:avLst/>
          </a:prstGeom>
        </p:spPr>
      </p:pic>
      <p:sp>
        <p:nvSpPr>
          <p:cNvPr id="53" name="Text 45"/>
          <p:cNvSpPr txBox="1"/>
          <p:nvPr/>
        </p:nvSpPr>
        <p:spPr>
          <a:xfrm>
            <a:off x="8211312" y="2194560"/>
            <a:ext cx="1527048" cy="274320"/>
          </a:xfrm>
          <a:prstGeom prst="rect">
            <a:avLst/>
          </a:prstGeom>
          <a:noFill/>
          <a:ln/>
        </p:spPr>
        <p:txBody>
          <a:bodyPr wrap="square" lIns="0" tIns="0" rIns="0" bIns="0" rtlCol="0" anchor="t"/>
          <a:lstStyle/>
          <a:p>
            <a:pPr marL="0" indent="0" algn="ctr">
              <a:buNone/>
            </a:pPr>
            <a:r>
              <a:rPr lang="en-US" sz="1300" b="1" dirty="0">
                <a:solidFill>
                  <a:schemeClr val="tx1"/>
                </a:solidFill>
                <a:latin typeface="Calibri" pitchFamily="34" charset="0"/>
                <a:ea typeface="Calibri" pitchFamily="34" charset="-122"/>
                <a:cs typeface="Calibri" pitchFamily="34" charset="-120"/>
              </a:rPr>
              <a:t>Queue depth</a:t>
            </a:r>
            <a:endParaRPr lang="en-US" sz="1300" dirty="0"/>
          </a:p>
        </p:txBody>
      </p:sp>
      <p:sp>
        <p:nvSpPr>
          <p:cNvPr id="54" name="Text 46"/>
          <p:cNvSpPr txBox="1"/>
          <p:nvPr/>
        </p:nvSpPr>
        <p:spPr>
          <a:xfrm>
            <a:off x="8229600" y="2487168"/>
            <a:ext cx="1490472" cy="640080"/>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reserve per queue / tenant / domain</a:t>
            </a:r>
            <a:endParaRPr lang="en-US" sz="1100" dirty="0"/>
          </a:p>
        </p:txBody>
      </p:sp>
      <p:sp>
        <p:nvSpPr>
          <p:cNvPr id="55" name="Shape 47"/>
          <p:cNvSpPr/>
          <p:nvPr/>
        </p:nvSpPr>
        <p:spPr>
          <a:xfrm>
            <a:off x="9829800" y="2350008"/>
            <a:ext cx="210312" cy="91"/>
          </a:xfrm>
          <a:prstGeom prst="line">
            <a:avLst/>
          </a:prstGeom>
          <a:noFill/>
          <a:ln w="19050">
            <a:solidFill>
              <a:schemeClr val="tx1"/>
            </a:solidFill>
            <a:prstDash val="solid"/>
            <a:headEnd type="none"/>
            <a:tailEnd type="triangle"/>
          </a:ln>
        </p:spPr>
        <p:txBody>
          <a:bodyPr/>
          <a:lstStyle/>
          <a:p>
            <a:endParaRPr lang="en-US"/>
          </a:p>
        </p:txBody>
      </p:sp>
      <p:sp>
        <p:nvSpPr>
          <p:cNvPr id="56" name="Shape 48"/>
          <p:cNvSpPr/>
          <p:nvPr/>
        </p:nvSpPr>
        <p:spPr>
          <a:xfrm>
            <a:off x="8974836" y="3200400"/>
            <a:ext cx="91" cy="256032"/>
          </a:xfrm>
          <a:prstGeom prst="line">
            <a:avLst/>
          </a:prstGeom>
          <a:noFill/>
          <a:ln w="12700">
            <a:solidFill>
              <a:schemeClr val="accent4"/>
            </a:solidFill>
            <a:prstDash val="solid"/>
            <a:headEnd type="none"/>
            <a:tailEnd type="triangle"/>
          </a:ln>
        </p:spPr>
        <p:txBody>
          <a:bodyPr/>
          <a:lstStyle/>
          <a:p>
            <a:endParaRPr lang="en-US"/>
          </a:p>
        </p:txBody>
      </p:sp>
      <p:sp>
        <p:nvSpPr>
          <p:cNvPr id="57" name="Shape 49"/>
          <p:cNvSpPr/>
          <p:nvPr/>
        </p:nvSpPr>
        <p:spPr>
          <a:xfrm>
            <a:off x="8138160" y="3456432"/>
            <a:ext cx="1673352" cy="566928"/>
          </a:xfrm>
          <a:prstGeom prst="roundRect">
            <a:avLst>
              <a:gd name="adj" fmla="val 9677"/>
            </a:avLst>
          </a:prstGeom>
          <a:solidFill>
            <a:schemeClr val="bg1"/>
          </a:solidFill>
          <a:ln/>
        </p:spPr>
        <p:txBody>
          <a:bodyPr/>
          <a:lstStyle/>
          <a:p>
            <a:endParaRPr lang="en-US"/>
          </a:p>
        </p:txBody>
      </p:sp>
      <p:sp>
        <p:nvSpPr>
          <p:cNvPr id="58" name="Shape 50"/>
          <p:cNvSpPr/>
          <p:nvPr/>
        </p:nvSpPr>
        <p:spPr>
          <a:xfrm>
            <a:off x="8138160" y="3456432"/>
            <a:ext cx="1673352" cy="566928"/>
          </a:xfrm>
          <a:prstGeom prst="roundRect">
            <a:avLst>
              <a:gd name="adj" fmla="val 9677"/>
            </a:avLst>
          </a:prstGeom>
          <a:solidFill>
            <a:schemeClr val="accent5">
              <a:lumMod val="20000"/>
              <a:lumOff val="80000"/>
            </a:schemeClr>
          </a:solidFill>
          <a:ln/>
        </p:spPr>
        <p:txBody>
          <a:bodyPr/>
          <a:lstStyle/>
          <a:p>
            <a:endParaRPr lang="en-US"/>
          </a:p>
        </p:txBody>
      </p:sp>
      <p:sp>
        <p:nvSpPr>
          <p:cNvPr id="59" name="Text 51"/>
          <p:cNvSpPr txBox="1"/>
          <p:nvPr/>
        </p:nvSpPr>
        <p:spPr>
          <a:xfrm>
            <a:off x="8193024" y="3456432"/>
            <a:ext cx="1563624"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429 QUEUE_DEPTH_LIMIT</a:t>
            </a:r>
            <a:endParaRPr lang="en-US" sz="1100" dirty="0"/>
          </a:p>
        </p:txBody>
      </p:sp>
      <p:sp>
        <p:nvSpPr>
          <p:cNvPr id="60" name="Shape 52"/>
          <p:cNvSpPr/>
          <p:nvPr/>
        </p:nvSpPr>
        <p:spPr>
          <a:xfrm>
            <a:off x="10058400" y="1508760"/>
            <a:ext cx="1673352" cy="1691640"/>
          </a:xfrm>
          <a:prstGeom prst="roundRect">
            <a:avLst>
              <a:gd name="adj" fmla="val 3279"/>
            </a:avLst>
          </a:prstGeom>
          <a:solidFill>
            <a:schemeClr val="bg1"/>
          </a:solidFill>
          <a:ln/>
        </p:spPr>
        <p:txBody>
          <a:bodyPr/>
          <a:lstStyle/>
          <a:p>
            <a:endParaRPr lang="en-US"/>
          </a:p>
        </p:txBody>
      </p:sp>
      <p:sp>
        <p:nvSpPr>
          <p:cNvPr id="61" name="Shape 53"/>
          <p:cNvSpPr/>
          <p:nvPr/>
        </p:nvSpPr>
        <p:spPr>
          <a:xfrm>
            <a:off x="10058400" y="1508760"/>
            <a:ext cx="1673352" cy="1691640"/>
          </a:xfrm>
          <a:prstGeom prst="roundRect">
            <a:avLst>
              <a:gd name="adj" fmla="val 3279"/>
            </a:avLst>
          </a:prstGeom>
          <a:solidFill>
            <a:schemeClr val="accent4">
              <a:lumMod val="20000"/>
              <a:lumOff val="80000"/>
            </a:schemeClr>
          </a:solidFill>
          <a:ln w="15875">
            <a:solidFill>
              <a:srgbClr val="00B050"/>
            </a:solidFill>
            <a:prstDash val="solid"/>
          </a:ln>
        </p:spPr>
        <p:txBody>
          <a:bodyPr/>
          <a:lstStyle/>
          <a:p>
            <a:endParaRPr lang="en-US"/>
          </a:p>
        </p:txBody>
      </p:sp>
      <p:sp>
        <p:nvSpPr>
          <p:cNvPr id="62" name="Shape 54"/>
          <p:cNvSpPr/>
          <p:nvPr/>
        </p:nvSpPr>
        <p:spPr>
          <a:xfrm>
            <a:off x="10648188" y="1627632"/>
            <a:ext cx="493776" cy="493776"/>
          </a:xfrm>
          <a:prstGeom prst="ellipse">
            <a:avLst/>
          </a:prstGeom>
          <a:solidFill>
            <a:srgbClr val="00B050"/>
          </a:solidFill>
          <a:ln/>
        </p:spPr>
        <p:txBody>
          <a:bodyPr/>
          <a:lstStyle/>
          <a:p>
            <a:endParaRPr lang="en-US"/>
          </a:p>
        </p:txBody>
      </p:sp>
      <p:pic>
        <p:nvPicPr>
          <p:cNvPr id="63" name="Image 5" descr="preencoded.png"/>
          <p:cNvPicPr>
            <a:picLocks noChangeAspect="1"/>
          </p:cNvPicPr>
          <p:nvPr/>
        </p:nvPicPr>
        <p:blipFill>
          <a:blip r:embed="rId8"/>
          <a:stretch>
            <a:fillRect/>
          </a:stretch>
        </p:blipFill>
        <p:spPr>
          <a:xfrm>
            <a:off x="10771632" y="1751076"/>
            <a:ext cx="246888" cy="246888"/>
          </a:xfrm>
          <a:prstGeom prst="rect">
            <a:avLst/>
          </a:prstGeom>
        </p:spPr>
      </p:pic>
      <p:sp>
        <p:nvSpPr>
          <p:cNvPr id="64" name="Text 55"/>
          <p:cNvSpPr txBox="1"/>
          <p:nvPr/>
        </p:nvSpPr>
        <p:spPr>
          <a:xfrm>
            <a:off x="10131552" y="2194560"/>
            <a:ext cx="1527048" cy="274320"/>
          </a:xfrm>
          <a:prstGeom prst="rect">
            <a:avLst/>
          </a:prstGeom>
          <a:noFill/>
          <a:ln/>
        </p:spPr>
        <p:txBody>
          <a:bodyPr wrap="square" lIns="0" tIns="0" rIns="0" bIns="0" rtlCol="0" anchor="t"/>
          <a:lstStyle/>
          <a:p>
            <a:pPr marL="0" indent="0" algn="ctr">
              <a:buNone/>
            </a:pPr>
            <a:r>
              <a:rPr lang="en-US" sz="1300" b="1" dirty="0">
                <a:solidFill>
                  <a:schemeClr val="tx1"/>
                </a:solidFill>
                <a:latin typeface="Calibri" pitchFamily="34" charset="0"/>
                <a:ea typeface="Calibri" pitchFamily="34" charset="-122"/>
                <a:cs typeface="Calibri" pitchFamily="34" charset="-120"/>
              </a:rPr>
              <a:t>Insert</a:t>
            </a:r>
            <a:endParaRPr lang="en-US" sz="1300" dirty="0"/>
          </a:p>
        </p:txBody>
      </p:sp>
      <p:sp>
        <p:nvSpPr>
          <p:cNvPr id="65" name="Text 56"/>
          <p:cNvSpPr txBox="1"/>
          <p:nvPr/>
        </p:nvSpPr>
        <p:spPr>
          <a:xfrm>
            <a:off x="10149840" y="2487168"/>
            <a:ext cx="1490472" cy="640080"/>
          </a:xfrm>
          <a:prstGeom prst="rect">
            <a:avLst/>
          </a:prstGeom>
          <a:noFill/>
          <a:ln/>
        </p:spPr>
        <p:txBody>
          <a:bodyPr wrap="square" lIns="0" tIns="0" rIns="0" bIns="0" rtlCol="0" anchor="t"/>
          <a:lstStyle/>
          <a:p>
            <a:pPr marL="0" indent="0" algn="ctr">
              <a:buNone/>
            </a:pPr>
            <a:r>
              <a:rPr lang="en-US" sz="1100" dirty="0">
                <a:solidFill>
                  <a:schemeClr val="tx2"/>
                </a:solidFill>
                <a:latin typeface="Calibri" pitchFamily="34" charset="0"/>
                <a:ea typeface="Calibri" pitchFamily="34" charset="-122"/>
                <a:cs typeface="Calibri" pitchFamily="34" charset="-120"/>
              </a:rPr>
              <a:t>task · timers · te_events · outbox</a:t>
            </a:r>
            <a:endParaRPr lang="en-US" sz="1100" dirty="0"/>
          </a:p>
        </p:txBody>
      </p:sp>
      <p:sp>
        <p:nvSpPr>
          <p:cNvPr id="66" name="Shape 57"/>
          <p:cNvSpPr/>
          <p:nvPr/>
        </p:nvSpPr>
        <p:spPr>
          <a:xfrm>
            <a:off x="10895076" y="3200400"/>
            <a:ext cx="91" cy="256032"/>
          </a:xfrm>
          <a:prstGeom prst="line">
            <a:avLst/>
          </a:prstGeom>
          <a:noFill/>
          <a:ln w="12700">
            <a:solidFill>
              <a:schemeClr val="accent6"/>
            </a:solidFill>
            <a:prstDash val="solid"/>
            <a:headEnd type="none"/>
            <a:tailEnd type="triangle"/>
          </a:ln>
        </p:spPr>
        <p:txBody>
          <a:bodyPr/>
          <a:lstStyle/>
          <a:p>
            <a:endParaRPr lang="en-US"/>
          </a:p>
        </p:txBody>
      </p:sp>
      <p:sp>
        <p:nvSpPr>
          <p:cNvPr id="67" name="Shape 58"/>
          <p:cNvSpPr/>
          <p:nvPr/>
        </p:nvSpPr>
        <p:spPr>
          <a:xfrm>
            <a:off x="10058400" y="3456432"/>
            <a:ext cx="1673352" cy="566928"/>
          </a:xfrm>
          <a:prstGeom prst="roundRect">
            <a:avLst>
              <a:gd name="adj" fmla="val 9677"/>
            </a:avLst>
          </a:prstGeom>
          <a:solidFill>
            <a:schemeClr val="bg1"/>
          </a:solidFill>
          <a:ln/>
        </p:spPr>
        <p:txBody>
          <a:bodyPr/>
          <a:lstStyle/>
          <a:p>
            <a:endParaRPr lang="en-US"/>
          </a:p>
        </p:txBody>
      </p:sp>
      <p:sp>
        <p:nvSpPr>
          <p:cNvPr id="68" name="Shape 59"/>
          <p:cNvSpPr/>
          <p:nvPr/>
        </p:nvSpPr>
        <p:spPr>
          <a:xfrm>
            <a:off x="10058400" y="3456432"/>
            <a:ext cx="1673352" cy="566928"/>
          </a:xfrm>
          <a:prstGeom prst="roundRect">
            <a:avLst>
              <a:gd name="adj" fmla="val 9677"/>
            </a:avLst>
          </a:prstGeom>
          <a:solidFill>
            <a:schemeClr val="accent4">
              <a:lumMod val="20000"/>
              <a:lumOff val="80000"/>
              <a:alpha val="42724"/>
            </a:schemeClr>
          </a:solidFill>
          <a:ln/>
        </p:spPr>
        <p:txBody>
          <a:bodyPr/>
          <a:lstStyle/>
          <a:p>
            <a:endParaRPr lang="en-US"/>
          </a:p>
        </p:txBody>
      </p:sp>
      <p:sp>
        <p:nvSpPr>
          <p:cNvPr id="69" name="Text 60"/>
          <p:cNvSpPr txBox="1"/>
          <p:nvPr/>
        </p:nvSpPr>
        <p:spPr>
          <a:xfrm>
            <a:off x="10113264" y="3456432"/>
            <a:ext cx="1563624" cy="566928"/>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201 Created</a:t>
            </a:r>
            <a:endParaRPr lang="en-US" sz="1100" dirty="0"/>
          </a:p>
        </p:txBody>
      </p:sp>
      <p:sp>
        <p:nvSpPr>
          <p:cNvPr id="70" name="Shape 61"/>
          <p:cNvSpPr/>
          <p:nvPr/>
        </p:nvSpPr>
        <p:spPr>
          <a:xfrm>
            <a:off x="4297680" y="4160520"/>
            <a:ext cx="91" cy="118872"/>
          </a:xfrm>
          <a:prstGeom prst="line">
            <a:avLst/>
          </a:prstGeom>
          <a:noFill/>
          <a:ln w="19050">
            <a:solidFill>
              <a:schemeClr val="accent2"/>
            </a:solidFill>
            <a:prstDash val="solid"/>
            <a:headEnd type="none"/>
            <a:tailEnd type="none"/>
          </a:ln>
        </p:spPr>
        <p:txBody>
          <a:bodyPr/>
          <a:lstStyle/>
          <a:p>
            <a:endParaRPr lang="en-US"/>
          </a:p>
        </p:txBody>
      </p:sp>
      <p:sp>
        <p:nvSpPr>
          <p:cNvPr id="71" name="Shape 62"/>
          <p:cNvSpPr/>
          <p:nvPr/>
        </p:nvSpPr>
        <p:spPr>
          <a:xfrm>
            <a:off x="4297680" y="4279392"/>
            <a:ext cx="7434072" cy="91"/>
          </a:xfrm>
          <a:prstGeom prst="line">
            <a:avLst/>
          </a:prstGeom>
          <a:noFill/>
          <a:ln w="19050">
            <a:solidFill>
              <a:schemeClr val="accent2"/>
            </a:solidFill>
            <a:prstDash val="solid"/>
            <a:headEnd type="none"/>
            <a:tailEnd type="none"/>
          </a:ln>
        </p:spPr>
        <p:txBody>
          <a:bodyPr/>
          <a:lstStyle/>
          <a:p>
            <a:endParaRPr lang="en-US"/>
          </a:p>
        </p:txBody>
      </p:sp>
      <p:sp>
        <p:nvSpPr>
          <p:cNvPr id="72" name="Shape 63"/>
          <p:cNvSpPr/>
          <p:nvPr/>
        </p:nvSpPr>
        <p:spPr>
          <a:xfrm flipV="1">
            <a:off x="11731752" y="4160520"/>
            <a:ext cx="91" cy="118872"/>
          </a:xfrm>
          <a:prstGeom prst="line">
            <a:avLst/>
          </a:prstGeom>
          <a:noFill/>
          <a:ln w="19050">
            <a:solidFill>
              <a:schemeClr val="accent2"/>
            </a:solidFill>
            <a:prstDash val="solid"/>
            <a:headEnd type="none"/>
            <a:tailEnd type="none"/>
          </a:ln>
        </p:spPr>
        <p:txBody>
          <a:bodyPr/>
          <a:lstStyle/>
          <a:p>
            <a:endParaRPr lang="en-US"/>
          </a:p>
        </p:txBody>
      </p:sp>
      <p:sp>
        <p:nvSpPr>
          <p:cNvPr id="73" name="Text 64"/>
          <p:cNvSpPr txBox="1"/>
          <p:nvPr/>
        </p:nvSpPr>
        <p:spPr>
          <a:xfrm>
            <a:off x="4297680" y="4315968"/>
            <a:ext cx="7434072" cy="256032"/>
          </a:xfrm>
          <a:prstGeom prst="rect">
            <a:avLst/>
          </a:prstGeom>
          <a:noFill/>
          <a:ln/>
        </p:spPr>
        <p:txBody>
          <a:bodyPr wrap="square" lIns="0" tIns="0" rIns="0" bIns="0" rtlCol="0" anchor="t"/>
          <a:lstStyle/>
          <a:p>
            <a:pPr marL="0" indent="0" algn="ctr">
              <a:buNone/>
            </a:pPr>
            <a:r>
              <a:rPr lang="en-US" sz="1100" b="1" dirty="0">
                <a:solidFill>
                  <a:schemeClr val="accent2"/>
                </a:solidFill>
                <a:latin typeface="Calibri" pitchFamily="34" charset="0"/>
                <a:ea typeface="Calibri" pitchFamily="34" charset="-122"/>
                <a:cs typeface="Calibri" pitchFamily="34" charset="-120"/>
              </a:rPr>
              <a:t>one database transaction</a:t>
            </a:r>
            <a:endParaRPr lang="en-US" sz="1100" dirty="0"/>
          </a:p>
        </p:txBody>
      </p:sp>
      <p:sp>
        <p:nvSpPr>
          <p:cNvPr id="74" name="Shape 65"/>
          <p:cNvSpPr/>
          <p:nvPr/>
        </p:nvSpPr>
        <p:spPr>
          <a:xfrm>
            <a:off x="457200" y="4709160"/>
            <a:ext cx="5532120" cy="1508760"/>
          </a:xfrm>
          <a:prstGeom prst="roundRect">
            <a:avLst>
              <a:gd name="adj" fmla="val 3636"/>
            </a:avLst>
          </a:prstGeom>
          <a:solidFill>
            <a:schemeClr val="bg1"/>
          </a:solidFill>
          <a:ln/>
        </p:spPr>
        <p:txBody>
          <a:bodyPr/>
          <a:lstStyle/>
          <a:p>
            <a:endParaRPr lang="en-US"/>
          </a:p>
        </p:txBody>
      </p:sp>
      <p:sp>
        <p:nvSpPr>
          <p:cNvPr id="75" name="Shape 66"/>
          <p:cNvSpPr/>
          <p:nvPr/>
        </p:nvSpPr>
        <p:spPr>
          <a:xfrm>
            <a:off x="457200" y="4709160"/>
            <a:ext cx="5532120" cy="1508760"/>
          </a:xfrm>
          <a:prstGeom prst="roundRect">
            <a:avLst>
              <a:gd name="adj" fmla="val 3636"/>
            </a:avLst>
          </a:prstGeom>
          <a:solidFill>
            <a:schemeClr val="bg2"/>
          </a:solidFill>
          <a:ln/>
        </p:spPr>
        <p:txBody>
          <a:bodyPr/>
          <a:lstStyle/>
          <a:p>
            <a:endParaRPr lang="en-US"/>
          </a:p>
        </p:txBody>
      </p:sp>
      <p:sp>
        <p:nvSpPr>
          <p:cNvPr id="76" name="Text 67"/>
          <p:cNvSpPr txBox="1"/>
          <p:nvPr/>
        </p:nvSpPr>
        <p:spPr>
          <a:xfrm>
            <a:off x="640080" y="4800600"/>
            <a:ext cx="5212080" cy="132588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Idempotency (P1)</a:t>
            </a:r>
            <a:endParaRPr lang="en-US" sz="1200" dirty="0"/>
          </a:p>
          <a:p>
            <a:pPr marL="0" indent="0">
              <a:buNone/>
            </a:pPr>
            <a:r>
              <a:rPr lang="en-US" sz="1200" dirty="0">
                <a:solidFill>
                  <a:schemeClr val="tx1"/>
                </a:solidFill>
                <a:latin typeface="Calibri" pitchFamily="34" charset="0"/>
                <a:ea typeface="Calibri" pitchFamily="34" charset="-122"/>
                <a:cs typeface="Calibri" pitchFamily="34" charset="-120"/>
              </a:rPr>
              <a:t>Key is unique per (tenant, created_by, key). Same key + same payload → 409 with the existing task id (SDK: CreateTaskOutcome::Existing). Same key + different payload → 400. Dedup lasts as long as the task row.</a:t>
            </a:r>
            <a:endParaRPr lang="en-US" sz="1200" dirty="0"/>
          </a:p>
        </p:txBody>
      </p:sp>
      <p:sp>
        <p:nvSpPr>
          <p:cNvPr id="77" name="Shape 68"/>
          <p:cNvSpPr/>
          <p:nvPr/>
        </p:nvSpPr>
        <p:spPr>
          <a:xfrm>
            <a:off x="6199632" y="4709160"/>
            <a:ext cx="5532120" cy="1508760"/>
          </a:xfrm>
          <a:prstGeom prst="roundRect">
            <a:avLst>
              <a:gd name="adj" fmla="val 3636"/>
            </a:avLst>
          </a:prstGeom>
          <a:solidFill>
            <a:schemeClr val="bg1"/>
          </a:solidFill>
          <a:ln/>
        </p:spPr>
        <p:txBody>
          <a:bodyPr/>
          <a:lstStyle/>
          <a:p>
            <a:endParaRPr lang="en-US"/>
          </a:p>
        </p:txBody>
      </p:sp>
      <p:sp>
        <p:nvSpPr>
          <p:cNvPr id="78" name="Shape 69"/>
          <p:cNvSpPr/>
          <p:nvPr/>
        </p:nvSpPr>
        <p:spPr>
          <a:xfrm>
            <a:off x="6199632" y="4709160"/>
            <a:ext cx="5532120" cy="1508760"/>
          </a:xfrm>
          <a:prstGeom prst="roundRect">
            <a:avLst>
              <a:gd name="adj" fmla="val 3636"/>
            </a:avLst>
          </a:prstGeom>
          <a:solidFill>
            <a:schemeClr val="bg2"/>
          </a:solidFill>
          <a:ln/>
        </p:spPr>
        <p:txBody>
          <a:bodyPr/>
          <a:lstStyle/>
          <a:p>
            <a:endParaRPr lang="en-US"/>
          </a:p>
        </p:txBody>
      </p:sp>
      <p:sp>
        <p:nvSpPr>
          <p:cNvPr id="79" name="Text 70"/>
          <p:cNvSpPr txBox="1"/>
          <p:nvPr/>
        </p:nvSpPr>
        <p:spPr>
          <a:xfrm>
            <a:off x="6382512" y="4800600"/>
            <a:ext cx="5212080" cy="132588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Queue-depth accounting (P1)</a:t>
            </a:r>
            <a:endParaRPr lang="en-US" sz="1200" dirty="0"/>
          </a:p>
          <a:p>
            <a:pPr marL="0" indent="0">
              <a:buNone/>
            </a:pPr>
            <a:r>
              <a:rPr lang="en-US" sz="1200" dirty="0">
                <a:solidFill>
                  <a:schemeClr val="tx1"/>
                </a:solidFill>
                <a:latin typeface="Calibri" pitchFamily="34" charset="0"/>
                <a:ea typeface="Calibri" pitchFamily="34" charset="-122"/>
                <a:cs typeface="Calibri" pitchFamily="34" charset="-120"/>
              </a:rPr>
              <a:t>Counts queued tasks per queue, per tenant and per domain, plus deferred (scheduled + blocked) per tenant. New admissions can be refused; retry, resume and scheduled→queued never are.</a:t>
            </a:r>
            <a:endParaRPr lang="en-US" sz="12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Durable waits: park the task, resume on an event</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The worker is released while the task waits; resolution and offset commit share one transaction</a:t>
            </a:r>
            <a:endParaRPr lang="en-US" sz="1600" dirty="0"/>
          </a:p>
        </p:txBody>
      </p:sp>
      <p:sp>
        <p:nvSpPr>
          <p:cNvPr id="5" name="Shape 2"/>
          <p:cNvSpPr/>
          <p:nvPr/>
        </p:nvSpPr>
        <p:spPr>
          <a:xfrm>
            <a:off x="10177272" y="905256"/>
            <a:ext cx="1554480" cy="274320"/>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6" name="Text 3"/>
          <p:cNvSpPr txBox="1"/>
          <p:nvPr/>
        </p:nvSpPr>
        <p:spPr>
          <a:xfrm>
            <a:off x="10177272" y="905256"/>
            <a:ext cx="1554480" cy="274320"/>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P2 · event wait</a:t>
            </a:r>
            <a:endParaRPr lang="en-US" sz="1100" dirty="0"/>
          </a:p>
        </p:txBody>
      </p:sp>
      <p:sp>
        <p:nvSpPr>
          <p:cNvPr id="7" name="Shape 4"/>
          <p:cNvSpPr/>
          <p:nvPr/>
        </p:nvSpPr>
        <p:spPr>
          <a:xfrm>
            <a:off x="548640" y="1417320"/>
            <a:ext cx="1600200" cy="438912"/>
          </a:xfrm>
          <a:prstGeom prst="roundRect">
            <a:avLst>
              <a:gd name="adj" fmla="val 12500"/>
            </a:avLst>
          </a:prstGeom>
          <a:solidFill>
            <a:schemeClr val="bg1"/>
          </a:solidFill>
          <a:ln/>
        </p:spPr>
        <p:txBody>
          <a:bodyPr/>
          <a:lstStyle/>
          <a:p>
            <a:endParaRPr lang="en-US"/>
          </a:p>
        </p:txBody>
      </p:sp>
      <p:sp>
        <p:nvSpPr>
          <p:cNvPr id="8" name="Shape 5"/>
          <p:cNvSpPr/>
          <p:nvPr/>
        </p:nvSpPr>
        <p:spPr>
          <a:xfrm>
            <a:off x="548640" y="1417320"/>
            <a:ext cx="1600200" cy="438912"/>
          </a:xfrm>
          <a:prstGeom prst="roundRect">
            <a:avLst>
              <a:gd name="adj" fmla="val 12500"/>
            </a:avLst>
          </a:prstGeom>
          <a:solidFill>
            <a:schemeClr val="accent5">
              <a:alpha val="16000"/>
            </a:schemeClr>
          </a:solidFill>
          <a:ln w="15875">
            <a:solidFill>
              <a:schemeClr val="accent5"/>
            </a:solidFill>
            <a:prstDash val="solid"/>
          </a:ln>
        </p:spPr>
        <p:txBody>
          <a:bodyPr/>
          <a:lstStyle/>
          <a:p>
            <a:endParaRPr lang="en-US"/>
          </a:p>
        </p:txBody>
      </p:sp>
      <p:sp>
        <p:nvSpPr>
          <p:cNvPr id="9" name="Text 6"/>
          <p:cNvSpPr txBox="1"/>
          <p:nvPr/>
        </p:nvSpPr>
        <p:spPr>
          <a:xfrm>
            <a:off x="603504" y="1417320"/>
            <a:ext cx="149047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Worker</a:t>
            </a:r>
            <a:endParaRPr lang="en-US" sz="1200" dirty="0"/>
          </a:p>
        </p:txBody>
      </p:sp>
      <p:sp>
        <p:nvSpPr>
          <p:cNvPr id="10" name="Shape 7"/>
          <p:cNvSpPr/>
          <p:nvPr/>
        </p:nvSpPr>
        <p:spPr>
          <a:xfrm>
            <a:off x="2331720" y="1417320"/>
            <a:ext cx="1600200" cy="438912"/>
          </a:xfrm>
          <a:prstGeom prst="roundRect">
            <a:avLst>
              <a:gd name="adj" fmla="val 12500"/>
            </a:avLst>
          </a:prstGeom>
          <a:solidFill>
            <a:schemeClr val="bg1"/>
          </a:solidFill>
          <a:ln/>
        </p:spPr>
        <p:txBody>
          <a:bodyPr/>
          <a:lstStyle/>
          <a:p>
            <a:endParaRPr lang="en-US"/>
          </a:p>
        </p:txBody>
      </p:sp>
      <p:sp>
        <p:nvSpPr>
          <p:cNvPr id="11" name="Shape 8"/>
          <p:cNvSpPr/>
          <p:nvPr/>
        </p:nvSpPr>
        <p:spPr>
          <a:xfrm>
            <a:off x="2331720" y="1417320"/>
            <a:ext cx="1600200" cy="438912"/>
          </a:xfrm>
          <a:prstGeom prst="roundRect">
            <a:avLst>
              <a:gd name="adj" fmla="val 12500"/>
            </a:avLst>
          </a:prstGeom>
          <a:solidFill>
            <a:schemeClr val="accent1">
              <a:alpha val="16000"/>
            </a:schemeClr>
          </a:solidFill>
          <a:ln w="15875">
            <a:solidFill>
              <a:schemeClr val="accent1"/>
            </a:solidFill>
            <a:prstDash val="solid"/>
          </a:ln>
        </p:spPr>
        <p:txBody>
          <a:bodyPr/>
          <a:lstStyle/>
          <a:p>
            <a:endParaRPr lang="en-US"/>
          </a:p>
        </p:txBody>
      </p:sp>
      <p:sp>
        <p:nvSpPr>
          <p:cNvPr id="12" name="Text 9"/>
          <p:cNvSpPr txBox="1"/>
          <p:nvPr/>
        </p:nvSpPr>
        <p:spPr>
          <a:xfrm>
            <a:off x="2386584" y="1417320"/>
            <a:ext cx="149047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Task Engine</a:t>
            </a:r>
            <a:endParaRPr lang="en-US" sz="1200" dirty="0"/>
          </a:p>
        </p:txBody>
      </p:sp>
      <p:sp>
        <p:nvSpPr>
          <p:cNvPr id="13" name="Shape 10"/>
          <p:cNvSpPr/>
          <p:nvPr/>
        </p:nvSpPr>
        <p:spPr>
          <a:xfrm>
            <a:off x="4114800" y="1417320"/>
            <a:ext cx="1600200" cy="438912"/>
          </a:xfrm>
          <a:prstGeom prst="roundRect">
            <a:avLst>
              <a:gd name="adj" fmla="val 12500"/>
            </a:avLst>
          </a:prstGeom>
          <a:solidFill>
            <a:schemeClr val="bg1"/>
          </a:solidFill>
          <a:ln/>
        </p:spPr>
        <p:txBody>
          <a:bodyPr/>
          <a:lstStyle/>
          <a:p>
            <a:endParaRPr lang="en-US"/>
          </a:p>
        </p:txBody>
      </p:sp>
      <p:sp>
        <p:nvSpPr>
          <p:cNvPr id="14" name="Shape 11"/>
          <p:cNvSpPr/>
          <p:nvPr/>
        </p:nvSpPr>
        <p:spPr>
          <a:xfrm>
            <a:off x="4114800" y="1417320"/>
            <a:ext cx="1600200" cy="438912"/>
          </a:xfrm>
          <a:prstGeom prst="roundRect">
            <a:avLst>
              <a:gd name="adj" fmla="val 12500"/>
            </a:avLst>
          </a:prstGeom>
          <a:solidFill>
            <a:schemeClr val="accent2">
              <a:alpha val="16000"/>
            </a:schemeClr>
          </a:solidFill>
          <a:ln w="15875">
            <a:solidFill>
              <a:schemeClr val="accent2"/>
            </a:solidFill>
            <a:prstDash val="solid"/>
          </a:ln>
        </p:spPr>
        <p:txBody>
          <a:bodyPr/>
          <a:lstStyle/>
          <a:p>
            <a:endParaRPr lang="en-US"/>
          </a:p>
        </p:txBody>
      </p:sp>
      <p:sp>
        <p:nvSpPr>
          <p:cNvPr id="15" name="Text 12"/>
          <p:cNvSpPr txBox="1"/>
          <p:nvPr/>
        </p:nvSpPr>
        <p:spPr>
          <a:xfrm>
            <a:off x="4169664" y="1417320"/>
            <a:ext cx="149047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Database</a:t>
            </a:r>
            <a:endParaRPr lang="en-US" sz="1200" dirty="0"/>
          </a:p>
        </p:txBody>
      </p:sp>
      <p:sp>
        <p:nvSpPr>
          <p:cNvPr id="16" name="Shape 13"/>
          <p:cNvSpPr/>
          <p:nvPr/>
        </p:nvSpPr>
        <p:spPr>
          <a:xfrm>
            <a:off x="5897880" y="1417320"/>
            <a:ext cx="1600200" cy="438912"/>
          </a:xfrm>
          <a:prstGeom prst="roundRect">
            <a:avLst>
              <a:gd name="adj" fmla="val 12500"/>
            </a:avLst>
          </a:prstGeom>
          <a:solidFill>
            <a:schemeClr val="bg1"/>
          </a:solidFill>
          <a:ln/>
        </p:spPr>
        <p:txBody>
          <a:bodyPr/>
          <a:lstStyle/>
          <a:p>
            <a:endParaRPr lang="en-US"/>
          </a:p>
        </p:txBody>
      </p:sp>
      <p:sp>
        <p:nvSpPr>
          <p:cNvPr id="17" name="Shape 14"/>
          <p:cNvSpPr/>
          <p:nvPr/>
        </p:nvSpPr>
        <p:spPr>
          <a:xfrm>
            <a:off x="5897880" y="1417320"/>
            <a:ext cx="1600200" cy="438912"/>
          </a:xfrm>
          <a:prstGeom prst="roundRect">
            <a:avLst>
              <a:gd name="adj" fmla="val 12500"/>
            </a:avLst>
          </a:prstGeom>
          <a:solidFill>
            <a:schemeClr val="accent3">
              <a:alpha val="16000"/>
            </a:schemeClr>
          </a:solidFill>
          <a:ln w="15875">
            <a:solidFill>
              <a:schemeClr val="accent3"/>
            </a:solidFill>
            <a:prstDash val="solid"/>
          </a:ln>
        </p:spPr>
        <p:txBody>
          <a:bodyPr/>
          <a:lstStyle/>
          <a:p>
            <a:endParaRPr lang="en-US"/>
          </a:p>
        </p:txBody>
      </p:sp>
      <p:sp>
        <p:nvSpPr>
          <p:cNvPr id="18" name="Text 15"/>
          <p:cNvSpPr txBox="1"/>
          <p:nvPr/>
        </p:nvSpPr>
        <p:spPr>
          <a:xfrm>
            <a:off x="5952744" y="1417320"/>
            <a:ext cx="1490472" cy="438912"/>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Event Broker</a:t>
            </a:r>
            <a:endParaRPr lang="en-US" sz="1200" dirty="0"/>
          </a:p>
        </p:txBody>
      </p:sp>
      <p:sp>
        <p:nvSpPr>
          <p:cNvPr id="19" name="Shape 16"/>
          <p:cNvSpPr/>
          <p:nvPr/>
        </p:nvSpPr>
        <p:spPr>
          <a:xfrm>
            <a:off x="1348740" y="1856232"/>
            <a:ext cx="91" cy="3368650"/>
          </a:xfrm>
          <a:prstGeom prst="line">
            <a:avLst/>
          </a:prstGeom>
          <a:noFill/>
          <a:ln w="9525">
            <a:solidFill>
              <a:schemeClr val="tx2"/>
            </a:solidFill>
            <a:prstDash val="dash"/>
            <a:headEnd type="none"/>
            <a:tailEnd type="none"/>
          </a:ln>
        </p:spPr>
        <p:txBody>
          <a:bodyPr/>
          <a:lstStyle/>
          <a:p>
            <a:endParaRPr lang="en-US"/>
          </a:p>
        </p:txBody>
      </p:sp>
      <p:sp>
        <p:nvSpPr>
          <p:cNvPr id="20" name="Shape 17"/>
          <p:cNvSpPr/>
          <p:nvPr/>
        </p:nvSpPr>
        <p:spPr>
          <a:xfrm>
            <a:off x="3131820" y="1856232"/>
            <a:ext cx="91" cy="3368650"/>
          </a:xfrm>
          <a:prstGeom prst="line">
            <a:avLst/>
          </a:prstGeom>
          <a:noFill/>
          <a:ln w="9525">
            <a:solidFill>
              <a:schemeClr val="tx2"/>
            </a:solidFill>
            <a:prstDash val="dash"/>
            <a:headEnd type="none"/>
            <a:tailEnd type="none"/>
          </a:ln>
        </p:spPr>
        <p:txBody>
          <a:bodyPr/>
          <a:lstStyle/>
          <a:p>
            <a:endParaRPr lang="en-US"/>
          </a:p>
        </p:txBody>
      </p:sp>
      <p:sp>
        <p:nvSpPr>
          <p:cNvPr id="21" name="Shape 18"/>
          <p:cNvSpPr/>
          <p:nvPr/>
        </p:nvSpPr>
        <p:spPr>
          <a:xfrm>
            <a:off x="4914900" y="1856232"/>
            <a:ext cx="91" cy="3368650"/>
          </a:xfrm>
          <a:prstGeom prst="line">
            <a:avLst/>
          </a:prstGeom>
          <a:noFill/>
          <a:ln w="9525">
            <a:solidFill>
              <a:schemeClr val="tx2"/>
            </a:solidFill>
            <a:prstDash val="dash"/>
            <a:headEnd type="none"/>
            <a:tailEnd type="none"/>
          </a:ln>
        </p:spPr>
        <p:txBody>
          <a:bodyPr/>
          <a:lstStyle/>
          <a:p>
            <a:endParaRPr lang="en-US"/>
          </a:p>
        </p:txBody>
      </p:sp>
      <p:sp>
        <p:nvSpPr>
          <p:cNvPr id="22" name="Shape 19"/>
          <p:cNvSpPr/>
          <p:nvPr/>
        </p:nvSpPr>
        <p:spPr>
          <a:xfrm>
            <a:off x="6697980" y="1856232"/>
            <a:ext cx="91" cy="3368650"/>
          </a:xfrm>
          <a:prstGeom prst="line">
            <a:avLst/>
          </a:prstGeom>
          <a:noFill/>
          <a:ln w="9525">
            <a:solidFill>
              <a:schemeClr val="tx2"/>
            </a:solidFill>
            <a:prstDash val="dash"/>
            <a:headEnd type="none"/>
            <a:tailEnd type="none"/>
          </a:ln>
        </p:spPr>
        <p:txBody>
          <a:bodyPr/>
          <a:lstStyle/>
          <a:p>
            <a:endParaRPr lang="en-US"/>
          </a:p>
        </p:txBody>
      </p:sp>
      <p:sp>
        <p:nvSpPr>
          <p:cNvPr id="23" name="Shape 20"/>
          <p:cNvSpPr/>
          <p:nvPr/>
        </p:nvSpPr>
        <p:spPr>
          <a:xfrm>
            <a:off x="1348740" y="2276856"/>
            <a:ext cx="1783080" cy="91"/>
          </a:xfrm>
          <a:prstGeom prst="line">
            <a:avLst/>
          </a:prstGeom>
          <a:noFill/>
          <a:ln w="19050">
            <a:solidFill>
              <a:schemeClr val="tx1"/>
            </a:solidFill>
            <a:prstDash val="solid"/>
            <a:headEnd type="none"/>
            <a:tailEnd type="triangle"/>
          </a:ln>
        </p:spPr>
        <p:txBody>
          <a:bodyPr/>
          <a:lstStyle/>
          <a:p>
            <a:endParaRPr lang="en-US"/>
          </a:p>
        </p:txBody>
      </p:sp>
      <p:sp>
        <p:nvSpPr>
          <p:cNvPr id="24" name="Shape 21"/>
          <p:cNvSpPr/>
          <p:nvPr/>
        </p:nvSpPr>
        <p:spPr>
          <a:xfrm>
            <a:off x="1522857" y="2066544"/>
            <a:ext cx="1434846" cy="173736"/>
          </a:xfrm>
          <a:prstGeom prst="rect">
            <a:avLst/>
          </a:prstGeom>
          <a:solidFill>
            <a:schemeClr val="bg1"/>
          </a:solidFill>
          <a:ln/>
        </p:spPr>
        <p:txBody>
          <a:bodyPr/>
          <a:lstStyle/>
          <a:p>
            <a:endParaRPr lang="en-US"/>
          </a:p>
        </p:txBody>
      </p:sp>
      <p:sp>
        <p:nvSpPr>
          <p:cNvPr id="25" name="Text 22"/>
          <p:cNvSpPr txBox="1"/>
          <p:nvPr/>
        </p:nvSpPr>
        <p:spPr>
          <a:xfrm>
            <a:off x="1477137" y="2057400"/>
            <a:ext cx="152628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set wait {kind=event}</a:t>
            </a:r>
            <a:endParaRPr lang="en-US" sz="1000" dirty="0"/>
          </a:p>
        </p:txBody>
      </p:sp>
      <p:sp>
        <p:nvSpPr>
          <p:cNvPr id="26" name="Shape 23"/>
          <p:cNvSpPr/>
          <p:nvPr/>
        </p:nvSpPr>
        <p:spPr>
          <a:xfrm>
            <a:off x="3131820" y="2606040"/>
            <a:ext cx="1783080" cy="91"/>
          </a:xfrm>
          <a:prstGeom prst="line">
            <a:avLst/>
          </a:prstGeom>
          <a:noFill/>
          <a:ln w="19050">
            <a:solidFill>
              <a:schemeClr val="tx1"/>
            </a:solidFill>
            <a:prstDash val="solid"/>
            <a:headEnd type="none"/>
            <a:tailEnd type="triangle"/>
          </a:ln>
        </p:spPr>
        <p:txBody>
          <a:bodyPr/>
          <a:lstStyle/>
          <a:p>
            <a:endParaRPr lang="en-US"/>
          </a:p>
        </p:txBody>
      </p:sp>
      <p:sp>
        <p:nvSpPr>
          <p:cNvPr id="27" name="Shape 24"/>
          <p:cNvSpPr/>
          <p:nvPr/>
        </p:nvSpPr>
        <p:spPr>
          <a:xfrm>
            <a:off x="3710432" y="2395728"/>
            <a:ext cx="625856" cy="173736"/>
          </a:xfrm>
          <a:prstGeom prst="rect">
            <a:avLst/>
          </a:prstGeom>
          <a:solidFill>
            <a:schemeClr val="bg1"/>
          </a:solidFill>
          <a:ln/>
        </p:spPr>
        <p:txBody>
          <a:bodyPr/>
          <a:lstStyle/>
          <a:p>
            <a:endParaRPr lang="en-US"/>
          </a:p>
        </p:txBody>
      </p:sp>
      <p:sp>
        <p:nvSpPr>
          <p:cNvPr id="28" name="Text 25"/>
          <p:cNvSpPr txBox="1"/>
          <p:nvPr/>
        </p:nvSpPr>
        <p:spPr>
          <a:xfrm>
            <a:off x="3664712" y="2386584"/>
            <a:ext cx="71729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park txn</a:t>
            </a:r>
            <a:endParaRPr lang="en-US" sz="1000" dirty="0"/>
          </a:p>
        </p:txBody>
      </p:sp>
      <p:sp>
        <p:nvSpPr>
          <p:cNvPr id="29" name="Text 26"/>
          <p:cNvSpPr txBox="1"/>
          <p:nvPr/>
        </p:nvSpPr>
        <p:spPr>
          <a:xfrm>
            <a:off x="6972300" y="2459736"/>
            <a:ext cx="4759452" cy="29260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INSERT wait · state=waiting · release slot · clear lease</a:t>
            </a:r>
            <a:endParaRPr lang="en-US" sz="1000" dirty="0"/>
          </a:p>
        </p:txBody>
      </p:sp>
      <p:sp>
        <p:nvSpPr>
          <p:cNvPr id="30" name="Shape 27"/>
          <p:cNvSpPr/>
          <p:nvPr/>
        </p:nvSpPr>
        <p:spPr>
          <a:xfrm flipH="1">
            <a:off x="1348740" y="2935224"/>
            <a:ext cx="1783080" cy="91"/>
          </a:xfrm>
          <a:prstGeom prst="line">
            <a:avLst/>
          </a:prstGeom>
          <a:noFill/>
          <a:ln w="12700">
            <a:solidFill>
              <a:schemeClr val="tx2"/>
            </a:solidFill>
            <a:prstDash val="dash"/>
            <a:headEnd type="none"/>
            <a:tailEnd type="triangle"/>
          </a:ln>
        </p:spPr>
        <p:txBody>
          <a:bodyPr/>
          <a:lstStyle/>
          <a:p>
            <a:endParaRPr lang="en-US"/>
          </a:p>
        </p:txBody>
      </p:sp>
      <p:sp>
        <p:nvSpPr>
          <p:cNvPr id="31" name="Shape 28"/>
          <p:cNvSpPr/>
          <p:nvPr/>
        </p:nvSpPr>
        <p:spPr>
          <a:xfrm>
            <a:off x="1553972" y="2724912"/>
            <a:ext cx="1372616" cy="173736"/>
          </a:xfrm>
          <a:prstGeom prst="rect">
            <a:avLst/>
          </a:prstGeom>
          <a:solidFill>
            <a:schemeClr val="bg1"/>
          </a:solidFill>
          <a:ln/>
        </p:spPr>
        <p:txBody>
          <a:bodyPr/>
          <a:lstStyle/>
          <a:p>
            <a:endParaRPr lang="en-US"/>
          </a:p>
        </p:txBody>
      </p:sp>
      <p:sp>
        <p:nvSpPr>
          <p:cNvPr id="32" name="Text 29"/>
          <p:cNvSpPr txBox="1"/>
          <p:nvPr/>
        </p:nvSpPr>
        <p:spPr>
          <a:xfrm>
            <a:off x="1508252" y="2715768"/>
            <a:ext cx="146405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200 (worker is free)</a:t>
            </a:r>
            <a:endParaRPr lang="en-US" sz="1000" dirty="0"/>
          </a:p>
        </p:txBody>
      </p:sp>
      <p:sp>
        <p:nvSpPr>
          <p:cNvPr id="33" name="Shape 30"/>
          <p:cNvSpPr/>
          <p:nvPr/>
        </p:nvSpPr>
        <p:spPr>
          <a:xfrm>
            <a:off x="662940" y="3099816"/>
            <a:ext cx="6720840" cy="256032"/>
          </a:xfrm>
          <a:prstGeom prst="roundRect">
            <a:avLst>
              <a:gd name="adj" fmla="val 21429"/>
            </a:avLst>
          </a:prstGeom>
          <a:solidFill>
            <a:schemeClr val="bg1"/>
          </a:solidFill>
          <a:ln/>
        </p:spPr>
        <p:txBody>
          <a:bodyPr/>
          <a:lstStyle/>
          <a:p>
            <a:endParaRPr lang="en-US"/>
          </a:p>
        </p:txBody>
      </p:sp>
      <p:sp>
        <p:nvSpPr>
          <p:cNvPr id="34" name="Shape 31"/>
          <p:cNvSpPr/>
          <p:nvPr/>
        </p:nvSpPr>
        <p:spPr>
          <a:xfrm>
            <a:off x="662940" y="3099816"/>
            <a:ext cx="6720840" cy="256032"/>
          </a:xfrm>
          <a:prstGeom prst="roundRect">
            <a:avLst>
              <a:gd name="adj" fmla="val 21429"/>
            </a:avLst>
          </a:prstGeom>
          <a:solidFill>
            <a:schemeClr val="accent5">
              <a:alpha val="12000"/>
            </a:schemeClr>
          </a:solidFill>
          <a:ln w="15875">
            <a:solidFill>
              <a:schemeClr val="accent5"/>
            </a:solidFill>
            <a:prstDash val="dash"/>
          </a:ln>
        </p:spPr>
        <p:txBody>
          <a:bodyPr/>
          <a:lstStyle/>
          <a:p>
            <a:endParaRPr lang="en-US"/>
          </a:p>
        </p:txBody>
      </p:sp>
      <p:sp>
        <p:nvSpPr>
          <p:cNvPr id="35" name="Text 32"/>
          <p:cNvSpPr txBox="1"/>
          <p:nvPr/>
        </p:nvSpPr>
        <p:spPr>
          <a:xfrm>
            <a:off x="754380" y="3099816"/>
            <a:ext cx="6537960" cy="256032"/>
          </a:xfrm>
          <a:prstGeom prst="rect">
            <a:avLst/>
          </a:prstGeom>
          <a:noFill/>
          <a:ln/>
        </p:spPr>
        <p:txBody>
          <a:bodyPr wrap="square" lIns="0" tIns="0" rIns="0" bIns="0" rtlCol="0" anchor="ctr"/>
          <a:lstStyle/>
          <a:p>
            <a:pPr marL="0" indent="0" algn="ctr">
              <a:buNone/>
            </a:pPr>
            <a:r>
              <a:rPr lang="en-US" sz="1000" i="1" dirty="0">
                <a:solidFill>
                  <a:schemeClr val="tx2"/>
                </a:solidFill>
                <a:latin typeface="Calibri" pitchFamily="34" charset="0"/>
                <a:ea typeface="Calibri" pitchFamily="34" charset="-122"/>
                <a:cs typeface="Calibri" pitchFamily="34" charset="-120"/>
              </a:rPr>
              <a:t>… seconds or days later …</a:t>
            </a:r>
            <a:endParaRPr lang="en-US" sz="1000" dirty="0"/>
          </a:p>
        </p:txBody>
      </p:sp>
      <p:sp>
        <p:nvSpPr>
          <p:cNvPr id="36" name="Shape 33"/>
          <p:cNvSpPr/>
          <p:nvPr/>
        </p:nvSpPr>
        <p:spPr>
          <a:xfrm flipH="1">
            <a:off x="3131820" y="3593592"/>
            <a:ext cx="3566160" cy="91"/>
          </a:xfrm>
          <a:prstGeom prst="line">
            <a:avLst/>
          </a:prstGeom>
          <a:noFill/>
          <a:ln w="19050">
            <a:solidFill>
              <a:schemeClr val="accent3"/>
            </a:solidFill>
            <a:prstDash val="solid"/>
            <a:headEnd type="none"/>
            <a:tailEnd type="triangle"/>
          </a:ln>
        </p:spPr>
        <p:txBody>
          <a:bodyPr/>
          <a:lstStyle/>
          <a:p>
            <a:endParaRPr lang="en-US"/>
          </a:p>
        </p:txBody>
      </p:sp>
      <p:sp>
        <p:nvSpPr>
          <p:cNvPr id="37" name="Shape 34"/>
          <p:cNvSpPr/>
          <p:nvPr/>
        </p:nvSpPr>
        <p:spPr>
          <a:xfrm>
            <a:off x="3917442" y="3383280"/>
            <a:ext cx="1994916" cy="173736"/>
          </a:xfrm>
          <a:prstGeom prst="rect">
            <a:avLst/>
          </a:prstGeom>
          <a:solidFill>
            <a:schemeClr val="bg1"/>
          </a:solidFill>
          <a:ln/>
        </p:spPr>
        <p:txBody>
          <a:bodyPr/>
          <a:lstStyle/>
          <a:p>
            <a:endParaRPr lang="en-US"/>
          </a:p>
        </p:txBody>
      </p:sp>
      <p:sp>
        <p:nvSpPr>
          <p:cNvPr id="38" name="Text 35"/>
          <p:cNvSpPr txBox="1"/>
          <p:nvPr/>
        </p:nvSpPr>
        <p:spPr>
          <a:xfrm>
            <a:off x="3871722" y="3374136"/>
            <a:ext cx="2086356" cy="201168"/>
          </a:xfrm>
          <a:prstGeom prst="rect">
            <a:avLst/>
          </a:prstGeom>
          <a:noFill/>
          <a:ln/>
        </p:spPr>
        <p:txBody>
          <a:bodyPr wrap="square" lIns="0" tIns="0" rIns="0" bIns="0" rtlCol="0" anchor="b"/>
          <a:lstStyle/>
          <a:p>
            <a:pPr marL="0" indent="0" algn="ctr">
              <a:buNone/>
            </a:pPr>
            <a:r>
              <a:rPr lang="en-US" sz="1000" dirty="0">
                <a:solidFill>
                  <a:schemeClr val="accent3"/>
                </a:solidFill>
                <a:latin typeface="Calibri" pitchFamily="34" charset="0"/>
                <a:ea typeface="Calibri" pitchFamily="34" charset="-122"/>
                <a:cs typeface="Calibri" pitchFamily="34" charset="-120"/>
              </a:rPr>
              <a:t>deliver event (consumer group)</a:t>
            </a:r>
            <a:endParaRPr lang="en-US" sz="1000" dirty="0"/>
          </a:p>
        </p:txBody>
      </p:sp>
      <p:sp>
        <p:nvSpPr>
          <p:cNvPr id="39" name="Shape 36"/>
          <p:cNvSpPr/>
          <p:nvPr/>
        </p:nvSpPr>
        <p:spPr>
          <a:xfrm>
            <a:off x="3204972" y="3721608"/>
            <a:ext cx="1645920" cy="369418"/>
          </a:xfrm>
          <a:prstGeom prst="roundRect">
            <a:avLst>
              <a:gd name="adj" fmla="val 14851"/>
            </a:avLst>
          </a:prstGeom>
          <a:solidFill>
            <a:schemeClr val="bg1"/>
          </a:solidFill>
          <a:ln/>
        </p:spPr>
        <p:txBody>
          <a:bodyPr/>
          <a:lstStyle/>
          <a:p>
            <a:endParaRPr lang="en-US"/>
          </a:p>
        </p:txBody>
      </p:sp>
      <p:sp>
        <p:nvSpPr>
          <p:cNvPr id="40" name="Shape 37"/>
          <p:cNvSpPr/>
          <p:nvPr/>
        </p:nvSpPr>
        <p:spPr>
          <a:xfrm>
            <a:off x="3204972" y="3721608"/>
            <a:ext cx="1645920" cy="369418"/>
          </a:xfrm>
          <a:prstGeom prst="roundRect">
            <a:avLst>
              <a:gd name="adj" fmla="val 14851"/>
            </a:avLst>
          </a:prstGeom>
          <a:solidFill>
            <a:schemeClr val="accent1">
              <a:alpha val="20000"/>
            </a:schemeClr>
          </a:solidFill>
          <a:ln w="15875">
            <a:solidFill>
              <a:schemeClr val="accent1"/>
            </a:solidFill>
            <a:prstDash val="solid"/>
          </a:ln>
        </p:spPr>
        <p:txBody>
          <a:bodyPr/>
          <a:lstStyle/>
          <a:p>
            <a:endParaRPr lang="en-US"/>
          </a:p>
        </p:txBody>
      </p:sp>
      <p:sp>
        <p:nvSpPr>
          <p:cNvPr id="41" name="Text 38"/>
          <p:cNvSpPr txBox="1"/>
          <p:nvPr/>
        </p:nvSpPr>
        <p:spPr>
          <a:xfrm>
            <a:off x="3268980" y="3721608"/>
            <a:ext cx="1517904" cy="369418"/>
          </a:xfrm>
          <a:prstGeom prst="rect">
            <a:avLst/>
          </a:prstGeom>
          <a:noFill/>
          <a:ln/>
        </p:spPr>
        <p:txBody>
          <a:bodyPr wrap="square" lIns="0" tIns="0" rIns="0" bIns="0" rtlCol="0" anchor="ctr"/>
          <a:lstStyle/>
          <a:p>
            <a:pPr marL="0" indent="0">
              <a:buNone/>
            </a:pPr>
            <a:r>
              <a:rPr lang="en-US" sz="1000" dirty="0">
                <a:solidFill>
                  <a:schemeClr val="tx1"/>
                </a:solidFill>
                <a:latin typeface="Calibri" pitchFamily="34" charset="0"/>
                <a:ea typeface="Calibri" pitchFamily="34" charset="-122"/>
                <a:cs typeface="Calibri" pitchFamily="34" charset="-120"/>
              </a:rPr>
              <a:t>match type / subject (+ CEL, P3)</a:t>
            </a:r>
            <a:endParaRPr lang="en-US" sz="1000" dirty="0"/>
          </a:p>
        </p:txBody>
      </p:sp>
      <p:sp>
        <p:nvSpPr>
          <p:cNvPr id="42" name="Shape 39"/>
          <p:cNvSpPr/>
          <p:nvPr/>
        </p:nvSpPr>
        <p:spPr>
          <a:xfrm>
            <a:off x="3131820" y="4383634"/>
            <a:ext cx="1783080" cy="91"/>
          </a:xfrm>
          <a:prstGeom prst="line">
            <a:avLst/>
          </a:prstGeom>
          <a:noFill/>
          <a:ln w="19050">
            <a:solidFill>
              <a:schemeClr val="tx1"/>
            </a:solidFill>
            <a:prstDash val="solid"/>
            <a:headEnd type="none"/>
            <a:tailEnd type="triangle"/>
          </a:ln>
        </p:spPr>
        <p:txBody>
          <a:bodyPr/>
          <a:lstStyle/>
          <a:p>
            <a:endParaRPr lang="en-US"/>
          </a:p>
        </p:txBody>
      </p:sp>
      <p:sp>
        <p:nvSpPr>
          <p:cNvPr id="43" name="Shape 40"/>
          <p:cNvSpPr/>
          <p:nvPr/>
        </p:nvSpPr>
        <p:spPr>
          <a:xfrm>
            <a:off x="3617087" y="4173322"/>
            <a:ext cx="812546" cy="173736"/>
          </a:xfrm>
          <a:prstGeom prst="rect">
            <a:avLst/>
          </a:prstGeom>
          <a:solidFill>
            <a:schemeClr val="bg1"/>
          </a:solidFill>
          <a:ln/>
        </p:spPr>
        <p:txBody>
          <a:bodyPr/>
          <a:lstStyle/>
          <a:p>
            <a:endParaRPr lang="en-US"/>
          </a:p>
        </p:txBody>
      </p:sp>
      <p:sp>
        <p:nvSpPr>
          <p:cNvPr id="44" name="Text 41"/>
          <p:cNvSpPr txBox="1"/>
          <p:nvPr/>
        </p:nvSpPr>
        <p:spPr>
          <a:xfrm>
            <a:off x="3571367" y="4164178"/>
            <a:ext cx="90398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resolve txn</a:t>
            </a:r>
            <a:endParaRPr lang="en-US" sz="1000" dirty="0"/>
          </a:p>
        </p:txBody>
      </p:sp>
      <p:sp>
        <p:nvSpPr>
          <p:cNvPr id="45" name="Text 42"/>
          <p:cNvSpPr txBox="1"/>
          <p:nvPr/>
        </p:nvSpPr>
        <p:spPr>
          <a:xfrm>
            <a:off x="6972300" y="4237330"/>
            <a:ext cx="4759452" cy="29260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wait=satisfied · task→queued · outbox · offset commit</a:t>
            </a:r>
            <a:endParaRPr lang="en-US" sz="1000" dirty="0"/>
          </a:p>
        </p:txBody>
      </p:sp>
      <p:sp>
        <p:nvSpPr>
          <p:cNvPr id="46" name="Shape 43"/>
          <p:cNvSpPr/>
          <p:nvPr/>
        </p:nvSpPr>
        <p:spPr>
          <a:xfrm>
            <a:off x="1348740" y="4712818"/>
            <a:ext cx="1783080" cy="91"/>
          </a:xfrm>
          <a:prstGeom prst="line">
            <a:avLst/>
          </a:prstGeom>
          <a:noFill/>
          <a:ln w="19050">
            <a:solidFill>
              <a:schemeClr val="tx1"/>
            </a:solidFill>
            <a:prstDash val="solid"/>
            <a:headEnd type="none"/>
            <a:tailEnd type="triangle"/>
          </a:ln>
        </p:spPr>
        <p:txBody>
          <a:bodyPr/>
          <a:lstStyle/>
          <a:p>
            <a:endParaRPr lang="en-US"/>
          </a:p>
        </p:txBody>
      </p:sp>
      <p:sp>
        <p:nvSpPr>
          <p:cNvPr id="47" name="Shape 44"/>
          <p:cNvSpPr/>
          <p:nvPr/>
        </p:nvSpPr>
        <p:spPr>
          <a:xfrm>
            <a:off x="1616202" y="4502506"/>
            <a:ext cx="1248156" cy="173736"/>
          </a:xfrm>
          <a:prstGeom prst="rect">
            <a:avLst/>
          </a:prstGeom>
          <a:solidFill>
            <a:schemeClr val="bg1"/>
          </a:solidFill>
          <a:ln/>
        </p:spPr>
        <p:txBody>
          <a:bodyPr/>
          <a:lstStyle/>
          <a:p>
            <a:endParaRPr lang="en-US"/>
          </a:p>
        </p:txBody>
      </p:sp>
      <p:sp>
        <p:nvSpPr>
          <p:cNvPr id="48" name="Text 45"/>
          <p:cNvSpPr txBox="1"/>
          <p:nvPr/>
        </p:nvSpPr>
        <p:spPr>
          <a:xfrm>
            <a:off x="1570482" y="4493362"/>
            <a:ext cx="133959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claim (any worker)</a:t>
            </a:r>
            <a:endParaRPr lang="en-US" sz="1000" dirty="0"/>
          </a:p>
        </p:txBody>
      </p:sp>
      <p:sp>
        <p:nvSpPr>
          <p:cNvPr id="49" name="Shape 46"/>
          <p:cNvSpPr/>
          <p:nvPr/>
        </p:nvSpPr>
        <p:spPr>
          <a:xfrm flipH="1">
            <a:off x="1348740" y="5042002"/>
            <a:ext cx="1783080" cy="91"/>
          </a:xfrm>
          <a:prstGeom prst="line">
            <a:avLst/>
          </a:prstGeom>
          <a:noFill/>
          <a:ln w="12700">
            <a:solidFill>
              <a:schemeClr val="tx2"/>
            </a:solidFill>
            <a:prstDash val="dash"/>
            <a:headEnd type="none"/>
            <a:tailEnd type="triangle"/>
          </a:ln>
        </p:spPr>
        <p:txBody>
          <a:bodyPr/>
          <a:lstStyle/>
          <a:p>
            <a:endParaRPr lang="en-US"/>
          </a:p>
        </p:txBody>
      </p:sp>
      <p:sp>
        <p:nvSpPr>
          <p:cNvPr id="50" name="Shape 47"/>
          <p:cNvSpPr/>
          <p:nvPr/>
        </p:nvSpPr>
        <p:spPr>
          <a:xfrm>
            <a:off x="1421892" y="4831690"/>
            <a:ext cx="1636776" cy="173736"/>
          </a:xfrm>
          <a:prstGeom prst="rect">
            <a:avLst/>
          </a:prstGeom>
          <a:solidFill>
            <a:schemeClr val="bg1"/>
          </a:solidFill>
          <a:ln/>
        </p:spPr>
        <p:txBody>
          <a:bodyPr/>
          <a:lstStyle/>
          <a:p>
            <a:endParaRPr lang="en-US"/>
          </a:p>
        </p:txBody>
      </p:sp>
      <p:sp>
        <p:nvSpPr>
          <p:cNvPr id="51" name="Text 48"/>
          <p:cNvSpPr txBox="1"/>
          <p:nvPr/>
        </p:nvSpPr>
        <p:spPr>
          <a:xfrm>
            <a:off x="1376172" y="4822546"/>
            <a:ext cx="1728216" cy="201168"/>
          </a:xfrm>
          <a:prstGeom prst="rect">
            <a:avLst/>
          </a:prstGeom>
          <a:noFill/>
          <a:ln/>
        </p:spPr>
        <p:txBody>
          <a:bodyPr wrap="square" lIns="0" tIns="0" rIns="0" bIns="0" rtlCol="0" anchor="b"/>
          <a:lstStyle/>
          <a:p>
            <a:pPr marL="0" indent="0" algn="ctr">
              <a:buNone/>
            </a:pPr>
            <a:r>
              <a:rPr lang="en-US" sz="1000" dirty="0">
                <a:solidFill>
                  <a:schemeClr val="tx1"/>
                </a:solidFill>
                <a:latin typeface="Calibri" pitchFamily="34" charset="0"/>
                <a:ea typeface="Calibri" pitchFamily="34" charset="-122"/>
                <a:cs typeface="Calibri" pitchFamily="34" charset="-120"/>
              </a:rPr>
              <a:t>task + resolved data, new lease</a:t>
            </a:r>
            <a:endParaRPr lang="en-US" sz="1000" dirty="0"/>
          </a:p>
        </p:txBody>
      </p:sp>
      <p:sp>
        <p:nvSpPr>
          <p:cNvPr id="52" name="Text 49"/>
          <p:cNvSpPr txBox="1"/>
          <p:nvPr/>
        </p:nvSpPr>
        <p:spPr>
          <a:xfrm>
            <a:off x="6972300" y="4895698"/>
            <a:ext cx="4759452" cy="292608"/>
          </a:xfrm>
          <a:prstGeom prst="rect">
            <a:avLst/>
          </a:prstGeom>
          <a:noFill/>
          <a:ln/>
        </p:spPr>
        <p:txBody>
          <a:bodyPr wrap="square" lIns="0" tIns="0" rIns="0" bIns="0" rtlCol="0" anchor="ctr"/>
          <a:lstStyle/>
          <a:p>
            <a:pPr marL="0" indent="0">
              <a:buNone/>
            </a:pPr>
            <a:r>
              <a:rPr lang="en-US" sz="1000" dirty="0">
                <a:solidFill>
                  <a:schemeClr val="tx2"/>
                </a:solidFill>
                <a:latin typeface="Calibri" pitchFamily="34" charset="0"/>
                <a:ea typeface="Calibri" pitchFamily="34" charset="-122"/>
                <a:cs typeface="Calibri" pitchFamily="34" charset="-120"/>
              </a:rPr>
              <a:t>attempt unchanged (resume_pending)</a:t>
            </a:r>
            <a:endParaRPr lang="en-US" sz="1000" dirty="0"/>
          </a:p>
        </p:txBody>
      </p:sp>
      <p:sp>
        <p:nvSpPr>
          <p:cNvPr id="53" name="Shape 50"/>
          <p:cNvSpPr/>
          <p:nvPr/>
        </p:nvSpPr>
        <p:spPr>
          <a:xfrm>
            <a:off x="457200" y="5257800"/>
            <a:ext cx="2286000" cy="960120"/>
          </a:xfrm>
          <a:prstGeom prst="roundRect">
            <a:avLst>
              <a:gd name="adj" fmla="val 5714"/>
            </a:avLst>
          </a:prstGeom>
          <a:solidFill>
            <a:schemeClr val="bg1"/>
          </a:solidFill>
          <a:ln/>
        </p:spPr>
        <p:txBody>
          <a:bodyPr/>
          <a:lstStyle/>
          <a:p>
            <a:endParaRPr lang="en-US"/>
          </a:p>
        </p:txBody>
      </p:sp>
      <p:sp>
        <p:nvSpPr>
          <p:cNvPr id="54" name="Shape 51"/>
          <p:cNvSpPr/>
          <p:nvPr/>
        </p:nvSpPr>
        <p:spPr>
          <a:xfrm>
            <a:off x="457200" y="5257800"/>
            <a:ext cx="2286000" cy="960120"/>
          </a:xfrm>
          <a:prstGeom prst="roundRect">
            <a:avLst>
              <a:gd name="adj" fmla="val 5714"/>
            </a:avLst>
          </a:prstGeom>
          <a:solidFill>
            <a:schemeClr val="bg2"/>
          </a:solidFill>
          <a:ln/>
        </p:spPr>
        <p:txBody>
          <a:bodyPr/>
          <a:lstStyle/>
          <a:p>
            <a:endParaRPr lang="en-US"/>
          </a:p>
        </p:txBody>
      </p:sp>
      <p:sp>
        <p:nvSpPr>
          <p:cNvPr id="55" name="Shape 52"/>
          <p:cNvSpPr/>
          <p:nvPr/>
        </p:nvSpPr>
        <p:spPr>
          <a:xfrm>
            <a:off x="566928" y="5394960"/>
            <a:ext cx="402336" cy="402336"/>
          </a:xfrm>
          <a:prstGeom prst="ellipse">
            <a:avLst/>
          </a:prstGeom>
          <a:solidFill>
            <a:schemeClr val="accent3"/>
          </a:solidFill>
          <a:ln/>
        </p:spPr>
        <p:txBody>
          <a:bodyPr/>
          <a:lstStyle/>
          <a:p>
            <a:endParaRPr lang="en-US"/>
          </a:p>
        </p:txBody>
      </p:sp>
      <p:pic>
        <p:nvPicPr>
          <p:cNvPr id="56" name="Image 0" descr="preencoded.png"/>
          <p:cNvPicPr>
            <a:picLocks noChangeAspect="1"/>
          </p:cNvPicPr>
          <p:nvPr/>
        </p:nvPicPr>
        <p:blipFill>
          <a:blip r:embed="rId3"/>
          <a:stretch>
            <a:fillRect/>
          </a:stretch>
        </p:blipFill>
        <p:spPr>
          <a:xfrm>
            <a:off x="667512" y="5495544"/>
            <a:ext cx="201168" cy="201168"/>
          </a:xfrm>
          <a:prstGeom prst="rect">
            <a:avLst/>
          </a:prstGeom>
        </p:spPr>
      </p:pic>
      <p:sp>
        <p:nvSpPr>
          <p:cNvPr id="57" name="Text 53"/>
          <p:cNvSpPr txBox="1"/>
          <p:nvPr/>
        </p:nvSpPr>
        <p:spPr>
          <a:xfrm>
            <a:off x="1051560" y="5376672"/>
            <a:ext cx="1143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Timer wait</a:t>
            </a:r>
            <a:endParaRPr lang="en-US" sz="1300" dirty="0"/>
          </a:p>
        </p:txBody>
      </p:sp>
      <p:sp>
        <p:nvSpPr>
          <p:cNvPr id="58" name="Shape 54"/>
          <p:cNvSpPr/>
          <p:nvPr/>
        </p:nvSpPr>
        <p:spPr>
          <a:xfrm>
            <a:off x="2212848" y="5394960"/>
            <a:ext cx="402336" cy="201168"/>
          </a:xfrm>
          <a:prstGeom prst="roundRect">
            <a:avLst>
              <a:gd name="adj" fmla="val 50000"/>
            </a:avLst>
          </a:prstGeom>
          <a:solidFill>
            <a:schemeClr val="tx1"/>
          </a:solidFill>
          <a:ln w="9525">
            <a:solidFill>
              <a:schemeClr val="tx1"/>
            </a:solidFill>
            <a:prstDash val="solid"/>
          </a:ln>
        </p:spPr>
        <p:txBody>
          <a:bodyPr/>
          <a:lstStyle/>
          <a:p>
            <a:endParaRPr lang="en-US"/>
          </a:p>
        </p:txBody>
      </p:sp>
      <p:sp>
        <p:nvSpPr>
          <p:cNvPr id="59" name="Text 55"/>
          <p:cNvSpPr txBox="1"/>
          <p:nvPr/>
        </p:nvSpPr>
        <p:spPr>
          <a:xfrm>
            <a:off x="2212848" y="5394960"/>
            <a:ext cx="402336"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P1</a:t>
            </a:r>
            <a:endParaRPr lang="en-US" sz="900" dirty="0"/>
          </a:p>
        </p:txBody>
      </p:sp>
      <p:sp>
        <p:nvSpPr>
          <p:cNvPr id="60" name="Text 56"/>
          <p:cNvSpPr txBox="1"/>
          <p:nvPr/>
        </p:nvSpPr>
        <p:spPr>
          <a:xfrm>
            <a:off x="1051560" y="5669280"/>
            <a:ext cx="1645920" cy="502920"/>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TimerService fires at resume_at</a:t>
            </a:r>
            <a:endParaRPr lang="en-US" sz="1000" dirty="0"/>
          </a:p>
        </p:txBody>
      </p:sp>
      <p:sp>
        <p:nvSpPr>
          <p:cNvPr id="61" name="Shape 57"/>
          <p:cNvSpPr/>
          <p:nvPr/>
        </p:nvSpPr>
        <p:spPr>
          <a:xfrm>
            <a:off x="2880360" y="5257800"/>
            <a:ext cx="2286000" cy="960120"/>
          </a:xfrm>
          <a:prstGeom prst="roundRect">
            <a:avLst>
              <a:gd name="adj" fmla="val 5714"/>
            </a:avLst>
          </a:prstGeom>
          <a:solidFill>
            <a:schemeClr val="bg1"/>
          </a:solidFill>
          <a:ln/>
        </p:spPr>
        <p:txBody>
          <a:bodyPr/>
          <a:lstStyle/>
          <a:p>
            <a:endParaRPr lang="en-US"/>
          </a:p>
        </p:txBody>
      </p:sp>
      <p:sp>
        <p:nvSpPr>
          <p:cNvPr id="62" name="Shape 58"/>
          <p:cNvSpPr/>
          <p:nvPr/>
        </p:nvSpPr>
        <p:spPr>
          <a:xfrm>
            <a:off x="2880360" y="5257800"/>
            <a:ext cx="2286000" cy="960120"/>
          </a:xfrm>
          <a:prstGeom prst="roundRect">
            <a:avLst>
              <a:gd name="adj" fmla="val 5714"/>
            </a:avLst>
          </a:prstGeom>
          <a:solidFill>
            <a:schemeClr val="bg2"/>
          </a:solidFill>
          <a:ln/>
        </p:spPr>
        <p:txBody>
          <a:bodyPr/>
          <a:lstStyle/>
          <a:p>
            <a:endParaRPr lang="en-US"/>
          </a:p>
        </p:txBody>
      </p:sp>
      <p:sp>
        <p:nvSpPr>
          <p:cNvPr id="63" name="Shape 59"/>
          <p:cNvSpPr/>
          <p:nvPr/>
        </p:nvSpPr>
        <p:spPr>
          <a:xfrm>
            <a:off x="2990088" y="5394960"/>
            <a:ext cx="402336" cy="402336"/>
          </a:xfrm>
          <a:prstGeom prst="ellipse">
            <a:avLst/>
          </a:prstGeom>
          <a:solidFill>
            <a:schemeClr val="accent3"/>
          </a:solidFill>
          <a:ln/>
        </p:spPr>
        <p:txBody>
          <a:bodyPr/>
          <a:lstStyle/>
          <a:p>
            <a:endParaRPr lang="en-US"/>
          </a:p>
        </p:txBody>
      </p:sp>
      <p:pic>
        <p:nvPicPr>
          <p:cNvPr id="64" name="Image 1" descr="preencoded.png"/>
          <p:cNvPicPr>
            <a:picLocks noChangeAspect="1"/>
          </p:cNvPicPr>
          <p:nvPr/>
        </p:nvPicPr>
        <p:blipFill>
          <a:blip r:embed="rId4"/>
          <a:stretch>
            <a:fillRect/>
          </a:stretch>
        </p:blipFill>
        <p:spPr>
          <a:xfrm>
            <a:off x="3090672" y="5495544"/>
            <a:ext cx="201168" cy="201168"/>
          </a:xfrm>
          <a:prstGeom prst="rect">
            <a:avLst/>
          </a:prstGeom>
        </p:spPr>
      </p:pic>
      <p:sp>
        <p:nvSpPr>
          <p:cNvPr id="65" name="Text 60"/>
          <p:cNvSpPr txBox="1"/>
          <p:nvPr/>
        </p:nvSpPr>
        <p:spPr>
          <a:xfrm>
            <a:off x="3474720" y="5376672"/>
            <a:ext cx="1143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Event wait</a:t>
            </a:r>
            <a:endParaRPr lang="en-US" sz="1300" dirty="0"/>
          </a:p>
        </p:txBody>
      </p:sp>
      <p:sp>
        <p:nvSpPr>
          <p:cNvPr id="66" name="Shape 61"/>
          <p:cNvSpPr/>
          <p:nvPr/>
        </p:nvSpPr>
        <p:spPr>
          <a:xfrm>
            <a:off x="4636008" y="5394960"/>
            <a:ext cx="402336" cy="201168"/>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67" name="Text 62"/>
          <p:cNvSpPr txBox="1"/>
          <p:nvPr/>
        </p:nvSpPr>
        <p:spPr>
          <a:xfrm>
            <a:off x="4636008" y="5394960"/>
            <a:ext cx="402336"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P2</a:t>
            </a:r>
            <a:endParaRPr lang="en-US" sz="900" dirty="0"/>
          </a:p>
        </p:txBody>
      </p:sp>
      <p:sp>
        <p:nvSpPr>
          <p:cNvPr id="68" name="Text 63"/>
          <p:cNvSpPr txBox="1"/>
          <p:nvPr/>
        </p:nvSpPr>
        <p:spPr>
          <a:xfrm>
            <a:off x="3474720" y="5669280"/>
            <a:ext cx="1645920" cy="502920"/>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Event Broker consumer group</a:t>
            </a:r>
            <a:endParaRPr lang="en-US" sz="1000" dirty="0"/>
          </a:p>
        </p:txBody>
      </p:sp>
      <p:sp>
        <p:nvSpPr>
          <p:cNvPr id="69" name="Shape 64"/>
          <p:cNvSpPr/>
          <p:nvPr/>
        </p:nvSpPr>
        <p:spPr>
          <a:xfrm>
            <a:off x="5303520" y="5257800"/>
            <a:ext cx="2286000" cy="960120"/>
          </a:xfrm>
          <a:prstGeom prst="roundRect">
            <a:avLst>
              <a:gd name="adj" fmla="val 5714"/>
            </a:avLst>
          </a:prstGeom>
          <a:solidFill>
            <a:schemeClr val="bg1"/>
          </a:solidFill>
          <a:ln/>
        </p:spPr>
        <p:txBody>
          <a:bodyPr/>
          <a:lstStyle/>
          <a:p>
            <a:endParaRPr lang="en-US"/>
          </a:p>
        </p:txBody>
      </p:sp>
      <p:sp>
        <p:nvSpPr>
          <p:cNvPr id="70" name="Shape 65"/>
          <p:cNvSpPr/>
          <p:nvPr/>
        </p:nvSpPr>
        <p:spPr>
          <a:xfrm>
            <a:off x="5303520" y="5257800"/>
            <a:ext cx="2286000" cy="960120"/>
          </a:xfrm>
          <a:prstGeom prst="roundRect">
            <a:avLst>
              <a:gd name="adj" fmla="val 5714"/>
            </a:avLst>
          </a:prstGeom>
          <a:solidFill>
            <a:schemeClr val="bg2"/>
          </a:solidFill>
          <a:ln/>
        </p:spPr>
        <p:txBody>
          <a:bodyPr/>
          <a:lstStyle/>
          <a:p>
            <a:endParaRPr lang="en-US"/>
          </a:p>
        </p:txBody>
      </p:sp>
      <p:sp>
        <p:nvSpPr>
          <p:cNvPr id="71" name="Shape 66"/>
          <p:cNvSpPr/>
          <p:nvPr/>
        </p:nvSpPr>
        <p:spPr>
          <a:xfrm>
            <a:off x="5413248" y="5394960"/>
            <a:ext cx="402336" cy="402336"/>
          </a:xfrm>
          <a:prstGeom prst="ellipse">
            <a:avLst/>
          </a:prstGeom>
          <a:solidFill>
            <a:schemeClr val="accent3"/>
          </a:solidFill>
          <a:ln/>
        </p:spPr>
        <p:txBody>
          <a:bodyPr/>
          <a:lstStyle/>
          <a:p>
            <a:endParaRPr lang="en-US"/>
          </a:p>
        </p:txBody>
      </p:sp>
      <p:pic>
        <p:nvPicPr>
          <p:cNvPr id="72" name="Image 2" descr="preencoded.png"/>
          <p:cNvPicPr>
            <a:picLocks noChangeAspect="1"/>
          </p:cNvPicPr>
          <p:nvPr/>
        </p:nvPicPr>
        <p:blipFill>
          <a:blip r:embed="rId5"/>
          <a:stretch>
            <a:fillRect/>
          </a:stretch>
        </p:blipFill>
        <p:spPr>
          <a:xfrm>
            <a:off x="5513832" y="5495544"/>
            <a:ext cx="201168" cy="201168"/>
          </a:xfrm>
          <a:prstGeom prst="rect">
            <a:avLst/>
          </a:prstGeom>
        </p:spPr>
      </p:pic>
      <p:sp>
        <p:nvSpPr>
          <p:cNvPr id="73" name="Text 67"/>
          <p:cNvSpPr txBox="1"/>
          <p:nvPr/>
        </p:nvSpPr>
        <p:spPr>
          <a:xfrm>
            <a:off x="5897880" y="5376672"/>
            <a:ext cx="1143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Input wait</a:t>
            </a:r>
            <a:endParaRPr lang="en-US" sz="1300" dirty="0"/>
          </a:p>
        </p:txBody>
      </p:sp>
      <p:sp>
        <p:nvSpPr>
          <p:cNvPr id="74" name="Shape 68"/>
          <p:cNvSpPr/>
          <p:nvPr/>
        </p:nvSpPr>
        <p:spPr>
          <a:xfrm>
            <a:off x="7059168" y="5394960"/>
            <a:ext cx="402336" cy="201168"/>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75" name="Text 69"/>
          <p:cNvSpPr txBox="1"/>
          <p:nvPr/>
        </p:nvSpPr>
        <p:spPr>
          <a:xfrm>
            <a:off x="7059168" y="5394960"/>
            <a:ext cx="402336"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P2</a:t>
            </a:r>
            <a:endParaRPr lang="en-US" sz="900" dirty="0"/>
          </a:p>
        </p:txBody>
      </p:sp>
      <p:sp>
        <p:nvSpPr>
          <p:cNvPr id="76" name="Text 70"/>
          <p:cNvSpPr txBox="1"/>
          <p:nvPr/>
        </p:nvSpPr>
        <p:spPr>
          <a:xfrm>
            <a:off x="5897880" y="5669280"/>
            <a:ext cx="1645920" cy="502920"/>
          </a:xfrm>
          <a:prstGeom prst="rect">
            <a:avLst/>
          </a:prstGeom>
          <a:noFill/>
          <a:ln/>
        </p:spPr>
        <p:txBody>
          <a:bodyPr wrap="square" lIns="0" tIns="0" rIns="0" bIns="0" rtlCol="0" anchor="t"/>
          <a:lstStyle/>
          <a:p>
            <a:pPr marL="0" indent="0">
              <a:buNone/>
            </a:pPr>
            <a:r>
              <a:rPr lang="en-US" sz="1000" dirty="0">
                <a:solidFill>
                  <a:schemeClr val="tx2"/>
                </a:solidFill>
                <a:latin typeface="Calibri" pitchFamily="34" charset="0"/>
                <a:ea typeface="Calibri" pitchFamily="34" charset="-122"/>
                <a:cs typeface="Calibri" pitchFamily="34" charset="-120"/>
              </a:rPr>
              <a:t>resolved via REST (POST …/resolve)</a:t>
            </a:r>
            <a:endParaRPr lang="en-US" sz="1000" dirty="0"/>
          </a:p>
        </p:txBody>
      </p:sp>
      <p:sp>
        <p:nvSpPr>
          <p:cNvPr id="77" name="Text 71"/>
          <p:cNvSpPr txBox="1"/>
          <p:nvPr/>
        </p:nvSpPr>
        <p:spPr>
          <a:xfrm>
            <a:off x="7863840" y="5532120"/>
            <a:ext cx="3840480" cy="502920"/>
          </a:xfrm>
          <a:prstGeom prst="rect">
            <a:avLst/>
          </a:prstGeom>
          <a:noFill/>
          <a:ln/>
        </p:spPr>
        <p:txBody>
          <a:bodyPr wrap="square" lIns="0" tIns="0" rIns="0" bIns="0" rtlCol="0" anchor="t"/>
          <a:lstStyle/>
          <a:p>
            <a:pPr marL="0" indent="0">
              <a:buNone/>
            </a:pPr>
            <a:r>
              <a:rPr lang="en-US" sz="1100" i="1" dirty="0">
                <a:solidFill>
                  <a:schemeClr val="tx2"/>
                </a:solidFill>
                <a:latin typeface="Calibri" pitchFamily="34" charset="0"/>
                <a:ea typeface="Calibri" pitchFamily="34" charset="-122"/>
                <a:cs typeface="Calibri" pitchFamily="34" charset="-120"/>
              </a:rPr>
              <a:t>ALL / ANY across a task's waits · optional timeout → fail or resume</a:t>
            </a:r>
            <a:endParaRPr lang="en-US" sz="11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57AC-09E3-7B87-A308-4498A52E7834}"/>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253966B5-6E48-BBA5-FC25-30FF890F6841}"/>
              </a:ext>
            </a:extLst>
          </p:cNvPr>
          <p:cNvSpPr txBox="1">
            <a:spLocks/>
          </p:cNvSpPr>
          <p:nvPr/>
        </p:nvSpPr>
        <p:spPr>
          <a:xfrm>
            <a:off x="731520" y="1828800"/>
            <a:ext cx="2743200" cy="640080"/>
          </a:xfrm>
          <a:prstGeom prst="rect">
            <a:avLst/>
          </a:prstGeom>
          <a:noFill/>
          <a:ln/>
        </p:spPr>
        <p:txBody>
          <a:bodyPr wrap="square" lIns="0" tIns="0" rIns="0" bIns="0" rtlCol="0"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800" b="1" dirty="0">
                <a:solidFill>
                  <a:srgbClr val="6BA5F0"/>
                </a:solidFill>
              </a:rPr>
              <a:t>04</a:t>
            </a:r>
            <a:endParaRPr lang="en-US" sz="2800" dirty="0">
              <a:solidFill>
                <a:srgbClr val="6BA5F0"/>
              </a:solidFill>
            </a:endParaRPr>
          </a:p>
        </p:txBody>
      </p:sp>
      <p:sp>
        <p:nvSpPr>
          <p:cNvPr id="19" name="Text 0">
            <a:extLst>
              <a:ext uri="{FF2B5EF4-FFF2-40B4-BE49-F238E27FC236}">
                <a16:creationId xmlns:a16="http://schemas.microsoft.com/office/drawing/2014/main" id="{CB25307B-A0D2-5EBB-EE76-B336D1AD1A65}"/>
              </a:ext>
            </a:extLst>
          </p:cNvPr>
          <p:cNvSpPr>
            <a:spLocks noGrp="1"/>
          </p:cNvSpPr>
          <p:nvPr>
            <p:ph type="title" idx="101" hasCustomPrompt="1"/>
          </p:nvPr>
        </p:nvSpPr>
        <p:spPr>
          <a:xfrm>
            <a:off x="731520" y="2514600"/>
            <a:ext cx="10058400" cy="1005840"/>
          </a:xfrm>
          <a:prstGeom prst="rect">
            <a:avLst/>
          </a:prstGeom>
          <a:noFill/>
          <a:ln/>
        </p:spPr>
        <p:txBody>
          <a:bodyPr wrap="square" lIns="0" tIns="0" rIns="0" bIns="0" rtlCol="0" anchor="t"/>
          <a:lstStyle/>
          <a:p>
            <a:pPr marL="0" indent="0" algn="l">
              <a:buNone/>
            </a:pPr>
            <a:r>
              <a:rPr lang="en-US" sz="4400" b="1" dirty="0">
                <a:solidFill>
                  <a:schemeClr val="bg1"/>
                </a:solidFill>
                <a:latin typeface="Arial" pitchFamily="34" charset="0"/>
                <a:ea typeface="Arial" pitchFamily="34" charset="-122"/>
                <a:cs typeface="Arial" pitchFamily="34" charset="-120"/>
              </a:rPr>
              <a:t>Interfaces</a:t>
            </a:r>
            <a:endParaRPr lang="en-US" sz="4400" dirty="0"/>
          </a:p>
        </p:txBody>
      </p:sp>
      <p:sp>
        <p:nvSpPr>
          <p:cNvPr id="36" name="Text 0">
            <a:extLst>
              <a:ext uri="{FF2B5EF4-FFF2-40B4-BE49-F238E27FC236}">
                <a16:creationId xmlns:a16="http://schemas.microsoft.com/office/drawing/2014/main" id="{9CAD683A-AE0B-0EBC-1E2F-7292F8E2A80D}"/>
              </a:ext>
            </a:extLst>
          </p:cNvPr>
          <p:cNvSpPr>
            <a:spLocks noGrp="1"/>
          </p:cNvSpPr>
          <p:nvPr>
            <p:ph type="body" idx="102" hasCustomPrompt="1"/>
          </p:nvPr>
        </p:nvSpPr>
        <p:spPr>
          <a:xfrm>
            <a:off x="731520" y="3611880"/>
            <a:ext cx="9144000" cy="822960"/>
          </a:xfrm>
          <a:prstGeom prst="rect">
            <a:avLst/>
          </a:prstGeom>
          <a:noFill/>
          <a:ln/>
        </p:spPr>
        <p:txBody>
          <a:bodyPr wrap="square" lIns="0" tIns="0" rIns="0" bIns="0" rtlCol="0" anchor="t"/>
          <a:lstStyle/>
          <a:p>
            <a:pPr marL="0" indent="0">
              <a:buNone/>
            </a:pPr>
            <a:r>
              <a:rPr lang="en-US" sz="2000" dirty="0"/>
              <a:t>REST API, Rust SDK, error contract and published events</a:t>
            </a:r>
          </a:p>
        </p:txBody>
      </p:sp>
      <p:pic>
        <p:nvPicPr>
          <p:cNvPr id="37" name="Image 0" descr="preencoded.png">
            <a:extLst>
              <a:ext uri="{FF2B5EF4-FFF2-40B4-BE49-F238E27FC236}">
                <a16:creationId xmlns:a16="http://schemas.microsoft.com/office/drawing/2014/main" id="{502D7649-F85C-ED4C-6BE0-76462EC40AD9}"/>
              </a:ext>
            </a:extLst>
          </p:cNvPr>
          <p:cNvPicPr>
            <a:picLocks noChangeAspect="1"/>
          </p:cNvPicPr>
          <p:nvPr/>
        </p:nvPicPr>
        <p:blipFill>
          <a:blip r:embed="rId3">
            <a:alphaModFix amt="25000"/>
          </a:blip>
          <a:stretch>
            <a:fillRect/>
          </a:stretch>
        </p:blipFill>
        <p:spPr>
          <a:xfrm>
            <a:off x="9509760" y="1920240"/>
            <a:ext cx="1828800" cy="1828800"/>
          </a:xfrm>
          <a:prstGeom prst="rect">
            <a:avLst/>
          </a:prstGeom>
        </p:spPr>
      </p:pic>
      <p:sp>
        <p:nvSpPr>
          <p:cNvPr id="38" name="Shape 3">
            <a:extLst>
              <a:ext uri="{FF2B5EF4-FFF2-40B4-BE49-F238E27FC236}">
                <a16:creationId xmlns:a16="http://schemas.microsoft.com/office/drawing/2014/main" id="{DE29516F-C270-3528-1519-577358C285BC}"/>
              </a:ext>
            </a:extLst>
          </p:cNvPr>
          <p:cNvSpPr/>
          <p:nvPr/>
        </p:nvSpPr>
        <p:spPr>
          <a:xfrm>
            <a:off x="731520" y="4937760"/>
            <a:ext cx="689356"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39" name="Text 4">
            <a:extLst>
              <a:ext uri="{FF2B5EF4-FFF2-40B4-BE49-F238E27FC236}">
                <a16:creationId xmlns:a16="http://schemas.microsoft.com/office/drawing/2014/main" id="{99BA8276-DB45-4C3B-0044-F52400720375}"/>
              </a:ext>
            </a:extLst>
          </p:cNvPr>
          <p:cNvSpPr txBox="1"/>
          <p:nvPr/>
        </p:nvSpPr>
        <p:spPr>
          <a:xfrm>
            <a:off x="731520" y="4937761"/>
            <a:ext cx="689356"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REST</a:t>
            </a:r>
            <a:endParaRPr lang="en-US" sz="1300" dirty="0"/>
          </a:p>
        </p:txBody>
      </p:sp>
      <p:sp>
        <p:nvSpPr>
          <p:cNvPr id="40" name="Shape 5">
            <a:extLst>
              <a:ext uri="{FF2B5EF4-FFF2-40B4-BE49-F238E27FC236}">
                <a16:creationId xmlns:a16="http://schemas.microsoft.com/office/drawing/2014/main" id="{B0D1D91B-22A1-0E12-CC9C-B5798AB012CC}"/>
              </a:ext>
            </a:extLst>
          </p:cNvPr>
          <p:cNvSpPr/>
          <p:nvPr/>
        </p:nvSpPr>
        <p:spPr>
          <a:xfrm>
            <a:off x="1558036" y="4937760"/>
            <a:ext cx="1012952"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41" name="Text 6">
            <a:extLst>
              <a:ext uri="{FF2B5EF4-FFF2-40B4-BE49-F238E27FC236}">
                <a16:creationId xmlns:a16="http://schemas.microsoft.com/office/drawing/2014/main" id="{2F4C165A-1807-616E-F759-44C0FD08D677}"/>
              </a:ext>
            </a:extLst>
          </p:cNvPr>
          <p:cNvSpPr txBox="1"/>
          <p:nvPr/>
        </p:nvSpPr>
        <p:spPr>
          <a:xfrm>
            <a:off x="1558036" y="4937761"/>
            <a:ext cx="1012952"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Rust SDK</a:t>
            </a:r>
            <a:endParaRPr lang="en-US" sz="1300" dirty="0"/>
          </a:p>
        </p:txBody>
      </p:sp>
      <p:sp>
        <p:nvSpPr>
          <p:cNvPr id="42" name="Shape 7">
            <a:extLst>
              <a:ext uri="{FF2B5EF4-FFF2-40B4-BE49-F238E27FC236}">
                <a16:creationId xmlns:a16="http://schemas.microsoft.com/office/drawing/2014/main" id="{79FCC9FF-B871-789F-80B1-2AA0DDFEEF38}"/>
              </a:ext>
            </a:extLst>
          </p:cNvPr>
          <p:cNvSpPr/>
          <p:nvPr/>
        </p:nvSpPr>
        <p:spPr>
          <a:xfrm>
            <a:off x="2708148" y="4937760"/>
            <a:ext cx="851154"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43" name="Text 8">
            <a:extLst>
              <a:ext uri="{FF2B5EF4-FFF2-40B4-BE49-F238E27FC236}">
                <a16:creationId xmlns:a16="http://schemas.microsoft.com/office/drawing/2014/main" id="{24689533-816C-5903-301B-FE69AD7115C1}"/>
              </a:ext>
            </a:extLst>
          </p:cNvPr>
          <p:cNvSpPr txBox="1"/>
          <p:nvPr/>
        </p:nvSpPr>
        <p:spPr>
          <a:xfrm>
            <a:off x="2708148" y="4937761"/>
            <a:ext cx="851154"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Errors</a:t>
            </a:r>
            <a:endParaRPr lang="en-US" sz="1300" dirty="0"/>
          </a:p>
        </p:txBody>
      </p:sp>
      <p:sp>
        <p:nvSpPr>
          <p:cNvPr id="44" name="Shape 9">
            <a:extLst>
              <a:ext uri="{FF2B5EF4-FFF2-40B4-BE49-F238E27FC236}">
                <a16:creationId xmlns:a16="http://schemas.microsoft.com/office/drawing/2014/main" id="{A10D0B24-2688-8B2D-DC75-62C05A4110E5}"/>
              </a:ext>
            </a:extLst>
          </p:cNvPr>
          <p:cNvSpPr/>
          <p:nvPr/>
        </p:nvSpPr>
        <p:spPr>
          <a:xfrm>
            <a:off x="3696462" y="4937760"/>
            <a:ext cx="851154"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45" name="Text 10">
            <a:extLst>
              <a:ext uri="{FF2B5EF4-FFF2-40B4-BE49-F238E27FC236}">
                <a16:creationId xmlns:a16="http://schemas.microsoft.com/office/drawing/2014/main" id="{BEB04042-A2E9-08DF-A433-94D8D3FDA429}"/>
              </a:ext>
            </a:extLst>
          </p:cNvPr>
          <p:cNvSpPr txBox="1"/>
          <p:nvPr/>
        </p:nvSpPr>
        <p:spPr>
          <a:xfrm>
            <a:off x="3696462" y="4937761"/>
            <a:ext cx="851154"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Events</a:t>
            </a:r>
            <a:endParaRPr lang="en-US" sz="1300" dirty="0"/>
          </a:p>
        </p:txBody>
      </p:sp>
    </p:spTree>
    <p:extLst>
      <p:ext uri="{BB962C8B-B14F-4D97-AF65-F5344CB8AC3E}">
        <p14:creationId xmlns:p14="http://schemas.microsoft.com/office/powerpoint/2010/main" val="23940062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REST API at a glance: /api/task_engine/v1</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Every route: OperationBuilder · .authenticated() · PDP action check · RFC 9457 errors</a:t>
            </a:r>
            <a:endParaRPr lang="en-US" sz="1600" dirty="0"/>
          </a:p>
        </p:txBody>
      </p:sp>
      <p:sp>
        <p:nvSpPr>
          <p:cNvPr id="5" name="Shape 2"/>
          <p:cNvSpPr/>
          <p:nvPr/>
        </p:nvSpPr>
        <p:spPr>
          <a:xfrm>
            <a:off x="457200" y="1463040"/>
            <a:ext cx="3648456" cy="2779776"/>
          </a:xfrm>
          <a:prstGeom prst="roundRect">
            <a:avLst>
              <a:gd name="adj" fmla="val 1974"/>
            </a:avLst>
          </a:prstGeom>
          <a:solidFill>
            <a:schemeClr val="bg1"/>
          </a:solidFill>
          <a:ln/>
        </p:spPr>
        <p:txBody>
          <a:bodyPr/>
          <a:lstStyle/>
          <a:p>
            <a:endParaRPr lang="en-US"/>
          </a:p>
        </p:txBody>
      </p:sp>
      <p:sp>
        <p:nvSpPr>
          <p:cNvPr id="6" name="Shape 3"/>
          <p:cNvSpPr/>
          <p:nvPr/>
        </p:nvSpPr>
        <p:spPr>
          <a:xfrm>
            <a:off x="457200" y="1463040"/>
            <a:ext cx="3648456" cy="2825496"/>
          </a:xfrm>
          <a:prstGeom prst="roundRect">
            <a:avLst>
              <a:gd name="adj" fmla="val 1974"/>
            </a:avLst>
          </a:prstGeom>
          <a:solidFill>
            <a:schemeClr val="bg2"/>
          </a:solidFill>
          <a:ln/>
        </p:spPr>
        <p:txBody>
          <a:bodyPr/>
          <a:lstStyle/>
          <a:p>
            <a:endParaRPr lang="en-US"/>
          </a:p>
        </p:txBody>
      </p:sp>
      <p:sp>
        <p:nvSpPr>
          <p:cNvPr id="7" name="Text 4"/>
          <p:cNvSpPr txBox="1"/>
          <p:nvPr/>
        </p:nvSpPr>
        <p:spPr>
          <a:xfrm>
            <a:off x="566928" y="1536192"/>
            <a:ext cx="2286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Task lifecycle</a:t>
            </a:r>
            <a:endParaRPr lang="en-US" sz="1300" dirty="0"/>
          </a:p>
        </p:txBody>
      </p:sp>
      <p:sp>
        <p:nvSpPr>
          <p:cNvPr id="8" name="Shape 5"/>
          <p:cNvSpPr/>
          <p:nvPr/>
        </p:nvSpPr>
        <p:spPr>
          <a:xfrm>
            <a:off x="566836" y="1892808"/>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0" name="Text 7"/>
          <p:cNvSpPr txBox="1"/>
          <p:nvPr/>
        </p:nvSpPr>
        <p:spPr>
          <a:xfrm>
            <a:off x="1097280" y="1865376"/>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a:t>
            </a:r>
            <a:endParaRPr lang="en-US" sz="1000" dirty="0"/>
          </a:p>
        </p:txBody>
      </p:sp>
      <p:sp>
        <p:nvSpPr>
          <p:cNvPr id="11" name="Text 8"/>
          <p:cNvSpPr txBox="1"/>
          <p:nvPr/>
        </p:nvSpPr>
        <p:spPr>
          <a:xfrm>
            <a:off x="3429000" y="1865376"/>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create</a:t>
            </a:r>
            <a:endParaRPr lang="en-US" sz="1000" dirty="0"/>
          </a:p>
        </p:txBody>
      </p:sp>
      <p:sp>
        <p:nvSpPr>
          <p:cNvPr id="12" name="Shape 9"/>
          <p:cNvSpPr/>
          <p:nvPr/>
        </p:nvSpPr>
        <p:spPr>
          <a:xfrm>
            <a:off x="566836" y="2148840"/>
            <a:ext cx="457200" cy="192024"/>
          </a:xfrm>
          <a:prstGeom prst="roundRect">
            <a:avLst>
              <a:gd name="adj" fmla="val 14286"/>
            </a:avLst>
          </a:prstGeom>
          <a:solidFill>
            <a:schemeClr val="accent2"/>
          </a:solidFill>
          <a:ln/>
        </p:spPr>
        <p:txBody>
          <a:bodyPr anchor="ctr"/>
          <a:lstStyle/>
          <a:p>
            <a:pPr algn="ct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14" name="Text 11"/>
          <p:cNvSpPr txBox="1"/>
          <p:nvPr/>
        </p:nvSpPr>
        <p:spPr>
          <a:xfrm>
            <a:off x="1097280" y="2121408"/>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a:t>
            </a:r>
            <a:endParaRPr lang="en-US" sz="1000" dirty="0"/>
          </a:p>
        </p:txBody>
      </p:sp>
      <p:sp>
        <p:nvSpPr>
          <p:cNvPr id="15" name="Text 12"/>
          <p:cNvSpPr txBox="1"/>
          <p:nvPr/>
        </p:nvSpPr>
        <p:spPr>
          <a:xfrm>
            <a:off x="3429000" y="2121408"/>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read</a:t>
            </a:r>
            <a:endParaRPr lang="en-US" sz="1000" dirty="0"/>
          </a:p>
        </p:txBody>
      </p:sp>
      <p:sp>
        <p:nvSpPr>
          <p:cNvPr id="18" name="Text 15"/>
          <p:cNvSpPr txBox="1"/>
          <p:nvPr/>
        </p:nvSpPr>
        <p:spPr>
          <a:xfrm>
            <a:off x="1097280" y="2377440"/>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/tasks/claim</a:t>
            </a:r>
            <a:endParaRPr lang="en-US" sz="1000" dirty="0"/>
          </a:p>
        </p:txBody>
      </p:sp>
      <p:sp>
        <p:nvSpPr>
          <p:cNvPr id="19" name="Text 16"/>
          <p:cNvSpPr txBox="1"/>
          <p:nvPr/>
        </p:nvSpPr>
        <p:spPr>
          <a:xfrm>
            <a:off x="3429000" y="2377440"/>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claim</a:t>
            </a:r>
            <a:endParaRPr lang="en-US" sz="1000" dirty="0"/>
          </a:p>
        </p:txBody>
      </p:sp>
      <p:sp>
        <p:nvSpPr>
          <p:cNvPr id="22" name="Text 19"/>
          <p:cNvSpPr txBox="1"/>
          <p:nvPr/>
        </p:nvSpPr>
        <p:spPr>
          <a:xfrm>
            <a:off x="1097280" y="2633472"/>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/tasks/{id}/start</a:t>
            </a:r>
            <a:endParaRPr lang="en-US" sz="1000" dirty="0"/>
          </a:p>
        </p:txBody>
      </p:sp>
      <p:sp>
        <p:nvSpPr>
          <p:cNvPr id="23" name="Text 20"/>
          <p:cNvSpPr txBox="1"/>
          <p:nvPr/>
        </p:nvSpPr>
        <p:spPr>
          <a:xfrm>
            <a:off x="3429000" y="2633472"/>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claim</a:t>
            </a:r>
            <a:endParaRPr lang="en-US" sz="1000" dirty="0"/>
          </a:p>
        </p:txBody>
      </p:sp>
      <p:sp>
        <p:nvSpPr>
          <p:cNvPr id="26" name="Text 23"/>
          <p:cNvSpPr txBox="1"/>
          <p:nvPr/>
        </p:nvSpPr>
        <p:spPr>
          <a:xfrm>
            <a:off x="1097280" y="2889504"/>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/tasks/{id}/heartbeat</a:t>
            </a:r>
            <a:endParaRPr lang="en-US" sz="1000" dirty="0"/>
          </a:p>
        </p:txBody>
      </p:sp>
      <p:sp>
        <p:nvSpPr>
          <p:cNvPr id="27" name="Text 24"/>
          <p:cNvSpPr txBox="1"/>
          <p:nvPr/>
        </p:nvSpPr>
        <p:spPr>
          <a:xfrm>
            <a:off x="3429000" y="2889504"/>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claim</a:t>
            </a:r>
            <a:endParaRPr lang="en-US" sz="1000" dirty="0"/>
          </a:p>
        </p:txBody>
      </p:sp>
      <p:sp>
        <p:nvSpPr>
          <p:cNvPr id="30" name="Text 27"/>
          <p:cNvSpPr txBox="1"/>
          <p:nvPr/>
        </p:nvSpPr>
        <p:spPr>
          <a:xfrm>
            <a:off x="1097280" y="3145536"/>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/tasks/{id}/progress</a:t>
            </a:r>
            <a:endParaRPr lang="en-US" sz="1000" dirty="0"/>
          </a:p>
        </p:txBody>
      </p:sp>
      <p:sp>
        <p:nvSpPr>
          <p:cNvPr id="31" name="Text 28"/>
          <p:cNvSpPr txBox="1"/>
          <p:nvPr/>
        </p:nvSpPr>
        <p:spPr>
          <a:xfrm>
            <a:off x="3429000" y="3145536"/>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update</a:t>
            </a:r>
            <a:endParaRPr lang="en-US" sz="1000" dirty="0"/>
          </a:p>
        </p:txBody>
      </p:sp>
      <p:sp>
        <p:nvSpPr>
          <p:cNvPr id="34" name="Text 31"/>
          <p:cNvSpPr txBox="1"/>
          <p:nvPr/>
        </p:nvSpPr>
        <p:spPr>
          <a:xfrm>
            <a:off x="1097280" y="3401568"/>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/tasks/{id}/checkpoint</a:t>
            </a:r>
            <a:endParaRPr lang="en-US" sz="1000" dirty="0"/>
          </a:p>
        </p:txBody>
      </p:sp>
      <p:sp>
        <p:nvSpPr>
          <p:cNvPr id="35" name="Text 32"/>
          <p:cNvSpPr txBox="1"/>
          <p:nvPr/>
        </p:nvSpPr>
        <p:spPr>
          <a:xfrm>
            <a:off x="3429000" y="3401568"/>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update</a:t>
            </a:r>
            <a:endParaRPr lang="en-US" sz="1000" dirty="0"/>
          </a:p>
        </p:txBody>
      </p:sp>
      <p:sp>
        <p:nvSpPr>
          <p:cNvPr id="38" name="Text 35"/>
          <p:cNvSpPr txBox="1"/>
          <p:nvPr/>
        </p:nvSpPr>
        <p:spPr>
          <a:xfrm>
            <a:off x="1097280" y="3657600"/>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/tasks/{id}/complete</a:t>
            </a:r>
            <a:endParaRPr lang="en-US" sz="1000" dirty="0"/>
          </a:p>
        </p:txBody>
      </p:sp>
      <p:sp>
        <p:nvSpPr>
          <p:cNvPr id="39" name="Text 36"/>
          <p:cNvSpPr txBox="1"/>
          <p:nvPr/>
        </p:nvSpPr>
        <p:spPr>
          <a:xfrm>
            <a:off x="3429000" y="3657600"/>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claim</a:t>
            </a:r>
            <a:endParaRPr lang="en-US" sz="1000" dirty="0"/>
          </a:p>
        </p:txBody>
      </p:sp>
      <p:sp>
        <p:nvSpPr>
          <p:cNvPr id="42" name="Text 39"/>
          <p:cNvSpPr txBox="1"/>
          <p:nvPr/>
        </p:nvSpPr>
        <p:spPr>
          <a:xfrm>
            <a:off x="1097280" y="3913632"/>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/tasks/{id}/cancel</a:t>
            </a:r>
            <a:endParaRPr lang="en-US" sz="1000" dirty="0"/>
          </a:p>
        </p:txBody>
      </p:sp>
      <p:sp>
        <p:nvSpPr>
          <p:cNvPr id="43" name="Text 40"/>
          <p:cNvSpPr txBox="1"/>
          <p:nvPr/>
        </p:nvSpPr>
        <p:spPr>
          <a:xfrm>
            <a:off x="3429000" y="3913632"/>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cancel</a:t>
            </a:r>
            <a:endParaRPr lang="en-US" sz="1000" dirty="0"/>
          </a:p>
        </p:txBody>
      </p:sp>
      <p:sp>
        <p:nvSpPr>
          <p:cNvPr id="44" name="Shape 41"/>
          <p:cNvSpPr/>
          <p:nvPr/>
        </p:nvSpPr>
        <p:spPr>
          <a:xfrm>
            <a:off x="457200" y="4379976"/>
            <a:ext cx="3648456" cy="1243584"/>
          </a:xfrm>
          <a:prstGeom prst="roundRect">
            <a:avLst>
              <a:gd name="adj" fmla="val 4412"/>
            </a:avLst>
          </a:prstGeom>
          <a:solidFill>
            <a:schemeClr val="bg1"/>
          </a:solidFill>
          <a:ln/>
        </p:spPr>
        <p:txBody>
          <a:bodyPr/>
          <a:lstStyle/>
          <a:p>
            <a:endParaRPr lang="en-US"/>
          </a:p>
        </p:txBody>
      </p:sp>
      <p:sp>
        <p:nvSpPr>
          <p:cNvPr id="45" name="Shape 42"/>
          <p:cNvSpPr/>
          <p:nvPr/>
        </p:nvSpPr>
        <p:spPr>
          <a:xfrm>
            <a:off x="457200" y="4379976"/>
            <a:ext cx="3648456" cy="1545336"/>
          </a:xfrm>
          <a:prstGeom prst="roundRect">
            <a:avLst>
              <a:gd name="adj" fmla="val 4412"/>
            </a:avLst>
          </a:prstGeom>
          <a:solidFill>
            <a:schemeClr val="bg2"/>
          </a:solidFill>
          <a:ln/>
        </p:spPr>
        <p:txBody>
          <a:bodyPr/>
          <a:lstStyle/>
          <a:p>
            <a:endParaRPr lang="en-US"/>
          </a:p>
        </p:txBody>
      </p:sp>
      <p:sp>
        <p:nvSpPr>
          <p:cNvPr id="46" name="Text 43"/>
          <p:cNvSpPr txBox="1"/>
          <p:nvPr/>
        </p:nvSpPr>
        <p:spPr>
          <a:xfrm>
            <a:off x="566928" y="4453128"/>
            <a:ext cx="2286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Task entries</a:t>
            </a:r>
            <a:endParaRPr lang="en-US" sz="1300" dirty="0"/>
          </a:p>
        </p:txBody>
      </p:sp>
      <p:sp>
        <p:nvSpPr>
          <p:cNvPr id="49" name="Text 46"/>
          <p:cNvSpPr txBox="1"/>
          <p:nvPr/>
        </p:nvSpPr>
        <p:spPr>
          <a:xfrm>
            <a:off x="1097280" y="4782312"/>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/tasks/{id}/entries</a:t>
            </a:r>
            <a:endParaRPr lang="en-US" sz="1000" dirty="0"/>
          </a:p>
        </p:txBody>
      </p:sp>
      <p:sp>
        <p:nvSpPr>
          <p:cNvPr id="50" name="Text 47"/>
          <p:cNvSpPr txBox="1"/>
          <p:nvPr/>
        </p:nvSpPr>
        <p:spPr>
          <a:xfrm>
            <a:off x="3429000" y="4782312"/>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create</a:t>
            </a:r>
            <a:endParaRPr lang="en-US" sz="1000" dirty="0"/>
          </a:p>
        </p:txBody>
      </p:sp>
      <p:sp>
        <p:nvSpPr>
          <p:cNvPr id="51" name="Shape 48"/>
          <p:cNvSpPr/>
          <p:nvPr/>
        </p:nvSpPr>
        <p:spPr>
          <a:xfrm>
            <a:off x="566928" y="5065776"/>
            <a:ext cx="457200" cy="192024"/>
          </a:xfrm>
          <a:prstGeom prst="roundRect">
            <a:avLst>
              <a:gd name="adj" fmla="val 14286"/>
            </a:avLst>
          </a:prstGeom>
          <a:solidFill>
            <a:schemeClr val="accent2"/>
          </a:solidFill>
          <a:ln/>
        </p:spPr>
        <p:txBody>
          <a:bodyPr/>
          <a:lstStyle/>
          <a:p>
            <a:endParaRPr lang="en-US"/>
          </a:p>
        </p:txBody>
      </p:sp>
      <p:sp>
        <p:nvSpPr>
          <p:cNvPr id="52" name="Text 49"/>
          <p:cNvSpPr txBox="1"/>
          <p:nvPr/>
        </p:nvSpPr>
        <p:spPr>
          <a:xfrm>
            <a:off x="566928" y="5065776"/>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53" name="Text 50"/>
          <p:cNvSpPr txBox="1"/>
          <p:nvPr/>
        </p:nvSpPr>
        <p:spPr>
          <a:xfrm>
            <a:off x="1097280" y="5038344"/>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/tasks/{id}/entries</a:t>
            </a:r>
            <a:endParaRPr lang="en-US" sz="1000" dirty="0"/>
          </a:p>
        </p:txBody>
      </p:sp>
      <p:sp>
        <p:nvSpPr>
          <p:cNvPr id="54" name="Text 51"/>
          <p:cNvSpPr txBox="1"/>
          <p:nvPr/>
        </p:nvSpPr>
        <p:spPr>
          <a:xfrm>
            <a:off x="3429000" y="5038344"/>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read</a:t>
            </a:r>
            <a:endParaRPr lang="en-US" sz="1000" dirty="0"/>
          </a:p>
        </p:txBody>
      </p:sp>
      <p:sp>
        <p:nvSpPr>
          <p:cNvPr id="55" name="Shape 52"/>
          <p:cNvSpPr/>
          <p:nvPr/>
        </p:nvSpPr>
        <p:spPr>
          <a:xfrm>
            <a:off x="566928" y="5321808"/>
            <a:ext cx="457200" cy="192024"/>
          </a:xfrm>
          <a:prstGeom prst="roundRect">
            <a:avLst>
              <a:gd name="adj" fmla="val 14286"/>
            </a:avLst>
          </a:prstGeom>
          <a:solidFill>
            <a:schemeClr val="accent2"/>
          </a:solidFill>
          <a:ln/>
        </p:spPr>
        <p:txBody>
          <a:bodyPr/>
          <a:lstStyle/>
          <a:p>
            <a:endParaRPr lang="en-US"/>
          </a:p>
        </p:txBody>
      </p:sp>
      <p:sp>
        <p:nvSpPr>
          <p:cNvPr id="56" name="Text 53"/>
          <p:cNvSpPr txBox="1"/>
          <p:nvPr/>
        </p:nvSpPr>
        <p:spPr>
          <a:xfrm>
            <a:off x="566928" y="5321808"/>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57" name="Text 54"/>
          <p:cNvSpPr txBox="1"/>
          <p:nvPr/>
        </p:nvSpPr>
        <p:spPr>
          <a:xfrm>
            <a:off x="1097280" y="5294376"/>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/tasks/{id}/entries/{eid}</a:t>
            </a:r>
            <a:endParaRPr lang="en-US" sz="1000" dirty="0"/>
          </a:p>
        </p:txBody>
      </p:sp>
      <p:sp>
        <p:nvSpPr>
          <p:cNvPr id="58" name="Text 55"/>
          <p:cNvSpPr txBox="1"/>
          <p:nvPr/>
        </p:nvSpPr>
        <p:spPr>
          <a:xfrm>
            <a:off x="3429000" y="5294376"/>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read</a:t>
            </a:r>
            <a:endParaRPr lang="en-US" sz="1000" dirty="0"/>
          </a:p>
        </p:txBody>
      </p:sp>
      <p:sp>
        <p:nvSpPr>
          <p:cNvPr id="59" name="Shape 56"/>
          <p:cNvSpPr/>
          <p:nvPr/>
        </p:nvSpPr>
        <p:spPr>
          <a:xfrm>
            <a:off x="4270248" y="1463040"/>
            <a:ext cx="3648456" cy="1243584"/>
          </a:xfrm>
          <a:prstGeom prst="roundRect">
            <a:avLst>
              <a:gd name="adj" fmla="val 4412"/>
            </a:avLst>
          </a:prstGeom>
          <a:solidFill>
            <a:schemeClr val="bg1"/>
          </a:solidFill>
          <a:ln/>
        </p:spPr>
        <p:txBody>
          <a:bodyPr/>
          <a:lstStyle/>
          <a:p>
            <a:endParaRPr lang="en-US"/>
          </a:p>
        </p:txBody>
      </p:sp>
      <p:sp>
        <p:nvSpPr>
          <p:cNvPr id="60" name="Shape 57"/>
          <p:cNvSpPr/>
          <p:nvPr/>
        </p:nvSpPr>
        <p:spPr>
          <a:xfrm>
            <a:off x="4270248" y="1463040"/>
            <a:ext cx="3648456" cy="1243584"/>
          </a:xfrm>
          <a:prstGeom prst="roundRect">
            <a:avLst>
              <a:gd name="adj" fmla="val 4412"/>
            </a:avLst>
          </a:prstGeom>
          <a:solidFill>
            <a:schemeClr val="bg2"/>
          </a:solidFill>
          <a:ln/>
        </p:spPr>
        <p:txBody>
          <a:bodyPr/>
          <a:lstStyle/>
          <a:p>
            <a:endParaRPr lang="en-US"/>
          </a:p>
        </p:txBody>
      </p:sp>
      <p:sp>
        <p:nvSpPr>
          <p:cNvPr id="61" name="Text 58"/>
          <p:cNvSpPr txBox="1"/>
          <p:nvPr/>
        </p:nvSpPr>
        <p:spPr>
          <a:xfrm>
            <a:off x="4379976" y="1536192"/>
            <a:ext cx="2286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Wait conditions</a:t>
            </a:r>
            <a:endParaRPr lang="en-US" sz="1300" dirty="0"/>
          </a:p>
        </p:txBody>
      </p:sp>
      <p:sp>
        <p:nvSpPr>
          <p:cNvPr id="64" name="Text 61"/>
          <p:cNvSpPr txBox="1"/>
          <p:nvPr/>
        </p:nvSpPr>
        <p:spPr>
          <a:xfrm>
            <a:off x="4910328" y="1865376"/>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/tasks/{id}/wait-conditions</a:t>
            </a:r>
            <a:endParaRPr lang="en-US" sz="1000" dirty="0"/>
          </a:p>
        </p:txBody>
      </p:sp>
      <p:sp>
        <p:nvSpPr>
          <p:cNvPr id="65" name="Text 62"/>
          <p:cNvSpPr txBox="1"/>
          <p:nvPr/>
        </p:nvSpPr>
        <p:spPr>
          <a:xfrm>
            <a:off x="7242048" y="1865376"/>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claim</a:t>
            </a:r>
            <a:endParaRPr lang="en-US" sz="1000" dirty="0"/>
          </a:p>
        </p:txBody>
      </p:sp>
      <p:sp>
        <p:nvSpPr>
          <p:cNvPr id="66" name="Shape 63"/>
          <p:cNvSpPr/>
          <p:nvPr/>
        </p:nvSpPr>
        <p:spPr>
          <a:xfrm>
            <a:off x="4379145" y="2144245"/>
            <a:ext cx="457200" cy="192024"/>
          </a:xfrm>
          <a:prstGeom prst="roundRect">
            <a:avLst>
              <a:gd name="adj" fmla="val 14286"/>
            </a:avLst>
          </a:prstGeom>
          <a:solidFill>
            <a:schemeClr val="accent2"/>
          </a:solidFill>
          <a:ln/>
        </p:spPr>
        <p:txBody>
          <a:bodyPr anchor="ctr"/>
          <a:lstStyle/>
          <a:p>
            <a:pPr algn="ct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68" name="Text 65"/>
          <p:cNvSpPr txBox="1"/>
          <p:nvPr/>
        </p:nvSpPr>
        <p:spPr>
          <a:xfrm>
            <a:off x="4910328" y="2121408"/>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/tasks/{id}/wait-conditions</a:t>
            </a:r>
            <a:endParaRPr lang="en-US" sz="1000" dirty="0"/>
          </a:p>
        </p:txBody>
      </p:sp>
      <p:sp>
        <p:nvSpPr>
          <p:cNvPr id="69" name="Text 66"/>
          <p:cNvSpPr txBox="1"/>
          <p:nvPr/>
        </p:nvSpPr>
        <p:spPr>
          <a:xfrm>
            <a:off x="7242048" y="2121408"/>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read</a:t>
            </a:r>
            <a:endParaRPr lang="en-US" sz="1000" dirty="0"/>
          </a:p>
        </p:txBody>
      </p:sp>
      <p:sp>
        <p:nvSpPr>
          <p:cNvPr id="72" name="Text 69"/>
          <p:cNvSpPr txBox="1"/>
          <p:nvPr/>
        </p:nvSpPr>
        <p:spPr>
          <a:xfrm>
            <a:off x="4910328" y="2377440"/>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/wait-conditions/{id}/resolve</a:t>
            </a:r>
            <a:endParaRPr lang="en-US" sz="1000" dirty="0"/>
          </a:p>
        </p:txBody>
      </p:sp>
      <p:sp>
        <p:nvSpPr>
          <p:cNvPr id="73" name="Text 70"/>
          <p:cNvSpPr txBox="1"/>
          <p:nvPr/>
        </p:nvSpPr>
        <p:spPr>
          <a:xfrm>
            <a:off x="7242048" y="2377440"/>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update</a:t>
            </a:r>
            <a:endParaRPr lang="en-US" sz="1000" dirty="0"/>
          </a:p>
        </p:txBody>
      </p:sp>
      <p:sp>
        <p:nvSpPr>
          <p:cNvPr id="74" name="Shape 71"/>
          <p:cNvSpPr/>
          <p:nvPr/>
        </p:nvSpPr>
        <p:spPr>
          <a:xfrm>
            <a:off x="4270248" y="2788920"/>
            <a:ext cx="3648456" cy="1499616"/>
          </a:xfrm>
          <a:prstGeom prst="roundRect">
            <a:avLst>
              <a:gd name="adj" fmla="val 3659"/>
            </a:avLst>
          </a:prstGeom>
          <a:solidFill>
            <a:schemeClr val="bg1"/>
          </a:solidFill>
          <a:ln/>
        </p:spPr>
        <p:txBody>
          <a:bodyPr/>
          <a:lstStyle/>
          <a:p>
            <a:endParaRPr lang="en-US"/>
          </a:p>
        </p:txBody>
      </p:sp>
      <p:sp>
        <p:nvSpPr>
          <p:cNvPr id="75" name="Shape 72"/>
          <p:cNvSpPr/>
          <p:nvPr/>
        </p:nvSpPr>
        <p:spPr>
          <a:xfrm>
            <a:off x="4270248" y="2788920"/>
            <a:ext cx="3648456" cy="1499616"/>
          </a:xfrm>
          <a:prstGeom prst="roundRect">
            <a:avLst>
              <a:gd name="adj" fmla="val 3659"/>
            </a:avLst>
          </a:prstGeom>
          <a:solidFill>
            <a:schemeClr val="bg2"/>
          </a:solidFill>
          <a:ln/>
        </p:spPr>
        <p:txBody>
          <a:bodyPr/>
          <a:lstStyle/>
          <a:p>
            <a:endParaRPr lang="en-US"/>
          </a:p>
        </p:txBody>
      </p:sp>
      <p:sp>
        <p:nvSpPr>
          <p:cNvPr id="76" name="Text 73"/>
          <p:cNvSpPr txBox="1"/>
          <p:nvPr/>
        </p:nvSpPr>
        <p:spPr>
          <a:xfrm>
            <a:off x="4379976" y="2862072"/>
            <a:ext cx="2286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Search &amp; queues</a:t>
            </a:r>
            <a:endParaRPr lang="en-US" sz="1300" dirty="0"/>
          </a:p>
        </p:txBody>
      </p:sp>
      <p:sp>
        <p:nvSpPr>
          <p:cNvPr id="77" name="Shape 74"/>
          <p:cNvSpPr/>
          <p:nvPr/>
        </p:nvSpPr>
        <p:spPr>
          <a:xfrm>
            <a:off x="4379976" y="3218688"/>
            <a:ext cx="457200" cy="192024"/>
          </a:xfrm>
          <a:prstGeom prst="roundRect">
            <a:avLst>
              <a:gd name="adj" fmla="val 14286"/>
            </a:avLst>
          </a:prstGeom>
          <a:solidFill>
            <a:schemeClr val="accent2"/>
          </a:solidFill>
          <a:ln/>
        </p:spPr>
        <p:txBody>
          <a:bodyPr/>
          <a:lstStyle/>
          <a:p>
            <a:endParaRPr lang="en-US"/>
          </a:p>
        </p:txBody>
      </p:sp>
      <p:sp>
        <p:nvSpPr>
          <p:cNvPr id="78" name="Text 75"/>
          <p:cNvSpPr txBox="1"/>
          <p:nvPr/>
        </p:nvSpPr>
        <p:spPr>
          <a:xfrm>
            <a:off x="4379976" y="3218688"/>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79" name="Text 76"/>
          <p:cNvSpPr txBox="1"/>
          <p:nvPr/>
        </p:nvSpPr>
        <p:spPr>
          <a:xfrm>
            <a:off x="4910328" y="3191256"/>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/tasks?$filter=…</a:t>
            </a:r>
            <a:endParaRPr lang="en-US" sz="1000" dirty="0"/>
          </a:p>
        </p:txBody>
      </p:sp>
      <p:sp>
        <p:nvSpPr>
          <p:cNvPr id="80" name="Text 77"/>
          <p:cNvSpPr txBox="1"/>
          <p:nvPr/>
        </p:nvSpPr>
        <p:spPr>
          <a:xfrm>
            <a:off x="7242048" y="3191256"/>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read</a:t>
            </a:r>
            <a:endParaRPr lang="en-US" sz="1000" dirty="0"/>
          </a:p>
        </p:txBody>
      </p:sp>
      <p:sp>
        <p:nvSpPr>
          <p:cNvPr id="81" name="Shape 78"/>
          <p:cNvSpPr/>
          <p:nvPr/>
        </p:nvSpPr>
        <p:spPr>
          <a:xfrm>
            <a:off x="4379976" y="3474720"/>
            <a:ext cx="457200" cy="192024"/>
          </a:xfrm>
          <a:prstGeom prst="roundRect">
            <a:avLst>
              <a:gd name="adj" fmla="val 14286"/>
            </a:avLst>
          </a:prstGeom>
          <a:solidFill>
            <a:schemeClr val="accent2"/>
          </a:solidFill>
          <a:ln/>
        </p:spPr>
        <p:txBody>
          <a:bodyPr/>
          <a:lstStyle/>
          <a:p>
            <a:endParaRPr lang="en-US"/>
          </a:p>
        </p:txBody>
      </p:sp>
      <p:sp>
        <p:nvSpPr>
          <p:cNvPr id="82" name="Text 79"/>
          <p:cNvSpPr txBox="1"/>
          <p:nvPr/>
        </p:nvSpPr>
        <p:spPr>
          <a:xfrm>
            <a:off x="4379976" y="3474720"/>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83" name="Text 80"/>
          <p:cNvSpPr txBox="1"/>
          <p:nvPr/>
        </p:nvSpPr>
        <p:spPr>
          <a:xfrm>
            <a:off x="4910328" y="3447288"/>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/tasks/{id}/events</a:t>
            </a:r>
            <a:endParaRPr lang="en-US" sz="1000" dirty="0"/>
          </a:p>
        </p:txBody>
      </p:sp>
      <p:sp>
        <p:nvSpPr>
          <p:cNvPr id="84" name="Text 81"/>
          <p:cNvSpPr txBox="1"/>
          <p:nvPr/>
        </p:nvSpPr>
        <p:spPr>
          <a:xfrm>
            <a:off x="7242048" y="3447288"/>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read</a:t>
            </a:r>
            <a:endParaRPr lang="en-US" sz="1000" dirty="0"/>
          </a:p>
        </p:txBody>
      </p:sp>
      <p:sp>
        <p:nvSpPr>
          <p:cNvPr id="85" name="Shape 82"/>
          <p:cNvSpPr/>
          <p:nvPr/>
        </p:nvSpPr>
        <p:spPr>
          <a:xfrm>
            <a:off x="4379976" y="3730752"/>
            <a:ext cx="457200" cy="192024"/>
          </a:xfrm>
          <a:prstGeom prst="roundRect">
            <a:avLst>
              <a:gd name="adj" fmla="val 14286"/>
            </a:avLst>
          </a:prstGeom>
          <a:solidFill>
            <a:schemeClr val="accent2"/>
          </a:solidFill>
          <a:ln/>
        </p:spPr>
        <p:txBody>
          <a:bodyPr/>
          <a:lstStyle/>
          <a:p>
            <a:endParaRPr lang="en-US"/>
          </a:p>
        </p:txBody>
      </p:sp>
      <p:sp>
        <p:nvSpPr>
          <p:cNvPr id="86" name="Text 83"/>
          <p:cNvSpPr txBox="1"/>
          <p:nvPr/>
        </p:nvSpPr>
        <p:spPr>
          <a:xfrm>
            <a:off x="4379976" y="3730752"/>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87" name="Text 84"/>
          <p:cNvSpPr txBox="1"/>
          <p:nvPr/>
        </p:nvSpPr>
        <p:spPr>
          <a:xfrm>
            <a:off x="4910328" y="3703320"/>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/queues</a:t>
            </a:r>
            <a:endParaRPr lang="en-US" sz="1000" dirty="0"/>
          </a:p>
        </p:txBody>
      </p:sp>
      <p:sp>
        <p:nvSpPr>
          <p:cNvPr id="88" name="Text 85"/>
          <p:cNvSpPr txBox="1"/>
          <p:nvPr/>
        </p:nvSpPr>
        <p:spPr>
          <a:xfrm>
            <a:off x="7242048" y="3703320"/>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read</a:t>
            </a:r>
            <a:endParaRPr lang="en-US" sz="1000" dirty="0"/>
          </a:p>
        </p:txBody>
      </p:sp>
      <p:sp>
        <p:nvSpPr>
          <p:cNvPr id="89" name="Shape 86"/>
          <p:cNvSpPr/>
          <p:nvPr/>
        </p:nvSpPr>
        <p:spPr>
          <a:xfrm>
            <a:off x="4379976" y="3986784"/>
            <a:ext cx="457200" cy="192024"/>
          </a:xfrm>
          <a:prstGeom prst="roundRect">
            <a:avLst>
              <a:gd name="adj" fmla="val 14286"/>
            </a:avLst>
          </a:prstGeom>
          <a:solidFill>
            <a:schemeClr val="accent2"/>
          </a:solidFill>
          <a:ln/>
        </p:spPr>
        <p:txBody>
          <a:bodyPr/>
          <a:lstStyle/>
          <a:p>
            <a:endParaRPr lang="en-US"/>
          </a:p>
        </p:txBody>
      </p:sp>
      <p:sp>
        <p:nvSpPr>
          <p:cNvPr id="90" name="Text 87"/>
          <p:cNvSpPr txBox="1"/>
          <p:nvPr/>
        </p:nvSpPr>
        <p:spPr>
          <a:xfrm>
            <a:off x="4379976" y="3986784"/>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91" name="Text 88"/>
          <p:cNvSpPr txBox="1"/>
          <p:nvPr/>
        </p:nvSpPr>
        <p:spPr>
          <a:xfrm>
            <a:off x="4910328" y="3959352"/>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/queues/{id}</a:t>
            </a:r>
            <a:endParaRPr lang="en-US" sz="1000" dirty="0"/>
          </a:p>
        </p:txBody>
      </p:sp>
      <p:sp>
        <p:nvSpPr>
          <p:cNvPr id="92" name="Text 89"/>
          <p:cNvSpPr txBox="1"/>
          <p:nvPr/>
        </p:nvSpPr>
        <p:spPr>
          <a:xfrm>
            <a:off x="7242048" y="3959352"/>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read</a:t>
            </a:r>
            <a:endParaRPr lang="en-US" sz="1000" dirty="0"/>
          </a:p>
        </p:txBody>
      </p:sp>
      <p:sp>
        <p:nvSpPr>
          <p:cNvPr id="93" name="Shape 90"/>
          <p:cNvSpPr/>
          <p:nvPr/>
        </p:nvSpPr>
        <p:spPr>
          <a:xfrm>
            <a:off x="4270248" y="4370832"/>
            <a:ext cx="3648456" cy="1243584"/>
          </a:xfrm>
          <a:prstGeom prst="roundRect">
            <a:avLst>
              <a:gd name="adj" fmla="val 4412"/>
            </a:avLst>
          </a:prstGeom>
          <a:solidFill>
            <a:schemeClr val="bg1"/>
          </a:solidFill>
          <a:ln/>
        </p:spPr>
        <p:txBody>
          <a:bodyPr/>
          <a:lstStyle/>
          <a:p>
            <a:endParaRPr lang="en-US"/>
          </a:p>
        </p:txBody>
      </p:sp>
      <p:sp>
        <p:nvSpPr>
          <p:cNvPr id="94" name="Shape 91"/>
          <p:cNvSpPr/>
          <p:nvPr/>
        </p:nvSpPr>
        <p:spPr>
          <a:xfrm>
            <a:off x="4270248" y="4370832"/>
            <a:ext cx="3648456" cy="1545336"/>
          </a:xfrm>
          <a:prstGeom prst="roundRect">
            <a:avLst>
              <a:gd name="adj" fmla="val 4412"/>
            </a:avLst>
          </a:prstGeom>
          <a:solidFill>
            <a:schemeClr val="bg2"/>
          </a:solidFill>
          <a:ln/>
        </p:spPr>
        <p:txBody>
          <a:bodyPr/>
          <a:lstStyle/>
          <a:p>
            <a:endParaRPr lang="en-US"/>
          </a:p>
        </p:txBody>
      </p:sp>
      <p:sp>
        <p:nvSpPr>
          <p:cNvPr id="95" name="Text 92"/>
          <p:cNvSpPr txBox="1"/>
          <p:nvPr/>
        </p:nvSpPr>
        <p:spPr>
          <a:xfrm>
            <a:off x="4379976" y="4443984"/>
            <a:ext cx="2286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Probes</a:t>
            </a:r>
            <a:endParaRPr lang="en-US" sz="1300" dirty="0"/>
          </a:p>
        </p:txBody>
      </p:sp>
      <p:sp>
        <p:nvSpPr>
          <p:cNvPr id="96" name="Shape 93"/>
          <p:cNvSpPr/>
          <p:nvPr/>
        </p:nvSpPr>
        <p:spPr>
          <a:xfrm>
            <a:off x="4379976" y="4800600"/>
            <a:ext cx="457200" cy="192024"/>
          </a:xfrm>
          <a:prstGeom prst="roundRect">
            <a:avLst>
              <a:gd name="adj" fmla="val 14286"/>
            </a:avLst>
          </a:prstGeom>
          <a:solidFill>
            <a:schemeClr val="accent2"/>
          </a:solidFill>
          <a:ln/>
        </p:spPr>
        <p:txBody>
          <a:bodyPr/>
          <a:lstStyle/>
          <a:p>
            <a:endParaRPr lang="en-US"/>
          </a:p>
        </p:txBody>
      </p:sp>
      <p:sp>
        <p:nvSpPr>
          <p:cNvPr id="97" name="Text 94"/>
          <p:cNvSpPr txBox="1"/>
          <p:nvPr/>
        </p:nvSpPr>
        <p:spPr>
          <a:xfrm>
            <a:off x="4379976" y="4800600"/>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98" name="Text 95"/>
          <p:cNvSpPr txBox="1"/>
          <p:nvPr/>
        </p:nvSpPr>
        <p:spPr>
          <a:xfrm>
            <a:off x="4910328" y="4773168"/>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/health</a:t>
            </a:r>
            <a:endParaRPr lang="en-US" sz="1000" dirty="0"/>
          </a:p>
        </p:txBody>
      </p:sp>
      <p:sp>
        <p:nvSpPr>
          <p:cNvPr id="99" name="Text 96"/>
          <p:cNvSpPr txBox="1"/>
          <p:nvPr/>
        </p:nvSpPr>
        <p:spPr>
          <a:xfrm>
            <a:off x="7242048" y="4773168"/>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anon</a:t>
            </a:r>
            <a:endParaRPr lang="en-US" sz="1000" dirty="0"/>
          </a:p>
        </p:txBody>
      </p:sp>
      <p:sp>
        <p:nvSpPr>
          <p:cNvPr id="100" name="Shape 97"/>
          <p:cNvSpPr/>
          <p:nvPr/>
        </p:nvSpPr>
        <p:spPr>
          <a:xfrm>
            <a:off x="4379976" y="5056632"/>
            <a:ext cx="457200" cy="192024"/>
          </a:xfrm>
          <a:prstGeom prst="roundRect">
            <a:avLst>
              <a:gd name="adj" fmla="val 14286"/>
            </a:avLst>
          </a:prstGeom>
          <a:solidFill>
            <a:schemeClr val="accent2"/>
          </a:solidFill>
          <a:ln/>
        </p:spPr>
        <p:txBody>
          <a:bodyPr/>
          <a:lstStyle/>
          <a:p>
            <a:endParaRPr lang="en-US"/>
          </a:p>
        </p:txBody>
      </p:sp>
      <p:sp>
        <p:nvSpPr>
          <p:cNvPr id="101" name="Text 98"/>
          <p:cNvSpPr txBox="1"/>
          <p:nvPr/>
        </p:nvSpPr>
        <p:spPr>
          <a:xfrm>
            <a:off x="4379976" y="5056632"/>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102" name="Text 99"/>
          <p:cNvSpPr txBox="1"/>
          <p:nvPr/>
        </p:nvSpPr>
        <p:spPr>
          <a:xfrm>
            <a:off x="4910328" y="5029200"/>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/ready</a:t>
            </a:r>
            <a:endParaRPr lang="en-US" sz="1000" dirty="0"/>
          </a:p>
        </p:txBody>
      </p:sp>
      <p:sp>
        <p:nvSpPr>
          <p:cNvPr id="103" name="Text 100"/>
          <p:cNvSpPr txBox="1"/>
          <p:nvPr/>
        </p:nvSpPr>
        <p:spPr>
          <a:xfrm>
            <a:off x="7242048" y="5029200"/>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anon</a:t>
            </a:r>
            <a:endParaRPr lang="en-US" sz="1000" dirty="0"/>
          </a:p>
        </p:txBody>
      </p:sp>
      <p:sp>
        <p:nvSpPr>
          <p:cNvPr id="104" name="Shape 101"/>
          <p:cNvSpPr/>
          <p:nvPr/>
        </p:nvSpPr>
        <p:spPr>
          <a:xfrm>
            <a:off x="4379976" y="5312664"/>
            <a:ext cx="457200" cy="192024"/>
          </a:xfrm>
          <a:prstGeom prst="roundRect">
            <a:avLst>
              <a:gd name="adj" fmla="val 14286"/>
            </a:avLst>
          </a:prstGeom>
          <a:solidFill>
            <a:schemeClr val="accent2"/>
          </a:solidFill>
          <a:ln/>
        </p:spPr>
        <p:txBody>
          <a:bodyPr/>
          <a:lstStyle/>
          <a:p>
            <a:endParaRPr lang="en-US"/>
          </a:p>
        </p:txBody>
      </p:sp>
      <p:sp>
        <p:nvSpPr>
          <p:cNvPr id="105" name="Text 102"/>
          <p:cNvSpPr txBox="1"/>
          <p:nvPr/>
        </p:nvSpPr>
        <p:spPr>
          <a:xfrm>
            <a:off x="4379976" y="5312664"/>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106" name="Text 103"/>
          <p:cNvSpPr txBox="1"/>
          <p:nvPr/>
        </p:nvSpPr>
        <p:spPr>
          <a:xfrm>
            <a:off x="4910328" y="5285232"/>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/metrics</a:t>
            </a:r>
            <a:endParaRPr lang="en-US" sz="1000" dirty="0"/>
          </a:p>
        </p:txBody>
      </p:sp>
      <p:sp>
        <p:nvSpPr>
          <p:cNvPr id="107" name="Text 104"/>
          <p:cNvSpPr txBox="1"/>
          <p:nvPr/>
        </p:nvSpPr>
        <p:spPr>
          <a:xfrm>
            <a:off x="7242048" y="5285232"/>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anon</a:t>
            </a:r>
            <a:endParaRPr lang="en-US" sz="1000" dirty="0"/>
          </a:p>
        </p:txBody>
      </p:sp>
      <p:sp>
        <p:nvSpPr>
          <p:cNvPr id="108" name="Shape 105"/>
          <p:cNvSpPr/>
          <p:nvPr/>
        </p:nvSpPr>
        <p:spPr>
          <a:xfrm>
            <a:off x="8083296" y="1463040"/>
            <a:ext cx="3648456" cy="1499616"/>
          </a:xfrm>
          <a:prstGeom prst="roundRect">
            <a:avLst>
              <a:gd name="adj" fmla="val 3659"/>
            </a:avLst>
          </a:prstGeom>
          <a:solidFill>
            <a:schemeClr val="bg1"/>
          </a:solidFill>
          <a:ln/>
        </p:spPr>
        <p:txBody>
          <a:bodyPr/>
          <a:lstStyle/>
          <a:p>
            <a:endParaRPr lang="en-US"/>
          </a:p>
        </p:txBody>
      </p:sp>
      <p:sp>
        <p:nvSpPr>
          <p:cNvPr id="109" name="Shape 106"/>
          <p:cNvSpPr/>
          <p:nvPr/>
        </p:nvSpPr>
        <p:spPr>
          <a:xfrm>
            <a:off x="8083296" y="1463040"/>
            <a:ext cx="3648456" cy="1499616"/>
          </a:xfrm>
          <a:prstGeom prst="roundRect">
            <a:avLst>
              <a:gd name="adj" fmla="val 3659"/>
            </a:avLst>
          </a:prstGeom>
          <a:solidFill>
            <a:schemeClr val="bg2"/>
          </a:solidFill>
          <a:ln/>
        </p:spPr>
        <p:txBody>
          <a:bodyPr/>
          <a:lstStyle/>
          <a:p>
            <a:endParaRPr lang="en-US"/>
          </a:p>
        </p:txBody>
      </p:sp>
      <p:sp>
        <p:nvSpPr>
          <p:cNvPr id="110" name="Text 107"/>
          <p:cNvSpPr txBox="1"/>
          <p:nvPr/>
        </p:nvSpPr>
        <p:spPr>
          <a:xfrm>
            <a:off x="8193024" y="1536192"/>
            <a:ext cx="2286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Bulk</a:t>
            </a:r>
            <a:endParaRPr lang="en-US" sz="1300" dirty="0"/>
          </a:p>
        </p:txBody>
      </p:sp>
      <p:sp>
        <p:nvSpPr>
          <p:cNvPr id="111" name="Shape 108"/>
          <p:cNvSpPr/>
          <p:nvPr/>
        </p:nvSpPr>
        <p:spPr>
          <a:xfrm>
            <a:off x="11192256" y="1554480"/>
            <a:ext cx="402336" cy="201168"/>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112" name="Text 109"/>
          <p:cNvSpPr txBox="1"/>
          <p:nvPr/>
        </p:nvSpPr>
        <p:spPr>
          <a:xfrm>
            <a:off x="11192256" y="1554480"/>
            <a:ext cx="402336" cy="201168"/>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P2</a:t>
            </a:r>
            <a:endParaRPr lang="en-US" sz="900" dirty="0"/>
          </a:p>
        </p:txBody>
      </p:sp>
      <p:sp>
        <p:nvSpPr>
          <p:cNvPr id="115" name="Text 112"/>
          <p:cNvSpPr txBox="1"/>
          <p:nvPr/>
        </p:nvSpPr>
        <p:spPr>
          <a:xfrm>
            <a:off x="8723376" y="1865376"/>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/tasks/bulk/cancel</a:t>
            </a:r>
            <a:endParaRPr lang="en-US" sz="1000" dirty="0"/>
          </a:p>
        </p:txBody>
      </p:sp>
      <p:sp>
        <p:nvSpPr>
          <p:cNvPr id="116" name="Text 113"/>
          <p:cNvSpPr txBox="1"/>
          <p:nvPr/>
        </p:nvSpPr>
        <p:spPr>
          <a:xfrm>
            <a:off x="11055096" y="1865376"/>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cancel</a:t>
            </a:r>
            <a:endParaRPr lang="en-US" sz="1000" dirty="0"/>
          </a:p>
        </p:txBody>
      </p:sp>
      <p:sp>
        <p:nvSpPr>
          <p:cNvPr id="119" name="Text 116"/>
          <p:cNvSpPr txBox="1"/>
          <p:nvPr/>
        </p:nvSpPr>
        <p:spPr>
          <a:xfrm>
            <a:off x="8723376" y="2121408"/>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/tasks/bulk/reprioritize</a:t>
            </a:r>
            <a:endParaRPr lang="en-US" sz="1000" dirty="0"/>
          </a:p>
        </p:txBody>
      </p:sp>
      <p:sp>
        <p:nvSpPr>
          <p:cNvPr id="120" name="Text 117"/>
          <p:cNvSpPr txBox="1"/>
          <p:nvPr/>
        </p:nvSpPr>
        <p:spPr>
          <a:xfrm>
            <a:off x="11055096" y="2121408"/>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admin</a:t>
            </a:r>
            <a:endParaRPr lang="en-US" sz="1000" dirty="0"/>
          </a:p>
        </p:txBody>
      </p:sp>
      <p:sp>
        <p:nvSpPr>
          <p:cNvPr id="123" name="Text 120"/>
          <p:cNvSpPr txBox="1"/>
          <p:nvPr/>
        </p:nvSpPr>
        <p:spPr>
          <a:xfrm>
            <a:off x="8723376" y="2377440"/>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/tasks/bulk/retry</a:t>
            </a:r>
            <a:endParaRPr lang="en-US" sz="1000" dirty="0"/>
          </a:p>
        </p:txBody>
      </p:sp>
      <p:sp>
        <p:nvSpPr>
          <p:cNvPr id="124" name="Text 121"/>
          <p:cNvSpPr txBox="1"/>
          <p:nvPr/>
        </p:nvSpPr>
        <p:spPr>
          <a:xfrm>
            <a:off x="11055096" y="2377440"/>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admin</a:t>
            </a:r>
            <a:endParaRPr lang="en-US" sz="1000" dirty="0"/>
          </a:p>
        </p:txBody>
      </p:sp>
      <p:sp>
        <p:nvSpPr>
          <p:cNvPr id="127" name="Text 124"/>
          <p:cNvSpPr txBox="1"/>
          <p:nvPr/>
        </p:nvSpPr>
        <p:spPr>
          <a:xfrm>
            <a:off x="8723376" y="2633472"/>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/tasks/bulk/move</a:t>
            </a:r>
            <a:endParaRPr lang="en-US" sz="1000" dirty="0"/>
          </a:p>
        </p:txBody>
      </p:sp>
      <p:sp>
        <p:nvSpPr>
          <p:cNvPr id="128" name="Text 125"/>
          <p:cNvSpPr txBox="1"/>
          <p:nvPr/>
        </p:nvSpPr>
        <p:spPr>
          <a:xfrm>
            <a:off x="11055096" y="2633472"/>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admin</a:t>
            </a:r>
            <a:endParaRPr lang="en-US" sz="1000" dirty="0"/>
          </a:p>
        </p:txBody>
      </p:sp>
      <p:sp>
        <p:nvSpPr>
          <p:cNvPr id="129" name="Shape 126"/>
          <p:cNvSpPr/>
          <p:nvPr/>
        </p:nvSpPr>
        <p:spPr>
          <a:xfrm>
            <a:off x="8083296" y="3044952"/>
            <a:ext cx="3648456" cy="1243584"/>
          </a:xfrm>
          <a:prstGeom prst="roundRect">
            <a:avLst>
              <a:gd name="adj" fmla="val 4412"/>
            </a:avLst>
          </a:prstGeom>
          <a:solidFill>
            <a:schemeClr val="bg1"/>
          </a:solidFill>
          <a:ln/>
        </p:spPr>
        <p:txBody>
          <a:bodyPr/>
          <a:lstStyle/>
          <a:p>
            <a:endParaRPr lang="en-US"/>
          </a:p>
        </p:txBody>
      </p:sp>
      <p:sp>
        <p:nvSpPr>
          <p:cNvPr id="130" name="Shape 127"/>
          <p:cNvSpPr/>
          <p:nvPr/>
        </p:nvSpPr>
        <p:spPr>
          <a:xfrm>
            <a:off x="8083296" y="3044952"/>
            <a:ext cx="3648456" cy="1243584"/>
          </a:xfrm>
          <a:prstGeom prst="roundRect">
            <a:avLst>
              <a:gd name="adj" fmla="val 4412"/>
            </a:avLst>
          </a:prstGeom>
          <a:solidFill>
            <a:schemeClr val="bg2"/>
          </a:solidFill>
          <a:ln/>
        </p:spPr>
        <p:txBody>
          <a:bodyPr/>
          <a:lstStyle/>
          <a:p>
            <a:endParaRPr lang="en-US"/>
          </a:p>
        </p:txBody>
      </p:sp>
      <p:sp>
        <p:nvSpPr>
          <p:cNvPr id="131" name="Text 128"/>
          <p:cNvSpPr txBox="1"/>
          <p:nvPr/>
        </p:nvSpPr>
        <p:spPr>
          <a:xfrm>
            <a:off x="8193024" y="3118104"/>
            <a:ext cx="228600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Admin</a:t>
            </a:r>
            <a:endParaRPr lang="en-US" sz="1300" dirty="0"/>
          </a:p>
        </p:txBody>
      </p:sp>
      <p:sp>
        <p:nvSpPr>
          <p:cNvPr id="132" name="Shape 129"/>
          <p:cNvSpPr/>
          <p:nvPr/>
        </p:nvSpPr>
        <p:spPr>
          <a:xfrm>
            <a:off x="8193024" y="3474720"/>
            <a:ext cx="457200" cy="192024"/>
          </a:xfrm>
          <a:prstGeom prst="roundRect">
            <a:avLst>
              <a:gd name="adj" fmla="val 14286"/>
            </a:avLst>
          </a:prstGeom>
          <a:solidFill>
            <a:schemeClr val="accent2"/>
          </a:solidFill>
          <a:ln/>
        </p:spPr>
        <p:txBody>
          <a:bodyPr/>
          <a:lstStyle/>
          <a:p>
            <a:endParaRPr lang="en-US"/>
          </a:p>
        </p:txBody>
      </p:sp>
      <p:sp>
        <p:nvSpPr>
          <p:cNvPr id="133" name="Text 130"/>
          <p:cNvSpPr txBox="1"/>
          <p:nvPr/>
        </p:nvSpPr>
        <p:spPr>
          <a:xfrm>
            <a:off x="8193024" y="3474720"/>
            <a:ext cx="457200" cy="192024"/>
          </a:xfrm>
          <a:prstGeom prst="rect">
            <a:avLst/>
          </a:prstGeom>
          <a:noFill/>
          <a:ln/>
        </p:spPr>
        <p:txBody>
          <a:bodyPr wrap="square" lIns="0" tIns="0" rIns="0" bIns="0" rtlCol="0" anchor="ctr"/>
          <a:lstStyle/>
          <a:p>
            <a:pPr marL="0" indent="0" algn="ctr">
              <a:buNone/>
            </a:pPr>
            <a:r>
              <a:rPr lang="en-US" sz="900" b="1" dirty="0">
                <a:solidFill>
                  <a:schemeClr val="bg1"/>
                </a:solidFill>
                <a:latin typeface="Calibri" pitchFamily="34" charset="0"/>
                <a:ea typeface="Calibri" pitchFamily="34" charset="-122"/>
                <a:cs typeface="Calibri" pitchFamily="34" charset="-120"/>
              </a:rPr>
              <a:t>GET</a:t>
            </a:r>
            <a:endParaRPr lang="en-US" sz="900" dirty="0"/>
          </a:p>
        </p:txBody>
      </p:sp>
      <p:sp>
        <p:nvSpPr>
          <p:cNvPr id="134" name="Text 131"/>
          <p:cNvSpPr txBox="1"/>
          <p:nvPr/>
        </p:nvSpPr>
        <p:spPr>
          <a:xfrm>
            <a:off x="8723376" y="3447288"/>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/admin/dlq</a:t>
            </a:r>
            <a:endParaRPr lang="en-US" sz="1000" dirty="0"/>
          </a:p>
        </p:txBody>
      </p:sp>
      <p:sp>
        <p:nvSpPr>
          <p:cNvPr id="135" name="Text 132"/>
          <p:cNvSpPr txBox="1"/>
          <p:nvPr/>
        </p:nvSpPr>
        <p:spPr>
          <a:xfrm>
            <a:off x="11055096" y="3447288"/>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admin</a:t>
            </a:r>
            <a:endParaRPr lang="en-US" sz="1000" dirty="0"/>
          </a:p>
        </p:txBody>
      </p:sp>
      <p:sp>
        <p:nvSpPr>
          <p:cNvPr id="138" name="Text 135"/>
          <p:cNvSpPr txBox="1"/>
          <p:nvPr/>
        </p:nvSpPr>
        <p:spPr>
          <a:xfrm>
            <a:off x="8723376" y="3703320"/>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/admin/dlq/{id}/reenqueue</a:t>
            </a:r>
            <a:endParaRPr lang="en-US" sz="1000" dirty="0"/>
          </a:p>
        </p:txBody>
      </p:sp>
      <p:sp>
        <p:nvSpPr>
          <p:cNvPr id="139" name="Text 136"/>
          <p:cNvSpPr txBox="1"/>
          <p:nvPr/>
        </p:nvSpPr>
        <p:spPr>
          <a:xfrm>
            <a:off x="11055096" y="3703320"/>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admin</a:t>
            </a:r>
            <a:endParaRPr lang="en-US" sz="1000" dirty="0"/>
          </a:p>
        </p:txBody>
      </p:sp>
      <p:sp>
        <p:nvSpPr>
          <p:cNvPr id="142" name="Text 139"/>
          <p:cNvSpPr txBox="1"/>
          <p:nvPr/>
        </p:nvSpPr>
        <p:spPr>
          <a:xfrm>
            <a:off x="8723376" y="3959352"/>
            <a:ext cx="2377440" cy="246888"/>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/admin/config</a:t>
            </a:r>
            <a:endParaRPr lang="en-US" sz="1000" dirty="0"/>
          </a:p>
        </p:txBody>
      </p:sp>
      <p:sp>
        <p:nvSpPr>
          <p:cNvPr id="143" name="Text 140"/>
          <p:cNvSpPr txBox="1"/>
          <p:nvPr/>
        </p:nvSpPr>
        <p:spPr>
          <a:xfrm>
            <a:off x="11055096" y="3959352"/>
            <a:ext cx="594360" cy="246888"/>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admin</a:t>
            </a:r>
            <a:endParaRPr lang="en-US" sz="1000" dirty="0"/>
          </a:p>
        </p:txBody>
      </p:sp>
      <p:sp>
        <p:nvSpPr>
          <p:cNvPr id="144" name="Shape 141"/>
          <p:cNvSpPr/>
          <p:nvPr/>
        </p:nvSpPr>
        <p:spPr>
          <a:xfrm>
            <a:off x="8083296" y="4370832"/>
            <a:ext cx="3648456" cy="1380744"/>
          </a:xfrm>
          <a:prstGeom prst="roundRect">
            <a:avLst>
              <a:gd name="adj" fmla="val 2970"/>
            </a:avLst>
          </a:prstGeom>
          <a:solidFill>
            <a:schemeClr val="bg1"/>
          </a:solidFill>
          <a:ln/>
        </p:spPr>
        <p:txBody>
          <a:bodyPr/>
          <a:lstStyle/>
          <a:p>
            <a:endParaRPr lang="en-US"/>
          </a:p>
        </p:txBody>
      </p:sp>
      <p:sp>
        <p:nvSpPr>
          <p:cNvPr id="145" name="Shape 142"/>
          <p:cNvSpPr/>
          <p:nvPr/>
        </p:nvSpPr>
        <p:spPr>
          <a:xfrm>
            <a:off x="8083296" y="4370832"/>
            <a:ext cx="3648456" cy="1554480"/>
          </a:xfrm>
          <a:prstGeom prst="roundRect">
            <a:avLst>
              <a:gd name="adj" fmla="val 2970"/>
            </a:avLst>
          </a:prstGeom>
          <a:solidFill>
            <a:schemeClr val="accent1">
              <a:alpha val="12000"/>
            </a:schemeClr>
          </a:solidFill>
          <a:ln/>
        </p:spPr>
        <p:txBody>
          <a:bodyPr/>
          <a:lstStyle/>
          <a:p>
            <a:endParaRPr lang="en-US"/>
          </a:p>
        </p:txBody>
      </p:sp>
      <p:sp>
        <p:nvSpPr>
          <p:cNvPr id="146" name="Text 143"/>
          <p:cNvSpPr txBox="1"/>
          <p:nvPr/>
        </p:nvSpPr>
        <p:spPr>
          <a:xfrm>
            <a:off x="8229600" y="4462272"/>
            <a:ext cx="3383280" cy="1161288"/>
          </a:xfrm>
          <a:prstGeom prst="rect">
            <a:avLst/>
          </a:prstGeom>
          <a:noFill/>
          <a:ln/>
        </p:spPr>
        <p:txBody>
          <a:bodyPr wrap="square" lIns="0" tIns="0" rIns="0" bIns="0" rtlCol="0" anchor="t"/>
          <a:lstStyle/>
          <a:p>
            <a:pPr marL="0" indent="0">
              <a:spcAft>
                <a:spcPts val="300"/>
              </a:spcAft>
              <a:buNone/>
            </a:pPr>
            <a:r>
              <a:rPr lang="en-US" sz="1300" b="1" dirty="0">
                <a:solidFill>
                  <a:schemeClr val="tx1"/>
                </a:solidFill>
                <a:latin typeface="Calibri" pitchFamily="34" charset="0"/>
                <a:ea typeface="Calibri" pitchFamily="34" charset="-122"/>
                <a:cs typeface="Calibri" pitchFamily="34" charset="-120"/>
              </a:rPr>
              <a:t>Remember</a:t>
            </a:r>
            <a:endParaRPr lang="en-US" sz="1100" dirty="0"/>
          </a:p>
          <a:p>
            <a:pPr marL="342900" indent="-342900">
              <a:spcAft>
                <a:spcPts val="300"/>
              </a:spcAft>
              <a:buSzPct val="100000"/>
              <a:buChar char="•"/>
            </a:pPr>
            <a:r>
              <a:rPr lang="en-US" sz="1100" dirty="0">
                <a:solidFill>
                  <a:schemeClr val="tx1"/>
                </a:solidFill>
                <a:latin typeface="Calibri" pitchFamily="34" charset="0"/>
                <a:ea typeface="Calibri" pitchFamily="34" charset="-122"/>
                <a:cs typeface="Calibri" pitchFamily="34" charset="-120"/>
              </a:rPr>
              <a:t>Worker identity needs claim + update</a:t>
            </a:r>
            <a:endParaRPr lang="en-US" sz="1100" dirty="0"/>
          </a:p>
          <a:p>
            <a:pPr marL="342900" indent="-342900">
              <a:spcAft>
                <a:spcPts val="300"/>
              </a:spcAft>
              <a:buSzPct val="100000"/>
              <a:buChar char="•"/>
            </a:pPr>
            <a:r>
              <a:rPr lang="en-US" sz="1100" dirty="0">
                <a:solidFill>
                  <a:schemeClr val="tx1"/>
                </a:solidFill>
                <a:latin typeface="Calibri" pitchFamily="34" charset="0"/>
                <a:ea typeface="Calibri" pitchFamily="34" charset="-122"/>
                <a:cs typeface="Calibri" pitchFamily="34" charset="-120"/>
              </a:rPr>
              <a:t>lease_token in body on start / heartbeat / progress / checkpoint / complete / set-wait</a:t>
            </a:r>
            <a:endParaRPr lang="en-US" sz="1100" dirty="0"/>
          </a:p>
          <a:p>
            <a:pPr marL="342900" indent="-342900">
              <a:spcAft>
                <a:spcPts val="300"/>
              </a:spcAft>
              <a:buSzPct val="100000"/>
              <a:buChar char="•"/>
            </a:pPr>
            <a:r>
              <a:rPr lang="en-US" sz="1100" dirty="0">
                <a:solidFill>
                  <a:schemeClr val="tx1"/>
                </a:solidFill>
                <a:latin typeface="Calibri" pitchFamily="34" charset="0"/>
                <a:ea typeface="Calibri" pitchFamily="34" charset="-122"/>
                <a:cs typeface="Calibri" pitchFamily="34" charset="-120"/>
              </a:rPr>
              <a:t>Search: OData $filter · $orderby · $select · cursor nextLink</a:t>
            </a:r>
            <a:endParaRPr lang="en-US" sz="11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26</a:t>
            </a:fld>
            <a:endParaRPr lang="en-US"/>
          </a:p>
        </p:txBody>
      </p:sp>
      <p:sp>
        <p:nvSpPr>
          <p:cNvPr id="147" name="Shape 5">
            <a:extLst>
              <a:ext uri="{FF2B5EF4-FFF2-40B4-BE49-F238E27FC236}">
                <a16:creationId xmlns:a16="http://schemas.microsoft.com/office/drawing/2014/main" id="{6C85DDDB-0868-3167-5C5B-9F8EF1997838}"/>
              </a:ext>
            </a:extLst>
          </p:cNvPr>
          <p:cNvSpPr/>
          <p:nvPr/>
        </p:nvSpPr>
        <p:spPr>
          <a:xfrm>
            <a:off x="566836" y="2423160"/>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48" name="Shape 5">
            <a:extLst>
              <a:ext uri="{FF2B5EF4-FFF2-40B4-BE49-F238E27FC236}">
                <a16:creationId xmlns:a16="http://schemas.microsoft.com/office/drawing/2014/main" id="{9372B8C1-E4DE-2442-4A8B-6975B50E1CAA}"/>
              </a:ext>
            </a:extLst>
          </p:cNvPr>
          <p:cNvSpPr/>
          <p:nvPr/>
        </p:nvSpPr>
        <p:spPr>
          <a:xfrm>
            <a:off x="566836" y="2680855"/>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49" name="Shape 5">
            <a:extLst>
              <a:ext uri="{FF2B5EF4-FFF2-40B4-BE49-F238E27FC236}">
                <a16:creationId xmlns:a16="http://schemas.microsoft.com/office/drawing/2014/main" id="{1BBA39FA-2812-2D55-08DA-78650C78B6E5}"/>
              </a:ext>
            </a:extLst>
          </p:cNvPr>
          <p:cNvSpPr/>
          <p:nvPr/>
        </p:nvSpPr>
        <p:spPr>
          <a:xfrm>
            <a:off x="566836" y="2930652"/>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0" name="Shape 5">
            <a:extLst>
              <a:ext uri="{FF2B5EF4-FFF2-40B4-BE49-F238E27FC236}">
                <a16:creationId xmlns:a16="http://schemas.microsoft.com/office/drawing/2014/main" id="{4EFBBFF8-627D-BFCE-D656-CC76B21376A8}"/>
              </a:ext>
            </a:extLst>
          </p:cNvPr>
          <p:cNvSpPr/>
          <p:nvPr/>
        </p:nvSpPr>
        <p:spPr>
          <a:xfrm>
            <a:off x="566836" y="3183451"/>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1" name="Shape 5">
            <a:extLst>
              <a:ext uri="{FF2B5EF4-FFF2-40B4-BE49-F238E27FC236}">
                <a16:creationId xmlns:a16="http://schemas.microsoft.com/office/drawing/2014/main" id="{0D565F5A-97ED-3D7B-FCA9-EAD2740A740D}"/>
              </a:ext>
            </a:extLst>
          </p:cNvPr>
          <p:cNvSpPr/>
          <p:nvPr/>
        </p:nvSpPr>
        <p:spPr>
          <a:xfrm>
            <a:off x="566836" y="3447288"/>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2" name="Shape 5">
            <a:extLst>
              <a:ext uri="{FF2B5EF4-FFF2-40B4-BE49-F238E27FC236}">
                <a16:creationId xmlns:a16="http://schemas.microsoft.com/office/drawing/2014/main" id="{3F259143-785D-894E-CF17-2C7933229151}"/>
              </a:ext>
            </a:extLst>
          </p:cNvPr>
          <p:cNvSpPr/>
          <p:nvPr/>
        </p:nvSpPr>
        <p:spPr>
          <a:xfrm>
            <a:off x="566836" y="3681014"/>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3" name="Shape 5">
            <a:extLst>
              <a:ext uri="{FF2B5EF4-FFF2-40B4-BE49-F238E27FC236}">
                <a16:creationId xmlns:a16="http://schemas.microsoft.com/office/drawing/2014/main" id="{C8E62826-CB5E-2473-58DE-490F66C91E36}"/>
              </a:ext>
            </a:extLst>
          </p:cNvPr>
          <p:cNvSpPr/>
          <p:nvPr/>
        </p:nvSpPr>
        <p:spPr>
          <a:xfrm>
            <a:off x="566836" y="3934922"/>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4" name="Shape 5">
            <a:extLst>
              <a:ext uri="{FF2B5EF4-FFF2-40B4-BE49-F238E27FC236}">
                <a16:creationId xmlns:a16="http://schemas.microsoft.com/office/drawing/2014/main" id="{A9D8CC27-3163-524E-0BFB-0119B41B73C5}"/>
              </a:ext>
            </a:extLst>
          </p:cNvPr>
          <p:cNvSpPr/>
          <p:nvPr/>
        </p:nvSpPr>
        <p:spPr>
          <a:xfrm>
            <a:off x="566836" y="4800600"/>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5" name="Shape 5">
            <a:extLst>
              <a:ext uri="{FF2B5EF4-FFF2-40B4-BE49-F238E27FC236}">
                <a16:creationId xmlns:a16="http://schemas.microsoft.com/office/drawing/2014/main" id="{E1A5EADD-10F2-0F5A-DB86-7C56CF018E1E}"/>
              </a:ext>
            </a:extLst>
          </p:cNvPr>
          <p:cNvSpPr/>
          <p:nvPr/>
        </p:nvSpPr>
        <p:spPr>
          <a:xfrm>
            <a:off x="4379145" y="2404827"/>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6" name="Shape 5">
            <a:extLst>
              <a:ext uri="{FF2B5EF4-FFF2-40B4-BE49-F238E27FC236}">
                <a16:creationId xmlns:a16="http://schemas.microsoft.com/office/drawing/2014/main" id="{1720B727-6A93-8D0F-E549-77E8C03023D5}"/>
              </a:ext>
            </a:extLst>
          </p:cNvPr>
          <p:cNvSpPr/>
          <p:nvPr/>
        </p:nvSpPr>
        <p:spPr>
          <a:xfrm>
            <a:off x="4379145" y="1883664"/>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7" name="Shape 5">
            <a:extLst>
              <a:ext uri="{FF2B5EF4-FFF2-40B4-BE49-F238E27FC236}">
                <a16:creationId xmlns:a16="http://schemas.microsoft.com/office/drawing/2014/main" id="{A1E6B97A-93D2-A12F-9AF3-BF112DA1D1E7}"/>
              </a:ext>
            </a:extLst>
          </p:cNvPr>
          <p:cNvSpPr/>
          <p:nvPr/>
        </p:nvSpPr>
        <p:spPr>
          <a:xfrm>
            <a:off x="8201521" y="1893223"/>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8" name="Shape 5">
            <a:extLst>
              <a:ext uri="{FF2B5EF4-FFF2-40B4-BE49-F238E27FC236}">
                <a16:creationId xmlns:a16="http://schemas.microsoft.com/office/drawing/2014/main" id="{4DB237F2-75B6-5DF9-954F-921538EB4CA5}"/>
              </a:ext>
            </a:extLst>
          </p:cNvPr>
          <p:cNvSpPr/>
          <p:nvPr/>
        </p:nvSpPr>
        <p:spPr>
          <a:xfrm>
            <a:off x="8201521" y="2150918"/>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59" name="Shape 5">
            <a:extLst>
              <a:ext uri="{FF2B5EF4-FFF2-40B4-BE49-F238E27FC236}">
                <a16:creationId xmlns:a16="http://schemas.microsoft.com/office/drawing/2014/main" id="{6F27AA2F-9B7E-7215-8F6B-0ABB2A9D3D23}"/>
              </a:ext>
            </a:extLst>
          </p:cNvPr>
          <p:cNvSpPr/>
          <p:nvPr/>
        </p:nvSpPr>
        <p:spPr>
          <a:xfrm>
            <a:off x="8201521" y="2400715"/>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60" name="Shape 5">
            <a:extLst>
              <a:ext uri="{FF2B5EF4-FFF2-40B4-BE49-F238E27FC236}">
                <a16:creationId xmlns:a16="http://schemas.microsoft.com/office/drawing/2014/main" id="{744AB7ED-D6CD-E7C8-1321-7AC23ED44023}"/>
              </a:ext>
            </a:extLst>
          </p:cNvPr>
          <p:cNvSpPr/>
          <p:nvPr/>
        </p:nvSpPr>
        <p:spPr>
          <a:xfrm>
            <a:off x="8201521" y="2653514"/>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61" name="Shape 5">
            <a:extLst>
              <a:ext uri="{FF2B5EF4-FFF2-40B4-BE49-F238E27FC236}">
                <a16:creationId xmlns:a16="http://schemas.microsoft.com/office/drawing/2014/main" id="{F79A0815-94C7-CEA2-DA37-3E677D89441F}"/>
              </a:ext>
            </a:extLst>
          </p:cNvPr>
          <p:cNvSpPr/>
          <p:nvPr/>
        </p:nvSpPr>
        <p:spPr>
          <a:xfrm>
            <a:off x="8196903" y="3733985"/>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
        <p:nvSpPr>
          <p:cNvPr id="162" name="Shape 5">
            <a:extLst>
              <a:ext uri="{FF2B5EF4-FFF2-40B4-BE49-F238E27FC236}">
                <a16:creationId xmlns:a16="http://schemas.microsoft.com/office/drawing/2014/main" id="{75E694E8-14ED-4EA4-348A-FA2898488A20}"/>
              </a:ext>
            </a:extLst>
          </p:cNvPr>
          <p:cNvSpPr/>
          <p:nvPr/>
        </p:nvSpPr>
        <p:spPr>
          <a:xfrm>
            <a:off x="8196903" y="3986784"/>
            <a:ext cx="457200" cy="192024"/>
          </a:xfrm>
          <a:prstGeom prst="roundRect">
            <a:avLst>
              <a:gd name="adj" fmla="val 14286"/>
            </a:avLst>
          </a:prstGeom>
          <a:solidFill>
            <a:schemeClr val="accent5">
              <a:lumMod val="75000"/>
            </a:schemeClr>
          </a:solidFill>
          <a:ln/>
        </p:spPr>
        <p:txBody>
          <a:bodyPr anchor="ctr"/>
          <a:lstStyle/>
          <a:p>
            <a:r>
              <a:rPr lang="en-US" sz="900" b="1" dirty="0">
                <a:solidFill>
                  <a:schemeClr val="bg1"/>
                </a:solidFill>
                <a:latin typeface="Calibri" panose="020F0502020204030204" pitchFamily="34" charset="0"/>
                <a:cs typeface="Calibri" panose="020F0502020204030204" pitchFamily="34" charset="0"/>
              </a:rPr>
              <a:t>POST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Rust SDK: the same API in-process, with a lease handle</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Get dyn TaskEngineApi from ClientHub; every method takes &amp;SecurityContext first</a:t>
            </a:r>
            <a:endParaRPr lang="en-US" sz="1600" dirty="0"/>
          </a:p>
        </p:txBody>
      </p:sp>
      <p:sp>
        <p:nvSpPr>
          <p:cNvPr id="5" name="Shape 2"/>
          <p:cNvSpPr/>
          <p:nvPr/>
        </p:nvSpPr>
        <p:spPr>
          <a:xfrm>
            <a:off x="457200" y="1463040"/>
            <a:ext cx="7086600" cy="3611880"/>
          </a:xfrm>
          <a:prstGeom prst="roundRect">
            <a:avLst>
              <a:gd name="adj" fmla="val 1519"/>
            </a:avLst>
          </a:prstGeom>
          <a:solidFill>
            <a:schemeClr val="tx1"/>
          </a:solidFill>
          <a:ln/>
        </p:spPr>
        <p:txBody>
          <a:bodyPr/>
          <a:lstStyle/>
          <a:p>
            <a:endParaRPr lang="en-US"/>
          </a:p>
        </p:txBody>
      </p:sp>
      <p:sp>
        <p:nvSpPr>
          <p:cNvPr id="6" name="Text 3"/>
          <p:cNvSpPr txBox="1"/>
          <p:nvPr/>
        </p:nvSpPr>
        <p:spPr>
          <a:xfrm>
            <a:off x="621792" y="1572768"/>
            <a:ext cx="6812280" cy="3392424"/>
          </a:xfrm>
          <a:prstGeom prst="rect">
            <a:avLst/>
          </a:prstGeom>
          <a:noFill/>
          <a:ln/>
        </p:spPr>
        <p:txBody>
          <a:bodyPr wrap="square" lIns="0" tIns="0" rIns="0" bIns="0" rtlCol="0" anchor="t"/>
          <a:lstStyle/>
          <a:p>
            <a:pPr marL="0" indent="0">
              <a:lnSpc>
                <a:spcPct val="100000"/>
              </a:lnSpc>
              <a:buNone/>
            </a:pPr>
            <a:r>
              <a:rPr lang="en-US" sz="1050" dirty="0">
                <a:solidFill>
                  <a:schemeClr val="accent1"/>
                </a:solidFill>
                <a:latin typeface="Courier New" pitchFamily="34" charset="0"/>
                <a:ea typeface="Courier New" pitchFamily="34" charset="-122"/>
                <a:cs typeface="Courier New" pitchFamily="34" charset="-120"/>
              </a:rPr>
              <a:t>// any gear: resolve the client once</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let te = ctx.client_hub().get::&lt;dyn TaskEngineApi&gt;()?;</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marL="0" indent="0">
              <a:lnSpc>
                <a:spcPct val="100000"/>
              </a:lnSpc>
              <a:buNone/>
            </a:pPr>
            <a:r>
              <a:rPr lang="en-US" sz="1050" dirty="0">
                <a:solidFill>
                  <a:schemeClr val="accent1"/>
                </a:solidFill>
                <a:latin typeface="Courier New" pitchFamily="34" charset="0"/>
                <a:ea typeface="Courier New" pitchFamily="34" charset="-122"/>
                <a:cs typeface="Courier New" pitchFamily="34" charset="-120"/>
              </a:rPr>
              <a:t>// producer: idempotent create</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match te.create_task(&amp;sec, req.idempotency_key(order_id)).await? {</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CreateTaskOutcome::Created(t)  =&gt; info!("new {}", t.id),</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CreateTaskOutcome::Existing(t) =&gt; info!("replay {}", t.id),</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marL="0" indent="0">
              <a:lnSpc>
                <a:spcPct val="100000"/>
              </a:lnSpc>
              <a:buNone/>
            </a:pPr>
            <a:r>
              <a:rPr lang="en-US" sz="1050" dirty="0">
                <a:solidFill>
                  <a:schemeClr val="accent1"/>
                </a:solidFill>
                <a:latin typeface="Courier New" pitchFamily="34" charset="0"/>
                <a:ea typeface="Courier New" pitchFamily="34" charset="-122"/>
                <a:cs typeface="Courier New" pitchFamily="34" charset="-120"/>
              </a:rPr>
              <a:t>// worker: claim → start → work → complete</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if let Some((task, lease)) = te.claim_task(&amp;sec, &amp;queues, wait).await? {</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te.start_task(&amp;sec, &amp;lease).await?;</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tokio::select! {</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out = handle(&amp;task, lease.lease_epoch) =&gt;</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te.complete_task(&amp;sec, &amp;lease, out).await?,</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_ = lease.lost.cancelled() =&gt; {}</a:t>
            </a:r>
            <a:r>
              <a:rPr lang="en-US" sz="1050" dirty="0">
                <a:solidFill>
                  <a:schemeClr val="accent1"/>
                </a:solidFill>
                <a:latin typeface="Courier New" pitchFamily="34" charset="0"/>
                <a:ea typeface="Courier New" pitchFamily="34" charset="-122"/>
                <a:cs typeface="Courier New" pitchFamily="34" charset="-120"/>
              </a:rPr>
              <a:t>  // abandon</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7" name="Shape 4"/>
          <p:cNvSpPr/>
          <p:nvPr/>
        </p:nvSpPr>
        <p:spPr>
          <a:xfrm>
            <a:off x="7818120" y="1463040"/>
            <a:ext cx="3913632" cy="1600200"/>
          </a:xfrm>
          <a:prstGeom prst="roundRect">
            <a:avLst>
              <a:gd name="adj" fmla="val 3429"/>
            </a:avLst>
          </a:prstGeom>
          <a:solidFill>
            <a:schemeClr val="tx1"/>
          </a:solidFill>
          <a:ln/>
        </p:spPr>
        <p:txBody>
          <a:bodyPr/>
          <a:lstStyle/>
          <a:p>
            <a:endParaRPr lang="en-US"/>
          </a:p>
        </p:txBody>
      </p:sp>
      <p:sp>
        <p:nvSpPr>
          <p:cNvPr id="8" name="Text 5"/>
          <p:cNvSpPr txBox="1"/>
          <p:nvPr/>
        </p:nvSpPr>
        <p:spPr>
          <a:xfrm>
            <a:off x="7982712" y="1572768"/>
            <a:ext cx="3639312" cy="1380744"/>
          </a:xfrm>
          <a:prstGeom prst="rect">
            <a:avLst/>
          </a:prstGeom>
          <a:noFill/>
          <a:ln/>
        </p:spPr>
        <p:txBody>
          <a:bodyPr wrap="square" lIns="0" tIns="0" rIns="0" bIns="0" rtlCol="0" anchor="t"/>
          <a:lstStyle/>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pub struct Lease {</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task_id:     Uuid,</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lease_token: Uuid,</a:t>
            </a:r>
            <a:r>
              <a:rPr lang="en-US" sz="1050" dirty="0">
                <a:solidFill>
                  <a:schemeClr val="accent1"/>
                </a:solidFill>
                <a:latin typeface="Courier New" pitchFamily="34" charset="0"/>
                <a:ea typeface="Courier New" pitchFamily="34" charset="-122"/>
                <a:cs typeface="Courier New" pitchFamily="34" charset="-120"/>
              </a:rPr>
              <a:t> // task fence</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lease_epoch: i64,</a:t>
            </a:r>
            <a:r>
              <a:rPr lang="en-US" sz="1050" dirty="0">
                <a:solidFill>
                  <a:schemeClr val="accent1"/>
                </a:solidFill>
                <a:latin typeface="Courier New" pitchFamily="34" charset="0"/>
                <a:ea typeface="Courier New" pitchFamily="34" charset="-122"/>
                <a:cs typeface="Courier New" pitchFamily="34" charset="-120"/>
              </a:rPr>
              <a:t>  // external fence</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attempt:     i32,</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deadline:    Instant,</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  lost: CancellationToken,</a:t>
            </a:r>
            <a:endParaRPr lang="en-US" sz="1050" dirty="0"/>
          </a:p>
          <a:p>
            <a:pPr marL="0" indent="0">
              <a:lnSpc>
                <a:spcPct val="100000"/>
              </a:lnSpc>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9" name="Text 6"/>
          <p:cNvSpPr txBox="1"/>
          <p:nvPr/>
        </p:nvSpPr>
        <p:spPr>
          <a:xfrm>
            <a:off x="7818120" y="3246120"/>
            <a:ext cx="3913632"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SDK runtime heartbeats for you and fires lost on LEASE_LOST or a missed renewal</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set_wait consumes the Lease — the task is parked</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Retry middleware must skip LEASE_LOST</a:t>
            </a:r>
            <a:endParaRPr lang="en-US" sz="1300" dirty="0"/>
          </a:p>
        </p:txBody>
      </p:sp>
      <p:sp>
        <p:nvSpPr>
          <p:cNvPr id="10" name="Text 7"/>
          <p:cNvSpPr txBox="1"/>
          <p:nvPr/>
        </p:nvSpPr>
        <p:spPr>
          <a:xfrm>
            <a:off x="457200" y="5212080"/>
            <a:ext cx="3657600" cy="274320"/>
          </a:xfrm>
          <a:prstGeom prst="rect">
            <a:avLst/>
          </a:prstGeom>
          <a:noFill/>
          <a:ln/>
        </p:spPr>
        <p:txBody>
          <a:bodyPr wrap="square" lIns="0" tIns="0" rIns="0" bIns="0" rtlCol="0" anchor="t"/>
          <a:lstStyle/>
          <a:p>
            <a:pPr marL="0" indent="0">
              <a:buNone/>
            </a:pPr>
            <a:r>
              <a:rPr lang="en-US" sz="1200" b="1" dirty="0">
                <a:solidFill>
                  <a:schemeClr val="tx2"/>
                </a:solidFill>
                <a:latin typeface="Calibri" pitchFamily="34" charset="0"/>
                <a:ea typeface="Calibri" pitchFamily="34" charset="-122"/>
                <a:cs typeface="Calibri" pitchFamily="34" charset="-120"/>
              </a:rPr>
              <a:t>Security-equivalent entry points</a:t>
            </a:r>
            <a:endParaRPr lang="en-US" sz="1200" dirty="0"/>
          </a:p>
        </p:txBody>
      </p:sp>
      <p:sp>
        <p:nvSpPr>
          <p:cNvPr id="11" name="Shape 8"/>
          <p:cNvSpPr/>
          <p:nvPr/>
        </p:nvSpPr>
        <p:spPr>
          <a:xfrm>
            <a:off x="457200" y="5532120"/>
            <a:ext cx="1417320" cy="365760"/>
          </a:xfrm>
          <a:prstGeom prst="roundRect">
            <a:avLst>
              <a:gd name="adj" fmla="val 15000"/>
            </a:avLst>
          </a:prstGeom>
          <a:solidFill>
            <a:schemeClr val="bg1"/>
          </a:solidFill>
          <a:ln/>
        </p:spPr>
        <p:txBody>
          <a:bodyPr/>
          <a:lstStyle/>
          <a:p>
            <a:endParaRPr lang="en-US"/>
          </a:p>
        </p:txBody>
      </p:sp>
      <p:sp>
        <p:nvSpPr>
          <p:cNvPr id="12" name="Shape 9"/>
          <p:cNvSpPr/>
          <p:nvPr/>
        </p:nvSpPr>
        <p:spPr>
          <a:xfrm>
            <a:off x="457200" y="5532120"/>
            <a:ext cx="1417320" cy="365760"/>
          </a:xfrm>
          <a:prstGeom prst="roundRect">
            <a:avLst>
              <a:gd name="adj" fmla="val 15000"/>
            </a:avLst>
          </a:prstGeom>
          <a:solidFill>
            <a:srgbClr val="F3ECFB"/>
          </a:solidFill>
          <a:ln w="15875">
            <a:solidFill>
              <a:schemeClr val="bg1">
                <a:lumMod val="65000"/>
              </a:schemeClr>
            </a:solidFill>
            <a:prstDash val="solid"/>
          </a:ln>
        </p:spPr>
        <p:txBody>
          <a:bodyPr/>
          <a:lstStyle/>
          <a:p>
            <a:endParaRPr lang="en-US"/>
          </a:p>
        </p:txBody>
      </p:sp>
      <p:sp>
        <p:nvSpPr>
          <p:cNvPr id="13" name="Text 10"/>
          <p:cNvSpPr txBox="1"/>
          <p:nvPr/>
        </p:nvSpPr>
        <p:spPr>
          <a:xfrm>
            <a:off x="512064" y="5532120"/>
            <a:ext cx="1307592" cy="36576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HTTP + bearer</a:t>
            </a:r>
            <a:endParaRPr lang="en-US" sz="1100" dirty="0"/>
          </a:p>
        </p:txBody>
      </p:sp>
      <p:sp>
        <p:nvSpPr>
          <p:cNvPr id="14" name="Shape 11"/>
          <p:cNvSpPr/>
          <p:nvPr/>
        </p:nvSpPr>
        <p:spPr>
          <a:xfrm>
            <a:off x="2057400" y="5532120"/>
            <a:ext cx="1417320" cy="365760"/>
          </a:xfrm>
          <a:prstGeom prst="roundRect">
            <a:avLst>
              <a:gd name="adj" fmla="val 15000"/>
            </a:avLst>
          </a:prstGeom>
          <a:solidFill>
            <a:schemeClr val="bg1"/>
          </a:solidFill>
          <a:ln/>
        </p:spPr>
        <p:txBody>
          <a:bodyPr/>
          <a:lstStyle/>
          <a:p>
            <a:endParaRPr lang="en-US"/>
          </a:p>
        </p:txBody>
      </p:sp>
      <p:sp>
        <p:nvSpPr>
          <p:cNvPr id="15" name="Shape 12"/>
          <p:cNvSpPr/>
          <p:nvPr/>
        </p:nvSpPr>
        <p:spPr>
          <a:xfrm>
            <a:off x="2057400" y="5532120"/>
            <a:ext cx="1417320" cy="365760"/>
          </a:xfrm>
          <a:prstGeom prst="roundRect">
            <a:avLst>
              <a:gd name="adj" fmla="val 15000"/>
            </a:avLst>
          </a:prstGeom>
          <a:solidFill>
            <a:schemeClr val="accent3">
              <a:alpha val="18000"/>
            </a:schemeClr>
          </a:solidFill>
          <a:ln w="15875">
            <a:solidFill>
              <a:schemeClr val="accent3"/>
            </a:solidFill>
            <a:prstDash val="solid"/>
          </a:ln>
        </p:spPr>
        <p:txBody>
          <a:bodyPr/>
          <a:lstStyle/>
          <a:p>
            <a:endParaRPr lang="en-US"/>
          </a:p>
        </p:txBody>
      </p:sp>
      <p:sp>
        <p:nvSpPr>
          <p:cNvPr id="16" name="Text 13"/>
          <p:cNvSpPr txBox="1"/>
          <p:nvPr/>
        </p:nvSpPr>
        <p:spPr>
          <a:xfrm>
            <a:off x="2112264" y="5532120"/>
            <a:ext cx="1307592" cy="36576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AuthN middleware</a:t>
            </a:r>
            <a:endParaRPr lang="en-US" sz="1100" dirty="0"/>
          </a:p>
        </p:txBody>
      </p:sp>
      <p:sp>
        <p:nvSpPr>
          <p:cNvPr id="17" name="Shape 14"/>
          <p:cNvSpPr/>
          <p:nvPr/>
        </p:nvSpPr>
        <p:spPr>
          <a:xfrm>
            <a:off x="3657600" y="5532120"/>
            <a:ext cx="1417320" cy="365760"/>
          </a:xfrm>
          <a:prstGeom prst="roundRect">
            <a:avLst>
              <a:gd name="adj" fmla="val 15000"/>
            </a:avLst>
          </a:prstGeom>
          <a:solidFill>
            <a:schemeClr val="bg1"/>
          </a:solidFill>
          <a:ln/>
        </p:spPr>
        <p:txBody>
          <a:bodyPr/>
          <a:lstStyle/>
          <a:p>
            <a:endParaRPr lang="en-US"/>
          </a:p>
        </p:txBody>
      </p:sp>
      <p:sp>
        <p:nvSpPr>
          <p:cNvPr id="18" name="Shape 15"/>
          <p:cNvSpPr/>
          <p:nvPr/>
        </p:nvSpPr>
        <p:spPr>
          <a:xfrm>
            <a:off x="3657600" y="5532120"/>
            <a:ext cx="1417320" cy="365760"/>
          </a:xfrm>
          <a:prstGeom prst="roundRect">
            <a:avLst>
              <a:gd name="adj" fmla="val 15000"/>
            </a:avLst>
          </a:prstGeom>
          <a:solidFill>
            <a:schemeClr val="accent1">
              <a:alpha val="18000"/>
            </a:schemeClr>
          </a:solidFill>
          <a:ln w="15875">
            <a:solidFill>
              <a:schemeClr val="accent1"/>
            </a:solidFill>
            <a:prstDash val="solid"/>
          </a:ln>
        </p:spPr>
        <p:txBody>
          <a:bodyPr/>
          <a:lstStyle/>
          <a:p>
            <a:endParaRPr lang="en-US"/>
          </a:p>
        </p:txBody>
      </p:sp>
      <p:sp>
        <p:nvSpPr>
          <p:cNvPr id="19" name="Text 16"/>
          <p:cNvSpPr txBox="1"/>
          <p:nvPr/>
        </p:nvSpPr>
        <p:spPr>
          <a:xfrm>
            <a:off x="3712464" y="5532120"/>
            <a:ext cx="1307592" cy="36576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REST handler</a:t>
            </a:r>
            <a:endParaRPr lang="en-US" sz="1100" dirty="0"/>
          </a:p>
        </p:txBody>
      </p:sp>
      <p:sp>
        <p:nvSpPr>
          <p:cNvPr id="20" name="Shape 17"/>
          <p:cNvSpPr/>
          <p:nvPr/>
        </p:nvSpPr>
        <p:spPr>
          <a:xfrm>
            <a:off x="457200" y="5989320"/>
            <a:ext cx="1417320" cy="365760"/>
          </a:xfrm>
          <a:prstGeom prst="roundRect">
            <a:avLst>
              <a:gd name="adj" fmla="val 15000"/>
            </a:avLst>
          </a:prstGeom>
          <a:solidFill>
            <a:schemeClr val="bg1"/>
          </a:solidFill>
          <a:ln/>
        </p:spPr>
        <p:txBody>
          <a:bodyPr/>
          <a:lstStyle/>
          <a:p>
            <a:endParaRPr lang="en-US"/>
          </a:p>
        </p:txBody>
      </p:sp>
      <p:sp>
        <p:nvSpPr>
          <p:cNvPr id="21" name="Shape 18"/>
          <p:cNvSpPr/>
          <p:nvPr/>
        </p:nvSpPr>
        <p:spPr>
          <a:xfrm>
            <a:off x="457200" y="5989320"/>
            <a:ext cx="1417320" cy="365760"/>
          </a:xfrm>
          <a:prstGeom prst="roundRect">
            <a:avLst>
              <a:gd name="adj" fmla="val 15000"/>
            </a:avLst>
          </a:prstGeom>
          <a:solidFill>
            <a:srgbClr val="F3ECFB"/>
          </a:solidFill>
          <a:ln w="15875">
            <a:solidFill>
              <a:schemeClr val="bg1">
                <a:lumMod val="65000"/>
              </a:schemeClr>
            </a:solidFill>
            <a:prstDash val="solid"/>
          </a:ln>
        </p:spPr>
        <p:txBody>
          <a:bodyPr/>
          <a:lstStyle/>
          <a:p>
            <a:endParaRPr lang="en-US"/>
          </a:p>
        </p:txBody>
      </p:sp>
      <p:sp>
        <p:nvSpPr>
          <p:cNvPr id="22" name="Text 19"/>
          <p:cNvSpPr txBox="1"/>
          <p:nvPr/>
        </p:nvSpPr>
        <p:spPr>
          <a:xfrm>
            <a:off x="512064" y="5989320"/>
            <a:ext cx="1307592" cy="36576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Other gear</a:t>
            </a:r>
            <a:endParaRPr lang="en-US" sz="1100" dirty="0"/>
          </a:p>
        </p:txBody>
      </p:sp>
      <p:sp>
        <p:nvSpPr>
          <p:cNvPr id="23" name="Shape 20"/>
          <p:cNvSpPr/>
          <p:nvPr/>
        </p:nvSpPr>
        <p:spPr>
          <a:xfrm>
            <a:off x="2057400" y="5989320"/>
            <a:ext cx="3017520" cy="365760"/>
          </a:xfrm>
          <a:prstGeom prst="roundRect">
            <a:avLst>
              <a:gd name="adj" fmla="val 15000"/>
            </a:avLst>
          </a:prstGeom>
          <a:solidFill>
            <a:schemeClr val="bg1"/>
          </a:solidFill>
          <a:ln/>
        </p:spPr>
        <p:txBody>
          <a:bodyPr/>
          <a:lstStyle/>
          <a:p>
            <a:endParaRPr lang="en-US"/>
          </a:p>
        </p:txBody>
      </p:sp>
      <p:sp>
        <p:nvSpPr>
          <p:cNvPr id="24" name="Shape 21"/>
          <p:cNvSpPr/>
          <p:nvPr/>
        </p:nvSpPr>
        <p:spPr>
          <a:xfrm>
            <a:off x="2057400" y="5989320"/>
            <a:ext cx="3017520" cy="365760"/>
          </a:xfrm>
          <a:prstGeom prst="roundRect">
            <a:avLst>
              <a:gd name="adj" fmla="val 15000"/>
            </a:avLst>
          </a:prstGeom>
          <a:solidFill>
            <a:schemeClr val="accent1">
              <a:alpha val="18000"/>
            </a:schemeClr>
          </a:solidFill>
          <a:ln w="15875">
            <a:solidFill>
              <a:schemeClr val="accent1"/>
            </a:solidFill>
            <a:prstDash val="solid"/>
          </a:ln>
        </p:spPr>
        <p:txBody>
          <a:bodyPr/>
          <a:lstStyle/>
          <a:p>
            <a:endParaRPr lang="en-US"/>
          </a:p>
        </p:txBody>
      </p:sp>
      <p:sp>
        <p:nvSpPr>
          <p:cNvPr id="25" name="Text 22"/>
          <p:cNvSpPr txBox="1"/>
          <p:nvPr/>
        </p:nvSpPr>
        <p:spPr>
          <a:xfrm>
            <a:off x="2112264" y="5989320"/>
            <a:ext cx="2907792" cy="36576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ClientHub → LocalClient</a:t>
            </a:r>
            <a:endParaRPr lang="en-US" sz="1100" dirty="0"/>
          </a:p>
        </p:txBody>
      </p:sp>
      <p:sp>
        <p:nvSpPr>
          <p:cNvPr id="26" name="Shape 23"/>
          <p:cNvSpPr/>
          <p:nvPr/>
        </p:nvSpPr>
        <p:spPr>
          <a:xfrm>
            <a:off x="1874520" y="5715000"/>
            <a:ext cx="182880" cy="91"/>
          </a:xfrm>
          <a:prstGeom prst="line">
            <a:avLst/>
          </a:prstGeom>
          <a:noFill/>
          <a:ln w="15875">
            <a:solidFill>
              <a:schemeClr val="tx2"/>
            </a:solidFill>
            <a:prstDash val="solid"/>
            <a:headEnd type="none"/>
            <a:tailEnd type="triangle"/>
          </a:ln>
        </p:spPr>
        <p:txBody>
          <a:bodyPr/>
          <a:lstStyle/>
          <a:p>
            <a:endParaRPr lang="en-US"/>
          </a:p>
        </p:txBody>
      </p:sp>
      <p:sp>
        <p:nvSpPr>
          <p:cNvPr id="27" name="Shape 24"/>
          <p:cNvSpPr/>
          <p:nvPr/>
        </p:nvSpPr>
        <p:spPr>
          <a:xfrm>
            <a:off x="3474720" y="5715000"/>
            <a:ext cx="182880" cy="91"/>
          </a:xfrm>
          <a:prstGeom prst="line">
            <a:avLst/>
          </a:prstGeom>
          <a:noFill/>
          <a:ln w="15875">
            <a:solidFill>
              <a:schemeClr val="tx2"/>
            </a:solidFill>
            <a:prstDash val="solid"/>
            <a:headEnd type="none"/>
            <a:tailEnd type="triangle"/>
          </a:ln>
        </p:spPr>
        <p:txBody>
          <a:bodyPr/>
          <a:lstStyle/>
          <a:p>
            <a:endParaRPr lang="en-US"/>
          </a:p>
        </p:txBody>
      </p:sp>
      <p:sp>
        <p:nvSpPr>
          <p:cNvPr id="28" name="Shape 25"/>
          <p:cNvSpPr/>
          <p:nvPr/>
        </p:nvSpPr>
        <p:spPr>
          <a:xfrm>
            <a:off x="1874520" y="6172200"/>
            <a:ext cx="182880" cy="91"/>
          </a:xfrm>
          <a:prstGeom prst="line">
            <a:avLst/>
          </a:prstGeom>
          <a:noFill/>
          <a:ln w="15875">
            <a:solidFill>
              <a:schemeClr val="tx2"/>
            </a:solidFill>
            <a:prstDash val="solid"/>
            <a:headEnd type="none"/>
            <a:tailEnd type="triangle"/>
          </a:ln>
        </p:spPr>
        <p:txBody>
          <a:bodyPr/>
          <a:lstStyle/>
          <a:p>
            <a:endParaRPr lang="en-US"/>
          </a:p>
        </p:txBody>
      </p:sp>
      <p:sp>
        <p:nvSpPr>
          <p:cNvPr id="29" name="Shape 26"/>
          <p:cNvSpPr/>
          <p:nvPr/>
        </p:nvSpPr>
        <p:spPr>
          <a:xfrm>
            <a:off x="5074920" y="5715000"/>
            <a:ext cx="274320" cy="210312"/>
          </a:xfrm>
          <a:prstGeom prst="line">
            <a:avLst/>
          </a:prstGeom>
          <a:noFill/>
          <a:ln w="15875">
            <a:solidFill>
              <a:schemeClr val="tx2"/>
            </a:solidFill>
            <a:prstDash val="solid"/>
            <a:headEnd type="none"/>
            <a:tailEnd type="triangle"/>
          </a:ln>
        </p:spPr>
        <p:txBody>
          <a:bodyPr/>
          <a:lstStyle/>
          <a:p>
            <a:endParaRPr lang="en-US"/>
          </a:p>
        </p:txBody>
      </p:sp>
      <p:sp>
        <p:nvSpPr>
          <p:cNvPr id="30" name="Shape 27"/>
          <p:cNvSpPr/>
          <p:nvPr/>
        </p:nvSpPr>
        <p:spPr>
          <a:xfrm flipV="1">
            <a:off x="5074920" y="5961888"/>
            <a:ext cx="274320" cy="210312"/>
          </a:xfrm>
          <a:prstGeom prst="line">
            <a:avLst/>
          </a:prstGeom>
          <a:noFill/>
          <a:ln w="15875">
            <a:solidFill>
              <a:schemeClr val="tx2"/>
            </a:solidFill>
            <a:prstDash val="solid"/>
            <a:headEnd type="none"/>
            <a:tailEnd type="triangle"/>
          </a:ln>
        </p:spPr>
        <p:txBody>
          <a:bodyPr/>
          <a:lstStyle/>
          <a:p>
            <a:endParaRPr lang="en-US"/>
          </a:p>
        </p:txBody>
      </p:sp>
      <p:sp>
        <p:nvSpPr>
          <p:cNvPr id="31" name="Shape 28"/>
          <p:cNvSpPr/>
          <p:nvPr/>
        </p:nvSpPr>
        <p:spPr>
          <a:xfrm>
            <a:off x="6163056" y="5733288"/>
            <a:ext cx="1463040" cy="365760"/>
          </a:xfrm>
          <a:prstGeom prst="roundRect">
            <a:avLst>
              <a:gd name="adj" fmla="val 15000"/>
            </a:avLst>
          </a:prstGeom>
          <a:solidFill>
            <a:schemeClr val="bg1"/>
          </a:solidFill>
          <a:ln/>
        </p:spPr>
        <p:txBody>
          <a:bodyPr/>
          <a:lstStyle/>
          <a:p>
            <a:endParaRPr lang="en-US"/>
          </a:p>
        </p:txBody>
      </p:sp>
      <p:sp>
        <p:nvSpPr>
          <p:cNvPr id="32" name="Shape 29"/>
          <p:cNvSpPr/>
          <p:nvPr/>
        </p:nvSpPr>
        <p:spPr>
          <a:xfrm>
            <a:off x="6830568" y="5733288"/>
            <a:ext cx="1179576" cy="365760"/>
          </a:xfrm>
          <a:prstGeom prst="roundRect">
            <a:avLst>
              <a:gd name="adj" fmla="val 15000"/>
            </a:avLst>
          </a:prstGeom>
          <a:solidFill>
            <a:schemeClr val="accent1">
              <a:alpha val="18000"/>
            </a:schemeClr>
          </a:solidFill>
          <a:ln w="15875">
            <a:solidFill>
              <a:schemeClr val="accent1"/>
            </a:solidFill>
            <a:prstDash val="solid"/>
          </a:ln>
        </p:spPr>
        <p:txBody>
          <a:bodyPr anchor="ctr"/>
          <a:lstStyle/>
          <a:p>
            <a:pPr algn="ctr"/>
            <a:r>
              <a:rPr lang="en-US" sz="1100" b="1" dirty="0">
                <a:latin typeface="Calibri" pitchFamily="34" charset="0"/>
                <a:ea typeface="Calibri" pitchFamily="34" charset="-122"/>
                <a:cs typeface="Calibri" pitchFamily="34" charset="-120"/>
              </a:rPr>
              <a:t>Domain service</a:t>
            </a:r>
            <a:endParaRPr lang="en-US" sz="1100" dirty="0"/>
          </a:p>
        </p:txBody>
      </p:sp>
      <p:sp>
        <p:nvSpPr>
          <p:cNvPr id="35" name="Shape 32"/>
          <p:cNvSpPr/>
          <p:nvPr/>
        </p:nvSpPr>
        <p:spPr>
          <a:xfrm>
            <a:off x="8257032" y="5733288"/>
            <a:ext cx="1188720" cy="365760"/>
          </a:xfrm>
          <a:prstGeom prst="roundRect">
            <a:avLst>
              <a:gd name="adj" fmla="val 15000"/>
            </a:avLst>
          </a:prstGeom>
          <a:solidFill>
            <a:schemeClr val="accent3">
              <a:alpha val="18000"/>
            </a:schemeClr>
          </a:solidFill>
          <a:ln w="15875">
            <a:solidFill>
              <a:schemeClr val="accent3"/>
            </a:solidFill>
            <a:prstDash val="solid"/>
          </a:ln>
        </p:spPr>
        <p:txBody>
          <a:bodyPr anchor="ctr"/>
          <a:lstStyle/>
          <a:p>
            <a:pPr algn="ctr"/>
            <a:r>
              <a:rPr lang="en-US" sz="1100" b="1" dirty="0">
                <a:latin typeface="Calibri" panose="020F0502020204030204" pitchFamily="34" charset="0"/>
                <a:ea typeface="Calibri" pitchFamily="34" charset="-122"/>
                <a:cs typeface="Calibri" panose="020F0502020204030204" pitchFamily="34" charset="0"/>
              </a:rPr>
              <a:t>Policy Enforcer</a:t>
            </a:r>
            <a:endParaRPr lang="en-US" sz="1100" dirty="0">
              <a:latin typeface="Calibri" panose="020F0502020204030204" pitchFamily="34" charset="0"/>
              <a:cs typeface="Calibri" panose="020F0502020204030204" pitchFamily="34" charset="0"/>
            </a:endParaRPr>
          </a:p>
        </p:txBody>
      </p:sp>
      <p:sp>
        <p:nvSpPr>
          <p:cNvPr id="38" name="Shape 35"/>
          <p:cNvSpPr/>
          <p:nvPr/>
        </p:nvSpPr>
        <p:spPr>
          <a:xfrm>
            <a:off x="9683496" y="5733288"/>
            <a:ext cx="1234440" cy="365760"/>
          </a:xfrm>
          <a:prstGeom prst="roundRect">
            <a:avLst>
              <a:gd name="adj" fmla="val 15000"/>
            </a:avLst>
          </a:prstGeom>
          <a:solidFill>
            <a:schemeClr val="accent2">
              <a:alpha val="18000"/>
            </a:schemeClr>
          </a:solidFill>
          <a:ln w="15875">
            <a:solidFill>
              <a:schemeClr val="accent2"/>
            </a:solidFill>
            <a:prstDash val="solid"/>
          </a:ln>
        </p:spPr>
        <p:txBody>
          <a:bodyPr anchor="ctr"/>
          <a:lstStyle/>
          <a:p>
            <a:pPr algn="ctr"/>
            <a:r>
              <a:rPr lang="en-US" sz="1100" b="1" dirty="0">
                <a:latin typeface="Calibri" pitchFamily="34" charset="0"/>
                <a:ea typeface="Calibri" pitchFamily="34" charset="-122"/>
                <a:cs typeface="Calibri" pitchFamily="34" charset="-120"/>
              </a:rPr>
              <a:t>Secure Conn</a:t>
            </a:r>
            <a:endParaRPr lang="en-US" sz="1100" dirty="0"/>
          </a:p>
        </p:txBody>
      </p:sp>
      <p:sp>
        <p:nvSpPr>
          <p:cNvPr id="40" name="Shape 37"/>
          <p:cNvSpPr/>
          <p:nvPr/>
        </p:nvSpPr>
        <p:spPr>
          <a:xfrm>
            <a:off x="8010144" y="5907026"/>
            <a:ext cx="256032" cy="0"/>
          </a:xfrm>
          <a:prstGeom prst="line">
            <a:avLst/>
          </a:prstGeom>
          <a:noFill/>
          <a:ln w="15875">
            <a:solidFill>
              <a:schemeClr val="tx2"/>
            </a:solidFill>
            <a:prstDash val="solid"/>
            <a:headEnd type="none"/>
            <a:tailEnd type="triangle"/>
          </a:ln>
        </p:spPr>
        <p:txBody>
          <a:bodyPr/>
          <a:lstStyle/>
          <a:p>
            <a:endParaRPr lang="en-US"/>
          </a:p>
        </p:txBody>
      </p:sp>
      <p:sp>
        <p:nvSpPr>
          <p:cNvPr id="41" name="Shape 38"/>
          <p:cNvSpPr/>
          <p:nvPr/>
        </p:nvSpPr>
        <p:spPr>
          <a:xfrm flipV="1">
            <a:off x="9445752" y="5911597"/>
            <a:ext cx="237744" cy="0"/>
          </a:xfrm>
          <a:prstGeom prst="line">
            <a:avLst/>
          </a:prstGeom>
          <a:noFill/>
          <a:ln w="15875">
            <a:solidFill>
              <a:schemeClr val="tx2"/>
            </a:solidFill>
            <a:prstDash val="solid"/>
            <a:headEnd type="none"/>
            <a:tailEnd type="triangle"/>
          </a:ln>
        </p:spPr>
        <p:txBody>
          <a:bodyPr/>
          <a:lstStyle/>
          <a:p>
            <a:endParaRPr lang="en-US"/>
          </a:p>
        </p:txBody>
      </p:sp>
      <p:sp>
        <p:nvSpPr>
          <p:cNvPr id="42" name="Shape 39"/>
          <p:cNvSpPr/>
          <p:nvPr/>
        </p:nvSpPr>
        <p:spPr>
          <a:xfrm>
            <a:off x="10917936" y="5916123"/>
            <a:ext cx="228600" cy="91"/>
          </a:xfrm>
          <a:prstGeom prst="line">
            <a:avLst/>
          </a:prstGeom>
          <a:noFill/>
          <a:ln w="15875">
            <a:solidFill>
              <a:schemeClr val="accent2"/>
            </a:solidFill>
            <a:prstDash val="solid"/>
            <a:headEnd type="none"/>
            <a:tailEnd type="triangle"/>
          </a:ln>
        </p:spPr>
        <p:txBody>
          <a:bodyPr/>
          <a:lstStyle/>
          <a:p>
            <a:endParaRPr lang="en-US"/>
          </a:p>
        </p:txBody>
      </p:sp>
      <p:sp>
        <p:nvSpPr>
          <p:cNvPr id="43" name="Shape 40"/>
          <p:cNvSpPr/>
          <p:nvPr/>
        </p:nvSpPr>
        <p:spPr>
          <a:xfrm>
            <a:off x="11146536" y="5596128"/>
            <a:ext cx="822960" cy="640080"/>
          </a:xfrm>
          <a:prstGeom prst="can">
            <a:avLst/>
          </a:prstGeom>
          <a:solidFill>
            <a:schemeClr val="accent2"/>
          </a:solidFill>
          <a:ln w="15875">
            <a:solidFill>
              <a:schemeClr val="accent2"/>
            </a:solidFill>
            <a:prstDash val="solid"/>
          </a:ln>
        </p:spPr>
        <p:txBody>
          <a:bodyPr/>
          <a:lstStyle/>
          <a:p>
            <a:endParaRPr lang="en-US"/>
          </a:p>
        </p:txBody>
      </p:sp>
      <p:sp>
        <p:nvSpPr>
          <p:cNvPr id="44" name="Text 41"/>
          <p:cNvSpPr txBox="1"/>
          <p:nvPr/>
        </p:nvSpPr>
        <p:spPr>
          <a:xfrm>
            <a:off x="11237976" y="5653735"/>
            <a:ext cx="640080" cy="524866"/>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DB</a:t>
            </a:r>
            <a:endParaRPr lang="en-US" sz="11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27</a:t>
            </a:fld>
            <a:endParaRPr lang="en-US"/>
          </a:p>
        </p:txBody>
      </p:sp>
      <p:sp>
        <p:nvSpPr>
          <p:cNvPr id="46" name="Shape 29">
            <a:extLst>
              <a:ext uri="{FF2B5EF4-FFF2-40B4-BE49-F238E27FC236}">
                <a16:creationId xmlns:a16="http://schemas.microsoft.com/office/drawing/2014/main" id="{2054BEC4-4A0D-CCFB-9165-592CC6BEA4CC}"/>
              </a:ext>
            </a:extLst>
          </p:cNvPr>
          <p:cNvSpPr/>
          <p:nvPr/>
        </p:nvSpPr>
        <p:spPr>
          <a:xfrm>
            <a:off x="5404104" y="5733288"/>
            <a:ext cx="1179576" cy="365760"/>
          </a:xfrm>
          <a:prstGeom prst="roundRect">
            <a:avLst>
              <a:gd name="adj" fmla="val 15000"/>
            </a:avLst>
          </a:prstGeom>
          <a:solidFill>
            <a:schemeClr val="accent1">
              <a:alpha val="18000"/>
            </a:schemeClr>
          </a:solidFill>
          <a:ln w="15875">
            <a:solidFill>
              <a:schemeClr val="accent1"/>
            </a:solidFill>
            <a:prstDash val="solid"/>
          </a:ln>
        </p:spPr>
        <p:txBody>
          <a:bodyPr anchor="ctr"/>
          <a:lstStyle/>
          <a:p>
            <a:pPr algn="ctr"/>
            <a:r>
              <a:rPr lang="en-US" sz="1100" b="1" dirty="0">
                <a:latin typeface="Calibri" pitchFamily="34" charset="0"/>
                <a:ea typeface="Calibri" pitchFamily="34" charset="-122"/>
                <a:cs typeface="Calibri" pitchFamily="34" charset="-120"/>
              </a:rPr>
              <a:t>Policy Enforcer</a:t>
            </a:r>
            <a:br>
              <a:rPr lang="en-US" sz="1100" b="1" dirty="0">
                <a:latin typeface="Calibri" pitchFamily="34" charset="0"/>
                <a:ea typeface="Calibri" pitchFamily="34" charset="-122"/>
                <a:cs typeface="Calibri" pitchFamily="34" charset="-120"/>
              </a:rPr>
            </a:br>
            <a:r>
              <a:rPr lang="en-US" sz="1100" b="1" dirty="0">
                <a:latin typeface="Calibri" pitchFamily="34" charset="0"/>
                <a:ea typeface="Calibri" pitchFamily="34" charset="-122"/>
                <a:cs typeface="Calibri" pitchFamily="34" charset="-120"/>
              </a:rPr>
              <a:t>Access Scope</a:t>
            </a:r>
            <a:endParaRPr lang="en-US" sz="1100" dirty="0"/>
          </a:p>
        </p:txBody>
      </p:sp>
      <p:sp>
        <p:nvSpPr>
          <p:cNvPr id="47" name="Shape 37">
            <a:extLst>
              <a:ext uri="{FF2B5EF4-FFF2-40B4-BE49-F238E27FC236}">
                <a16:creationId xmlns:a16="http://schemas.microsoft.com/office/drawing/2014/main" id="{BD3700A1-8874-D244-5ADE-FD8F34F9845B}"/>
              </a:ext>
            </a:extLst>
          </p:cNvPr>
          <p:cNvSpPr/>
          <p:nvPr/>
        </p:nvSpPr>
        <p:spPr>
          <a:xfrm flipV="1">
            <a:off x="6583680" y="5916168"/>
            <a:ext cx="246888" cy="0"/>
          </a:xfrm>
          <a:prstGeom prst="line">
            <a:avLst/>
          </a:prstGeom>
          <a:noFill/>
          <a:ln w="15875">
            <a:solidFill>
              <a:schemeClr val="tx2"/>
            </a:solidFill>
            <a:prstDash val="solid"/>
            <a:headEnd type="none"/>
            <a:tailEnd type="triangle"/>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Error contract: know these and you know the API</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RFC 9457 problem+json with platform canonical categories; context.reason narrows the cause</a:t>
            </a:r>
            <a:endParaRPr lang="en-US" sz="1600" dirty="0"/>
          </a:p>
        </p:txBody>
      </p:sp>
      <p:graphicFrame>
        <p:nvGraphicFramePr>
          <p:cNvPr id="25" name="Table 0"/>
          <p:cNvGraphicFramePr>
            <a:graphicFrameLocks noGrp="1"/>
          </p:cNvGraphicFramePr>
          <p:nvPr/>
        </p:nvGraphicFramePr>
        <p:xfrm>
          <a:off x="457200" y="1463040"/>
          <a:ext cx="7863840" cy="4754880"/>
        </p:xfrm>
        <a:graphic>
          <a:graphicData uri="http://schemas.openxmlformats.org/drawingml/2006/table">
            <a:tbl>
              <a:tblPr/>
              <a:tblGrid>
                <a:gridCol w="50292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96240">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HTTP</a:t>
                      </a:r>
                      <a:endParaRPr lang="en-US" sz="110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Category · reason</a:t>
                      </a:r>
                      <a:endParaRPr lang="en-US" sz="110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latin typeface="Calibri" pitchFamily="34" charset="0"/>
                          <a:ea typeface="Calibri" pitchFamily="34" charset="-122"/>
                          <a:cs typeface="Calibri" pitchFamily="34" charset="-120"/>
                        </a:rPr>
                        <a:t>What you do</a:t>
                      </a:r>
                      <a:endParaRPr lang="en-US" sz="110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96240">
                <a:tc>
                  <a:txBody>
                    <a:bodyPr/>
                    <a:lstStyle/>
                    <a:p>
                      <a:pPr marL="0" indent="0">
                        <a:buNone/>
                      </a:pPr>
                      <a:r>
                        <a:rPr lang="en-US" sz="1050" b="1" dirty="0">
                          <a:solidFill>
                            <a:schemeClr val="accent4"/>
                          </a:solidFill>
                          <a:latin typeface="Calibri" pitchFamily="34" charset="0"/>
                          <a:ea typeface="Calibri" pitchFamily="34" charset="-122"/>
                          <a:cs typeface="Calibri" pitchFamily="34" charset="-120"/>
                        </a:rPr>
                        <a:t>409</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aborted · LEASE_LOST</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worker write with a stale lease_token</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Stop. Never retry.</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409</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aborted · CONCURRENT_MODIFICATION</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two payload writes raced (revision)</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Re-read, retry</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409</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already_exists</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same key, same payload (replay)</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Use the existing task id</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400</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invalid_argument</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same key + other payload · schema · cycle</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Fix the request</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428</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invalid_argument</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Idempotency-Key header missing</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Send the header</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413</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invalid_argument</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input + context + output &gt; 64 KiB</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Store blob elsewhere, pass URI</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429</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resource_exhausted · QUEUE_DEPTH_LIMIT</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queue / tenant / engine is full</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Back off (Retry-After)</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429</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resource_exhausted · CONCURRENCY_LIMIT</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claim found only capacity-blocked tasks</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Back off, claim later</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400</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failed_precondition · STALE_ORDER</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P2: older supersede order</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Drop the stale submission</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9"/>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403</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permission_denied</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PDP denied or unreachable (fail-closed)</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Check the policy</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96240">
                <a:tc>
                  <a:txBody>
                    <a:bodyPr/>
                    <a:lstStyle/>
                    <a:p>
                      <a:pPr marL="0" indent="0">
                        <a:buNone/>
                      </a:pPr>
                      <a:r>
                        <a:rPr lang="en-US" sz="1050" b="1" dirty="0">
                          <a:solidFill>
                            <a:schemeClr val="tx1"/>
                          </a:solidFill>
                          <a:latin typeface="Calibri" pitchFamily="34" charset="0"/>
                          <a:ea typeface="Calibri" pitchFamily="34" charset="-122"/>
                          <a:cs typeface="Calibri" pitchFamily="34" charset="-120"/>
                        </a:rPr>
                        <a:t>503</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ourier New" pitchFamily="34" charset="0"/>
                          <a:ea typeface="Courier New" pitchFamily="34" charset="-122"/>
                          <a:cs typeface="Courier New" pitchFamily="34" charset="-120"/>
                        </a:rPr>
                        <a:t>unavailable</a:t>
                      </a:r>
                      <a:endParaRPr lang="en-US" sz="1050" dirty="0">
                        <a:latin typeface="Courier New" charset="0"/>
                        <a:ea typeface="Courier New" charset="0"/>
                        <a:cs typeface="Courier New"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DB pool exhausted under overload</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latin typeface="Calibri" pitchFamily="34" charset="0"/>
                          <a:ea typeface="Calibri" pitchFamily="34" charset="-122"/>
                          <a:cs typeface="Calibri" pitchFamily="34" charset="-120"/>
                        </a:rPr>
                        <a:t>Back off (Retry-After)</a:t>
                      </a:r>
                      <a:endParaRPr lang="en-US" sz="1050" dirty="0">
                        <a:latin typeface="Calibri" charset="0"/>
                        <a:ea typeface="Calibri" charset="0"/>
                        <a:cs typeface="Calibri" charset="0"/>
                      </a:endParaRPr>
                    </a:p>
                  </a:txBody>
                  <a:tcPr marL="64008" marR="64008"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11"/>
                  </a:ext>
                </a:extLst>
              </a:tr>
            </a:tbl>
          </a:graphicData>
        </a:graphic>
      </p:graphicFrame>
      <p:sp>
        <p:nvSpPr>
          <p:cNvPr id="6" name="Shape 2"/>
          <p:cNvSpPr/>
          <p:nvPr/>
        </p:nvSpPr>
        <p:spPr>
          <a:xfrm>
            <a:off x="8549640" y="1463040"/>
            <a:ext cx="3182112" cy="3063240"/>
          </a:xfrm>
          <a:prstGeom prst="roundRect">
            <a:avLst>
              <a:gd name="adj" fmla="val 1791"/>
            </a:avLst>
          </a:prstGeom>
          <a:solidFill>
            <a:schemeClr val="tx1"/>
          </a:solidFill>
          <a:ln/>
        </p:spPr>
        <p:txBody>
          <a:bodyPr/>
          <a:lstStyle/>
          <a:p>
            <a:endParaRPr lang="en-US"/>
          </a:p>
        </p:txBody>
      </p:sp>
      <p:sp>
        <p:nvSpPr>
          <p:cNvPr id="7" name="Text 3"/>
          <p:cNvSpPr txBox="1"/>
          <p:nvPr/>
        </p:nvSpPr>
        <p:spPr>
          <a:xfrm>
            <a:off x="8714232" y="1572768"/>
            <a:ext cx="2907792" cy="2843784"/>
          </a:xfrm>
          <a:prstGeom prst="rect">
            <a:avLst/>
          </a:prstGeom>
          <a:noFill/>
          <a:ln/>
        </p:spPr>
        <p:txBody>
          <a:bodyPr wrap="square" lIns="0" tIns="0" rIns="0" bIns="0" rtlCol="0" anchor="t"/>
          <a:lstStyle/>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"type": "gts.cf.core.errors.</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err.v1~cf.core.err.</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aborted.v1~",</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"title": "Aborted",</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"status": 409,</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"detail": "lease lost",</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"trace_id": "00-4bf9…",</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"context": {</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"reason": "LEASE_LOST"</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marL="0" indent="0">
              <a:lnSpc>
                <a:spcPct val="100000"/>
              </a:lnSpc>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8" name="Shape 4"/>
          <p:cNvSpPr/>
          <p:nvPr/>
        </p:nvSpPr>
        <p:spPr>
          <a:xfrm>
            <a:off x="8549640" y="4663440"/>
            <a:ext cx="3182112" cy="1554480"/>
          </a:xfrm>
          <a:prstGeom prst="roundRect">
            <a:avLst>
              <a:gd name="adj" fmla="val 3529"/>
            </a:avLst>
          </a:prstGeom>
          <a:solidFill>
            <a:schemeClr val="bg1"/>
          </a:solidFill>
          <a:ln/>
        </p:spPr>
        <p:txBody>
          <a:bodyPr/>
          <a:lstStyle/>
          <a:p>
            <a:endParaRPr lang="en-US"/>
          </a:p>
        </p:txBody>
      </p:sp>
      <p:sp>
        <p:nvSpPr>
          <p:cNvPr id="9" name="Shape 5"/>
          <p:cNvSpPr/>
          <p:nvPr/>
        </p:nvSpPr>
        <p:spPr>
          <a:xfrm>
            <a:off x="8549640" y="4663440"/>
            <a:ext cx="3182112" cy="1554480"/>
          </a:xfrm>
          <a:prstGeom prst="roundRect">
            <a:avLst>
              <a:gd name="adj" fmla="val 3529"/>
            </a:avLst>
          </a:prstGeom>
          <a:solidFill>
            <a:schemeClr val="accent4">
              <a:alpha val="10000"/>
            </a:schemeClr>
          </a:solidFill>
          <a:ln/>
        </p:spPr>
        <p:txBody>
          <a:bodyPr/>
          <a:lstStyle/>
          <a:p>
            <a:endParaRPr lang="en-US"/>
          </a:p>
        </p:txBody>
      </p:sp>
      <p:sp>
        <p:nvSpPr>
          <p:cNvPr id="10" name="Text 6"/>
          <p:cNvSpPr txBox="1"/>
          <p:nvPr/>
        </p:nvSpPr>
        <p:spPr>
          <a:xfrm>
            <a:off x="8686800" y="4709160"/>
            <a:ext cx="2926080" cy="1463040"/>
          </a:xfrm>
          <a:prstGeom prst="rect">
            <a:avLst/>
          </a:prstGeom>
          <a:noFill/>
          <a:ln/>
        </p:spPr>
        <p:txBody>
          <a:bodyPr wrap="square" lIns="0" tIns="0" rIns="0" bIns="0" rtlCol="0" anchor="ctr"/>
          <a:lstStyle/>
          <a:p>
            <a:pPr marL="0" indent="0">
              <a:buNone/>
            </a:pPr>
            <a:r>
              <a:rPr lang="en-US" sz="1200" dirty="0">
                <a:solidFill>
                  <a:schemeClr val="tx1"/>
                </a:solidFill>
                <a:latin typeface="Calibri" pitchFamily="34" charset="0"/>
                <a:ea typeface="Calibri" pitchFamily="34" charset="-122"/>
                <a:cs typeface="Calibri" pitchFamily="34" charset="-120"/>
              </a:rPr>
              <a:t>LEASE_LOST is final. CONCURRENT_MODIFICATION is retryable. Generic retry middleware must tell them apart by context.reason.</a:t>
            </a:r>
            <a:endParaRPr lang="en-US" sz="12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Events: committed with state, delivered via outbox</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No dual writes — the audit row and the outbox row commit in the same transaction as the state</a:t>
            </a:r>
            <a:endParaRPr lang="en-US" sz="1600" dirty="0"/>
          </a:p>
        </p:txBody>
      </p:sp>
      <p:sp>
        <p:nvSpPr>
          <p:cNvPr id="5" name="Text 2"/>
          <p:cNvSpPr txBox="1"/>
          <p:nvPr/>
        </p:nvSpPr>
        <p:spPr>
          <a:xfrm>
            <a:off x="457200" y="1417320"/>
            <a:ext cx="182880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Outbound</a:t>
            </a:r>
            <a:endParaRPr lang="en-US" sz="1300" dirty="0"/>
          </a:p>
        </p:txBody>
      </p:sp>
      <p:sp>
        <p:nvSpPr>
          <p:cNvPr id="6" name="Shape 3"/>
          <p:cNvSpPr/>
          <p:nvPr/>
        </p:nvSpPr>
        <p:spPr>
          <a:xfrm>
            <a:off x="457200" y="1828800"/>
            <a:ext cx="1691640" cy="1325880"/>
          </a:xfrm>
          <a:prstGeom prst="roundRect">
            <a:avLst>
              <a:gd name="adj" fmla="val 4138"/>
            </a:avLst>
          </a:prstGeom>
          <a:solidFill>
            <a:schemeClr val="bg1"/>
          </a:solidFill>
          <a:ln/>
        </p:spPr>
        <p:txBody>
          <a:bodyPr/>
          <a:lstStyle/>
          <a:p>
            <a:endParaRPr lang="en-US"/>
          </a:p>
        </p:txBody>
      </p:sp>
      <p:sp>
        <p:nvSpPr>
          <p:cNvPr id="7" name="Shape 4"/>
          <p:cNvSpPr/>
          <p:nvPr/>
        </p:nvSpPr>
        <p:spPr>
          <a:xfrm>
            <a:off x="457200" y="1828800"/>
            <a:ext cx="1691640" cy="1325880"/>
          </a:xfrm>
          <a:prstGeom prst="roundRect">
            <a:avLst>
              <a:gd name="adj" fmla="val 4138"/>
            </a:avLst>
          </a:prstGeom>
          <a:solidFill>
            <a:schemeClr val="accent1">
              <a:alpha val="16000"/>
            </a:schemeClr>
          </a:solidFill>
          <a:ln w="15875">
            <a:solidFill>
              <a:schemeClr val="accent1"/>
            </a:solidFill>
            <a:prstDash val="solid"/>
          </a:ln>
        </p:spPr>
        <p:txBody>
          <a:bodyPr/>
          <a:lstStyle/>
          <a:p>
            <a:endParaRPr lang="en-US"/>
          </a:p>
        </p:txBody>
      </p:sp>
      <p:sp>
        <p:nvSpPr>
          <p:cNvPr id="8" name="Text 5"/>
          <p:cNvSpPr txBox="1"/>
          <p:nvPr/>
        </p:nvSpPr>
        <p:spPr>
          <a:xfrm>
            <a:off x="512064" y="1828800"/>
            <a:ext cx="1581912" cy="132588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Domain service</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any transition</a:t>
            </a:r>
            <a:endParaRPr lang="en-US" sz="1300" dirty="0"/>
          </a:p>
        </p:txBody>
      </p:sp>
      <p:sp>
        <p:nvSpPr>
          <p:cNvPr id="9" name="Shape 6"/>
          <p:cNvSpPr/>
          <p:nvPr/>
        </p:nvSpPr>
        <p:spPr>
          <a:xfrm>
            <a:off x="2514600" y="1737360"/>
            <a:ext cx="3657600" cy="1508760"/>
          </a:xfrm>
          <a:prstGeom prst="roundRect">
            <a:avLst>
              <a:gd name="adj" fmla="val 3636"/>
            </a:avLst>
          </a:prstGeom>
          <a:solidFill>
            <a:schemeClr val="bg1"/>
          </a:solidFill>
          <a:ln/>
        </p:spPr>
        <p:txBody>
          <a:bodyPr/>
          <a:lstStyle/>
          <a:p>
            <a:endParaRPr lang="en-US"/>
          </a:p>
        </p:txBody>
      </p:sp>
      <p:sp>
        <p:nvSpPr>
          <p:cNvPr id="10" name="Shape 7"/>
          <p:cNvSpPr/>
          <p:nvPr/>
        </p:nvSpPr>
        <p:spPr>
          <a:xfrm>
            <a:off x="2514600" y="1737360"/>
            <a:ext cx="3657600" cy="1508760"/>
          </a:xfrm>
          <a:prstGeom prst="roundRect">
            <a:avLst>
              <a:gd name="adj" fmla="val 3636"/>
            </a:avLst>
          </a:prstGeom>
          <a:solidFill>
            <a:schemeClr val="accent2">
              <a:alpha val="8000"/>
            </a:schemeClr>
          </a:solidFill>
          <a:ln w="15875">
            <a:solidFill>
              <a:schemeClr val="accent2"/>
            </a:solidFill>
            <a:prstDash val="dash"/>
          </a:ln>
        </p:spPr>
        <p:txBody>
          <a:bodyPr/>
          <a:lstStyle/>
          <a:p>
            <a:endParaRPr lang="en-US"/>
          </a:p>
        </p:txBody>
      </p:sp>
      <p:sp>
        <p:nvSpPr>
          <p:cNvPr id="11" name="Text 8"/>
          <p:cNvSpPr txBox="1"/>
          <p:nvPr/>
        </p:nvSpPr>
        <p:spPr>
          <a:xfrm>
            <a:off x="2651760" y="1764792"/>
            <a:ext cx="3383280" cy="256032"/>
          </a:xfrm>
          <a:prstGeom prst="rect">
            <a:avLst/>
          </a:prstGeom>
          <a:noFill/>
          <a:ln/>
        </p:spPr>
        <p:txBody>
          <a:bodyPr wrap="square" lIns="0" tIns="0" rIns="0" bIns="0" rtlCol="0" anchor="t"/>
          <a:lstStyle/>
          <a:p>
            <a:pPr marL="0" indent="0">
              <a:buNone/>
            </a:pPr>
            <a:r>
              <a:rPr lang="en-US" sz="1100" b="1" dirty="0">
                <a:solidFill>
                  <a:schemeClr val="accent2"/>
                </a:solidFill>
                <a:latin typeface="Calibri" pitchFamily="34" charset="0"/>
                <a:ea typeface="Calibri" pitchFamily="34" charset="-122"/>
                <a:cs typeface="Calibri" pitchFamily="34" charset="-120"/>
              </a:rPr>
              <a:t>one DB transaction</a:t>
            </a:r>
            <a:endParaRPr lang="en-US" sz="1100" dirty="0"/>
          </a:p>
        </p:txBody>
      </p:sp>
      <p:sp>
        <p:nvSpPr>
          <p:cNvPr id="12" name="Shape 9"/>
          <p:cNvSpPr/>
          <p:nvPr/>
        </p:nvSpPr>
        <p:spPr>
          <a:xfrm>
            <a:off x="2651760" y="2057400"/>
            <a:ext cx="3383280" cy="329184"/>
          </a:xfrm>
          <a:prstGeom prst="roundRect">
            <a:avLst>
              <a:gd name="adj" fmla="val 16667"/>
            </a:avLst>
          </a:prstGeom>
          <a:solidFill>
            <a:schemeClr val="bg1"/>
          </a:solidFill>
          <a:ln w="9525">
            <a:solidFill>
              <a:schemeClr val="accent2"/>
            </a:solidFill>
            <a:prstDash val="solid"/>
          </a:ln>
        </p:spPr>
        <p:txBody>
          <a:bodyPr/>
          <a:lstStyle/>
          <a:p>
            <a:endParaRPr lang="en-US"/>
          </a:p>
        </p:txBody>
      </p:sp>
      <p:sp>
        <p:nvSpPr>
          <p:cNvPr id="13" name="Text 10"/>
          <p:cNvSpPr txBox="1"/>
          <p:nvPr/>
        </p:nvSpPr>
        <p:spPr>
          <a:xfrm>
            <a:off x="2743200" y="2057400"/>
            <a:ext cx="2011680" cy="329184"/>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UPDATE te_task_state</a:t>
            </a:r>
            <a:endParaRPr lang="en-US" sz="1000" dirty="0"/>
          </a:p>
        </p:txBody>
      </p:sp>
      <p:sp>
        <p:nvSpPr>
          <p:cNvPr id="14" name="Text 11"/>
          <p:cNvSpPr txBox="1"/>
          <p:nvPr/>
        </p:nvSpPr>
        <p:spPr>
          <a:xfrm>
            <a:off x="4663440" y="2057400"/>
            <a:ext cx="1280160" cy="329184"/>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state change</a:t>
            </a:r>
            <a:endParaRPr lang="en-US" sz="1000" dirty="0"/>
          </a:p>
        </p:txBody>
      </p:sp>
      <p:sp>
        <p:nvSpPr>
          <p:cNvPr id="15" name="Shape 12"/>
          <p:cNvSpPr/>
          <p:nvPr/>
        </p:nvSpPr>
        <p:spPr>
          <a:xfrm>
            <a:off x="2651760" y="2441448"/>
            <a:ext cx="3383280" cy="329184"/>
          </a:xfrm>
          <a:prstGeom prst="roundRect">
            <a:avLst>
              <a:gd name="adj" fmla="val 16667"/>
            </a:avLst>
          </a:prstGeom>
          <a:solidFill>
            <a:schemeClr val="bg1"/>
          </a:solidFill>
          <a:ln w="9525">
            <a:solidFill>
              <a:schemeClr val="accent2"/>
            </a:solidFill>
            <a:prstDash val="solid"/>
          </a:ln>
        </p:spPr>
        <p:txBody>
          <a:bodyPr/>
          <a:lstStyle/>
          <a:p>
            <a:endParaRPr lang="en-US"/>
          </a:p>
        </p:txBody>
      </p:sp>
      <p:sp>
        <p:nvSpPr>
          <p:cNvPr id="16" name="Text 13"/>
          <p:cNvSpPr txBox="1"/>
          <p:nvPr/>
        </p:nvSpPr>
        <p:spPr>
          <a:xfrm>
            <a:off x="2743200" y="2441448"/>
            <a:ext cx="2011680" cy="329184"/>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INSERT te_events</a:t>
            </a:r>
            <a:endParaRPr lang="en-US" sz="1000" dirty="0"/>
          </a:p>
        </p:txBody>
      </p:sp>
      <p:sp>
        <p:nvSpPr>
          <p:cNvPr id="17" name="Text 14"/>
          <p:cNvSpPr txBox="1"/>
          <p:nvPr/>
        </p:nvSpPr>
        <p:spPr>
          <a:xfrm>
            <a:off x="4663440" y="2441448"/>
            <a:ext cx="1280160" cy="329184"/>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audit · always</a:t>
            </a:r>
            <a:endParaRPr lang="en-US" sz="1000" dirty="0"/>
          </a:p>
        </p:txBody>
      </p:sp>
      <p:sp>
        <p:nvSpPr>
          <p:cNvPr id="18" name="Shape 15"/>
          <p:cNvSpPr/>
          <p:nvPr/>
        </p:nvSpPr>
        <p:spPr>
          <a:xfrm>
            <a:off x="2651760" y="2825496"/>
            <a:ext cx="3383280" cy="329184"/>
          </a:xfrm>
          <a:prstGeom prst="roundRect">
            <a:avLst>
              <a:gd name="adj" fmla="val 16667"/>
            </a:avLst>
          </a:prstGeom>
          <a:solidFill>
            <a:schemeClr val="bg1"/>
          </a:solidFill>
          <a:ln w="9525">
            <a:solidFill>
              <a:schemeClr val="accent2"/>
            </a:solidFill>
            <a:prstDash val="solid"/>
          </a:ln>
        </p:spPr>
        <p:txBody>
          <a:bodyPr/>
          <a:lstStyle/>
          <a:p>
            <a:endParaRPr lang="en-US"/>
          </a:p>
        </p:txBody>
      </p:sp>
      <p:sp>
        <p:nvSpPr>
          <p:cNvPr id="19" name="Text 16"/>
          <p:cNvSpPr txBox="1"/>
          <p:nvPr/>
        </p:nvSpPr>
        <p:spPr>
          <a:xfrm>
            <a:off x="2743200" y="2825496"/>
            <a:ext cx="2011680" cy="329184"/>
          </a:xfrm>
          <a:prstGeom prst="rect">
            <a:avLst/>
          </a:prstGeom>
          <a:noFill/>
          <a:ln/>
        </p:spPr>
        <p:txBody>
          <a:bodyPr wrap="square" lIns="0" tIns="0" rIns="0" bIns="0" rtlCol="0" anchor="ctr"/>
          <a:lstStyle/>
          <a:p>
            <a:pPr marL="0" indent="0">
              <a:buNone/>
            </a:pPr>
            <a:r>
              <a:rPr lang="en-US" sz="1000" dirty="0">
                <a:solidFill>
                  <a:schemeClr val="tx1"/>
                </a:solidFill>
                <a:latin typeface="Courier New" pitchFamily="34" charset="0"/>
                <a:ea typeface="Courier New" pitchFamily="34" charset="-122"/>
                <a:cs typeface="Courier New" pitchFamily="34" charset="-120"/>
              </a:rPr>
              <a:t>enqueue outbox</a:t>
            </a:r>
            <a:endParaRPr lang="en-US" sz="1000" dirty="0"/>
          </a:p>
        </p:txBody>
      </p:sp>
      <p:sp>
        <p:nvSpPr>
          <p:cNvPr id="20" name="Text 17"/>
          <p:cNvSpPr txBox="1"/>
          <p:nvPr/>
        </p:nvSpPr>
        <p:spPr>
          <a:xfrm>
            <a:off x="4663440" y="2825496"/>
            <a:ext cx="1280160" cy="329184"/>
          </a:xfrm>
          <a:prstGeom prst="rect">
            <a:avLst/>
          </a:prstGeom>
          <a:noFill/>
          <a:ln/>
        </p:spPr>
        <p:txBody>
          <a:bodyPr wrap="square" lIns="0" tIns="0" rIns="0" bIns="0" rtlCol="0" anchor="ctr"/>
          <a:lstStyle/>
          <a:p>
            <a:pPr marL="0" indent="0" algn="r">
              <a:buNone/>
            </a:pPr>
            <a:r>
              <a:rPr lang="en-US" sz="1000" dirty="0">
                <a:solidFill>
                  <a:schemeClr val="tx2"/>
                </a:solidFill>
                <a:latin typeface="Calibri" pitchFamily="34" charset="0"/>
                <a:ea typeface="Calibri" pitchFamily="34" charset="-122"/>
                <a:cs typeface="Calibri" pitchFamily="34" charset="-120"/>
              </a:rPr>
              <a:t>per event_policies</a:t>
            </a:r>
            <a:endParaRPr lang="en-US" sz="1000" dirty="0"/>
          </a:p>
        </p:txBody>
      </p:sp>
      <p:sp>
        <p:nvSpPr>
          <p:cNvPr id="21" name="Shape 18"/>
          <p:cNvSpPr/>
          <p:nvPr/>
        </p:nvSpPr>
        <p:spPr>
          <a:xfrm>
            <a:off x="6537960" y="1828800"/>
            <a:ext cx="1691640" cy="1325880"/>
          </a:xfrm>
          <a:prstGeom prst="roundRect">
            <a:avLst>
              <a:gd name="adj" fmla="val 4138"/>
            </a:avLst>
          </a:prstGeom>
          <a:solidFill>
            <a:schemeClr val="bg1"/>
          </a:solidFill>
          <a:ln/>
        </p:spPr>
        <p:txBody>
          <a:bodyPr/>
          <a:lstStyle/>
          <a:p>
            <a:endParaRPr lang="en-US"/>
          </a:p>
        </p:txBody>
      </p:sp>
      <p:sp>
        <p:nvSpPr>
          <p:cNvPr id="22" name="Shape 19"/>
          <p:cNvSpPr/>
          <p:nvPr/>
        </p:nvSpPr>
        <p:spPr>
          <a:xfrm>
            <a:off x="6537960" y="1828800"/>
            <a:ext cx="1691640" cy="1325880"/>
          </a:xfrm>
          <a:prstGeom prst="roundRect">
            <a:avLst>
              <a:gd name="adj" fmla="val 4138"/>
            </a:avLst>
          </a:prstGeom>
          <a:solidFill>
            <a:schemeClr val="accent3">
              <a:alpha val="12000"/>
            </a:schemeClr>
          </a:solidFill>
          <a:ln w="15875">
            <a:solidFill>
              <a:schemeClr val="accent3"/>
            </a:solidFill>
            <a:prstDash val="solid"/>
          </a:ln>
        </p:spPr>
        <p:txBody>
          <a:bodyPr/>
          <a:lstStyle/>
          <a:p>
            <a:endParaRPr lang="en-US"/>
          </a:p>
        </p:txBody>
      </p:sp>
      <p:sp>
        <p:nvSpPr>
          <p:cNvPr id="23" name="Text 20"/>
          <p:cNvSpPr txBox="1"/>
          <p:nvPr/>
        </p:nvSpPr>
        <p:spPr>
          <a:xfrm>
            <a:off x="6592824" y="1828800"/>
            <a:ext cx="1581912" cy="132588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DbProducer relay</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event-broker-sdk</a:t>
            </a:r>
            <a:endParaRPr lang="en-US" sz="1300" dirty="0"/>
          </a:p>
        </p:txBody>
      </p:sp>
      <p:sp>
        <p:nvSpPr>
          <p:cNvPr id="24" name="Shape 21"/>
          <p:cNvSpPr/>
          <p:nvPr/>
        </p:nvSpPr>
        <p:spPr>
          <a:xfrm>
            <a:off x="8595360" y="1828800"/>
            <a:ext cx="1463040" cy="1325880"/>
          </a:xfrm>
          <a:prstGeom prst="roundRect">
            <a:avLst>
              <a:gd name="adj" fmla="val 4138"/>
            </a:avLst>
          </a:prstGeom>
          <a:solidFill>
            <a:schemeClr val="bg1"/>
          </a:solidFill>
          <a:ln/>
        </p:spPr>
        <p:txBody>
          <a:bodyPr/>
          <a:lstStyle/>
          <a:p>
            <a:endParaRPr lang="en-US"/>
          </a:p>
        </p:txBody>
      </p:sp>
      <p:sp>
        <p:nvSpPr>
          <p:cNvPr id="25" name="Shape 22"/>
          <p:cNvSpPr/>
          <p:nvPr/>
        </p:nvSpPr>
        <p:spPr>
          <a:xfrm>
            <a:off x="8595360" y="1828800"/>
            <a:ext cx="1463040" cy="1325880"/>
          </a:xfrm>
          <a:prstGeom prst="roundRect">
            <a:avLst>
              <a:gd name="adj" fmla="val 4138"/>
            </a:avLst>
          </a:prstGeom>
          <a:solidFill>
            <a:schemeClr val="accent3">
              <a:alpha val="16000"/>
            </a:schemeClr>
          </a:solidFill>
          <a:ln w="15875">
            <a:solidFill>
              <a:schemeClr val="accent3"/>
            </a:solidFill>
            <a:prstDash val="solid"/>
          </a:ln>
        </p:spPr>
        <p:txBody>
          <a:bodyPr/>
          <a:lstStyle/>
          <a:p>
            <a:endParaRPr lang="en-US"/>
          </a:p>
        </p:txBody>
      </p:sp>
      <p:sp>
        <p:nvSpPr>
          <p:cNvPr id="26" name="Text 23"/>
          <p:cNvSpPr txBox="1"/>
          <p:nvPr/>
        </p:nvSpPr>
        <p:spPr>
          <a:xfrm>
            <a:off x="8650224" y="1828800"/>
            <a:ext cx="1353312" cy="132588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Event Broker</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topic task_events</a:t>
            </a:r>
            <a:endParaRPr lang="en-US" sz="1300" dirty="0"/>
          </a:p>
        </p:txBody>
      </p:sp>
      <p:sp>
        <p:nvSpPr>
          <p:cNvPr id="27" name="Shape 24"/>
          <p:cNvSpPr/>
          <p:nvPr/>
        </p:nvSpPr>
        <p:spPr>
          <a:xfrm>
            <a:off x="10424160" y="1828800"/>
            <a:ext cx="1307592" cy="1325880"/>
          </a:xfrm>
          <a:prstGeom prst="roundRect">
            <a:avLst>
              <a:gd name="adj" fmla="val 4196"/>
            </a:avLst>
          </a:prstGeom>
          <a:solidFill>
            <a:schemeClr val="bg1"/>
          </a:solidFill>
          <a:ln/>
        </p:spPr>
        <p:txBody>
          <a:bodyPr/>
          <a:lstStyle/>
          <a:p>
            <a:endParaRPr lang="en-US"/>
          </a:p>
        </p:txBody>
      </p:sp>
      <p:sp>
        <p:nvSpPr>
          <p:cNvPr id="28" name="Shape 25"/>
          <p:cNvSpPr/>
          <p:nvPr/>
        </p:nvSpPr>
        <p:spPr>
          <a:xfrm>
            <a:off x="10424160" y="1828800"/>
            <a:ext cx="1307592" cy="1325880"/>
          </a:xfrm>
          <a:prstGeom prst="roundRect">
            <a:avLst>
              <a:gd name="adj" fmla="val 4196"/>
            </a:avLst>
          </a:prstGeom>
          <a:solidFill>
            <a:schemeClr val="accent5">
              <a:alpha val="16000"/>
            </a:schemeClr>
          </a:solidFill>
          <a:ln w="15875">
            <a:solidFill>
              <a:schemeClr val="accent5"/>
            </a:solidFill>
            <a:prstDash val="solid"/>
          </a:ln>
        </p:spPr>
        <p:txBody>
          <a:bodyPr/>
          <a:lstStyle/>
          <a:p>
            <a:endParaRPr lang="en-US"/>
          </a:p>
        </p:txBody>
      </p:sp>
      <p:sp>
        <p:nvSpPr>
          <p:cNvPr id="29" name="Text 26"/>
          <p:cNvSpPr txBox="1"/>
          <p:nvPr/>
        </p:nvSpPr>
        <p:spPr>
          <a:xfrm>
            <a:off x="10479024" y="1828800"/>
            <a:ext cx="1197864" cy="132588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Other gears</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dedup on event id</a:t>
            </a:r>
            <a:endParaRPr lang="en-US" sz="1300" dirty="0"/>
          </a:p>
        </p:txBody>
      </p:sp>
      <p:sp>
        <p:nvSpPr>
          <p:cNvPr id="30" name="Shape 27"/>
          <p:cNvSpPr/>
          <p:nvPr/>
        </p:nvSpPr>
        <p:spPr>
          <a:xfrm>
            <a:off x="2148840" y="2487168"/>
            <a:ext cx="365760" cy="91"/>
          </a:xfrm>
          <a:prstGeom prst="line">
            <a:avLst/>
          </a:prstGeom>
          <a:noFill/>
          <a:ln w="15875">
            <a:solidFill>
              <a:schemeClr val="tx2"/>
            </a:solidFill>
            <a:prstDash val="solid"/>
            <a:headEnd type="none"/>
            <a:tailEnd type="triangle"/>
          </a:ln>
        </p:spPr>
        <p:txBody>
          <a:bodyPr/>
          <a:lstStyle/>
          <a:p>
            <a:endParaRPr lang="en-US"/>
          </a:p>
        </p:txBody>
      </p:sp>
      <p:sp>
        <p:nvSpPr>
          <p:cNvPr id="31" name="Shape 28"/>
          <p:cNvSpPr/>
          <p:nvPr/>
        </p:nvSpPr>
        <p:spPr>
          <a:xfrm>
            <a:off x="6172200" y="2487168"/>
            <a:ext cx="365760" cy="91"/>
          </a:xfrm>
          <a:prstGeom prst="line">
            <a:avLst/>
          </a:prstGeom>
          <a:noFill/>
          <a:ln w="15875">
            <a:solidFill>
              <a:schemeClr val="accent3"/>
            </a:solidFill>
            <a:prstDash val="dash"/>
            <a:headEnd type="none"/>
            <a:tailEnd type="triangle"/>
          </a:ln>
        </p:spPr>
        <p:txBody>
          <a:bodyPr/>
          <a:lstStyle/>
          <a:p>
            <a:endParaRPr lang="en-US"/>
          </a:p>
        </p:txBody>
      </p:sp>
      <p:sp>
        <p:nvSpPr>
          <p:cNvPr id="32" name="Shape 29"/>
          <p:cNvSpPr/>
          <p:nvPr/>
        </p:nvSpPr>
        <p:spPr>
          <a:xfrm>
            <a:off x="8229600" y="2487168"/>
            <a:ext cx="365760" cy="91"/>
          </a:xfrm>
          <a:prstGeom prst="line">
            <a:avLst/>
          </a:prstGeom>
          <a:noFill/>
          <a:ln w="15875">
            <a:solidFill>
              <a:schemeClr val="accent3"/>
            </a:solidFill>
            <a:prstDash val="solid"/>
            <a:headEnd type="none"/>
            <a:tailEnd type="triangle"/>
          </a:ln>
        </p:spPr>
        <p:txBody>
          <a:bodyPr/>
          <a:lstStyle/>
          <a:p>
            <a:endParaRPr lang="en-US"/>
          </a:p>
        </p:txBody>
      </p:sp>
      <p:sp>
        <p:nvSpPr>
          <p:cNvPr id="33" name="Shape 30"/>
          <p:cNvSpPr/>
          <p:nvPr/>
        </p:nvSpPr>
        <p:spPr>
          <a:xfrm>
            <a:off x="10058400" y="2487168"/>
            <a:ext cx="365760" cy="91"/>
          </a:xfrm>
          <a:prstGeom prst="line">
            <a:avLst/>
          </a:prstGeom>
          <a:noFill/>
          <a:ln w="15875">
            <a:solidFill>
              <a:schemeClr val="accent3"/>
            </a:solidFill>
            <a:prstDash val="solid"/>
            <a:headEnd type="none"/>
            <a:tailEnd type="triangle"/>
          </a:ln>
        </p:spPr>
        <p:txBody>
          <a:bodyPr/>
          <a:lstStyle/>
          <a:p>
            <a:endParaRPr lang="en-US"/>
          </a:p>
        </p:txBody>
      </p:sp>
      <p:sp>
        <p:nvSpPr>
          <p:cNvPr id="34" name="Text 31"/>
          <p:cNvSpPr txBox="1"/>
          <p:nvPr/>
        </p:nvSpPr>
        <p:spPr>
          <a:xfrm>
            <a:off x="457200" y="3474720"/>
            <a:ext cx="3657600" cy="274320"/>
          </a:xfrm>
          <a:prstGeom prst="rect">
            <a:avLst/>
          </a:prstGeom>
          <a:noFill/>
          <a:ln/>
        </p:spPr>
        <p:txBody>
          <a:bodyPr wrap="square" lIns="0" tIns="0" rIns="0" bIns="0" rtlCol="0" anchor="t"/>
          <a:lstStyle/>
          <a:p>
            <a:pPr marL="0" indent="0">
              <a:buNone/>
            </a:pPr>
            <a:r>
              <a:rPr lang="en-US" sz="1300" b="1" dirty="0">
                <a:solidFill>
                  <a:schemeClr val="tx2"/>
                </a:solidFill>
                <a:latin typeface="Calibri" pitchFamily="34" charset="0"/>
                <a:ea typeface="Calibri" pitchFamily="34" charset="-122"/>
                <a:cs typeface="Calibri" pitchFamily="34" charset="-120"/>
              </a:rPr>
              <a:t>Inbound (event waits, P2)</a:t>
            </a:r>
            <a:endParaRPr lang="en-US" sz="1300" dirty="0"/>
          </a:p>
        </p:txBody>
      </p:sp>
      <p:sp>
        <p:nvSpPr>
          <p:cNvPr id="35" name="Shape 32"/>
          <p:cNvSpPr/>
          <p:nvPr/>
        </p:nvSpPr>
        <p:spPr>
          <a:xfrm>
            <a:off x="457200" y="3840480"/>
            <a:ext cx="1691640" cy="731520"/>
          </a:xfrm>
          <a:prstGeom prst="roundRect">
            <a:avLst>
              <a:gd name="adj" fmla="val 7500"/>
            </a:avLst>
          </a:prstGeom>
          <a:solidFill>
            <a:schemeClr val="bg1"/>
          </a:solidFill>
          <a:ln/>
        </p:spPr>
        <p:txBody>
          <a:bodyPr/>
          <a:lstStyle/>
          <a:p>
            <a:endParaRPr lang="en-US"/>
          </a:p>
        </p:txBody>
      </p:sp>
      <p:sp>
        <p:nvSpPr>
          <p:cNvPr id="36" name="Shape 33"/>
          <p:cNvSpPr/>
          <p:nvPr/>
        </p:nvSpPr>
        <p:spPr>
          <a:xfrm>
            <a:off x="457200" y="3840480"/>
            <a:ext cx="1691640" cy="731520"/>
          </a:xfrm>
          <a:prstGeom prst="roundRect">
            <a:avLst>
              <a:gd name="adj" fmla="val 7500"/>
            </a:avLst>
          </a:prstGeom>
          <a:solidFill>
            <a:schemeClr val="accent3">
              <a:alpha val="16000"/>
            </a:schemeClr>
          </a:solidFill>
          <a:ln w="15875">
            <a:solidFill>
              <a:schemeClr val="accent3"/>
            </a:solidFill>
            <a:prstDash val="solid"/>
          </a:ln>
        </p:spPr>
        <p:txBody>
          <a:bodyPr/>
          <a:lstStyle/>
          <a:p>
            <a:endParaRPr lang="en-US"/>
          </a:p>
        </p:txBody>
      </p:sp>
      <p:sp>
        <p:nvSpPr>
          <p:cNvPr id="37" name="Text 34"/>
          <p:cNvSpPr txBox="1"/>
          <p:nvPr/>
        </p:nvSpPr>
        <p:spPr>
          <a:xfrm>
            <a:off x="512064" y="3840480"/>
            <a:ext cx="1581912" cy="73152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Event Broker</a:t>
            </a:r>
            <a:endParaRPr lang="en-US" sz="1300" dirty="0"/>
          </a:p>
        </p:txBody>
      </p:sp>
      <p:sp>
        <p:nvSpPr>
          <p:cNvPr id="38" name="Shape 35"/>
          <p:cNvSpPr/>
          <p:nvPr/>
        </p:nvSpPr>
        <p:spPr>
          <a:xfrm>
            <a:off x="2514600" y="3840480"/>
            <a:ext cx="2377440" cy="731520"/>
          </a:xfrm>
          <a:prstGeom prst="roundRect">
            <a:avLst>
              <a:gd name="adj" fmla="val 7500"/>
            </a:avLst>
          </a:prstGeom>
          <a:solidFill>
            <a:schemeClr val="bg1"/>
          </a:solidFill>
          <a:ln/>
        </p:spPr>
        <p:txBody>
          <a:bodyPr/>
          <a:lstStyle/>
          <a:p>
            <a:endParaRPr lang="en-US"/>
          </a:p>
        </p:txBody>
      </p:sp>
      <p:sp>
        <p:nvSpPr>
          <p:cNvPr id="39" name="Shape 36"/>
          <p:cNvSpPr/>
          <p:nvPr/>
        </p:nvSpPr>
        <p:spPr>
          <a:xfrm>
            <a:off x="2514600" y="3840480"/>
            <a:ext cx="2377440" cy="731520"/>
          </a:xfrm>
          <a:prstGeom prst="roundRect">
            <a:avLst>
              <a:gd name="adj" fmla="val 7500"/>
            </a:avLst>
          </a:prstGeom>
          <a:solidFill>
            <a:schemeClr val="accent3">
              <a:alpha val="12000"/>
            </a:schemeClr>
          </a:solidFill>
          <a:ln w="15875">
            <a:solidFill>
              <a:schemeClr val="accent3"/>
            </a:solidFill>
            <a:prstDash val="solid"/>
          </a:ln>
        </p:spPr>
        <p:txBody>
          <a:bodyPr/>
          <a:lstStyle/>
          <a:p>
            <a:endParaRPr lang="en-US"/>
          </a:p>
        </p:txBody>
      </p:sp>
      <p:sp>
        <p:nvSpPr>
          <p:cNvPr id="40" name="Text 37"/>
          <p:cNvSpPr txBox="1"/>
          <p:nvPr/>
        </p:nvSpPr>
        <p:spPr>
          <a:xfrm>
            <a:off x="2569464" y="3840480"/>
            <a:ext cx="2267712" cy="73152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Consumer group</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cf.core.tasks.task_engine</a:t>
            </a:r>
            <a:endParaRPr lang="en-US" sz="1300" dirty="0"/>
          </a:p>
        </p:txBody>
      </p:sp>
      <p:sp>
        <p:nvSpPr>
          <p:cNvPr id="41" name="Shape 38"/>
          <p:cNvSpPr/>
          <p:nvPr/>
        </p:nvSpPr>
        <p:spPr>
          <a:xfrm>
            <a:off x="5257800" y="3840480"/>
            <a:ext cx="3657600" cy="731520"/>
          </a:xfrm>
          <a:prstGeom prst="roundRect">
            <a:avLst>
              <a:gd name="adj" fmla="val 7500"/>
            </a:avLst>
          </a:prstGeom>
          <a:solidFill>
            <a:schemeClr val="bg1"/>
          </a:solidFill>
          <a:ln/>
        </p:spPr>
        <p:txBody>
          <a:bodyPr/>
          <a:lstStyle/>
          <a:p>
            <a:endParaRPr lang="en-US"/>
          </a:p>
        </p:txBody>
      </p:sp>
      <p:sp>
        <p:nvSpPr>
          <p:cNvPr id="42" name="Shape 39"/>
          <p:cNvSpPr/>
          <p:nvPr/>
        </p:nvSpPr>
        <p:spPr>
          <a:xfrm>
            <a:off x="5257800" y="3840480"/>
            <a:ext cx="3657600" cy="731520"/>
          </a:xfrm>
          <a:prstGeom prst="roundRect">
            <a:avLst>
              <a:gd name="adj" fmla="val 7500"/>
            </a:avLst>
          </a:prstGeom>
          <a:solidFill>
            <a:schemeClr val="accent1">
              <a:alpha val="16000"/>
            </a:schemeClr>
          </a:solidFill>
          <a:ln w="15875">
            <a:solidFill>
              <a:schemeClr val="accent1"/>
            </a:solidFill>
            <a:prstDash val="solid"/>
          </a:ln>
        </p:spPr>
        <p:txBody>
          <a:bodyPr/>
          <a:lstStyle/>
          <a:p>
            <a:endParaRPr lang="en-US"/>
          </a:p>
        </p:txBody>
      </p:sp>
      <p:sp>
        <p:nvSpPr>
          <p:cNvPr id="43" name="Text 40"/>
          <p:cNvSpPr txBox="1"/>
          <p:nvPr/>
        </p:nvSpPr>
        <p:spPr>
          <a:xfrm>
            <a:off x="5312664" y="3840480"/>
            <a:ext cx="3547872" cy="73152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TxConsumerHandler</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resolve wait + commit offset in one txn</a:t>
            </a:r>
            <a:endParaRPr lang="en-US" sz="1300" dirty="0"/>
          </a:p>
        </p:txBody>
      </p:sp>
      <p:sp>
        <p:nvSpPr>
          <p:cNvPr id="44" name="Shape 41"/>
          <p:cNvSpPr/>
          <p:nvPr/>
        </p:nvSpPr>
        <p:spPr>
          <a:xfrm>
            <a:off x="9281160" y="3840480"/>
            <a:ext cx="2450592" cy="731520"/>
          </a:xfrm>
          <a:prstGeom prst="roundRect">
            <a:avLst>
              <a:gd name="adj" fmla="val 7500"/>
            </a:avLst>
          </a:prstGeom>
          <a:solidFill>
            <a:schemeClr val="bg1"/>
          </a:solidFill>
          <a:ln/>
        </p:spPr>
        <p:txBody>
          <a:bodyPr/>
          <a:lstStyle/>
          <a:p>
            <a:endParaRPr lang="en-US"/>
          </a:p>
        </p:txBody>
      </p:sp>
      <p:sp>
        <p:nvSpPr>
          <p:cNvPr id="45" name="Shape 42"/>
          <p:cNvSpPr/>
          <p:nvPr/>
        </p:nvSpPr>
        <p:spPr>
          <a:xfrm>
            <a:off x="9281160" y="3840480"/>
            <a:ext cx="2450592" cy="731520"/>
          </a:xfrm>
          <a:prstGeom prst="roundRect">
            <a:avLst>
              <a:gd name="adj" fmla="val 7500"/>
            </a:avLst>
          </a:prstGeom>
          <a:solidFill>
            <a:schemeClr val="accent1">
              <a:alpha val="10000"/>
            </a:schemeClr>
          </a:solidFill>
          <a:ln w="15875">
            <a:solidFill>
              <a:schemeClr val="accent1"/>
            </a:solidFill>
            <a:prstDash val="solid"/>
          </a:ln>
        </p:spPr>
        <p:txBody>
          <a:bodyPr/>
          <a:lstStyle/>
          <a:p>
            <a:endParaRPr lang="en-US"/>
          </a:p>
        </p:txBody>
      </p:sp>
      <p:sp>
        <p:nvSpPr>
          <p:cNvPr id="46" name="Text 43"/>
          <p:cNvSpPr txBox="1"/>
          <p:nvPr/>
        </p:nvSpPr>
        <p:spPr>
          <a:xfrm>
            <a:off x="9336024" y="3840480"/>
            <a:ext cx="2340864" cy="731520"/>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Task re-queued</a:t>
            </a:r>
            <a:endParaRPr lang="en-US" sz="1300" dirty="0"/>
          </a:p>
          <a:p>
            <a:pPr marL="0" indent="0" algn="ctr">
              <a:buNone/>
            </a:pPr>
            <a:r>
              <a:rPr lang="en-US" sz="1000" dirty="0">
                <a:solidFill>
                  <a:schemeClr val="tx2"/>
                </a:solidFill>
                <a:latin typeface="Calibri" pitchFamily="34" charset="0"/>
                <a:ea typeface="Calibri" pitchFamily="34" charset="-122"/>
                <a:cs typeface="Calibri" pitchFamily="34" charset="-120"/>
              </a:rPr>
              <a:t>signal newTask</a:t>
            </a:r>
            <a:endParaRPr lang="en-US" sz="1300" dirty="0"/>
          </a:p>
        </p:txBody>
      </p:sp>
      <p:sp>
        <p:nvSpPr>
          <p:cNvPr id="47" name="Shape 44"/>
          <p:cNvSpPr/>
          <p:nvPr/>
        </p:nvSpPr>
        <p:spPr>
          <a:xfrm>
            <a:off x="2148840" y="4206240"/>
            <a:ext cx="365760" cy="91"/>
          </a:xfrm>
          <a:prstGeom prst="line">
            <a:avLst/>
          </a:prstGeom>
          <a:noFill/>
          <a:ln w="15875">
            <a:solidFill>
              <a:schemeClr val="accent3"/>
            </a:solidFill>
            <a:prstDash val="solid"/>
            <a:headEnd type="none"/>
            <a:tailEnd type="triangle"/>
          </a:ln>
        </p:spPr>
        <p:txBody>
          <a:bodyPr/>
          <a:lstStyle/>
          <a:p>
            <a:endParaRPr lang="en-US"/>
          </a:p>
        </p:txBody>
      </p:sp>
      <p:sp>
        <p:nvSpPr>
          <p:cNvPr id="48" name="Shape 45"/>
          <p:cNvSpPr/>
          <p:nvPr/>
        </p:nvSpPr>
        <p:spPr>
          <a:xfrm>
            <a:off x="4892040" y="4206240"/>
            <a:ext cx="365760" cy="91"/>
          </a:xfrm>
          <a:prstGeom prst="line">
            <a:avLst/>
          </a:prstGeom>
          <a:noFill/>
          <a:ln w="15875">
            <a:solidFill>
              <a:schemeClr val="tx2"/>
            </a:solidFill>
            <a:prstDash val="solid"/>
            <a:headEnd type="none"/>
            <a:tailEnd type="triangle"/>
          </a:ln>
        </p:spPr>
        <p:txBody>
          <a:bodyPr/>
          <a:lstStyle/>
          <a:p>
            <a:endParaRPr lang="en-US"/>
          </a:p>
        </p:txBody>
      </p:sp>
      <p:sp>
        <p:nvSpPr>
          <p:cNvPr id="49" name="Shape 46"/>
          <p:cNvSpPr/>
          <p:nvPr/>
        </p:nvSpPr>
        <p:spPr>
          <a:xfrm>
            <a:off x="8915400" y="4206240"/>
            <a:ext cx="365760" cy="91"/>
          </a:xfrm>
          <a:prstGeom prst="line">
            <a:avLst/>
          </a:prstGeom>
          <a:noFill/>
          <a:ln w="15875">
            <a:solidFill>
              <a:schemeClr val="tx2"/>
            </a:solidFill>
            <a:prstDash val="solid"/>
            <a:headEnd type="none"/>
            <a:tailEnd type="triangle"/>
          </a:ln>
        </p:spPr>
        <p:txBody>
          <a:bodyPr/>
          <a:lstStyle/>
          <a:p>
            <a:endParaRPr lang="en-US"/>
          </a:p>
        </p:txBody>
      </p:sp>
      <p:sp>
        <p:nvSpPr>
          <p:cNvPr id="50" name="Text 47"/>
          <p:cNvSpPr txBox="1"/>
          <p:nvPr/>
        </p:nvSpPr>
        <p:spPr>
          <a:xfrm>
            <a:off x="457200" y="4800600"/>
            <a:ext cx="11247120" cy="274320"/>
          </a:xfrm>
          <a:prstGeom prst="rect">
            <a:avLst/>
          </a:prstGeom>
          <a:noFill/>
          <a:ln/>
        </p:spPr>
        <p:txBody>
          <a:bodyPr wrap="square" lIns="0" tIns="0" rIns="0" bIns="0" rtlCol="0" anchor="t"/>
          <a:lstStyle/>
          <a:p>
            <a:pPr marL="0" indent="0">
              <a:buNone/>
            </a:pPr>
            <a:r>
              <a:rPr lang="en-US" sz="1200" b="1" dirty="0">
                <a:solidFill>
                  <a:schemeClr val="tx1"/>
                </a:solidFill>
                <a:latin typeface="Calibri" pitchFamily="34" charset="0"/>
                <a:ea typeface="Calibri" pitchFamily="34" charset="-122"/>
                <a:cs typeface="Calibri" pitchFamily="34" charset="-120"/>
              </a:rPr>
              <a:t>22 lifecycle event types — </a:t>
            </a:r>
            <a:r>
              <a:rPr lang="en-US" sz="1200" dirty="0">
                <a:solidFill>
                  <a:schemeClr val="tx1"/>
                </a:solidFill>
                <a:latin typeface="Calibri" pitchFamily="34" charset="0"/>
                <a:ea typeface="Calibri" pitchFamily="34" charset="-122"/>
                <a:cs typeface="Calibri" pitchFamily="34" charset="-120"/>
              </a:rPr>
              <a:t>gts.cf.core.events.event_type.v1~cf.core.tasks.&lt;name&gt;.v1</a:t>
            </a:r>
            <a:r>
              <a:rPr lang="en-US" sz="1200" b="1" dirty="0">
                <a:latin typeface="Calibri" pitchFamily="34" charset="0"/>
                <a:ea typeface="Calibri" pitchFamily="34" charset="-122"/>
                <a:cs typeface="Calibri" pitchFamily="34" charset="-120"/>
              </a:rPr>
              <a:t>, configurable per GTS Topic</a:t>
            </a:r>
            <a:r>
              <a:rPr lang="en-US" sz="1200" dirty="0">
                <a:latin typeface="Calibri" pitchFamily="34" charset="0"/>
                <a:ea typeface="Calibri" pitchFamily="34" charset="-122"/>
                <a:cs typeface="Calibri" pitchFamily="34" charset="-120"/>
              </a:rPr>
              <a:t> (in traits), overridable in Task Engine config (per Topic, global)</a:t>
            </a:r>
            <a:endParaRPr lang="en-US" sz="1200" dirty="0"/>
          </a:p>
        </p:txBody>
      </p:sp>
      <p:sp>
        <p:nvSpPr>
          <p:cNvPr id="51" name="Shape 48"/>
          <p:cNvSpPr/>
          <p:nvPr/>
        </p:nvSpPr>
        <p:spPr>
          <a:xfrm>
            <a:off x="457200" y="5166360"/>
            <a:ext cx="10972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52" name="Text 49"/>
          <p:cNvSpPr txBox="1"/>
          <p:nvPr/>
        </p:nvSpPr>
        <p:spPr>
          <a:xfrm>
            <a:off x="457200" y="5166360"/>
            <a:ext cx="10972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task_created</a:t>
            </a:r>
            <a:endParaRPr lang="en-US" sz="1000" dirty="0"/>
          </a:p>
        </p:txBody>
      </p:sp>
      <p:sp>
        <p:nvSpPr>
          <p:cNvPr id="53" name="Shape 50"/>
          <p:cNvSpPr/>
          <p:nvPr/>
        </p:nvSpPr>
        <p:spPr>
          <a:xfrm>
            <a:off x="1645920" y="5166360"/>
            <a:ext cx="10210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54" name="Text 51"/>
          <p:cNvSpPr txBox="1"/>
          <p:nvPr/>
        </p:nvSpPr>
        <p:spPr>
          <a:xfrm>
            <a:off x="1645920" y="5166360"/>
            <a:ext cx="10210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task_queued</a:t>
            </a:r>
            <a:endParaRPr lang="en-US" sz="1000" dirty="0"/>
          </a:p>
        </p:txBody>
      </p:sp>
      <p:sp>
        <p:nvSpPr>
          <p:cNvPr id="55" name="Shape 52"/>
          <p:cNvSpPr/>
          <p:nvPr/>
        </p:nvSpPr>
        <p:spPr>
          <a:xfrm>
            <a:off x="2758440" y="5166360"/>
            <a:ext cx="10972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56" name="Text 53"/>
          <p:cNvSpPr txBox="1"/>
          <p:nvPr/>
        </p:nvSpPr>
        <p:spPr>
          <a:xfrm>
            <a:off x="2758440" y="5166360"/>
            <a:ext cx="10972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task_claimed</a:t>
            </a:r>
            <a:endParaRPr lang="en-US" sz="1000" dirty="0"/>
          </a:p>
        </p:txBody>
      </p:sp>
      <p:sp>
        <p:nvSpPr>
          <p:cNvPr id="57" name="Shape 54"/>
          <p:cNvSpPr/>
          <p:nvPr/>
        </p:nvSpPr>
        <p:spPr>
          <a:xfrm>
            <a:off x="3947160" y="5166360"/>
            <a:ext cx="10972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58" name="Text 55"/>
          <p:cNvSpPr txBox="1"/>
          <p:nvPr/>
        </p:nvSpPr>
        <p:spPr>
          <a:xfrm>
            <a:off x="3947160" y="5166360"/>
            <a:ext cx="10972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task_started</a:t>
            </a:r>
            <a:endParaRPr lang="en-US" sz="1000" dirty="0"/>
          </a:p>
        </p:txBody>
      </p:sp>
      <p:sp>
        <p:nvSpPr>
          <p:cNvPr id="59" name="Shape 56"/>
          <p:cNvSpPr/>
          <p:nvPr/>
        </p:nvSpPr>
        <p:spPr>
          <a:xfrm>
            <a:off x="5135880" y="5166360"/>
            <a:ext cx="12496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60" name="Text 57"/>
          <p:cNvSpPr txBox="1"/>
          <p:nvPr/>
        </p:nvSpPr>
        <p:spPr>
          <a:xfrm>
            <a:off x="5135880" y="5166360"/>
            <a:ext cx="12496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task_completed</a:t>
            </a:r>
            <a:endParaRPr lang="en-US" sz="1000" dirty="0"/>
          </a:p>
        </p:txBody>
      </p:sp>
      <p:sp>
        <p:nvSpPr>
          <p:cNvPr id="61" name="Shape 58"/>
          <p:cNvSpPr/>
          <p:nvPr/>
        </p:nvSpPr>
        <p:spPr>
          <a:xfrm>
            <a:off x="6477000" y="5166360"/>
            <a:ext cx="10210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62" name="Text 59"/>
          <p:cNvSpPr txBox="1"/>
          <p:nvPr/>
        </p:nvSpPr>
        <p:spPr>
          <a:xfrm>
            <a:off x="6477000" y="5166360"/>
            <a:ext cx="10210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task_failed</a:t>
            </a:r>
            <a:endParaRPr lang="en-US" sz="1000" dirty="0"/>
          </a:p>
        </p:txBody>
      </p:sp>
      <p:sp>
        <p:nvSpPr>
          <p:cNvPr id="63" name="Shape 60"/>
          <p:cNvSpPr/>
          <p:nvPr/>
        </p:nvSpPr>
        <p:spPr>
          <a:xfrm>
            <a:off x="7589520" y="5166360"/>
            <a:ext cx="17830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64" name="Text 61"/>
          <p:cNvSpPr txBox="1"/>
          <p:nvPr/>
        </p:nvSpPr>
        <p:spPr>
          <a:xfrm>
            <a:off x="7589520" y="5166360"/>
            <a:ext cx="17830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task_cancel_requested</a:t>
            </a:r>
            <a:endParaRPr lang="en-US" sz="1000" dirty="0"/>
          </a:p>
        </p:txBody>
      </p:sp>
      <p:sp>
        <p:nvSpPr>
          <p:cNvPr id="65" name="Shape 62"/>
          <p:cNvSpPr/>
          <p:nvPr/>
        </p:nvSpPr>
        <p:spPr>
          <a:xfrm>
            <a:off x="9464040" y="5166360"/>
            <a:ext cx="12496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66" name="Text 63"/>
          <p:cNvSpPr txBox="1"/>
          <p:nvPr/>
        </p:nvSpPr>
        <p:spPr>
          <a:xfrm>
            <a:off x="9464040" y="5166360"/>
            <a:ext cx="12496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task_cancelled</a:t>
            </a:r>
            <a:endParaRPr lang="en-US" sz="1000" dirty="0"/>
          </a:p>
        </p:txBody>
      </p:sp>
      <p:sp>
        <p:nvSpPr>
          <p:cNvPr id="67" name="Shape 64"/>
          <p:cNvSpPr/>
          <p:nvPr/>
        </p:nvSpPr>
        <p:spPr>
          <a:xfrm>
            <a:off x="457200" y="5513832"/>
            <a:ext cx="11734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68" name="Text 65"/>
          <p:cNvSpPr txBox="1"/>
          <p:nvPr/>
        </p:nvSpPr>
        <p:spPr>
          <a:xfrm>
            <a:off x="457200" y="5513832"/>
            <a:ext cx="11734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task_retrying</a:t>
            </a:r>
            <a:endParaRPr lang="en-US" sz="1000" dirty="0"/>
          </a:p>
        </p:txBody>
      </p:sp>
      <p:sp>
        <p:nvSpPr>
          <p:cNvPr id="69" name="Shape 66"/>
          <p:cNvSpPr/>
          <p:nvPr/>
        </p:nvSpPr>
        <p:spPr>
          <a:xfrm>
            <a:off x="1722120" y="5513832"/>
            <a:ext cx="12496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70" name="Text 67"/>
          <p:cNvSpPr txBox="1"/>
          <p:nvPr/>
        </p:nvSpPr>
        <p:spPr>
          <a:xfrm>
            <a:off x="1722120" y="5513832"/>
            <a:ext cx="12496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task_timed_out</a:t>
            </a:r>
            <a:endParaRPr lang="en-US" sz="1000" dirty="0"/>
          </a:p>
        </p:txBody>
      </p:sp>
      <p:sp>
        <p:nvSpPr>
          <p:cNvPr id="71" name="Shape 68"/>
          <p:cNvSpPr/>
          <p:nvPr/>
        </p:nvSpPr>
        <p:spPr>
          <a:xfrm>
            <a:off x="3063240" y="5513832"/>
            <a:ext cx="15544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72" name="Text 69"/>
          <p:cNvSpPr txBox="1"/>
          <p:nvPr/>
        </p:nvSpPr>
        <p:spPr>
          <a:xfrm>
            <a:off x="3063240" y="5513832"/>
            <a:ext cx="15544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task_dead_lettered</a:t>
            </a:r>
            <a:endParaRPr lang="en-US" sz="1000" dirty="0"/>
          </a:p>
        </p:txBody>
      </p:sp>
      <p:sp>
        <p:nvSpPr>
          <p:cNvPr id="73" name="Shape 70"/>
          <p:cNvSpPr/>
          <p:nvPr/>
        </p:nvSpPr>
        <p:spPr>
          <a:xfrm>
            <a:off x="4709160" y="5513832"/>
            <a:ext cx="14782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74" name="Text 71"/>
          <p:cNvSpPr txBox="1"/>
          <p:nvPr/>
        </p:nvSpPr>
        <p:spPr>
          <a:xfrm>
            <a:off x="4709160" y="5513832"/>
            <a:ext cx="14782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task_checkpointed</a:t>
            </a:r>
            <a:endParaRPr lang="en-US" sz="1000" dirty="0"/>
          </a:p>
        </p:txBody>
      </p:sp>
      <p:sp>
        <p:nvSpPr>
          <p:cNvPr id="75" name="Shape 72"/>
          <p:cNvSpPr/>
          <p:nvPr/>
        </p:nvSpPr>
        <p:spPr>
          <a:xfrm>
            <a:off x="6278880" y="5513832"/>
            <a:ext cx="13258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76" name="Text 73"/>
          <p:cNvSpPr txBox="1"/>
          <p:nvPr/>
        </p:nvSpPr>
        <p:spPr>
          <a:xfrm>
            <a:off x="6278880" y="5513832"/>
            <a:ext cx="13258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task_progressed</a:t>
            </a:r>
            <a:endParaRPr lang="en-US" sz="1000" dirty="0"/>
          </a:p>
        </p:txBody>
      </p:sp>
      <p:sp>
        <p:nvSpPr>
          <p:cNvPr id="77" name="Shape 74"/>
          <p:cNvSpPr/>
          <p:nvPr/>
        </p:nvSpPr>
        <p:spPr>
          <a:xfrm>
            <a:off x="7696200" y="5513832"/>
            <a:ext cx="13258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78" name="Text 75"/>
          <p:cNvSpPr txBox="1"/>
          <p:nvPr/>
        </p:nvSpPr>
        <p:spPr>
          <a:xfrm>
            <a:off x="7696200" y="5513832"/>
            <a:ext cx="13258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task_reassigned</a:t>
            </a:r>
            <a:endParaRPr lang="en-US" sz="1000" dirty="0"/>
          </a:p>
        </p:txBody>
      </p:sp>
      <p:sp>
        <p:nvSpPr>
          <p:cNvPr id="79" name="Shape 76"/>
          <p:cNvSpPr/>
          <p:nvPr/>
        </p:nvSpPr>
        <p:spPr>
          <a:xfrm>
            <a:off x="9113520" y="5513832"/>
            <a:ext cx="10972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80" name="Text 77"/>
          <p:cNvSpPr txBox="1"/>
          <p:nvPr/>
        </p:nvSpPr>
        <p:spPr>
          <a:xfrm>
            <a:off x="9113520" y="5513832"/>
            <a:ext cx="10972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task_waiting</a:t>
            </a:r>
            <a:endParaRPr lang="en-US" sz="1000" dirty="0"/>
          </a:p>
        </p:txBody>
      </p:sp>
      <p:sp>
        <p:nvSpPr>
          <p:cNvPr id="81" name="Shape 78"/>
          <p:cNvSpPr/>
          <p:nvPr/>
        </p:nvSpPr>
        <p:spPr>
          <a:xfrm>
            <a:off x="10302240" y="5513832"/>
            <a:ext cx="10972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82" name="Text 79"/>
          <p:cNvSpPr txBox="1"/>
          <p:nvPr/>
        </p:nvSpPr>
        <p:spPr>
          <a:xfrm>
            <a:off x="10302240" y="5513832"/>
            <a:ext cx="10972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task_resumed</a:t>
            </a:r>
            <a:endParaRPr lang="en-US" sz="1000" dirty="0"/>
          </a:p>
        </p:txBody>
      </p:sp>
      <p:sp>
        <p:nvSpPr>
          <p:cNvPr id="83" name="Shape 80"/>
          <p:cNvSpPr/>
          <p:nvPr/>
        </p:nvSpPr>
        <p:spPr>
          <a:xfrm>
            <a:off x="457200" y="5861304"/>
            <a:ext cx="15544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84" name="Text 81"/>
          <p:cNvSpPr txBox="1"/>
          <p:nvPr/>
        </p:nvSpPr>
        <p:spPr>
          <a:xfrm>
            <a:off x="457200" y="5861304"/>
            <a:ext cx="15544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wait_condition_set</a:t>
            </a:r>
            <a:endParaRPr lang="en-US" sz="1000" dirty="0"/>
          </a:p>
        </p:txBody>
      </p:sp>
      <p:sp>
        <p:nvSpPr>
          <p:cNvPr id="85" name="Shape 82"/>
          <p:cNvSpPr/>
          <p:nvPr/>
        </p:nvSpPr>
        <p:spPr>
          <a:xfrm>
            <a:off x="2103120" y="5861304"/>
            <a:ext cx="20116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86" name="Text 83"/>
          <p:cNvSpPr txBox="1"/>
          <p:nvPr/>
        </p:nvSpPr>
        <p:spPr>
          <a:xfrm>
            <a:off x="2103120" y="5861304"/>
            <a:ext cx="20116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wait_condition_satisfied</a:t>
            </a:r>
            <a:endParaRPr lang="en-US" sz="1000" dirty="0"/>
          </a:p>
        </p:txBody>
      </p:sp>
      <p:sp>
        <p:nvSpPr>
          <p:cNvPr id="87" name="Shape 84"/>
          <p:cNvSpPr/>
          <p:nvPr/>
        </p:nvSpPr>
        <p:spPr>
          <a:xfrm>
            <a:off x="4206240" y="5861304"/>
            <a:ext cx="12496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88" name="Text 85"/>
          <p:cNvSpPr txBox="1"/>
          <p:nvPr/>
        </p:nvSpPr>
        <p:spPr>
          <a:xfrm>
            <a:off x="4206240" y="5861304"/>
            <a:ext cx="12496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wait_timed_out</a:t>
            </a:r>
            <a:endParaRPr lang="en-US" sz="1000" dirty="0"/>
          </a:p>
        </p:txBody>
      </p:sp>
      <p:sp>
        <p:nvSpPr>
          <p:cNvPr id="89" name="Shape 86"/>
          <p:cNvSpPr/>
          <p:nvPr/>
        </p:nvSpPr>
        <p:spPr>
          <a:xfrm>
            <a:off x="5547360" y="5861304"/>
            <a:ext cx="10972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90" name="Text 87"/>
          <p:cNvSpPr txBox="1"/>
          <p:nvPr/>
        </p:nvSpPr>
        <p:spPr>
          <a:xfrm>
            <a:off x="5547360" y="5861304"/>
            <a:ext cx="10972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sla_breached</a:t>
            </a:r>
            <a:endParaRPr lang="en-US" sz="1000" dirty="0"/>
          </a:p>
        </p:txBody>
      </p:sp>
      <p:sp>
        <p:nvSpPr>
          <p:cNvPr id="91" name="Shape 88"/>
          <p:cNvSpPr/>
          <p:nvPr/>
        </p:nvSpPr>
        <p:spPr>
          <a:xfrm>
            <a:off x="6736080" y="5861304"/>
            <a:ext cx="15544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92" name="Text 89"/>
          <p:cNvSpPr txBox="1"/>
          <p:nvPr/>
        </p:nvSpPr>
        <p:spPr>
          <a:xfrm>
            <a:off x="6736080" y="5861304"/>
            <a:ext cx="15544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worker_blacklisted</a:t>
            </a:r>
            <a:endParaRPr lang="en-US" sz="1000" dirty="0"/>
          </a:p>
        </p:txBody>
      </p:sp>
      <p:sp>
        <p:nvSpPr>
          <p:cNvPr id="93" name="Shape 90"/>
          <p:cNvSpPr/>
          <p:nvPr/>
        </p:nvSpPr>
        <p:spPr>
          <a:xfrm>
            <a:off x="8382000" y="5861304"/>
            <a:ext cx="1249680" cy="274320"/>
          </a:xfrm>
          <a:prstGeom prst="roundRect">
            <a:avLst>
              <a:gd name="adj" fmla="val 16667"/>
            </a:avLst>
          </a:prstGeom>
          <a:solidFill>
            <a:schemeClr val="accent3">
              <a:alpha val="12000"/>
            </a:schemeClr>
          </a:solidFill>
          <a:ln w="6350">
            <a:solidFill>
              <a:schemeClr val="accent3"/>
            </a:solidFill>
            <a:prstDash val="solid"/>
          </a:ln>
        </p:spPr>
        <p:txBody>
          <a:bodyPr/>
          <a:lstStyle/>
          <a:p>
            <a:endParaRPr lang="en-US"/>
          </a:p>
        </p:txBody>
      </p:sp>
      <p:sp>
        <p:nvSpPr>
          <p:cNvPr id="94" name="Text 91"/>
          <p:cNvSpPr txBox="1"/>
          <p:nvPr/>
        </p:nvSpPr>
        <p:spPr>
          <a:xfrm>
            <a:off x="8382000" y="5861304"/>
            <a:ext cx="1249680" cy="274320"/>
          </a:xfrm>
          <a:prstGeom prst="rect">
            <a:avLst/>
          </a:prstGeom>
          <a:noFill/>
          <a:ln/>
        </p:spPr>
        <p:txBody>
          <a:bodyPr wrap="square" lIns="0" tIns="0" rIns="0" bIns="0" rtlCol="0" anchor="ctr"/>
          <a:lstStyle/>
          <a:p>
            <a:pPr marL="0" indent="0" algn="ctr">
              <a:buNone/>
            </a:pPr>
            <a:r>
              <a:rPr lang="en-US" sz="1000" dirty="0">
                <a:solidFill>
                  <a:schemeClr val="tx1"/>
                </a:solidFill>
                <a:latin typeface="Courier New" pitchFamily="34" charset="0"/>
                <a:ea typeface="Courier New" pitchFamily="34" charset="-122"/>
                <a:cs typeface="Courier New" pitchFamily="34" charset="-120"/>
              </a:rPr>
              <a:t>config_updated</a:t>
            </a:r>
            <a:endParaRPr lang="en-US" sz="10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A4FD2-2DD8-7EDC-7508-9992D8CB611B}"/>
            </a:ext>
          </a:extLst>
        </p:cNvPr>
        <p:cNvGrpSpPr/>
        <p:nvPr/>
      </p:nvGrpSpPr>
      <p:grpSpPr>
        <a:xfrm>
          <a:off x="0" y="0"/>
          <a:ext cx="0" cy="0"/>
          <a:chOff x="0" y="0"/>
          <a:chExt cx="0" cy="0"/>
        </a:xfrm>
      </p:grpSpPr>
      <p:sp>
        <p:nvSpPr>
          <p:cNvPr id="7" name="Text 0">
            <a:extLst>
              <a:ext uri="{FF2B5EF4-FFF2-40B4-BE49-F238E27FC236}">
                <a16:creationId xmlns:a16="http://schemas.microsoft.com/office/drawing/2014/main" id="{96E3C077-B835-A1ED-D6BB-813508680C0B}"/>
              </a:ext>
            </a:extLst>
          </p:cNvPr>
          <p:cNvSpPr txBox="1">
            <a:spLocks/>
          </p:cNvSpPr>
          <p:nvPr/>
        </p:nvSpPr>
        <p:spPr>
          <a:xfrm>
            <a:off x="731520" y="1828800"/>
            <a:ext cx="2743200" cy="640080"/>
          </a:xfrm>
          <a:prstGeom prst="rect">
            <a:avLst/>
          </a:prstGeom>
          <a:noFill/>
          <a:ln/>
        </p:spPr>
        <p:txBody>
          <a:bodyPr wrap="square" lIns="0" tIns="0" rIns="0" bIns="0" rtlCol="0" anchor="b"/>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800" b="1" dirty="0">
                <a:solidFill>
                  <a:srgbClr val="6BA5F0"/>
                </a:solidFill>
              </a:rPr>
              <a:t>05</a:t>
            </a:r>
            <a:endParaRPr lang="en-US" sz="2800" dirty="0">
              <a:solidFill>
                <a:srgbClr val="6BA5F0"/>
              </a:solidFill>
            </a:endParaRPr>
          </a:p>
        </p:txBody>
      </p:sp>
      <p:sp>
        <p:nvSpPr>
          <p:cNvPr id="8" name="Text 0">
            <a:extLst>
              <a:ext uri="{FF2B5EF4-FFF2-40B4-BE49-F238E27FC236}">
                <a16:creationId xmlns:a16="http://schemas.microsoft.com/office/drawing/2014/main" id="{3B0165CD-5273-F59F-611F-10987FEDFA8B}"/>
              </a:ext>
            </a:extLst>
          </p:cNvPr>
          <p:cNvSpPr>
            <a:spLocks noGrp="1"/>
          </p:cNvSpPr>
          <p:nvPr>
            <p:ph type="title" idx="101" hasCustomPrompt="1"/>
          </p:nvPr>
        </p:nvSpPr>
        <p:spPr>
          <a:xfrm>
            <a:off x="731520" y="2514600"/>
            <a:ext cx="10058400" cy="1005840"/>
          </a:xfrm>
          <a:prstGeom prst="rect">
            <a:avLst/>
          </a:prstGeom>
          <a:noFill/>
          <a:ln/>
        </p:spPr>
        <p:txBody>
          <a:bodyPr wrap="square" lIns="0" tIns="0" rIns="0" bIns="0" rtlCol="0" anchor="t"/>
          <a:lstStyle/>
          <a:p>
            <a:pPr marL="0" indent="0" algn="l">
              <a:buNone/>
            </a:pPr>
            <a:r>
              <a:rPr lang="en-US" sz="4400" b="1" dirty="0">
                <a:solidFill>
                  <a:schemeClr val="bg1"/>
                </a:solidFill>
                <a:latin typeface="Arial" pitchFamily="34" charset="0"/>
                <a:ea typeface="Arial" pitchFamily="34" charset="-122"/>
                <a:cs typeface="Arial" pitchFamily="34" charset="-120"/>
              </a:rPr>
              <a:t>Running it &amp; what comes next</a:t>
            </a:r>
            <a:endParaRPr lang="en-US" sz="4400" dirty="0"/>
          </a:p>
        </p:txBody>
      </p:sp>
      <p:sp>
        <p:nvSpPr>
          <p:cNvPr id="9" name="Text 0">
            <a:extLst>
              <a:ext uri="{FF2B5EF4-FFF2-40B4-BE49-F238E27FC236}">
                <a16:creationId xmlns:a16="http://schemas.microsoft.com/office/drawing/2014/main" id="{DB6D65EF-2F49-A11C-163B-A8655958ADBF}"/>
              </a:ext>
            </a:extLst>
          </p:cNvPr>
          <p:cNvSpPr>
            <a:spLocks noGrp="1"/>
          </p:cNvSpPr>
          <p:nvPr>
            <p:ph type="body" idx="102" hasCustomPrompt="1"/>
          </p:nvPr>
        </p:nvSpPr>
        <p:spPr>
          <a:xfrm>
            <a:off x="731520" y="3611880"/>
            <a:ext cx="9144000" cy="822960"/>
          </a:xfrm>
          <a:prstGeom prst="rect">
            <a:avLst/>
          </a:prstGeom>
          <a:noFill/>
          <a:ln/>
        </p:spPr>
        <p:txBody>
          <a:bodyPr wrap="square" lIns="0" tIns="0" rIns="0" bIns="0" rtlCol="0" anchor="t"/>
          <a:lstStyle/>
          <a:p>
            <a:pPr marL="0" indent="0">
              <a:buNone/>
            </a:pPr>
            <a:r>
              <a:rPr lang="en-US" sz="2000" dirty="0"/>
              <a:t>Deployment, load shedding, the decision log, then P2 and P3</a:t>
            </a:r>
          </a:p>
        </p:txBody>
      </p:sp>
      <p:pic>
        <p:nvPicPr>
          <p:cNvPr id="10" name="Image 0" descr="preencoded.png">
            <a:extLst>
              <a:ext uri="{FF2B5EF4-FFF2-40B4-BE49-F238E27FC236}">
                <a16:creationId xmlns:a16="http://schemas.microsoft.com/office/drawing/2014/main" id="{669100A0-D9A7-7B5E-742A-BFD04AC9595C}"/>
              </a:ext>
            </a:extLst>
          </p:cNvPr>
          <p:cNvPicPr>
            <a:picLocks noChangeAspect="1"/>
          </p:cNvPicPr>
          <p:nvPr/>
        </p:nvPicPr>
        <p:blipFill>
          <a:blip r:embed="rId3">
            <a:alphaModFix amt="25000"/>
          </a:blip>
          <a:stretch>
            <a:fillRect/>
          </a:stretch>
        </p:blipFill>
        <p:spPr>
          <a:xfrm>
            <a:off x="9509760" y="1920240"/>
            <a:ext cx="1828800" cy="1828800"/>
          </a:xfrm>
          <a:prstGeom prst="rect">
            <a:avLst/>
          </a:prstGeom>
        </p:spPr>
      </p:pic>
      <p:sp>
        <p:nvSpPr>
          <p:cNvPr id="11" name="Shape 3">
            <a:extLst>
              <a:ext uri="{FF2B5EF4-FFF2-40B4-BE49-F238E27FC236}">
                <a16:creationId xmlns:a16="http://schemas.microsoft.com/office/drawing/2014/main" id="{65DB3EE4-2023-E101-BE11-A9966B75D953}"/>
              </a:ext>
            </a:extLst>
          </p:cNvPr>
          <p:cNvSpPr/>
          <p:nvPr/>
        </p:nvSpPr>
        <p:spPr>
          <a:xfrm>
            <a:off x="731520" y="4937760"/>
            <a:ext cx="1174750"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12" name="Text 4">
            <a:extLst>
              <a:ext uri="{FF2B5EF4-FFF2-40B4-BE49-F238E27FC236}">
                <a16:creationId xmlns:a16="http://schemas.microsoft.com/office/drawing/2014/main" id="{B802697C-5B98-7294-5251-CD42984D8587}"/>
              </a:ext>
            </a:extLst>
          </p:cNvPr>
          <p:cNvSpPr txBox="1"/>
          <p:nvPr/>
        </p:nvSpPr>
        <p:spPr>
          <a:xfrm>
            <a:off x="731520" y="4949048"/>
            <a:ext cx="1174750"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Deployment</a:t>
            </a:r>
            <a:endParaRPr lang="en-US" sz="1300" dirty="0"/>
          </a:p>
        </p:txBody>
      </p:sp>
      <p:sp>
        <p:nvSpPr>
          <p:cNvPr id="13" name="Shape 5">
            <a:extLst>
              <a:ext uri="{FF2B5EF4-FFF2-40B4-BE49-F238E27FC236}">
                <a16:creationId xmlns:a16="http://schemas.microsoft.com/office/drawing/2014/main" id="{603A1084-46DE-2363-FED0-8B9C50A80580}"/>
              </a:ext>
            </a:extLst>
          </p:cNvPr>
          <p:cNvSpPr/>
          <p:nvPr/>
        </p:nvSpPr>
        <p:spPr>
          <a:xfrm>
            <a:off x="2043430" y="4937760"/>
            <a:ext cx="1417447"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14" name="Text 6">
            <a:extLst>
              <a:ext uri="{FF2B5EF4-FFF2-40B4-BE49-F238E27FC236}">
                <a16:creationId xmlns:a16="http://schemas.microsoft.com/office/drawing/2014/main" id="{1AB91D13-812A-C2BA-DB3B-367E501F157B}"/>
              </a:ext>
            </a:extLst>
          </p:cNvPr>
          <p:cNvSpPr txBox="1"/>
          <p:nvPr/>
        </p:nvSpPr>
        <p:spPr>
          <a:xfrm>
            <a:off x="2043430" y="4949048"/>
            <a:ext cx="1417447"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Back-pressure</a:t>
            </a:r>
            <a:endParaRPr lang="en-US" sz="1300" dirty="0"/>
          </a:p>
        </p:txBody>
      </p:sp>
      <p:sp>
        <p:nvSpPr>
          <p:cNvPr id="15" name="Shape 7">
            <a:extLst>
              <a:ext uri="{FF2B5EF4-FFF2-40B4-BE49-F238E27FC236}">
                <a16:creationId xmlns:a16="http://schemas.microsoft.com/office/drawing/2014/main" id="{12D84113-4E4C-E877-1F2A-8158B73BB2A5}"/>
              </a:ext>
            </a:extLst>
          </p:cNvPr>
          <p:cNvSpPr/>
          <p:nvPr/>
        </p:nvSpPr>
        <p:spPr>
          <a:xfrm>
            <a:off x="3598037" y="4937760"/>
            <a:ext cx="1336548"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16" name="Text 8">
            <a:extLst>
              <a:ext uri="{FF2B5EF4-FFF2-40B4-BE49-F238E27FC236}">
                <a16:creationId xmlns:a16="http://schemas.microsoft.com/office/drawing/2014/main" id="{841284E3-1B89-4CB1-C79E-DE5B7FA611FD}"/>
              </a:ext>
            </a:extLst>
          </p:cNvPr>
          <p:cNvSpPr txBox="1"/>
          <p:nvPr/>
        </p:nvSpPr>
        <p:spPr>
          <a:xfrm>
            <a:off x="3598037" y="4949048"/>
            <a:ext cx="1336548"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Decision log</a:t>
            </a:r>
            <a:endParaRPr lang="en-US" sz="1300" dirty="0"/>
          </a:p>
        </p:txBody>
      </p:sp>
      <p:sp>
        <p:nvSpPr>
          <p:cNvPr id="17" name="Shape 9">
            <a:extLst>
              <a:ext uri="{FF2B5EF4-FFF2-40B4-BE49-F238E27FC236}">
                <a16:creationId xmlns:a16="http://schemas.microsoft.com/office/drawing/2014/main" id="{A81ECDAC-0F9F-A0FE-953B-69523B542BB0}"/>
              </a:ext>
            </a:extLst>
          </p:cNvPr>
          <p:cNvSpPr/>
          <p:nvPr/>
        </p:nvSpPr>
        <p:spPr>
          <a:xfrm>
            <a:off x="5071745" y="4937760"/>
            <a:ext cx="527558"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20" name="Text 10">
            <a:extLst>
              <a:ext uri="{FF2B5EF4-FFF2-40B4-BE49-F238E27FC236}">
                <a16:creationId xmlns:a16="http://schemas.microsoft.com/office/drawing/2014/main" id="{9975EF03-AD25-782D-4D4A-730745213117}"/>
              </a:ext>
            </a:extLst>
          </p:cNvPr>
          <p:cNvSpPr txBox="1"/>
          <p:nvPr/>
        </p:nvSpPr>
        <p:spPr>
          <a:xfrm>
            <a:off x="5071745" y="4949048"/>
            <a:ext cx="527558"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P2</a:t>
            </a:r>
            <a:endParaRPr lang="en-US" sz="1300" dirty="0"/>
          </a:p>
        </p:txBody>
      </p:sp>
      <p:sp>
        <p:nvSpPr>
          <p:cNvPr id="21" name="Shape 11">
            <a:extLst>
              <a:ext uri="{FF2B5EF4-FFF2-40B4-BE49-F238E27FC236}">
                <a16:creationId xmlns:a16="http://schemas.microsoft.com/office/drawing/2014/main" id="{9927322E-BDF1-C9C6-31B4-CD1335C627F8}"/>
              </a:ext>
            </a:extLst>
          </p:cNvPr>
          <p:cNvSpPr/>
          <p:nvPr/>
        </p:nvSpPr>
        <p:spPr>
          <a:xfrm>
            <a:off x="5736463" y="4937760"/>
            <a:ext cx="527558"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22" name="Text 12">
            <a:extLst>
              <a:ext uri="{FF2B5EF4-FFF2-40B4-BE49-F238E27FC236}">
                <a16:creationId xmlns:a16="http://schemas.microsoft.com/office/drawing/2014/main" id="{8225BB85-66C5-EC89-9774-DE7C4F2432F6}"/>
              </a:ext>
            </a:extLst>
          </p:cNvPr>
          <p:cNvSpPr txBox="1"/>
          <p:nvPr/>
        </p:nvSpPr>
        <p:spPr>
          <a:xfrm>
            <a:off x="5736463" y="4949048"/>
            <a:ext cx="527558"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P3</a:t>
            </a:r>
            <a:endParaRPr lang="en-US" sz="1300" dirty="0"/>
          </a:p>
        </p:txBody>
      </p:sp>
      <p:sp>
        <p:nvSpPr>
          <p:cNvPr id="23" name="Shape 13">
            <a:extLst>
              <a:ext uri="{FF2B5EF4-FFF2-40B4-BE49-F238E27FC236}">
                <a16:creationId xmlns:a16="http://schemas.microsoft.com/office/drawing/2014/main" id="{C67FA22A-B6AE-E72D-6465-CF93A9611FB2}"/>
              </a:ext>
            </a:extLst>
          </p:cNvPr>
          <p:cNvSpPr/>
          <p:nvPr/>
        </p:nvSpPr>
        <p:spPr>
          <a:xfrm>
            <a:off x="6401181" y="4937760"/>
            <a:ext cx="1174750" cy="384048"/>
          </a:xfrm>
          <a:prstGeom prst="roundRect">
            <a:avLst>
              <a:gd name="adj" fmla="val 50000"/>
            </a:avLst>
          </a:prstGeom>
          <a:solidFill>
            <a:schemeClr val="bg1">
              <a:alpha val="10000"/>
            </a:schemeClr>
          </a:solidFill>
          <a:ln w="12700">
            <a:solidFill>
              <a:srgbClr val="002060"/>
            </a:solidFill>
            <a:prstDash val="solid"/>
          </a:ln>
        </p:spPr>
        <p:txBody>
          <a:bodyPr/>
          <a:lstStyle/>
          <a:p>
            <a:endParaRPr lang="en-US"/>
          </a:p>
        </p:txBody>
      </p:sp>
      <p:sp>
        <p:nvSpPr>
          <p:cNvPr id="24" name="Text 14">
            <a:extLst>
              <a:ext uri="{FF2B5EF4-FFF2-40B4-BE49-F238E27FC236}">
                <a16:creationId xmlns:a16="http://schemas.microsoft.com/office/drawing/2014/main" id="{4B553691-711A-C7E7-7B28-47744B9A9974}"/>
              </a:ext>
            </a:extLst>
          </p:cNvPr>
          <p:cNvSpPr txBox="1"/>
          <p:nvPr/>
        </p:nvSpPr>
        <p:spPr>
          <a:xfrm>
            <a:off x="6401181" y="4949048"/>
            <a:ext cx="1174750" cy="384048"/>
          </a:xfrm>
          <a:prstGeom prst="rect">
            <a:avLst/>
          </a:prstGeom>
          <a:noFill/>
          <a:ln/>
        </p:spPr>
        <p:txBody>
          <a:bodyPr wrap="square" lIns="0" tIns="0" rIns="0" bIns="0" rtlCol="0" anchor="ctr"/>
          <a:lstStyle/>
          <a:p>
            <a:pPr marL="0" indent="0" algn="ctr">
              <a:buNone/>
            </a:pPr>
            <a:r>
              <a:rPr lang="en-US" sz="1300" dirty="0">
                <a:solidFill>
                  <a:schemeClr val="bg1"/>
                </a:solidFill>
                <a:latin typeface="Calibri" pitchFamily="34" charset="0"/>
                <a:ea typeface="Calibri" pitchFamily="34" charset="-122"/>
                <a:cs typeface="Calibri" pitchFamily="34" charset="-120"/>
              </a:rPr>
              <a:t>Five rules</a:t>
            </a:r>
            <a:endParaRPr lang="en-US" sz="1300" dirty="0"/>
          </a:p>
        </p:txBody>
      </p:sp>
    </p:spTree>
    <p:extLst>
      <p:ext uri="{BB962C8B-B14F-4D97-AF65-F5344CB8AC3E}">
        <p14:creationId xmlns:p14="http://schemas.microsoft.com/office/powerpoint/2010/main" val="629132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Scale out: identical nodes, shared DB, sharded loops</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No broker, no coordinator: advisory locks in the database split background work across nodes</a:t>
            </a:r>
            <a:endParaRPr lang="en-US" sz="1600" dirty="0"/>
          </a:p>
        </p:txBody>
      </p:sp>
      <p:sp>
        <p:nvSpPr>
          <p:cNvPr id="5" name="Shape 2"/>
          <p:cNvSpPr/>
          <p:nvPr/>
        </p:nvSpPr>
        <p:spPr>
          <a:xfrm>
            <a:off x="457200" y="1463040"/>
            <a:ext cx="2194560" cy="566928"/>
          </a:xfrm>
          <a:prstGeom prst="roundRect">
            <a:avLst>
              <a:gd name="adj" fmla="val 9677"/>
            </a:avLst>
          </a:prstGeom>
          <a:solidFill>
            <a:schemeClr val="bg1"/>
          </a:solidFill>
          <a:ln/>
        </p:spPr>
        <p:txBody>
          <a:bodyPr/>
          <a:lstStyle/>
          <a:p>
            <a:endParaRPr lang="en-US"/>
          </a:p>
        </p:txBody>
      </p:sp>
      <p:sp>
        <p:nvSpPr>
          <p:cNvPr id="6" name="Shape 3"/>
          <p:cNvSpPr/>
          <p:nvPr/>
        </p:nvSpPr>
        <p:spPr>
          <a:xfrm>
            <a:off x="457200" y="1463040"/>
            <a:ext cx="2194560" cy="566928"/>
          </a:xfrm>
          <a:prstGeom prst="roundRect">
            <a:avLst>
              <a:gd name="adj" fmla="val 9677"/>
            </a:avLst>
          </a:prstGeom>
          <a:solidFill>
            <a:srgbClr val="F3ECFB"/>
          </a:solidFill>
          <a:ln w="15875">
            <a:solidFill>
              <a:schemeClr val="bg1">
                <a:lumMod val="65000"/>
              </a:schemeClr>
            </a:solidFill>
            <a:prstDash val="solid"/>
          </a:ln>
        </p:spPr>
        <p:txBody>
          <a:bodyPr/>
          <a:lstStyle/>
          <a:p>
            <a:endParaRPr lang="en-US"/>
          </a:p>
        </p:txBody>
      </p:sp>
      <p:sp>
        <p:nvSpPr>
          <p:cNvPr id="7" name="Text 4"/>
          <p:cNvSpPr txBox="1"/>
          <p:nvPr/>
        </p:nvSpPr>
        <p:spPr>
          <a:xfrm>
            <a:off x="512064" y="1463040"/>
            <a:ext cx="2084832" cy="56692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Clients &amp; workers</a:t>
            </a:r>
            <a:endParaRPr lang="en-US" sz="1300" dirty="0"/>
          </a:p>
        </p:txBody>
      </p:sp>
      <p:sp>
        <p:nvSpPr>
          <p:cNvPr id="8" name="Shape 5"/>
          <p:cNvSpPr/>
          <p:nvPr/>
        </p:nvSpPr>
        <p:spPr>
          <a:xfrm>
            <a:off x="4937760" y="1463040"/>
            <a:ext cx="2286000" cy="566928"/>
          </a:xfrm>
          <a:prstGeom prst="roundRect">
            <a:avLst>
              <a:gd name="adj" fmla="val 9677"/>
            </a:avLst>
          </a:prstGeom>
          <a:solidFill>
            <a:schemeClr val="bg1"/>
          </a:solidFill>
          <a:ln/>
        </p:spPr>
        <p:txBody>
          <a:bodyPr/>
          <a:lstStyle/>
          <a:p>
            <a:endParaRPr lang="en-US"/>
          </a:p>
        </p:txBody>
      </p:sp>
      <p:sp>
        <p:nvSpPr>
          <p:cNvPr id="9" name="Shape 6"/>
          <p:cNvSpPr/>
          <p:nvPr/>
        </p:nvSpPr>
        <p:spPr>
          <a:xfrm>
            <a:off x="4937760" y="1463040"/>
            <a:ext cx="2286000" cy="566928"/>
          </a:xfrm>
          <a:prstGeom prst="roundRect">
            <a:avLst>
              <a:gd name="adj" fmla="val 9677"/>
            </a:avLst>
          </a:prstGeom>
          <a:solidFill>
            <a:srgbClr val="F3ECFB"/>
          </a:solidFill>
          <a:ln w="15875">
            <a:solidFill>
              <a:schemeClr val="bg1">
                <a:lumMod val="65000"/>
              </a:schemeClr>
            </a:solidFill>
            <a:prstDash val="solid"/>
          </a:ln>
        </p:spPr>
        <p:txBody>
          <a:bodyPr/>
          <a:lstStyle/>
          <a:p>
            <a:endParaRPr lang="en-US"/>
          </a:p>
        </p:txBody>
      </p:sp>
      <p:sp>
        <p:nvSpPr>
          <p:cNvPr id="10" name="Text 7"/>
          <p:cNvSpPr txBox="1"/>
          <p:nvPr/>
        </p:nvSpPr>
        <p:spPr>
          <a:xfrm>
            <a:off x="4992624" y="1463040"/>
            <a:ext cx="2176272" cy="566928"/>
          </a:xfrm>
          <a:prstGeom prst="rect">
            <a:avLst/>
          </a:prstGeom>
          <a:noFill/>
          <a:ln/>
        </p:spPr>
        <p:txBody>
          <a:bodyPr wrap="square" lIns="0" tIns="0" rIns="0" bIns="0" rtlCol="0" anchor="ctr"/>
          <a:lstStyle/>
          <a:p>
            <a:pPr marL="0" indent="0" algn="ctr">
              <a:buNone/>
            </a:pPr>
            <a:r>
              <a:rPr lang="en-US" sz="1300" b="1" dirty="0">
                <a:solidFill>
                  <a:schemeClr val="tx1"/>
                </a:solidFill>
                <a:latin typeface="Calibri" pitchFamily="34" charset="0"/>
                <a:ea typeface="Calibri" pitchFamily="34" charset="-122"/>
                <a:cs typeface="Calibri" pitchFamily="34" charset="-120"/>
              </a:rPr>
              <a:t>Load balancer</a:t>
            </a:r>
            <a:endParaRPr lang="en-US" sz="1300" dirty="0"/>
          </a:p>
        </p:txBody>
      </p:sp>
      <p:sp>
        <p:nvSpPr>
          <p:cNvPr id="11" name="Shape 8"/>
          <p:cNvSpPr/>
          <p:nvPr/>
        </p:nvSpPr>
        <p:spPr>
          <a:xfrm>
            <a:off x="2651760" y="1746504"/>
            <a:ext cx="2286000" cy="91"/>
          </a:xfrm>
          <a:prstGeom prst="line">
            <a:avLst/>
          </a:prstGeom>
          <a:noFill/>
          <a:ln w="15875">
            <a:solidFill>
              <a:schemeClr val="tx2"/>
            </a:solidFill>
            <a:prstDash val="solid"/>
            <a:headEnd type="none"/>
            <a:tailEnd type="triangle"/>
          </a:ln>
        </p:spPr>
        <p:txBody>
          <a:bodyPr/>
          <a:lstStyle/>
          <a:p>
            <a:endParaRPr lang="en-US"/>
          </a:p>
        </p:txBody>
      </p:sp>
      <p:sp>
        <p:nvSpPr>
          <p:cNvPr id="12" name="Shape 9"/>
          <p:cNvSpPr/>
          <p:nvPr/>
        </p:nvSpPr>
        <p:spPr>
          <a:xfrm>
            <a:off x="822960" y="2468880"/>
            <a:ext cx="3200400" cy="2103120"/>
          </a:xfrm>
          <a:prstGeom prst="roundRect">
            <a:avLst>
              <a:gd name="adj" fmla="val 2609"/>
            </a:avLst>
          </a:prstGeom>
          <a:solidFill>
            <a:schemeClr val="bg1"/>
          </a:solidFill>
          <a:ln/>
        </p:spPr>
        <p:txBody>
          <a:bodyPr/>
          <a:lstStyle/>
          <a:p>
            <a:endParaRPr lang="en-US"/>
          </a:p>
        </p:txBody>
      </p:sp>
      <p:sp>
        <p:nvSpPr>
          <p:cNvPr id="13" name="Shape 10"/>
          <p:cNvSpPr/>
          <p:nvPr/>
        </p:nvSpPr>
        <p:spPr>
          <a:xfrm>
            <a:off x="822960" y="2468880"/>
            <a:ext cx="3200400" cy="2103120"/>
          </a:xfrm>
          <a:prstGeom prst="roundRect">
            <a:avLst>
              <a:gd name="adj" fmla="val 2609"/>
            </a:avLst>
          </a:prstGeom>
          <a:solidFill>
            <a:schemeClr val="accent1">
              <a:alpha val="12000"/>
            </a:schemeClr>
          </a:solidFill>
          <a:ln w="15875">
            <a:solidFill>
              <a:schemeClr val="accent1"/>
            </a:solidFill>
            <a:prstDash val="solid"/>
          </a:ln>
        </p:spPr>
        <p:txBody>
          <a:bodyPr/>
          <a:lstStyle/>
          <a:p>
            <a:endParaRPr lang="en-US"/>
          </a:p>
        </p:txBody>
      </p:sp>
      <p:sp>
        <p:nvSpPr>
          <p:cNvPr id="14" name="Shape 11"/>
          <p:cNvSpPr/>
          <p:nvPr/>
        </p:nvSpPr>
        <p:spPr>
          <a:xfrm>
            <a:off x="960120" y="2606040"/>
            <a:ext cx="411480" cy="411480"/>
          </a:xfrm>
          <a:prstGeom prst="ellipse">
            <a:avLst/>
          </a:prstGeom>
          <a:solidFill>
            <a:schemeClr val="tx2">
              <a:lumMod val="25000"/>
              <a:lumOff val="75000"/>
            </a:schemeClr>
          </a:solidFill>
          <a:ln/>
        </p:spPr>
        <p:txBody>
          <a:bodyPr/>
          <a:lstStyle/>
          <a:p>
            <a:endParaRPr lang="en-US"/>
          </a:p>
        </p:txBody>
      </p:sp>
      <p:pic>
        <p:nvPicPr>
          <p:cNvPr id="15" name="Image 0" descr="preencoded.png"/>
          <p:cNvPicPr>
            <a:picLocks noChangeAspect="1"/>
          </p:cNvPicPr>
          <p:nvPr/>
        </p:nvPicPr>
        <p:blipFill>
          <a:blip r:embed="rId3"/>
          <a:stretch>
            <a:fillRect/>
          </a:stretch>
        </p:blipFill>
        <p:spPr>
          <a:xfrm>
            <a:off x="1062990" y="2708910"/>
            <a:ext cx="205740" cy="205740"/>
          </a:xfrm>
          <a:prstGeom prst="rect">
            <a:avLst/>
          </a:prstGeom>
        </p:spPr>
      </p:pic>
      <p:sp>
        <p:nvSpPr>
          <p:cNvPr id="16" name="Text 12"/>
          <p:cNvSpPr txBox="1"/>
          <p:nvPr/>
        </p:nvSpPr>
        <p:spPr>
          <a:xfrm>
            <a:off x="1463040" y="2606040"/>
            <a:ext cx="2377440" cy="41148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Node A</a:t>
            </a:r>
            <a:endParaRPr lang="en-US" sz="1500" dirty="0"/>
          </a:p>
        </p:txBody>
      </p:sp>
      <p:sp>
        <p:nvSpPr>
          <p:cNvPr id="17" name="Text 13"/>
          <p:cNvSpPr txBox="1"/>
          <p:nvPr/>
        </p:nvSpPr>
        <p:spPr>
          <a:xfrm>
            <a:off x="960120" y="3108960"/>
            <a:ext cx="2926080" cy="45720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HTTP · domain services · queue watcher (1 s)</a:t>
            </a:r>
            <a:endParaRPr lang="en-US" sz="1100" dirty="0"/>
          </a:p>
        </p:txBody>
      </p:sp>
      <p:sp>
        <p:nvSpPr>
          <p:cNvPr id="18" name="Shape 14"/>
          <p:cNvSpPr/>
          <p:nvPr/>
        </p:nvSpPr>
        <p:spPr>
          <a:xfrm>
            <a:off x="960120" y="3703320"/>
            <a:ext cx="914400" cy="347472"/>
          </a:xfrm>
          <a:prstGeom prst="roundRect">
            <a:avLst>
              <a:gd name="adj" fmla="val 15789"/>
            </a:avLst>
          </a:prstGeom>
          <a:solidFill>
            <a:schemeClr val="bg1"/>
          </a:solidFill>
          <a:ln w="9525">
            <a:solidFill>
              <a:schemeClr val="accent1"/>
            </a:solidFill>
            <a:prstDash val="solid"/>
          </a:ln>
        </p:spPr>
        <p:txBody>
          <a:bodyPr/>
          <a:lstStyle/>
          <a:p>
            <a:endParaRPr lang="en-US"/>
          </a:p>
        </p:txBody>
      </p:sp>
      <p:sp>
        <p:nvSpPr>
          <p:cNvPr id="19" name="Text 15"/>
          <p:cNvSpPr txBox="1"/>
          <p:nvPr/>
        </p:nvSpPr>
        <p:spPr>
          <a:xfrm>
            <a:off x="960120" y="3703320"/>
            <a:ext cx="914400" cy="347472"/>
          </a:xfrm>
          <a:prstGeom prst="rect">
            <a:avLst/>
          </a:prstGeom>
          <a:noFill/>
          <a:ln/>
        </p:spPr>
        <p:txBody>
          <a:bodyPr wrap="square" lIns="0" tIns="0" rIns="0" bIns="0" rtlCol="0" anchor="ctr"/>
          <a:lstStyle/>
          <a:p>
            <a:pPr marL="0" indent="0" algn="ctr">
              <a:buNone/>
            </a:pPr>
            <a:r>
              <a:rPr lang="en-US" sz="1000" dirty="0">
                <a:solidFill>
                  <a:schemeClr val="tx1"/>
                </a:solidFill>
                <a:latin typeface="Calibri" pitchFamily="34" charset="0"/>
                <a:ea typeface="Calibri" pitchFamily="34" charset="-122"/>
                <a:cs typeface="Calibri" pitchFamily="34" charset="-120"/>
              </a:rPr>
              <a:t>shard 0</a:t>
            </a:r>
            <a:endParaRPr lang="en-US" sz="1000" dirty="0"/>
          </a:p>
        </p:txBody>
      </p:sp>
      <p:sp>
        <p:nvSpPr>
          <p:cNvPr id="20" name="Shape 16"/>
          <p:cNvSpPr/>
          <p:nvPr/>
        </p:nvSpPr>
        <p:spPr>
          <a:xfrm>
            <a:off x="1965960" y="3703320"/>
            <a:ext cx="914400" cy="347472"/>
          </a:xfrm>
          <a:prstGeom prst="roundRect">
            <a:avLst>
              <a:gd name="adj" fmla="val 15789"/>
            </a:avLst>
          </a:prstGeom>
          <a:solidFill>
            <a:schemeClr val="bg1"/>
          </a:solidFill>
          <a:ln w="9525">
            <a:solidFill>
              <a:schemeClr val="accent1"/>
            </a:solidFill>
            <a:prstDash val="solid"/>
          </a:ln>
        </p:spPr>
        <p:txBody>
          <a:bodyPr/>
          <a:lstStyle/>
          <a:p>
            <a:endParaRPr lang="en-US"/>
          </a:p>
        </p:txBody>
      </p:sp>
      <p:sp>
        <p:nvSpPr>
          <p:cNvPr id="21" name="Text 17"/>
          <p:cNvSpPr txBox="1"/>
          <p:nvPr/>
        </p:nvSpPr>
        <p:spPr>
          <a:xfrm>
            <a:off x="1965960" y="3703320"/>
            <a:ext cx="914400" cy="347472"/>
          </a:xfrm>
          <a:prstGeom prst="rect">
            <a:avLst/>
          </a:prstGeom>
          <a:noFill/>
          <a:ln/>
        </p:spPr>
        <p:txBody>
          <a:bodyPr wrap="square" lIns="0" tIns="0" rIns="0" bIns="0" rtlCol="0" anchor="ctr"/>
          <a:lstStyle/>
          <a:p>
            <a:pPr marL="0" indent="0" algn="ctr">
              <a:buNone/>
            </a:pPr>
            <a:r>
              <a:rPr lang="en-US" sz="1000" dirty="0">
                <a:solidFill>
                  <a:schemeClr val="tx1"/>
                </a:solidFill>
                <a:latin typeface="Calibri" pitchFamily="34" charset="0"/>
                <a:ea typeface="Calibri" pitchFamily="34" charset="-122"/>
                <a:cs typeface="Calibri" pitchFamily="34" charset="-120"/>
              </a:rPr>
              <a:t>shard 1</a:t>
            </a:r>
            <a:endParaRPr lang="en-US" sz="1000" dirty="0"/>
          </a:p>
        </p:txBody>
      </p:sp>
      <p:sp>
        <p:nvSpPr>
          <p:cNvPr id="22" name="Shape 18"/>
          <p:cNvSpPr/>
          <p:nvPr/>
        </p:nvSpPr>
        <p:spPr>
          <a:xfrm>
            <a:off x="2971800" y="3703320"/>
            <a:ext cx="914400" cy="347472"/>
          </a:xfrm>
          <a:prstGeom prst="roundRect">
            <a:avLst>
              <a:gd name="adj" fmla="val 15789"/>
            </a:avLst>
          </a:prstGeom>
          <a:solidFill>
            <a:schemeClr val="accent3">
              <a:alpha val="20000"/>
            </a:schemeClr>
          </a:solidFill>
          <a:ln w="9525">
            <a:solidFill>
              <a:schemeClr val="accent1"/>
            </a:solidFill>
            <a:prstDash val="solid"/>
          </a:ln>
        </p:spPr>
        <p:txBody>
          <a:bodyPr/>
          <a:lstStyle/>
          <a:p>
            <a:endParaRPr lang="en-US"/>
          </a:p>
        </p:txBody>
      </p:sp>
      <p:sp>
        <p:nvSpPr>
          <p:cNvPr id="23" name="Text 19"/>
          <p:cNvSpPr txBox="1"/>
          <p:nvPr/>
        </p:nvSpPr>
        <p:spPr>
          <a:xfrm>
            <a:off x="2971800" y="3703320"/>
            <a:ext cx="914400" cy="347472"/>
          </a:xfrm>
          <a:prstGeom prst="rect">
            <a:avLst/>
          </a:prstGeom>
          <a:noFill/>
          <a:ln/>
        </p:spPr>
        <p:txBody>
          <a:bodyPr wrap="square" lIns="0" tIns="0" rIns="0" bIns="0" rtlCol="0" anchor="ctr"/>
          <a:lstStyle/>
          <a:p>
            <a:pPr marL="0" indent="0" algn="ctr">
              <a:buNone/>
            </a:pPr>
            <a:r>
              <a:rPr lang="en-US" sz="1000" dirty="0">
                <a:solidFill>
                  <a:schemeClr val="tx1"/>
                </a:solidFill>
                <a:latin typeface="Calibri" pitchFamily="34" charset="0"/>
                <a:ea typeface="Calibri" pitchFamily="34" charset="-122"/>
                <a:cs typeface="Calibri" pitchFamily="34" charset="-120"/>
              </a:rPr>
              <a:t>maintenance</a:t>
            </a:r>
            <a:endParaRPr lang="en-US" sz="1000" dirty="0"/>
          </a:p>
        </p:txBody>
      </p:sp>
      <p:sp>
        <p:nvSpPr>
          <p:cNvPr id="24" name="Text 20"/>
          <p:cNvSpPr txBox="1"/>
          <p:nvPr/>
        </p:nvSpPr>
        <p:spPr>
          <a:xfrm>
            <a:off x="960120" y="4114800"/>
            <a:ext cx="2926080" cy="274320"/>
          </a:xfrm>
          <a:prstGeom prst="rect">
            <a:avLst/>
          </a:prstGeom>
          <a:noFill/>
          <a:ln/>
        </p:spPr>
        <p:txBody>
          <a:bodyPr wrap="square" lIns="0" tIns="0" rIns="0" bIns="0" rtlCol="0" anchor="t"/>
          <a:lstStyle/>
          <a:p>
            <a:pPr marL="0" indent="0">
              <a:buNone/>
            </a:pPr>
            <a:r>
              <a:rPr lang="en-US" sz="1000" i="1" dirty="0">
                <a:solidFill>
                  <a:schemeClr val="tx2"/>
                </a:solidFill>
                <a:latin typeface="Calibri" pitchFamily="34" charset="0"/>
                <a:ea typeface="Calibri" pitchFamily="34" charset="-122"/>
                <a:cs typeface="Calibri" pitchFamily="34" charset="-120"/>
              </a:rPr>
              <a:t>advisory locks held</a:t>
            </a:r>
            <a:endParaRPr lang="en-US" sz="1000" dirty="0"/>
          </a:p>
        </p:txBody>
      </p:sp>
      <p:sp>
        <p:nvSpPr>
          <p:cNvPr id="27" name="Shape 23"/>
          <p:cNvSpPr/>
          <p:nvPr/>
        </p:nvSpPr>
        <p:spPr>
          <a:xfrm>
            <a:off x="4526280" y="2468880"/>
            <a:ext cx="3200400" cy="2103120"/>
          </a:xfrm>
          <a:prstGeom prst="roundRect">
            <a:avLst>
              <a:gd name="adj" fmla="val 2609"/>
            </a:avLst>
          </a:prstGeom>
          <a:solidFill>
            <a:schemeClr val="bg1"/>
          </a:solidFill>
          <a:ln/>
        </p:spPr>
        <p:txBody>
          <a:bodyPr/>
          <a:lstStyle/>
          <a:p>
            <a:endParaRPr lang="en-US"/>
          </a:p>
        </p:txBody>
      </p:sp>
      <p:sp>
        <p:nvSpPr>
          <p:cNvPr id="28" name="Shape 24"/>
          <p:cNvSpPr/>
          <p:nvPr/>
        </p:nvSpPr>
        <p:spPr>
          <a:xfrm>
            <a:off x="4526280" y="2468880"/>
            <a:ext cx="3200400" cy="2103120"/>
          </a:xfrm>
          <a:prstGeom prst="roundRect">
            <a:avLst>
              <a:gd name="adj" fmla="val 2609"/>
            </a:avLst>
          </a:prstGeom>
          <a:solidFill>
            <a:schemeClr val="accent1">
              <a:alpha val="12000"/>
            </a:schemeClr>
          </a:solidFill>
          <a:ln w="15875">
            <a:solidFill>
              <a:schemeClr val="accent1"/>
            </a:solidFill>
            <a:prstDash val="solid"/>
          </a:ln>
        </p:spPr>
        <p:txBody>
          <a:bodyPr/>
          <a:lstStyle/>
          <a:p>
            <a:endParaRPr lang="en-US"/>
          </a:p>
        </p:txBody>
      </p:sp>
      <p:sp>
        <p:nvSpPr>
          <p:cNvPr id="29" name="Shape 25"/>
          <p:cNvSpPr/>
          <p:nvPr/>
        </p:nvSpPr>
        <p:spPr>
          <a:xfrm>
            <a:off x="4663440" y="2606040"/>
            <a:ext cx="411480" cy="411480"/>
          </a:xfrm>
          <a:prstGeom prst="ellipse">
            <a:avLst/>
          </a:prstGeom>
          <a:solidFill>
            <a:schemeClr val="tx2">
              <a:lumMod val="25000"/>
              <a:lumOff val="75000"/>
            </a:schemeClr>
          </a:solidFill>
          <a:ln/>
        </p:spPr>
        <p:txBody>
          <a:bodyPr/>
          <a:lstStyle/>
          <a:p>
            <a:endParaRPr lang="en-US"/>
          </a:p>
        </p:txBody>
      </p:sp>
      <p:pic>
        <p:nvPicPr>
          <p:cNvPr id="30" name="Image 1" descr="preencoded.png"/>
          <p:cNvPicPr>
            <a:picLocks noChangeAspect="1"/>
          </p:cNvPicPr>
          <p:nvPr/>
        </p:nvPicPr>
        <p:blipFill>
          <a:blip r:embed="rId3"/>
          <a:stretch>
            <a:fillRect/>
          </a:stretch>
        </p:blipFill>
        <p:spPr>
          <a:xfrm>
            <a:off x="4766310" y="2708910"/>
            <a:ext cx="205740" cy="205740"/>
          </a:xfrm>
          <a:prstGeom prst="rect">
            <a:avLst/>
          </a:prstGeom>
        </p:spPr>
      </p:pic>
      <p:sp>
        <p:nvSpPr>
          <p:cNvPr id="31" name="Text 26"/>
          <p:cNvSpPr txBox="1"/>
          <p:nvPr/>
        </p:nvSpPr>
        <p:spPr>
          <a:xfrm>
            <a:off x="5166360" y="2606040"/>
            <a:ext cx="2377440" cy="41148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Node B</a:t>
            </a:r>
            <a:endParaRPr lang="en-US" sz="1500" dirty="0"/>
          </a:p>
        </p:txBody>
      </p:sp>
      <p:sp>
        <p:nvSpPr>
          <p:cNvPr id="32" name="Text 27"/>
          <p:cNvSpPr txBox="1"/>
          <p:nvPr/>
        </p:nvSpPr>
        <p:spPr>
          <a:xfrm>
            <a:off x="4663440" y="3108960"/>
            <a:ext cx="2926080" cy="45720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HTTP · domain services · queue watcher (1 s)</a:t>
            </a:r>
            <a:endParaRPr lang="en-US" sz="1100" dirty="0"/>
          </a:p>
        </p:txBody>
      </p:sp>
      <p:sp>
        <p:nvSpPr>
          <p:cNvPr id="33" name="Shape 28"/>
          <p:cNvSpPr/>
          <p:nvPr/>
        </p:nvSpPr>
        <p:spPr>
          <a:xfrm>
            <a:off x="4663440" y="3703320"/>
            <a:ext cx="914400" cy="347472"/>
          </a:xfrm>
          <a:prstGeom prst="roundRect">
            <a:avLst>
              <a:gd name="adj" fmla="val 15789"/>
            </a:avLst>
          </a:prstGeom>
          <a:solidFill>
            <a:schemeClr val="bg1"/>
          </a:solidFill>
          <a:ln w="9525">
            <a:solidFill>
              <a:schemeClr val="accent1"/>
            </a:solidFill>
            <a:prstDash val="solid"/>
          </a:ln>
        </p:spPr>
        <p:txBody>
          <a:bodyPr/>
          <a:lstStyle/>
          <a:p>
            <a:endParaRPr lang="en-US"/>
          </a:p>
        </p:txBody>
      </p:sp>
      <p:sp>
        <p:nvSpPr>
          <p:cNvPr id="34" name="Text 29"/>
          <p:cNvSpPr txBox="1"/>
          <p:nvPr/>
        </p:nvSpPr>
        <p:spPr>
          <a:xfrm>
            <a:off x="4663440" y="3703320"/>
            <a:ext cx="914400" cy="347472"/>
          </a:xfrm>
          <a:prstGeom prst="rect">
            <a:avLst/>
          </a:prstGeom>
          <a:noFill/>
          <a:ln/>
        </p:spPr>
        <p:txBody>
          <a:bodyPr wrap="square" lIns="0" tIns="0" rIns="0" bIns="0" rtlCol="0" anchor="ctr"/>
          <a:lstStyle/>
          <a:p>
            <a:pPr marL="0" indent="0" algn="ctr">
              <a:buNone/>
            </a:pPr>
            <a:r>
              <a:rPr lang="en-US" sz="1000" dirty="0">
                <a:solidFill>
                  <a:schemeClr val="tx1"/>
                </a:solidFill>
                <a:latin typeface="Calibri" pitchFamily="34" charset="0"/>
                <a:ea typeface="Calibri" pitchFamily="34" charset="-122"/>
                <a:cs typeface="Calibri" pitchFamily="34" charset="-120"/>
              </a:rPr>
              <a:t>shard 2</a:t>
            </a:r>
            <a:endParaRPr lang="en-US" sz="1000" dirty="0"/>
          </a:p>
        </p:txBody>
      </p:sp>
      <p:sp>
        <p:nvSpPr>
          <p:cNvPr id="35" name="Shape 30"/>
          <p:cNvSpPr/>
          <p:nvPr/>
        </p:nvSpPr>
        <p:spPr>
          <a:xfrm>
            <a:off x="5669280" y="3703320"/>
            <a:ext cx="914400" cy="347472"/>
          </a:xfrm>
          <a:prstGeom prst="roundRect">
            <a:avLst>
              <a:gd name="adj" fmla="val 15789"/>
            </a:avLst>
          </a:prstGeom>
          <a:solidFill>
            <a:schemeClr val="bg1"/>
          </a:solidFill>
          <a:ln w="9525">
            <a:solidFill>
              <a:schemeClr val="accent1"/>
            </a:solidFill>
            <a:prstDash val="solid"/>
          </a:ln>
        </p:spPr>
        <p:txBody>
          <a:bodyPr/>
          <a:lstStyle/>
          <a:p>
            <a:endParaRPr lang="en-US"/>
          </a:p>
        </p:txBody>
      </p:sp>
      <p:sp>
        <p:nvSpPr>
          <p:cNvPr id="36" name="Text 31"/>
          <p:cNvSpPr txBox="1"/>
          <p:nvPr/>
        </p:nvSpPr>
        <p:spPr>
          <a:xfrm>
            <a:off x="5669280" y="3703320"/>
            <a:ext cx="914400" cy="347472"/>
          </a:xfrm>
          <a:prstGeom prst="rect">
            <a:avLst/>
          </a:prstGeom>
          <a:noFill/>
          <a:ln/>
        </p:spPr>
        <p:txBody>
          <a:bodyPr wrap="square" lIns="0" tIns="0" rIns="0" bIns="0" rtlCol="0" anchor="ctr"/>
          <a:lstStyle/>
          <a:p>
            <a:pPr marL="0" indent="0" algn="ctr">
              <a:buNone/>
            </a:pPr>
            <a:r>
              <a:rPr lang="en-US" sz="1000" dirty="0">
                <a:solidFill>
                  <a:schemeClr val="tx1"/>
                </a:solidFill>
                <a:latin typeface="Calibri" pitchFamily="34" charset="0"/>
                <a:ea typeface="Calibri" pitchFamily="34" charset="-122"/>
                <a:cs typeface="Calibri" pitchFamily="34" charset="-120"/>
              </a:rPr>
              <a:t>shard 3</a:t>
            </a:r>
            <a:endParaRPr lang="en-US" sz="1000" dirty="0"/>
          </a:p>
        </p:txBody>
      </p:sp>
      <p:sp>
        <p:nvSpPr>
          <p:cNvPr id="37" name="Text 32"/>
          <p:cNvSpPr txBox="1"/>
          <p:nvPr/>
        </p:nvSpPr>
        <p:spPr>
          <a:xfrm>
            <a:off x="4663440" y="4114800"/>
            <a:ext cx="2926080" cy="274320"/>
          </a:xfrm>
          <a:prstGeom prst="rect">
            <a:avLst/>
          </a:prstGeom>
          <a:noFill/>
          <a:ln/>
        </p:spPr>
        <p:txBody>
          <a:bodyPr wrap="square" lIns="0" tIns="0" rIns="0" bIns="0" rtlCol="0" anchor="t"/>
          <a:lstStyle/>
          <a:p>
            <a:pPr marL="0" indent="0">
              <a:buNone/>
            </a:pPr>
            <a:r>
              <a:rPr lang="en-US" sz="1000" i="1" dirty="0">
                <a:solidFill>
                  <a:schemeClr val="tx2"/>
                </a:solidFill>
                <a:latin typeface="Calibri" pitchFamily="34" charset="0"/>
                <a:ea typeface="Calibri" pitchFamily="34" charset="-122"/>
                <a:cs typeface="Calibri" pitchFamily="34" charset="-120"/>
              </a:rPr>
              <a:t>advisory locks held</a:t>
            </a:r>
            <a:endParaRPr lang="en-US" sz="1000" dirty="0"/>
          </a:p>
        </p:txBody>
      </p:sp>
      <p:sp>
        <p:nvSpPr>
          <p:cNvPr id="38" name="Shape 33"/>
          <p:cNvSpPr/>
          <p:nvPr/>
        </p:nvSpPr>
        <p:spPr>
          <a:xfrm>
            <a:off x="6080760" y="2029968"/>
            <a:ext cx="0" cy="438912"/>
          </a:xfrm>
          <a:prstGeom prst="line">
            <a:avLst/>
          </a:prstGeom>
          <a:noFill/>
          <a:ln w="15875">
            <a:solidFill>
              <a:schemeClr val="tx2"/>
            </a:solidFill>
            <a:prstDash val="solid"/>
            <a:headEnd type="none"/>
            <a:tailEnd type="triangle"/>
          </a:ln>
        </p:spPr>
        <p:txBody>
          <a:bodyPr/>
          <a:lstStyle/>
          <a:p>
            <a:endParaRPr lang="en-US"/>
          </a:p>
        </p:txBody>
      </p:sp>
      <p:sp>
        <p:nvSpPr>
          <p:cNvPr id="39" name="Shape 34"/>
          <p:cNvSpPr/>
          <p:nvPr/>
        </p:nvSpPr>
        <p:spPr>
          <a:xfrm flipH="1">
            <a:off x="6080760" y="4572000"/>
            <a:ext cx="0" cy="457200"/>
          </a:xfrm>
          <a:prstGeom prst="line">
            <a:avLst/>
          </a:prstGeom>
          <a:noFill/>
          <a:ln w="12700">
            <a:solidFill>
              <a:schemeClr val="accent2"/>
            </a:solidFill>
            <a:prstDash val="solid"/>
            <a:headEnd type="none"/>
            <a:tailEnd type="triangle"/>
          </a:ln>
        </p:spPr>
        <p:txBody>
          <a:bodyPr/>
          <a:lstStyle/>
          <a:p>
            <a:endParaRPr lang="en-US"/>
          </a:p>
        </p:txBody>
      </p:sp>
      <p:sp>
        <p:nvSpPr>
          <p:cNvPr id="40" name="Shape 35"/>
          <p:cNvSpPr/>
          <p:nvPr/>
        </p:nvSpPr>
        <p:spPr>
          <a:xfrm>
            <a:off x="8229600" y="2468880"/>
            <a:ext cx="3200400" cy="2103120"/>
          </a:xfrm>
          <a:prstGeom prst="roundRect">
            <a:avLst>
              <a:gd name="adj" fmla="val 2609"/>
            </a:avLst>
          </a:prstGeom>
          <a:solidFill>
            <a:schemeClr val="bg1"/>
          </a:solidFill>
          <a:ln/>
        </p:spPr>
        <p:txBody>
          <a:bodyPr/>
          <a:lstStyle/>
          <a:p>
            <a:endParaRPr lang="en-US"/>
          </a:p>
        </p:txBody>
      </p:sp>
      <p:sp>
        <p:nvSpPr>
          <p:cNvPr id="41" name="Shape 36"/>
          <p:cNvSpPr/>
          <p:nvPr/>
        </p:nvSpPr>
        <p:spPr>
          <a:xfrm>
            <a:off x="8229600" y="2468880"/>
            <a:ext cx="3200400" cy="2103120"/>
          </a:xfrm>
          <a:prstGeom prst="roundRect">
            <a:avLst>
              <a:gd name="adj" fmla="val 2609"/>
            </a:avLst>
          </a:prstGeom>
          <a:solidFill>
            <a:schemeClr val="accent1">
              <a:alpha val="12000"/>
            </a:schemeClr>
          </a:solidFill>
          <a:ln w="15875">
            <a:solidFill>
              <a:schemeClr val="accent1"/>
            </a:solidFill>
            <a:prstDash val="solid"/>
          </a:ln>
        </p:spPr>
        <p:txBody>
          <a:bodyPr/>
          <a:lstStyle/>
          <a:p>
            <a:endParaRPr lang="en-US"/>
          </a:p>
        </p:txBody>
      </p:sp>
      <p:sp>
        <p:nvSpPr>
          <p:cNvPr id="42" name="Shape 37"/>
          <p:cNvSpPr/>
          <p:nvPr/>
        </p:nvSpPr>
        <p:spPr>
          <a:xfrm>
            <a:off x="8366760" y="2606040"/>
            <a:ext cx="411480" cy="411480"/>
          </a:xfrm>
          <a:prstGeom prst="ellipse">
            <a:avLst/>
          </a:prstGeom>
          <a:solidFill>
            <a:schemeClr val="tx2">
              <a:lumMod val="25000"/>
              <a:lumOff val="75000"/>
            </a:schemeClr>
          </a:solidFill>
          <a:ln/>
        </p:spPr>
        <p:txBody>
          <a:bodyPr/>
          <a:lstStyle/>
          <a:p>
            <a:endParaRPr lang="en-US"/>
          </a:p>
        </p:txBody>
      </p:sp>
      <p:pic>
        <p:nvPicPr>
          <p:cNvPr id="43" name="Image 2" descr="preencoded.png"/>
          <p:cNvPicPr>
            <a:picLocks noChangeAspect="1"/>
          </p:cNvPicPr>
          <p:nvPr/>
        </p:nvPicPr>
        <p:blipFill>
          <a:blip r:embed="rId3"/>
          <a:stretch>
            <a:fillRect/>
          </a:stretch>
        </p:blipFill>
        <p:spPr>
          <a:xfrm>
            <a:off x="8469630" y="2708910"/>
            <a:ext cx="205740" cy="205740"/>
          </a:xfrm>
          <a:prstGeom prst="rect">
            <a:avLst/>
          </a:prstGeom>
        </p:spPr>
      </p:pic>
      <p:sp>
        <p:nvSpPr>
          <p:cNvPr id="44" name="Text 38"/>
          <p:cNvSpPr txBox="1"/>
          <p:nvPr/>
        </p:nvSpPr>
        <p:spPr>
          <a:xfrm>
            <a:off x="8869680" y="2606040"/>
            <a:ext cx="2377440" cy="41148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Node C</a:t>
            </a:r>
            <a:endParaRPr lang="en-US" sz="1500" dirty="0"/>
          </a:p>
        </p:txBody>
      </p:sp>
      <p:sp>
        <p:nvSpPr>
          <p:cNvPr id="45" name="Text 39"/>
          <p:cNvSpPr txBox="1"/>
          <p:nvPr/>
        </p:nvSpPr>
        <p:spPr>
          <a:xfrm>
            <a:off x="8366760" y="3108960"/>
            <a:ext cx="2926080" cy="457200"/>
          </a:xfrm>
          <a:prstGeom prst="rect">
            <a:avLst/>
          </a:prstGeom>
          <a:noFill/>
          <a:ln/>
        </p:spPr>
        <p:txBody>
          <a:bodyPr wrap="square" lIns="0" tIns="0" rIns="0" bIns="0" rtlCol="0" anchor="t"/>
          <a:lstStyle/>
          <a:p>
            <a:pPr marL="0" indent="0">
              <a:buNone/>
            </a:pPr>
            <a:r>
              <a:rPr lang="en-US" sz="1100" dirty="0">
                <a:solidFill>
                  <a:schemeClr val="tx2"/>
                </a:solidFill>
                <a:latin typeface="Calibri" pitchFamily="34" charset="0"/>
                <a:ea typeface="Calibri" pitchFamily="34" charset="-122"/>
                <a:cs typeface="Calibri" pitchFamily="34" charset="-120"/>
              </a:rPr>
              <a:t>HTTP · domain services · queue watcher (1 s)</a:t>
            </a:r>
            <a:endParaRPr lang="en-US" sz="1100" dirty="0"/>
          </a:p>
        </p:txBody>
      </p:sp>
      <p:sp>
        <p:nvSpPr>
          <p:cNvPr id="46" name="Shape 40"/>
          <p:cNvSpPr/>
          <p:nvPr/>
        </p:nvSpPr>
        <p:spPr>
          <a:xfrm>
            <a:off x="8366760" y="3703320"/>
            <a:ext cx="914400" cy="347472"/>
          </a:xfrm>
          <a:prstGeom prst="roundRect">
            <a:avLst>
              <a:gd name="adj" fmla="val 15789"/>
            </a:avLst>
          </a:prstGeom>
          <a:solidFill>
            <a:schemeClr val="bg1"/>
          </a:solidFill>
          <a:ln w="9525">
            <a:solidFill>
              <a:schemeClr val="accent1"/>
            </a:solidFill>
            <a:prstDash val="solid"/>
          </a:ln>
        </p:spPr>
        <p:txBody>
          <a:bodyPr/>
          <a:lstStyle/>
          <a:p>
            <a:endParaRPr lang="en-US"/>
          </a:p>
        </p:txBody>
      </p:sp>
      <p:sp>
        <p:nvSpPr>
          <p:cNvPr id="47" name="Text 41"/>
          <p:cNvSpPr txBox="1"/>
          <p:nvPr/>
        </p:nvSpPr>
        <p:spPr>
          <a:xfrm>
            <a:off x="8366760" y="3703320"/>
            <a:ext cx="914400" cy="347472"/>
          </a:xfrm>
          <a:prstGeom prst="rect">
            <a:avLst/>
          </a:prstGeom>
          <a:noFill/>
          <a:ln/>
        </p:spPr>
        <p:txBody>
          <a:bodyPr wrap="square" lIns="0" tIns="0" rIns="0" bIns="0" rtlCol="0" anchor="ctr"/>
          <a:lstStyle/>
          <a:p>
            <a:pPr marL="0" indent="0" algn="ctr">
              <a:buNone/>
            </a:pPr>
            <a:r>
              <a:rPr lang="en-US" sz="1000" dirty="0">
                <a:solidFill>
                  <a:schemeClr val="tx1"/>
                </a:solidFill>
                <a:latin typeface="Calibri" pitchFamily="34" charset="0"/>
                <a:ea typeface="Calibri" pitchFamily="34" charset="-122"/>
                <a:cs typeface="Calibri" pitchFamily="34" charset="-120"/>
              </a:rPr>
              <a:t>shard 4</a:t>
            </a:r>
            <a:endParaRPr lang="en-US" sz="1000" dirty="0"/>
          </a:p>
        </p:txBody>
      </p:sp>
      <p:sp>
        <p:nvSpPr>
          <p:cNvPr id="48" name="Shape 42"/>
          <p:cNvSpPr/>
          <p:nvPr/>
        </p:nvSpPr>
        <p:spPr>
          <a:xfrm>
            <a:off x="9372600" y="3703320"/>
            <a:ext cx="914400" cy="347472"/>
          </a:xfrm>
          <a:prstGeom prst="roundRect">
            <a:avLst>
              <a:gd name="adj" fmla="val 15789"/>
            </a:avLst>
          </a:prstGeom>
          <a:solidFill>
            <a:schemeClr val="bg1"/>
          </a:solidFill>
          <a:ln w="9525">
            <a:solidFill>
              <a:schemeClr val="accent1"/>
            </a:solidFill>
            <a:prstDash val="solid"/>
          </a:ln>
        </p:spPr>
        <p:txBody>
          <a:bodyPr/>
          <a:lstStyle/>
          <a:p>
            <a:endParaRPr lang="en-US"/>
          </a:p>
        </p:txBody>
      </p:sp>
      <p:sp>
        <p:nvSpPr>
          <p:cNvPr id="49" name="Text 43"/>
          <p:cNvSpPr txBox="1"/>
          <p:nvPr/>
        </p:nvSpPr>
        <p:spPr>
          <a:xfrm>
            <a:off x="9372600" y="3703320"/>
            <a:ext cx="914400" cy="347472"/>
          </a:xfrm>
          <a:prstGeom prst="rect">
            <a:avLst/>
          </a:prstGeom>
          <a:noFill/>
          <a:ln/>
        </p:spPr>
        <p:txBody>
          <a:bodyPr wrap="square" lIns="0" tIns="0" rIns="0" bIns="0" rtlCol="0" anchor="ctr"/>
          <a:lstStyle/>
          <a:p>
            <a:pPr marL="0" indent="0" algn="ctr">
              <a:buNone/>
            </a:pPr>
            <a:r>
              <a:rPr lang="en-US" sz="1000" dirty="0">
                <a:solidFill>
                  <a:schemeClr val="tx1"/>
                </a:solidFill>
                <a:latin typeface="Calibri" pitchFamily="34" charset="0"/>
                <a:ea typeface="Calibri" pitchFamily="34" charset="-122"/>
                <a:cs typeface="Calibri" pitchFamily="34" charset="-120"/>
              </a:rPr>
              <a:t>shard 5</a:t>
            </a:r>
            <a:endParaRPr lang="en-US" sz="1000" dirty="0"/>
          </a:p>
        </p:txBody>
      </p:sp>
      <p:sp>
        <p:nvSpPr>
          <p:cNvPr id="50" name="Text 44"/>
          <p:cNvSpPr txBox="1"/>
          <p:nvPr/>
        </p:nvSpPr>
        <p:spPr>
          <a:xfrm>
            <a:off x="8366760" y="4114800"/>
            <a:ext cx="2926080" cy="274320"/>
          </a:xfrm>
          <a:prstGeom prst="rect">
            <a:avLst/>
          </a:prstGeom>
          <a:noFill/>
          <a:ln/>
        </p:spPr>
        <p:txBody>
          <a:bodyPr wrap="square" lIns="0" tIns="0" rIns="0" bIns="0" rtlCol="0" anchor="t"/>
          <a:lstStyle/>
          <a:p>
            <a:pPr marL="0" indent="0">
              <a:buNone/>
            </a:pPr>
            <a:r>
              <a:rPr lang="en-US" sz="1000" i="1" dirty="0">
                <a:solidFill>
                  <a:schemeClr val="tx2"/>
                </a:solidFill>
                <a:latin typeface="Calibri" pitchFamily="34" charset="0"/>
                <a:ea typeface="Calibri" pitchFamily="34" charset="-122"/>
                <a:cs typeface="Calibri" pitchFamily="34" charset="-120"/>
              </a:rPr>
              <a:t>advisory locks held</a:t>
            </a:r>
            <a:endParaRPr lang="en-US" sz="1000" dirty="0"/>
          </a:p>
        </p:txBody>
      </p:sp>
      <p:sp>
        <p:nvSpPr>
          <p:cNvPr id="53" name="Shape 47"/>
          <p:cNvSpPr/>
          <p:nvPr/>
        </p:nvSpPr>
        <p:spPr>
          <a:xfrm>
            <a:off x="4023360" y="5029200"/>
            <a:ext cx="4114800" cy="1188720"/>
          </a:xfrm>
          <a:prstGeom prst="can">
            <a:avLst/>
          </a:prstGeom>
          <a:solidFill>
            <a:schemeClr val="accent2"/>
          </a:solidFill>
          <a:ln w="15875">
            <a:solidFill>
              <a:schemeClr val="accent2"/>
            </a:solidFill>
            <a:prstDash val="solid"/>
          </a:ln>
        </p:spPr>
        <p:txBody>
          <a:bodyPr anchor="ctr"/>
          <a:lstStyle/>
          <a:p>
            <a:pPr algn="ctr"/>
            <a:r>
              <a:rPr lang="en-US" sz="1200" b="1" dirty="0">
                <a:solidFill>
                  <a:schemeClr val="bg1"/>
                </a:solidFill>
                <a:latin typeface="Calibri" panose="020F0502020204030204" pitchFamily="34" charset="0"/>
                <a:ea typeface="Calibri" pitchFamily="34" charset="-122"/>
                <a:cs typeface="Calibri" panose="020F0502020204030204" pitchFamily="34" charset="0"/>
              </a:rPr>
              <a:t>Shared operational DB</a:t>
            </a:r>
            <a:endParaRPr lang="en-US" sz="1200" dirty="0">
              <a:latin typeface="Calibri" panose="020F0502020204030204" pitchFamily="34" charset="0"/>
              <a:cs typeface="Calibri" panose="020F0502020204030204" pitchFamily="34" charset="0"/>
            </a:endParaRPr>
          </a:p>
          <a:p>
            <a:pPr algn="ctr"/>
            <a:r>
              <a:rPr lang="en-US" sz="1000" dirty="0">
                <a:solidFill>
                  <a:schemeClr val="bg1"/>
                </a:solidFill>
                <a:latin typeface="Calibri" panose="020F0502020204030204" pitchFamily="34" charset="0"/>
                <a:ea typeface="Calibri" pitchFamily="34" charset="-122"/>
                <a:cs typeface="Calibri" panose="020F0502020204030204" pitchFamily="34" charset="0"/>
              </a:rPr>
              <a:t>PostgreSQL recommended · locks </a:t>
            </a:r>
            <a:r>
              <a:rPr lang="en-US" sz="1000" dirty="0" err="1">
                <a:solidFill>
                  <a:schemeClr val="bg1"/>
                </a:solidFill>
                <a:latin typeface="Calibri" panose="020F0502020204030204" pitchFamily="34" charset="0"/>
                <a:ea typeface="Calibri" pitchFamily="34" charset="-122"/>
                <a:cs typeface="Calibri" panose="020F0502020204030204" pitchFamily="34" charset="0"/>
              </a:rPr>
              <a:t>te</a:t>
            </a:r>
            <a:r>
              <a:rPr lang="en-US" sz="1000" dirty="0">
                <a:solidFill>
                  <a:schemeClr val="bg1"/>
                </a:solidFill>
                <a:latin typeface="Calibri" panose="020F0502020204030204" pitchFamily="34" charset="0"/>
                <a:ea typeface="Calibri" pitchFamily="34" charset="-122"/>
                <a:cs typeface="Calibri" panose="020F0502020204030204" pitchFamily="34" charset="0"/>
              </a:rPr>
              <a:t>-</a:t>
            </a:r>
            <a:r>
              <a:rPr lang="en-US" sz="1000" dirty="0" err="1">
                <a:solidFill>
                  <a:schemeClr val="bg1"/>
                </a:solidFill>
                <a:latin typeface="Calibri" panose="020F0502020204030204" pitchFamily="34" charset="0"/>
                <a:ea typeface="Calibri" pitchFamily="34" charset="-122"/>
                <a:cs typeface="Calibri" panose="020F0502020204030204" pitchFamily="34" charset="0"/>
              </a:rPr>
              <a:t>bg</a:t>
            </a:r>
            <a:r>
              <a:rPr lang="en-US" sz="1000" dirty="0">
                <a:solidFill>
                  <a:schemeClr val="bg1"/>
                </a:solidFill>
                <a:latin typeface="Calibri" panose="020F0502020204030204" pitchFamily="34" charset="0"/>
                <a:ea typeface="Calibri" pitchFamily="34" charset="-122"/>
                <a:cs typeface="Calibri" panose="020F0502020204030204" pitchFamily="34" charset="0"/>
              </a:rPr>
              <a:t>-shard-{</a:t>
            </a:r>
            <a:r>
              <a:rPr lang="en-US" sz="1000" dirty="0" err="1">
                <a:solidFill>
                  <a:schemeClr val="bg1"/>
                </a:solidFill>
                <a:latin typeface="Calibri" panose="020F0502020204030204" pitchFamily="34" charset="0"/>
                <a:ea typeface="Calibri" pitchFamily="34" charset="-122"/>
                <a:cs typeface="Calibri" panose="020F0502020204030204" pitchFamily="34" charset="0"/>
              </a:rPr>
              <a:t>i</a:t>
            </a:r>
            <a:r>
              <a:rPr lang="en-US" sz="1000" dirty="0">
                <a:solidFill>
                  <a:schemeClr val="bg1"/>
                </a:solidFill>
                <a:latin typeface="Calibri" panose="020F0502020204030204" pitchFamily="34" charset="0"/>
                <a:ea typeface="Calibri" pitchFamily="34" charset="-122"/>
                <a:cs typeface="Calibri" panose="020F0502020204030204" pitchFamily="34" charset="0"/>
              </a:rPr>
              <a:t>}, </a:t>
            </a:r>
            <a:r>
              <a:rPr lang="en-US" sz="1000" dirty="0" err="1">
                <a:solidFill>
                  <a:schemeClr val="bg1"/>
                </a:solidFill>
                <a:latin typeface="Calibri" panose="020F0502020204030204" pitchFamily="34" charset="0"/>
                <a:ea typeface="Calibri" pitchFamily="34" charset="-122"/>
                <a:cs typeface="Calibri" panose="020F0502020204030204" pitchFamily="34" charset="0"/>
              </a:rPr>
              <a:t>te</a:t>
            </a:r>
            <a:r>
              <a:rPr lang="en-US" sz="1000" dirty="0">
                <a:solidFill>
                  <a:schemeClr val="bg1"/>
                </a:solidFill>
                <a:latin typeface="Calibri" panose="020F0502020204030204" pitchFamily="34" charset="0"/>
                <a:ea typeface="Calibri" pitchFamily="34" charset="-122"/>
                <a:cs typeface="Calibri" panose="020F0502020204030204" pitchFamily="34" charset="0"/>
              </a:rPr>
              <a:t>-maintenance</a:t>
            </a:r>
            <a:endParaRPr lang="en-US" sz="1000" dirty="0">
              <a:latin typeface="Calibri" panose="020F0502020204030204" pitchFamily="34" charset="0"/>
              <a:cs typeface="Calibri" panose="020F0502020204030204" pitchFamily="34" charset="0"/>
            </a:endParaRPr>
          </a:p>
        </p:txBody>
      </p:sp>
      <p:sp>
        <p:nvSpPr>
          <p:cNvPr id="55" name="Shape 49"/>
          <p:cNvSpPr/>
          <p:nvPr/>
        </p:nvSpPr>
        <p:spPr>
          <a:xfrm>
            <a:off x="457200" y="4937760"/>
            <a:ext cx="3291840" cy="1280160"/>
          </a:xfrm>
          <a:prstGeom prst="roundRect">
            <a:avLst>
              <a:gd name="adj" fmla="val 4286"/>
            </a:avLst>
          </a:prstGeom>
          <a:solidFill>
            <a:schemeClr val="bg1"/>
          </a:solidFill>
          <a:ln/>
        </p:spPr>
        <p:txBody>
          <a:bodyPr/>
          <a:lstStyle/>
          <a:p>
            <a:endParaRPr lang="en-US"/>
          </a:p>
        </p:txBody>
      </p:sp>
      <p:sp>
        <p:nvSpPr>
          <p:cNvPr id="56" name="Shape 50"/>
          <p:cNvSpPr/>
          <p:nvPr/>
        </p:nvSpPr>
        <p:spPr>
          <a:xfrm>
            <a:off x="457200" y="4937760"/>
            <a:ext cx="3291840" cy="1280160"/>
          </a:xfrm>
          <a:prstGeom prst="roundRect">
            <a:avLst>
              <a:gd name="adj" fmla="val 4286"/>
            </a:avLst>
          </a:prstGeom>
          <a:solidFill>
            <a:schemeClr val="bg2"/>
          </a:solidFill>
          <a:ln/>
        </p:spPr>
        <p:txBody>
          <a:bodyPr/>
          <a:lstStyle/>
          <a:p>
            <a:endParaRPr lang="en-US"/>
          </a:p>
        </p:txBody>
      </p:sp>
      <p:sp>
        <p:nvSpPr>
          <p:cNvPr id="57" name="Text 51"/>
          <p:cNvSpPr txBox="1"/>
          <p:nvPr/>
        </p:nvSpPr>
        <p:spPr>
          <a:xfrm>
            <a:off x="594360" y="4983480"/>
            <a:ext cx="3017520" cy="1188720"/>
          </a:xfrm>
          <a:prstGeom prst="rect">
            <a:avLst/>
          </a:prstGeom>
          <a:noFill/>
          <a:ln/>
        </p:spPr>
        <p:txBody>
          <a:bodyPr wrap="square" lIns="0" tIns="0" rIns="0" bIns="0" rtlCol="0" anchor="ctr"/>
          <a:lstStyle/>
          <a:p>
            <a:pPr marL="0" indent="0">
              <a:buNone/>
            </a:pPr>
            <a:r>
              <a:rPr lang="en-US" sz="1200" dirty="0">
                <a:solidFill>
                  <a:schemeClr val="tx1"/>
                </a:solidFill>
                <a:latin typeface="Calibri" pitchFamily="34" charset="0"/>
                <a:ea typeface="Calibri" pitchFamily="34" charset="-122"/>
                <a:cs typeface="Calibri" pitchFamily="34" charset="-120"/>
              </a:rPr>
              <a:t>Node dies → its locks release → survivors take its shards. Signals are only hints; the database is the truth.</a:t>
            </a:r>
            <a:endParaRPr lang="en-US" sz="1200" dirty="0"/>
          </a:p>
        </p:txBody>
      </p:sp>
      <p:sp>
        <p:nvSpPr>
          <p:cNvPr id="58" name="Shape 52"/>
          <p:cNvSpPr/>
          <p:nvPr/>
        </p:nvSpPr>
        <p:spPr>
          <a:xfrm>
            <a:off x="8412480" y="4937760"/>
            <a:ext cx="3319272" cy="1280160"/>
          </a:xfrm>
          <a:prstGeom prst="roundRect">
            <a:avLst>
              <a:gd name="adj" fmla="val 4286"/>
            </a:avLst>
          </a:prstGeom>
          <a:solidFill>
            <a:schemeClr val="bg1"/>
          </a:solidFill>
          <a:ln/>
        </p:spPr>
        <p:txBody>
          <a:bodyPr/>
          <a:lstStyle/>
          <a:p>
            <a:endParaRPr lang="en-US"/>
          </a:p>
        </p:txBody>
      </p:sp>
      <p:sp>
        <p:nvSpPr>
          <p:cNvPr id="59" name="Shape 53"/>
          <p:cNvSpPr/>
          <p:nvPr/>
        </p:nvSpPr>
        <p:spPr>
          <a:xfrm>
            <a:off x="8412480" y="4937760"/>
            <a:ext cx="3319272" cy="1280160"/>
          </a:xfrm>
          <a:prstGeom prst="roundRect">
            <a:avLst>
              <a:gd name="adj" fmla="val 4286"/>
            </a:avLst>
          </a:prstGeom>
          <a:solidFill>
            <a:schemeClr val="accent4">
              <a:alpha val="8000"/>
            </a:schemeClr>
          </a:solidFill>
          <a:ln/>
        </p:spPr>
        <p:txBody>
          <a:bodyPr/>
          <a:lstStyle/>
          <a:p>
            <a:endParaRPr lang="en-US"/>
          </a:p>
        </p:txBody>
      </p:sp>
      <p:sp>
        <p:nvSpPr>
          <p:cNvPr id="60" name="Text 54"/>
          <p:cNvSpPr txBox="1"/>
          <p:nvPr/>
        </p:nvSpPr>
        <p:spPr>
          <a:xfrm>
            <a:off x="8549640" y="4983480"/>
            <a:ext cx="3063240" cy="1188720"/>
          </a:xfrm>
          <a:prstGeom prst="rect">
            <a:avLst/>
          </a:prstGeom>
          <a:noFill/>
          <a:ln/>
        </p:spPr>
        <p:txBody>
          <a:bodyPr wrap="square" lIns="0" tIns="0" rIns="0" bIns="0" rtlCol="0" anchor="ctr"/>
          <a:lstStyle/>
          <a:p>
            <a:pPr marL="0" indent="0">
              <a:buNone/>
            </a:pPr>
            <a:r>
              <a:rPr lang="en-US" sz="1200" b="1" dirty="0">
                <a:solidFill>
                  <a:schemeClr val="tx1"/>
                </a:solidFill>
                <a:latin typeface="Calibri" pitchFamily="34" charset="0"/>
                <a:ea typeface="Calibri" pitchFamily="34" charset="-122"/>
                <a:cs typeface="Calibri" pitchFamily="34" charset="-120"/>
              </a:rPr>
              <a:t>Considered: </a:t>
            </a:r>
            <a:r>
              <a:rPr lang="en-US" sz="1200" dirty="0">
                <a:solidFill>
                  <a:schemeClr val="tx1"/>
                </a:solidFill>
                <a:latin typeface="Calibri" pitchFamily="34" charset="0"/>
                <a:ea typeface="Calibri" pitchFamily="34" charset="-122"/>
                <a:cs typeface="Calibri" pitchFamily="34" charset="-120"/>
              </a:rPr>
              <a:t>one global leader for timers — a ceiling at 100K active tasks. </a:t>
            </a:r>
            <a:r>
              <a:rPr lang="en-US" sz="1200" b="1" dirty="0">
                <a:solidFill>
                  <a:schemeClr val="tx1"/>
                </a:solidFill>
                <a:latin typeface="Calibri" pitchFamily="34" charset="0"/>
                <a:ea typeface="Calibri" pitchFamily="34" charset="-122"/>
                <a:cs typeface="Calibri" pitchFamily="34" charset="-120"/>
              </a:rPr>
              <a:t>Chosen: </a:t>
            </a:r>
            <a:r>
              <a:rPr lang="en-US" sz="1200" dirty="0">
                <a:solidFill>
                  <a:schemeClr val="tx1"/>
                </a:solidFill>
                <a:latin typeface="Calibri" pitchFamily="34" charset="0"/>
                <a:ea typeface="Calibri" pitchFamily="34" charset="-122"/>
                <a:cs typeface="Calibri" pitchFamily="34" charset="-120"/>
              </a:rPr>
              <a:t>shards by hash(task_id) mod S, S ≥ nodes.</a:t>
            </a:r>
            <a:endParaRPr lang="en-US" sz="12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31</a:t>
            </a:fld>
            <a:endParaRPr lang="en-US"/>
          </a:p>
        </p:txBody>
      </p:sp>
      <p:sp>
        <p:nvSpPr>
          <p:cNvPr id="61" name="Rounded Rectangle 60">
            <a:extLst>
              <a:ext uri="{FF2B5EF4-FFF2-40B4-BE49-F238E27FC236}">
                <a16:creationId xmlns:a16="http://schemas.microsoft.com/office/drawing/2014/main" id="{DC83E8C7-DD56-3E8A-1D07-D836FA5D2B83}"/>
              </a:ext>
            </a:extLst>
          </p:cNvPr>
          <p:cNvSpPr/>
          <p:nvPr/>
        </p:nvSpPr>
        <p:spPr>
          <a:xfrm>
            <a:off x="10425701" y="9144"/>
            <a:ext cx="1766299" cy="32004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Toolkit pattern?</a:t>
            </a:r>
          </a:p>
        </p:txBody>
      </p:sp>
      <p:cxnSp>
        <p:nvCxnSpPr>
          <p:cNvPr id="63" name="Elbow Connector 62">
            <a:extLst>
              <a:ext uri="{FF2B5EF4-FFF2-40B4-BE49-F238E27FC236}">
                <a16:creationId xmlns:a16="http://schemas.microsoft.com/office/drawing/2014/main" id="{DE04AB56-3911-385F-7CDD-232589E5F1DB}"/>
              </a:ext>
            </a:extLst>
          </p:cNvPr>
          <p:cNvCxnSpPr>
            <a:stCxn id="41" idx="2"/>
            <a:endCxn id="53" idx="1"/>
          </p:cNvCxnSpPr>
          <p:nvPr/>
        </p:nvCxnSpPr>
        <p:spPr>
          <a:xfrm rot="5400000">
            <a:off x="7837200" y="3036600"/>
            <a:ext cx="457200" cy="3528000"/>
          </a:xfrm>
          <a:prstGeom prst="bentConnector3">
            <a:avLst/>
          </a:prstGeom>
          <a:ln w="12700">
            <a:solidFill>
              <a:srgbClr val="06758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63">
            <a:extLst>
              <a:ext uri="{FF2B5EF4-FFF2-40B4-BE49-F238E27FC236}">
                <a16:creationId xmlns:a16="http://schemas.microsoft.com/office/drawing/2014/main" id="{438618AD-DA2D-CC8F-3EB3-F8620C56697A}"/>
              </a:ext>
            </a:extLst>
          </p:cNvPr>
          <p:cNvCxnSpPr>
            <a:cxnSpLocks/>
          </p:cNvCxnSpPr>
          <p:nvPr/>
        </p:nvCxnSpPr>
        <p:spPr>
          <a:xfrm rot="16200000" flipH="1">
            <a:off x="3854196" y="3036600"/>
            <a:ext cx="457200" cy="3528000"/>
          </a:xfrm>
          <a:prstGeom prst="bentConnector3">
            <a:avLst/>
          </a:prstGeom>
          <a:ln w="12700">
            <a:solidFill>
              <a:srgbClr val="067582"/>
            </a:solidFill>
            <a:tailEnd type="triangle"/>
          </a:ln>
        </p:spPr>
        <p:style>
          <a:lnRef idx="1">
            <a:schemeClr val="accent1"/>
          </a:lnRef>
          <a:fillRef idx="0">
            <a:schemeClr val="accent1"/>
          </a:fillRef>
          <a:effectRef idx="0">
            <a:schemeClr val="accent1"/>
          </a:effectRef>
          <a:fontRef idx="minor">
            <a:schemeClr val="tx1"/>
          </a:fontRef>
        </p:style>
      </p:cxnSp>
      <p:cxnSp>
        <p:nvCxnSpPr>
          <p:cNvPr id="67" name="Elbow Connector 66">
            <a:extLst>
              <a:ext uri="{FF2B5EF4-FFF2-40B4-BE49-F238E27FC236}">
                <a16:creationId xmlns:a16="http://schemas.microsoft.com/office/drawing/2014/main" id="{BE36DC33-4045-31AE-70F5-11751F3BB6F5}"/>
              </a:ext>
            </a:extLst>
          </p:cNvPr>
          <p:cNvCxnSpPr/>
          <p:nvPr/>
        </p:nvCxnSpPr>
        <p:spPr>
          <a:xfrm rot="5400000">
            <a:off x="3867120" y="496854"/>
            <a:ext cx="457200" cy="3528000"/>
          </a:xfrm>
          <a:prstGeom prst="bentConnector3">
            <a:avLst/>
          </a:prstGeom>
          <a:ln w="12700">
            <a:solidFill>
              <a:srgbClr val="001F4D"/>
            </a:solidFill>
            <a:tailEnd type="triangle"/>
          </a:ln>
        </p:spPr>
        <p:style>
          <a:lnRef idx="1">
            <a:schemeClr val="accent1"/>
          </a:lnRef>
          <a:fillRef idx="0">
            <a:schemeClr val="accent1"/>
          </a:fillRef>
          <a:effectRef idx="0">
            <a:schemeClr val="accent1"/>
          </a:effectRef>
          <a:fontRef idx="minor">
            <a:schemeClr val="tx1"/>
          </a:fontRef>
        </p:style>
      </p:cxnSp>
      <p:cxnSp>
        <p:nvCxnSpPr>
          <p:cNvPr id="68" name="Elbow Connector 67">
            <a:extLst>
              <a:ext uri="{FF2B5EF4-FFF2-40B4-BE49-F238E27FC236}">
                <a16:creationId xmlns:a16="http://schemas.microsoft.com/office/drawing/2014/main" id="{61EEB280-10AB-163B-C88B-1795B7D266BF}"/>
              </a:ext>
            </a:extLst>
          </p:cNvPr>
          <p:cNvCxnSpPr>
            <a:cxnSpLocks/>
          </p:cNvCxnSpPr>
          <p:nvPr/>
        </p:nvCxnSpPr>
        <p:spPr>
          <a:xfrm rot="16200000" flipH="1">
            <a:off x="7844760" y="501334"/>
            <a:ext cx="457200" cy="3528000"/>
          </a:xfrm>
          <a:prstGeom prst="bentConnector3">
            <a:avLst/>
          </a:prstGeom>
          <a:ln w="12700">
            <a:solidFill>
              <a:srgbClr val="001F4D"/>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Back-pressure: 5,000 sockets ≠ 5,000 DB connections</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Three funnels per node shed load early and deterministically, with Retry-After</a:t>
            </a:r>
            <a:endParaRPr lang="en-US" sz="1600" dirty="0"/>
          </a:p>
        </p:txBody>
      </p:sp>
      <p:sp>
        <p:nvSpPr>
          <p:cNvPr id="5" name="Shape 2"/>
          <p:cNvSpPr/>
          <p:nvPr/>
        </p:nvSpPr>
        <p:spPr>
          <a:xfrm>
            <a:off x="1066648" y="1508760"/>
            <a:ext cx="10058400" cy="841248"/>
          </a:xfrm>
          <a:prstGeom prst="roundRect">
            <a:avLst>
              <a:gd name="adj" fmla="val 8696"/>
            </a:avLst>
          </a:prstGeom>
          <a:solidFill>
            <a:schemeClr val="tx2">
              <a:lumMod val="10000"/>
              <a:lumOff val="90000"/>
            </a:schemeClr>
          </a:solidFill>
          <a:ln/>
        </p:spPr>
        <p:txBody>
          <a:bodyPr/>
          <a:lstStyle/>
          <a:p>
            <a:endParaRPr lang="en-US"/>
          </a:p>
        </p:txBody>
      </p:sp>
      <p:sp>
        <p:nvSpPr>
          <p:cNvPr id="6" name="Text 3"/>
          <p:cNvSpPr txBox="1"/>
          <p:nvPr/>
        </p:nvSpPr>
        <p:spPr>
          <a:xfrm>
            <a:off x="1249528" y="1581912"/>
            <a:ext cx="9692640" cy="384048"/>
          </a:xfrm>
          <a:prstGeom prst="rect">
            <a:avLst/>
          </a:prstGeom>
          <a:noFill/>
          <a:ln/>
        </p:spPr>
        <p:txBody>
          <a:bodyPr wrap="square" lIns="0" tIns="0" rIns="0" bIns="0" rtlCol="0" anchor="t"/>
          <a:lstStyle/>
          <a:p>
            <a:pPr marL="0" indent="0" algn="ctr">
              <a:buNone/>
            </a:pPr>
            <a:r>
              <a:rPr lang="en-US" sz="1800" b="1" dirty="0">
                <a:solidFill>
                  <a:schemeClr val="tx2"/>
                </a:solidFill>
                <a:latin typeface="Calibri" pitchFamily="34" charset="0"/>
                <a:ea typeface="Calibri" pitchFamily="34" charset="-122"/>
                <a:cs typeface="Calibri" pitchFamily="34" charset="-120"/>
              </a:rPr>
              <a:t>5,000 client connections / node</a:t>
            </a:r>
            <a:endParaRPr lang="en-US" sz="1800" dirty="0">
              <a:solidFill>
                <a:schemeClr val="tx2"/>
              </a:solidFill>
            </a:endParaRPr>
          </a:p>
        </p:txBody>
      </p:sp>
      <p:sp>
        <p:nvSpPr>
          <p:cNvPr id="7" name="Text 4"/>
          <p:cNvSpPr txBox="1"/>
          <p:nvPr/>
        </p:nvSpPr>
        <p:spPr>
          <a:xfrm>
            <a:off x="1249528" y="1965960"/>
            <a:ext cx="9692640" cy="292608"/>
          </a:xfrm>
          <a:prstGeom prst="rect">
            <a:avLst/>
          </a:prstGeom>
          <a:noFill/>
          <a:ln/>
        </p:spPr>
        <p:txBody>
          <a:bodyPr wrap="square" lIns="0" tIns="0" rIns="0" bIns="0" rtlCol="0" anchor="t"/>
          <a:lstStyle/>
          <a:p>
            <a:pPr marL="0" indent="0" algn="ctr">
              <a:buNone/>
            </a:pPr>
            <a:r>
              <a:rPr lang="en-US" sz="1300" dirty="0">
                <a:solidFill>
                  <a:schemeClr val="tx2"/>
                </a:solidFill>
                <a:latin typeface="Calibri" pitchFamily="34" charset="0"/>
                <a:ea typeface="Calibri" pitchFamily="34" charset="-122"/>
                <a:cs typeface="Calibri" pitchFamily="34" charset="-120"/>
              </a:rPr>
              <a:t>mostly parked long-polls — no DB connection, no permit</a:t>
            </a:r>
            <a:endParaRPr lang="en-US" sz="1300" dirty="0">
              <a:solidFill>
                <a:schemeClr val="tx2"/>
              </a:solidFill>
            </a:endParaRPr>
          </a:p>
        </p:txBody>
      </p:sp>
      <p:sp>
        <p:nvSpPr>
          <p:cNvPr id="8" name="Shape 5"/>
          <p:cNvSpPr/>
          <p:nvPr/>
        </p:nvSpPr>
        <p:spPr>
          <a:xfrm>
            <a:off x="2438248" y="2496312"/>
            <a:ext cx="7315200" cy="841248"/>
          </a:xfrm>
          <a:prstGeom prst="roundRect">
            <a:avLst>
              <a:gd name="adj" fmla="val 8696"/>
            </a:avLst>
          </a:prstGeom>
          <a:solidFill>
            <a:schemeClr val="tx2">
              <a:lumMod val="25000"/>
              <a:lumOff val="75000"/>
              <a:alpha val="90000"/>
            </a:schemeClr>
          </a:solidFill>
          <a:ln/>
        </p:spPr>
        <p:txBody>
          <a:bodyPr/>
          <a:lstStyle/>
          <a:p>
            <a:endParaRPr lang="en-US"/>
          </a:p>
        </p:txBody>
      </p:sp>
      <p:sp>
        <p:nvSpPr>
          <p:cNvPr id="9" name="Text 6"/>
          <p:cNvSpPr txBox="1"/>
          <p:nvPr/>
        </p:nvSpPr>
        <p:spPr>
          <a:xfrm>
            <a:off x="2621128" y="2569464"/>
            <a:ext cx="6949440" cy="384048"/>
          </a:xfrm>
          <a:prstGeom prst="rect">
            <a:avLst/>
          </a:prstGeom>
          <a:noFill/>
          <a:ln/>
        </p:spPr>
        <p:txBody>
          <a:bodyPr wrap="square" lIns="0" tIns="0" rIns="0" bIns="0" rtlCol="0" anchor="t"/>
          <a:lstStyle/>
          <a:p>
            <a:pPr marL="0" indent="0" algn="ctr">
              <a:buNone/>
            </a:pPr>
            <a:r>
              <a:rPr lang="en-US" sz="1800" b="1" dirty="0">
                <a:solidFill>
                  <a:schemeClr val="tx1"/>
                </a:solidFill>
                <a:latin typeface="Calibri" pitchFamily="34" charset="0"/>
                <a:ea typeface="Calibri" pitchFamily="34" charset="-122"/>
                <a:cs typeface="Calibri" pitchFamily="34" charset="-120"/>
              </a:rPr>
              <a:t>512 admission permits / node</a:t>
            </a:r>
            <a:endParaRPr lang="en-US" sz="1800" dirty="0"/>
          </a:p>
        </p:txBody>
      </p:sp>
      <p:sp>
        <p:nvSpPr>
          <p:cNvPr id="10" name="Text 7"/>
          <p:cNvSpPr txBox="1"/>
          <p:nvPr/>
        </p:nvSpPr>
        <p:spPr>
          <a:xfrm>
            <a:off x="2621128" y="2953512"/>
            <a:ext cx="6949440" cy="292608"/>
          </a:xfrm>
          <a:prstGeom prst="rect">
            <a:avLst/>
          </a:prstGeom>
          <a:noFill/>
          <a:ln/>
        </p:spPr>
        <p:txBody>
          <a:bodyPr wrap="square" lIns="0" tIns="0" rIns="0" bIns="0" rtlCol="0" anchor="t"/>
          <a:lstStyle/>
          <a:p>
            <a:pPr marL="0" indent="0" algn="ctr">
              <a:buNone/>
            </a:pPr>
            <a:r>
              <a:rPr lang="en-US" sz="1300" dirty="0">
                <a:solidFill>
                  <a:schemeClr val="tx1"/>
                </a:solidFill>
                <a:latin typeface="Calibri" pitchFamily="34" charset="0"/>
                <a:ea typeface="Calibri" pitchFamily="34" charset="-122"/>
                <a:cs typeface="Calibri" pitchFamily="34" charset="-120"/>
              </a:rPr>
              <a:t>wait ≤ 100 ms, else 429 + Retry-After</a:t>
            </a:r>
            <a:endParaRPr lang="en-US" sz="1300" dirty="0"/>
          </a:p>
        </p:txBody>
      </p:sp>
      <p:sp>
        <p:nvSpPr>
          <p:cNvPr id="11" name="Shape 8"/>
          <p:cNvSpPr/>
          <p:nvPr/>
        </p:nvSpPr>
        <p:spPr>
          <a:xfrm>
            <a:off x="3809848" y="3483864"/>
            <a:ext cx="4572000" cy="841248"/>
          </a:xfrm>
          <a:prstGeom prst="roundRect">
            <a:avLst>
              <a:gd name="adj" fmla="val 8696"/>
            </a:avLst>
          </a:prstGeom>
          <a:solidFill>
            <a:schemeClr val="tx2">
              <a:lumMod val="50000"/>
              <a:lumOff val="50000"/>
            </a:schemeClr>
          </a:solidFill>
          <a:ln/>
        </p:spPr>
        <p:txBody>
          <a:bodyPr/>
          <a:lstStyle/>
          <a:p>
            <a:endParaRPr lang="en-US"/>
          </a:p>
        </p:txBody>
      </p:sp>
      <p:sp>
        <p:nvSpPr>
          <p:cNvPr id="12" name="Text 9"/>
          <p:cNvSpPr txBox="1"/>
          <p:nvPr/>
        </p:nvSpPr>
        <p:spPr>
          <a:xfrm>
            <a:off x="3992728" y="3557016"/>
            <a:ext cx="4206240" cy="384048"/>
          </a:xfrm>
          <a:prstGeom prst="rect">
            <a:avLst/>
          </a:prstGeom>
          <a:noFill/>
          <a:ln/>
        </p:spPr>
        <p:txBody>
          <a:bodyPr wrap="square" lIns="0" tIns="0" rIns="0" bIns="0" rtlCol="0" anchor="t"/>
          <a:lstStyle/>
          <a:p>
            <a:pPr marL="0" indent="0" algn="ctr">
              <a:buNone/>
            </a:pPr>
            <a:r>
              <a:rPr lang="en-US" sz="1800" b="1" dirty="0">
                <a:solidFill>
                  <a:schemeClr val="bg1"/>
                </a:solidFill>
                <a:latin typeface="Calibri" pitchFamily="34" charset="0"/>
                <a:ea typeface="Calibri" pitchFamily="34" charset="-122"/>
                <a:cs typeface="Calibri" pitchFamily="34" charset="-120"/>
              </a:rPr>
              <a:t>32 DB connections / domain</a:t>
            </a:r>
            <a:endParaRPr lang="en-US" sz="1800" dirty="0"/>
          </a:p>
        </p:txBody>
      </p:sp>
      <p:sp>
        <p:nvSpPr>
          <p:cNvPr id="13" name="Text 10"/>
          <p:cNvSpPr txBox="1"/>
          <p:nvPr/>
        </p:nvSpPr>
        <p:spPr>
          <a:xfrm>
            <a:off x="3992728" y="3941064"/>
            <a:ext cx="4206240" cy="292608"/>
          </a:xfrm>
          <a:prstGeom prst="rect">
            <a:avLst/>
          </a:prstGeom>
          <a:noFill/>
          <a:ln/>
        </p:spPr>
        <p:txBody>
          <a:bodyPr wrap="square" lIns="0" tIns="0" rIns="0" bIns="0" rtlCol="0" anchor="t"/>
          <a:lstStyle/>
          <a:p>
            <a:pPr marL="0" indent="0" algn="ctr">
              <a:buNone/>
            </a:pPr>
            <a:r>
              <a:rPr lang="en-US" sz="1300" dirty="0">
                <a:solidFill>
                  <a:schemeClr val="bg1"/>
                </a:solidFill>
                <a:latin typeface="Calibri" pitchFamily="34" charset="0"/>
                <a:ea typeface="Calibri" pitchFamily="34" charset="-122"/>
                <a:cs typeface="Calibri" pitchFamily="34" charset="-120"/>
              </a:rPr>
              <a:t>wait ≤ 250 ms, else 503</a:t>
            </a:r>
            <a:endParaRPr lang="en-US" sz="1300" dirty="0"/>
          </a:p>
        </p:txBody>
      </p:sp>
      <p:sp>
        <p:nvSpPr>
          <p:cNvPr id="14" name="Text 11"/>
          <p:cNvSpPr txBox="1"/>
          <p:nvPr/>
        </p:nvSpPr>
        <p:spPr>
          <a:xfrm>
            <a:off x="457200" y="4617720"/>
            <a:ext cx="5486400" cy="29260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Shedding order under pressure</a:t>
            </a:r>
            <a:endParaRPr lang="en-US" sz="1400" dirty="0"/>
          </a:p>
        </p:txBody>
      </p:sp>
      <p:sp>
        <p:nvSpPr>
          <p:cNvPr id="15" name="Shape 12"/>
          <p:cNvSpPr/>
          <p:nvPr/>
        </p:nvSpPr>
        <p:spPr>
          <a:xfrm>
            <a:off x="457200" y="5029200"/>
            <a:ext cx="3520440" cy="1188720"/>
          </a:xfrm>
          <a:prstGeom prst="roundRect">
            <a:avLst>
              <a:gd name="adj" fmla="val 4615"/>
            </a:avLst>
          </a:prstGeom>
          <a:solidFill>
            <a:schemeClr val="bg1"/>
          </a:solidFill>
          <a:ln/>
        </p:spPr>
        <p:txBody>
          <a:bodyPr/>
          <a:lstStyle/>
          <a:p>
            <a:endParaRPr lang="en-US"/>
          </a:p>
        </p:txBody>
      </p:sp>
      <p:sp>
        <p:nvSpPr>
          <p:cNvPr id="16" name="Shape 13"/>
          <p:cNvSpPr/>
          <p:nvPr/>
        </p:nvSpPr>
        <p:spPr>
          <a:xfrm>
            <a:off x="457200" y="5029200"/>
            <a:ext cx="3520440" cy="1188720"/>
          </a:xfrm>
          <a:prstGeom prst="roundRect">
            <a:avLst>
              <a:gd name="adj" fmla="val 4615"/>
            </a:avLst>
          </a:prstGeom>
          <a:solidFill>
            <a:schemeClr val="bg2"/>
          </a:solidFill>
          <a:ln/>
        </p:spPr>
        <p:txBody>
          <a:bodyPr/>
          <a:lstStyle/>
          <a:p>
            <a:endParaRPr lang="en-US"/>
          </a:p>
        </p:txBody>
      </p:sp>
      <p:sp>
        <p:nvSpPr>
          <p:cNvPr id="17" name="Shape 14"/>
          <p:cNvSpPr/>
          <p:nvPr/>
        </p:nvSpPr>
        <p:spPr>
          <a:xfrm>
            <a:off x="621792" y="5285232"/>
            <a:ext cx="548640" cy="548640"/>
          </a:xfrm>
          <a:prstGeom prst="ellipse">
            <a:avLst/>
          </a:prstGeom>
          <a:solidFill>
            <a:srgbClr val="6E7B8C"/>
          </a:solidFill>
          <a:ln/>
        </p:spPr>
        <p:txBody>
          <a:bodyPr/>
          <a:lstStyle/>
          <a:p>
            <a:pPr algn="ctr"/>
            <a:r>
              <a:rPr lang="en-US" b="1" dirty="0">
                <a:solidFill>
                  <a:schemeClr val="bg1"/>
                </a:solidFill>
                <a:latin typeface="Calibri" pitchFamily="34" charset="0"/>
                <a:ea typeface="Calibri" pitchFamily="34" charset="-122"/>
                <a:cs typeface="Calibri" pitchFamily="34" charset="-120"/>
              </a:rPr>
              <a:t>1</a:t>
            </a:r>
            <a:endParaRPr lang="en-US" dirty="0"/>
          </a:p>
        </p:txBody>
      </p:sp>
      <p:sp>
        <p:nvSpPr>
          <p:cNvPr id="19" name="Text 16"/>
          <p:cNvSpPr txBox="1"/>
          <p:nvPr/>
        </p:nvSpPr>
        <p:spPr>
          <a:xfrm>
            <a:off x="1325880" y="5212080"/>
            <a:ext cx="2560320" cy="41148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new creates</a:t>
            </a:r>
            <a:endParaRPr lang="en-US" sz="1500" dirty="0"/>
          </a:p>
        </p:txBody>
      </p:sp>
      <p:sp>
        <p:nvSpPr>
          <p:cNvPr id="20" name="Text 17"/>
          <p:cNvSpPr txBox="1"/>
          <p:nvPr/>
        </p:nvSpPr>
        <p:spPr>
          <a:xfrm>
            <a:off x="1325880" y="5623560"/>
            <a:ext cx="2560320" cy="36576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shed first</a:t>
            </a:r>
            <a:endParaRPr lang="en-US" sz="1200" dirty="0"/>
          </a:p>
        </p:txBody>
      </p:sp>
      <p:sp>
        <p:nvSpPr>
          <p:cNvPr id="21" name="Shape 18"/>
          <p:cNvSpPr/>
          <p:nvPr/>
        </p:nvSpPr>
        <p:spPr>
          <a:xfrm>
            <a:off x="4005072" y="5623560"/>
            <a:ext cx="219456" cy="91"/>
          </a:xfrm>
          <a:prstGeom prst="line">
            <a:avLst/>
          </a:prstGeom>
          <a:noFill/>
          <a:ln w="19050">
            <a:solidFill>
              <a:schemeClr val="tx1"/>
            </a:solidFill>
            <a:prstDash val="solid"/>
            <a:headEnd type="none"/>
            <a:tailEnd type="triangle"/>
          </a:ln>
        </p:spPr>
        <p:txBody>
          <a:bodyPr/>
          <a:lstStyle/>
          <a:p>
            <a:endParaRPr lang="en-US"/>
          </a:p>
        </p:txBody>
      </p:sp>
      <p:sp>
        <p:nvSpPr>
          <p:cNvPr id="22" name="Shape 19"/>
          <p:cNvSpPr/>
          <p:nvPr/>
        </p:nvSpPr>
        <p:spPr>
          <a:xfrm>
            <a:off x="4251960" y="5029200"/>
            <a:ext cx="3520440" cy="1188720"/>
          </a:xfrm>
          <a:prstGeom prst="roundRect">
            <a:avLst>
              <a:gd name="adj" fmla="val 4615"/>
            </a:avLst>
          </a:prstGeom>
          <a:solidFill>
            <a:schemeClr val="bg1"/>
          </a:solidFill>
          <a:ln/>
        </p:spPr>
        <p:txBody>
          <a:bodyPr/>
          <a:lstStyle/>
          <a:p>
            <a:endParaRPr lang="en-US"/>
          </a:p>
        </p:txBody>
      </p:sp>
      <p:sp>
        <p:nvSpPr>
          <p:cNvPr id="23" name="Shape 20"/>
          <p:cNvSpPr/>
          <p:nvPr/>
        </p:nvSpPr>
        <p:spPr>
          <a:xfrm>
            <a:off x="4251960" y="5029200"/>
            <a:ext cx="3520440" cy="1188720"/>
          </a:xfrm>
          <a:prstGeom prst="roundRect">
            <a:avLst>
              <a:gd name="adj" fmla="val 4615"/>
            </a:avLst>
          </a:prstGeom>
          <a:solidFill>
            <a:schemeClr val="bg2"/>
          </a:solidFill>
          <a:ln/>
        </p:spPr>
        <p:txBody>
          <a:bodyPr/>
          <a:lstStyle/>
          <a:p>
            <a:endParaRPr lang="en-US"/>
          </a:p>
        </p:txBody>
      </p:sp>
      <p:sp>
        <p:nvSpPr>
          <p:cNvPr id="24" name="Shape 21"/>
          <p:cNvSpPr/>
          <p:nvPr/>
        </p:nvSpPr>
        <p:spPr>
          <a:xfrm>
            <a:off x="4416552" y="5285232"/>
            <a:ext cx="548640" cy="548640"/>
          </a:xfrm>
          <a:prstGeom prst="ellipse">
            <a:avLst/>
          </a:prstGeom>
          <a:solidFill>
            <a:srgbClr val="6E7B8C"/>
          </a:solidFill>
          <a:ln/>
        </p:spPr>
        <p:txBody>
          <a:bodyPr/>
          <a:lstStyle/>
          <a:p>
            <a:pPr algn="ctr"/>
            <a:r>
              <a:rPr lang="en-US" b="1" dirty="0">
                <a:solidFill>
                  <a:schemeClr val="bg1"/>
                </a:solidFill>
                <a:latin typeface="Calibri" pitchFamily="34" charset="0"/>
                <a:ea typeface="Calibri" pitchFamily="34" charset="-122"/>
                <a:cs typeface="Calibri" pitchFamily="34" charset="-120"/>
              </a:rPr>
              <a:t>2</a:t>
            </a:r>
            <a:endParaRPr lang="en-US" dirty="0"/>
          </a:p>
        </p:txBody>
      </p:sp>
      <p:sp>
        <p:nvSpPr>
          <p:cNvPr id="26" name="Text 23"/>
          <p:cNvSpPr txBox="1"/>
          <p:nvPr/>
        </p:nvSpPr>
        <p:spPr>
          <a:xfrm>
            <a:off x="5120640" y="5212080"/>
            <a:ext cx="2560320" cy="41148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search &amp; reads</a:t>
            </a:r>
            <a:endParaRPr lang="en-US" sz="1500" dirty="0"/>
          </a:p>
        </p:txBody>
      </p:sp>
      <p:sp>
        <p:nvSpPr>
          <p:cNvPr id="27" name="Text 24"/>
          <p:cNvSpPr txBox="1"/>
          <p:nvPr/>
        </p:nvSpPr>
        <p:spPr>
          <a:xfrm>
            <a:off x="5120640" y="5623560"/>
            <a:ext cx="2560320" cy="36576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shed next</a:t>
            </a:r>
            <a:endParaRPr lang="en-US" sz="1200" dirty="0"/>
          </a:p>
        </p:txBody>
      </p:sp>
      <p:sp>
        <p:nvSpPr>
          <p:cNvPr id="28" name="Shape 25"/>
          <p:cNvSpPr/>
          <p:nvPr/>
        </p:nvSpPr>
        <p:spPr>
          <a:xfrm>
            <a:off x="7799832" y="5623560"/>
            <a:ext cx="219456" cy="91"/>
          </a:xfrm>
          <a:prstGeom prst="line">
            <a:avLst/>
          </a:prstGeom>
          <a:noFill/>
          <a:ln w="19050">
            <a:solidFill>
              <a:schemeClr val="tx1"/>
            </a:solidFill>
            <a:prstDash val="solid"/>
            <a:headEnd type="none"/>
            <a:tailEnd type="triangle"/>
          </a:ln>
        </p:spPr>
        <p:txBody>
          <a:bodyPr/>
          <a:lstStyle/>
          <a:p>
            <a:endParaRPr lang="en-US"/>
          </a:p>
        </p:txBody>
      </p:sp>
      <p:sp>
        <p:nvSpPr>
          <p:cNvPr id="29" name="Shape 26"/>
          <p:cNvSpPr/>
          <p:nvPr/>
        </p:nvSpPr>
        <p:spPr>
          <a:xfrm>
            <a:off x="8046720" y="5029200"/>
            <a:ext cx="3520440" cy="1188720"/>
          </a:xfrm>
          <a:prstGeom prst="roundRect">
            <a:avLst>
              <a:gd name="adj" fmla="val 4615"/>
            </a:avLst>
          </a:prstGeom>
          <a:solidFill>
            <a:schemeClr val="bg1"/>
          </a:solidFill>
          <a:ln/>
        </p:spPr>
        <p:txBody>
          <a:bodyPr/>
          <a:lstStyle/>
          <a:p>
            <a:endParaRPr lang="en-US"/>
          </a:p>
        </p:txBody>
      </p:sp>
      <p:sp>
        <p:nvSpPr>
          <p:cNvPr id="30" name="Shape 27"/>
          <p:cNvSpPr/>
          <p:nvPr/>
        </p:nvSpPr>
        <p:spPr>
          <a:xfrm>
            <a:off x="8046720" y="5029200"/>
            <a:ext cx="3520440" cy="1188720"/>
          </a:xfrm>
          <a:prstGeom prst="roundRect">
            <a:avLst>
              <a:gd name="adj" fmla="val 4615"/>
            </a:avLst>
          </a:prstGeom>
          <a:solidFill>
            <a:schemeClr val="bg2"/>
          </a:solidFill>
          <a:ln/>
        </p:spPr>
        <p:txBody>
          <a:bodyPr/>
          <a:lstStyle/>
          <a:p>
            <a:endParaRPr lang="en-US"/>
          </a:p>
        </p:txBody>
      </p:sp>
      <p:sp>
        <p:nvSpPr>
          <p:cNvPr id="31" name="Shape 28"/>
          <p:cNvSpPr/>
          <p:nvPr/>
        </p:nvSpPr>
        <p:spPr>
          <a:xfrm>
            <a:off x="8211312" y="5285232"/>
            <a:ext cx="548640" cy="548640"/>
          </a:xfrm>
          <a:prstGeom prst="ellipse">
            <a:avLst/>
          </a:prstGeom>
          <a:solidFill>
            <a:srgbClr val="6E7B8C"/>
          </a:solidFill>
          <a:ln/>
        </p:spPr>
        <p:txBody>
          <a:bodyPr/>
          <a:lstStyle/>
          <a:p>
            <a:pPr algn="ctr"/>
            <a:r>
              <a:rPr lang="en-US" b="1" dirty="0">
                <a:solidFill>
                  <a:schemeClr val="bg1"/>
                </a:solidFill>
                <a:latin typeface="Calibri" pitchFamily="34" charset="0"/>
                <a:ea typeface="Calibri" pitchFamily="34" charset="-122"/>
                <a:cs typeface="Calibri" pitchFamily="34" charset="-120"/>
              </a:rPr>
              <a:t>3</a:t>
            </a:r>
            <a:endParaRPr lang="en-US" dirty="0"/>
          </a:p>
        </p:txBody>
      </p:sp>
      <p:sp>
        <p:nvSpPr>
          <p:cNvPr id="33" name="Text 30"/>
          <p:cNvSpPr txBox="1"/>
          <p:nvPr/>
        </p:nvSpPr>
        <p:spPr>
          <a:xfrm>
            <a:off x="8915400" y="5212080"/>
            <a:ext cx="2560320" cy="41148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heartbeat · complete · cancel</a:t>
            </a:r>
            <a:endParaRPr lang="en-US" sz="1500" dirty="0"/>
          </a:p>
        </p:txBody>
      </p:sp>
      <p:sp>
        <p:nvSpPr>
          <p:cNvPr id="34" name="Text 31"/>
          <p:cNvSpPr txBox="1"/>
          <p:nvPr/>
        </p:nvSpPr>
        <p:spPr>
          <a:xfrm>
            <a:off x="8915400" y="5623560"/>
            <a:ext cx="2560320" cy="36576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kept to the end</a:t>
            </a:r>
            <a:endParaRPr lang="en-US" sz="12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32</a:t>
            </a:fld>
            <a:endParaRPr lang="en-US"/>
          </a:p>
        </p:txBody>
      </p:sp>
      <p:sp>
        <p:nvSpPr>
          <p:cNvPr id="35" name="Rounded Rectangle 34">
            <a:extLst>
              <a:ext uri="{FF2B5EF4-FFF2-40B4-BE49-F238E27FC236}">
                <a16:creationId xmlns:a16="http://schemas.microsoft.com/office/drawing/2014/main" id="{34EDDEC6-44AD-60FE-060D-C0C1ECBD147B}"/>
              </a:ext>
            </a:extLst>
          </p:cNvPr>
          <p:cNvSpPr/>
          <p:nvPr/>
        </p:nvSpPr>
        <p:spPr>
          <a:xfrm>
            <a:off x="10425701" y="9144"/>
            <a:ext cx="1766299" cy="320040"/>
          </a:xfrm>
          <a:prstGeom prst="round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Toolkit pattern?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Decision log: what we chose and what we didn't</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ADR-0001 is written; the others are referenced by DESIGN.md — alternatives taken from its rationale</a:t>
            </a:r>
            <a:endParaRPr lang="en-US" sz="1600" dirty="0"/>
          </a:p>
        </p:txBody>
      </p:sp>
      <p:graphicFrame>
        <p:nvGraphicFramePr>
          <p:cNvPr id="30" name="Table 0"/>
          <p:cNvGraphicFramePr>
            <a:graphicFrameLocks noGrp="1"/>
          </p:cNvGraphicFramePr>
          <p:nvPr/>
        </p:nvGraphicFramePr>
        <p:xfrm>
          <a:off x="457200" y="1417320"/>
          <a:ext cx="11274552" cy="4626864"/>
        </p:xfrm>
        <a:graphic>
          <a:graphicData uri="http://schemas.openxmlformats.org/drawingml/2006/table">
            <a:tbl>
              <a:tblPr/>
              <a:tblGrid>
                <a:gridCol w="22402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69748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420624">
                <a:tc>
                  <a:txBody>
                    <a:bodyPr/>
                    <a:lstStyle/>
                    <a:p>
                      <a:pPr marL="0" indent="0">
                        <a:buNone/>
                      </a:pPr>
                      <a:r>
                        <a:rPr lang="en-US" sz="1100" b="1" dirty="0">
                          <a:solidFill>
                            <a:schemeClr val="bg1"/>
                          </a:solidFill>
                        </a:rPr>
                        <a:t>Decision</a:t>
                      </a:r>
                      <a:endParaRPr lang="en-US" sz="110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Options considered</a:t>
                      </a:r>
                      <a:endParaRPr lang="en-US" sz="110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Chosen</a:t>
                      </a:r>
                      <a:endParaRPr lang="en-US" sz="110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marL="0" indent="0">
                        <a:buNone/>
                      </a:pPr>
                      <a:r>
                        <a:rPr lang="en-US" sz="1100" b="1" dirty="0">
                          <a:solidFill>
                            <a:schemeClr val="bg1"/>
                          </a:solidFill>
                        </a:rPr>
                        <a:t>Why</a:t>
                      </a:r>
                      <a:endParaRPr lang="en-US" sz="110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20624">
                <a:tc>
                  <a:txBody>
                    <a:bodyPr/>
                    <a:lstStyle/>
                    <a:p>
                      <a:pPr marL="0" indent="0">
                        <a:buNone/>
                      </a:pPr>
                      <a:r>
                        <a:rPr lang="en-US" sz="1050" b="1" dirty="0">
                          <a:solidFill>
                            <a:schemeClr val="tx1"/>
                          </a:solidFill>
                        </a:rPr>
                        <a:t>Who executes tasks · ADR-0001</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rPr>
                        <a:t>wrap Temporal / Hatchet / Conductor · fixed monolith · pluggable execution backends</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b="1" dirty="0">
                          <a:solidFill>
                            <a:schemeClr val="tx1"/>
                          </a:solidFill>
                        </a:rPr>
                        <a:t>Modular gear, role-based storage</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3"/>
                    </a:solidFill>
                  </a:tcPr>
                </a:tc>
                <a:tc>
                  <a:txBody>
                    <a:bodyPr/>
                    <a:lstStyle/>
                    <a:p>
                      <a:pPr marL="0" indent="0">
                        <a:buNone/>
                      </a:pPr>
                      <a:r>
                        <a:rPr lang="en-US" sz="1050" dirty="0">
                          <a:solidFill>
                            <a:schemeClr val="tx1"/>
                          </a:solidFill>
                        </a:rPr>
                        <a:t>one source of truth, atomic txns, light default</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20624">
                <a:tc>
                  <a:txBody>
                    <a:bodyPr/>
                    <a:lstStyle/>
                    <a:p>
                      <a:pPr marL="0" indent="0">
                        <a:buNone/>
                      </a:pPr>
                      <a:r>
                        <a:rPr lang="en-US" sz="1050" b="1" dirty="0">
                          <a:solidFill>
                            <a:schemeClr val="tx1"/>
                          </a:solidFill>
                        </a:rPr>
                        <a:t>Atomic claim · ADR-0008</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rPr>
                        <a:t>FOR UPDATE SKIP LOCKED · external queue as truth</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b="1" dirty="0">
                          <a:solidFill>
                            <a:schemeClr val="tx1"/>
                          </a:solidFill>
                        </a:rPr>
                        <a:t>Optimistic guarded UPDATE</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DF3E4"/>
                    </a:solidFill>
                  </a:tcPr>
                </a:tc>
                <a:tc>
                  <a:txBody>
                    <a:bodyPr/>
                    <a:lstStyle/>
                    <a:p>
                      <a:pPr marL="0" indent="0">
                        <a:buNone/>
                      </a:pPr>
                      <a:r>
                        <a:rPr lang="en-US" sz="1050" dirty="0">
                          <a:solidFill>
                            <a:schemeClr val="tx1"/>
                          </a:solidFill>
                        </a:rPr>
                        <a:t>portable, tenant-scoped via secure ORM</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0624">
                <a:tc>
                  <a:txBody>
                    <a:bodyPr/>
                    <a:lstStyle/>
                    <a:p>
                      <a:pPr marL="0" indent="0">
                        <a:buNone/>
                      </a:pPr>
                      <a:r>
                        <a:rPr lang="en-US" sz="1050" b="1" dirty="0">
                          <a:solidFill>
                            <a:schemeClr val="tx1"/>
                          </a:solidFill>
                        </a:rPr>
                        <a:t>Timeouts · ADR-0003</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rPr>
                        <a:t>a timer row per heartbeat / deadline</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b="1" dirty="0">
                          <a:solidFill>
                            <a:schemeClr val="tx1"/>
                          </a:solidFill>
                        </a:rPr>
                        <a:t>Deadline columns + lease scan; timer wheel for rare timers</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3"/>
                    </a:solidFill>
                  </a:tcPr>
                </a:tc>
                <a:tc>
                  <a:txBody>
                    <a:bodyPr/>
                    <a:lstStyle/>
                    <a:p>
                      <a:pPr marL="0" indent="0">
                        <a:buNone/>
                      </a:pPr>
                      <a:r>
                        <a:rPr lang="en-US" sz="1050" dirty="0">
                          <a:solidFill>
                            <a:schemeClr val="tx1"/>
                          </a:solidFill>
                        </a:rPr>
                        <a:t>no hot timer table; survives restarts</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20624">
                <a:tc>
                  <a:txBody>
                    <a:bodyPr/>
                    <a:lstStyle/>
                    <a:p>
                      <a:pPr marL="0" indent="0">
                        <a:buNone/>
                      </a:pPr>
                      <a:r>
                        <a:rPr lang="en-US" sz="1050" b="1" dirty="0">
                          <a:solidFill>
                            <a:schemeClr val="tx1"/>
                          </a:solidFill>
                        </a:rPr>
                        <a:t>Background loops</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rPr>
                        <a:t>single global leader</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b="1" dirty="0">
                          <a:solidFill>
                            <a:schemeClr val="tx1"/>
                          </a:solidFill>
                        </a:rPr>
                        <a:t>Sharded advisory locks</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DF3E4"/>
                    </a:solidFill>
                  </a:tcPr>
                </a:tc>
                <a:tc>
                  <a:txBody>
                    <a:bodyPr/>
                    <a:lstStyle/>
                    <a:p>
                      <a:pPr marL="0" indent="0">
                        <a:buNone/>
                      </a:pPr>
                      <a:r>
                        <a:rPr lang="en-US" sz="1050" dirty="0">
                          <a:solidFill>
                            <a:schemeClr val="tx1"/>
                          </a:solidFill>
                        </a:rPr>
                        <a:t>timer / lease work scales with nodes</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20624">
                <a:tc>
                  <a:txBody>
                    <a:bodyPr/>
                    <a:lstStyle/>
                    <a:p>
                      <a:pPr marL="0" indent="0">
                        <a:buNone/>
                      </a:pPr>
                      <a:r>
                        <a:rPr lang="en-US" sz="1050" b="1" dirty="0">
                          <a:solidFill>
                            <a:schemeClr val="tx1"/>
                          </a:solidFill>
                        </a:rPr>
                        <a:t>Wait kinds · ADR-0004</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rPr>
                        <a:t>GTS-extensible kinds · dedicated approval kind</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b="1" dirty="0">
                          <a:solidFill>
                            <a:schemeClr val="tx1"/>
                          </a:solidFill>
                        </a:rPr>
                        <a:t>Fixed timer / event / input</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3"/>
                    </a:solidFill>
                  </a:tcPr>
                </a:tc>
                <a:tc>
                  <a:txBody>
                    <a:bodyPr/>
                    <a:lstStyle/>
                    <a:p>
                      <a:pPr marL="0" indent="0">
                        <a:buNone/>
                      </a:pPr>
                      <a:r>
                        <a:rPr lang="en-US" sz="1050" dirty="0">
                          <a:solidFill>
                            <a:schemeClr val="tx1"/>
                          </a:solidFill>
                        </a:rPr>
                        <a:t>tied to the state machine; approvals via event wait</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20624">
                <a:tc>
                  <a:txBody>
                    <a:bodyPr/>
                    <a:lstStyle/>
                    <a:p>
                      <a:pPr marL="0" indent="0">
                        <a:buNone/>
                      </a:pPr>
                      <a:r>
                        <a:rPr lang="en-US" sz="1050" b="1" dirty="0">
                          <a:solidFill>
                            <a:schemeClr val="tx1"/>
                          </a:solidFill>
                        </a:rPr>
                        <a:t>Concurrency · ADR-0005</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rPr>
                        <a:t>Cluster semaphore as the authority</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b="1" dirty="0">
                          <a:solidFill>
                            <a:schemeClr val="tx1"/>
                          </a:solidFill>
                        </a:rPr>
                        <a:t>DB counter rows, guarded +1</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DF3E4"/>
                    </a:solidFill>
                  </a:tcPr>
                </a:tc>
                <a:tc>
                  <a:txBody>
                    <a:bodyPr/>
                    <a:lstStyle/>
                    <a:p>
                      <a:pPr marL="0" indent="0">
                        <a:buNone/>
                      </a:pPr>
                      <a:r>
                        <a:rPr lang="en-US" sz="1050" dirty="0">
                          <a:solidFill>
                            <a:schemeClr val="tx1"/>
                          </a:solidFill>
                        </a:rPr>
                        <a:t>exact upper bound; drift only conservative</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20624">
                <a:tc>
                  <a:txBody>
                    <a:bodyPr/>
                    <a:lstStyle/>
                    <a:p>
                      <a:pPr marL="0" indent="0">
                        <a:buNone/>
                      </a:pPr>
                      <a:r>
                        <a:rPr lang="en-US" sz="1050" b="1" dirty="0">
                          <a:solidFill>
                            <a:schemeClr val="tx1"/>
                          </a:solidFill>
                        </a:rPr>
                        <a:t>Event delivery</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rPr>
                        <a:t>hand-rolled outbox + relay</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b="1" dirty="0">
                          <a:solidFill>
                            <a:schemeClr val="tx1"/>
                          </a:solidFill>
                        </a:rPr>
                        <a:t>Event Broker SDK DbProducer</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3"/>
                    </a:solidFill>
                  </a:tcPr>
                </a:tc>
                <a:tc>
                  <a:txBody>
                    <a:bodyPr/>
                    <a:lstStyle/>
                    <a:p>
                      <a:pPr marL="0" indent="0">
                        <a:buNone/>
                      </a:pPr>
                      <a:r>
                        <a:rPr lang="en-US" sz="1050" dirty="0">
                          <a:solidFill>
                            <a:schemeClr val="tx1"/>
                          </a:solidFill>
                        </a:rPr>
                        <a:t>platform standard; atomic with state</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420624">
                <a:tc>
                  <a:txBody>
                    <a:bodyPr/>
                    <a:lstStyle/>
                    <a:p>
                      <a:pPr marL="0" indent="0">
                        <a:buNone/>
                      </a:pPr>
                      <a:r>
                        <a:rPr lang="en-US" sz="1050" b="1" dirty="0">
                          <a:solidFill>
                            <a:schemeClr val="tx1"/>
                          </a:solidFill>
                        </a:rPr>
                        <a:t>Payloads · ADR-0006</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rPr>
                        <a:t>plain JSON columns</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b="1" dirty="0">
                          <a:solidFill>
                            <a:schemeClr val="tx1"/>
                          </a:solidFill>
                        </a:rPr>
                        <a:t>S2-compressed BLOB, magic header</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DF3E4"/>
                    </a:solidFill>
                  </a:tcPr>
                </a:tc>
                <a:tc>
                  <a:txBody>
                    <a:bodyPr/>
                    <a:lstStyle/>
                    <a:p>
                      <a:pPr marL="0" indent="0">
                        <a:buNone/>
                      </a:pPr>
                      <a:r>
                        <a:rPr lang="en-US" sz="1050" dirty="0">
                          <a:solidFill>
                            <a:schemeClr val="tx1"/>
                          </a:solidFill>
                        </a:rPr>
                        <a:t>smaller rows, same on every backend</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20624">
                <a:tc>
                  <a:txBody>
                    <a:bodyPr/>
                    <a:lstStyle/>
                    <a:p>
                      <a:pPr marL="0" indent="0">
                        <a:buNone/>
                      </a:pPr>
                      <a:r>
                        <a:rPr lang="en-US" sz="1050" b="1" dirty="0">
                          <a:solidFill>
                            <a:schemeClr val="tx1"/>
                          </a:solidFill>
                        </a:rPr>
                        <a:t>Retention · ADR-0009</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dirty="0">
                          <a:solidFill>
                            <a:schemeClr val="tx1"/>
                          </a:solidFill>
                        </a:rPr>
                        <a:t>row-by-row DELETE</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marL="0" indent="0">
                        <a:buNone/>
                      </a:pPr>
                      <a:r>
                        <a:rPr lang="en-US" sz="1050" b="1" dirty="0">
                          <a:solidFill>
                            <a:schemeClr val="tx1"/>
                          </a:solidFill>
                        </a:rPr>
                        <a:t>Time partitions, DROP PARTITION</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BEBD3"/>
                    </a:solidFill>
                  </a:tcPr>
                </a:tc>
                <a:tc>
                  <a:txBody>
                    <a:bodyPr/>
                    <a:lstStyle/>
                    <a:p>
                      <a:pPr marL="0" indent="0">
                        <a:buNone/>
                      </a:pPr>
                      <a:r>
                        <a:rPr lang="en-US" sz="1050" dirty="0">
                          <a:solidFill>
                            <a:schemeClr val="tx1"/>
                          </a:solidFill>
                        </a:rPr>
                        <a:t>cheap at 500M rows; SQLite falls back to DELETE</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extLst>
                  <a:ext uri="{0D108BD9-81ED-4DB2-BD59-A6C34878D82A}">
                    <a16:rowId xmlns:a16="http://schemas.microsoft.com/office/drawing/2014/main" val="10009"/>
                  </a:ext>
                </a:extLst>
              </a:tr>
              <a:tr h="420624">
                <a:tc>
                  <a:txBody>
                    <a:bodyPr/>
                    <a:lstStyle/>
                    <a:p>
                      <a:pPr marL="0" indent="0">
                        <a:buNone/>
                      </a:pPr>
                      <a:r>
                        <a:rPr lang="en-US" sz="1050" b="1" dirty="0">
                          <a:solidFill>
                            <a:schemeClr val="tx1"/>
                          </a:solidFill>
                        </a:rPr>
                        <a:t>Event matching · ADR-0007</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dirty="0">
                          <a:solidFill>
                            <a:schemeClr val="tx1"/>
                          </a:solidFill>
                        </a:rPr>
                        <a:t>type + subject only</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marL="0" indent="0">
                        <a:buNone/>
                      </a:pPr>
                      <a:r>
                        <a:rPr lang="en-US" sz="1050" b="1" dirty="0">
                          <a:solidFill>
                            <a:schemeClr val="tx1"/>
                          </a:solidFill>
                        </a:rPr>
                        <a:t>CEL with complexity limits (P3)</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DF3E4"/>
                    </a:solidFill>
                  </a:tcPr>
                </a:tc>
                <a:tc>
                  <a:txBody>
                    <a:bodyPr/>
                    <a:lstStyle/>
                    <a:p>
                      <a:pPr marL="0" indent="0">
                        <a:buNone/>
                      </a:pPr>
                      <a:r>
                        <a:rPr lang="en-US" sz="1050" dirty="0">
                          <a:solidFill>
                            <a:schemeClr val="tx1"/>
                          </a:solidFill>
                        </a:rPr>
                        <a:t>expressive, bounded at 10 ms</a:t>
                      </a:r>
                      <a:endParaRPr lang="en-US" sz="1050" dirty="0"/>
                    </a:p>
                  </a:txBody>
                  <a:tcPr marL="73152" marR="73152" marT="27432" marB="27432"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P2 in brief: relationships, waits, finer control</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Built on the P1 core — same tables, state machine and transactions, more features on top</a:t>
            </a:r>
            <a:endParaRPr lang="en-US" sz="1600" dirty="0"/>
          </a:p>
        </p:txBody>
      </p:sp>
      <p:sp>
        <p:nvSpPr>
          <p:cNvPr id="5" name="Shape 2"/>
          <p:cNvSpPr/>
          <p:nvPr/>
        </p:nvSpPr>
        <p:spPr>
          <a:xfrm>
            <a:off x="10835640" y="905256"/>
            <a:ext cx="896112" cy="274320"/>
          </a:xfrm>
          <a:prstGeom prst="roundRect">
            <a:avLst>
              <a:gd name="adj" fmla="val 50000"/>
            </a:avLst>
          </a:prstGeom>
          <a:solidFill>
            <a:schemeClr val="tx2"/>
          </a:solidFill>
          <a:ln w="9525">
            <a:solidFill>
              <a:schemeClr val="tx2"/>
            </a:solidFill>
            <a:prstDash val="solid"/>
          </a:ln>
        </p:spPr>
        <p:txBody>
          <a:bodyPr/>
          <a:lstStyle/>
          <a:p>
            <a:endParaRPr lang="en-US"/>
          </a:p>
        </p:txBody>
      </p:sp>
      <p:sp>
        <p:nvSpPr>
          <p:cNvPr id="6" name="Text 3"/>
          <p:cNvSpPr txBox="1"/>
          <p:nvPr/>
        </p:nvSpPr>
        <p:spPr>
          <a:xfrm>
            <a:off x="10835640" y="905256"/>
            <a:ext cx="896112"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P2</a:t>
            </a:r>
            <a:endParaRPr lang="en-US" sz="1200" dirty="0"/>
          </a:p>
        </p:txBody>
      </p:sp>
      <p:sp>
        <p:nvSpPr>
          <p:cNvPr id="7" name="Shape 4"/>
          <p:cNvSpPr/>
          <p:nvPr/>
        </p:nvSpPr>
        <p:spPr>
          <a:xfrm>
            <a:off x="457200" y="1463040"/>
            <a:ext cx="5550408" cy="1097280"/>
          </a:xfrm>
          <a:prstGeom prst="roundRect">
            <a:avLst>
              <a:gd name="adj" fmla="val 5000"/>
            </a:avLst>
          </a:prstGeom>
          <a:solidFill>
            <a:schemeClr val="bg1"/>
          </a:solidFill>
          <a:ln/>
        </p:spPr>
        <p:txBody>
          <a:bodyPr/>
          <a:lstStyle/>
          <a:p>
            <a:endParaRPr lang="en-US"/>
          </a:p>
        </p:txBody>
      </p:sp>
      <p:sp>
        <p:nvSpPr>
          <p:cNvPr id="8" name="Shape 5"/>
          <p:cNvSpPr/>
          <p:nvPr/>
        </p:nvSpPr>
        <p:spPr>
          <a:xfrm>
            <a:off x="457200" y="1463040"/>
            <a:ext cx="5550408" cy="1097280"/>
          </a:xfrm>
          <a:prstGeom prst="roundRect">
            <a:avLst>
              <a:gd name="adj" fmla="val 5000"/>
            </a:avLst>
          </a:prstGeom>
          <a:solidFill>
            <a:schemeClr val="bg2"/>
          </a:solidFill>
          <a:ln/>
        </p:spPr>
        <p:txBody>
          <a:bodyPr/>
          <a:lstStyle/>
          <a:p>
            <a:endParaRPr lang="en-US"/>
          </a:p>
        </p:txBody>
      </p:sp>
      <p:sp>
        <p:nvSpPr>
          <p:cNvPr id="9" name="Shape 6"/>
          <p:cNvSpPr/>
          <p:nvPr/>
        </p:nvSpPr>
        <p:spPr>
          <a:xfrm>
            <a:off x="621792" y="1737360"/>
            <a:ext cx="548640" cy="548640"/>
          </a:xfrm>
          <a:prstGeom prst="ellipse">
            <a:avLst/>
          </a:prstGeom>
          <a:solidFill>
            <a:srgbClr val="6E7B8C"/>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758952" y="1874520"/>
            <a:ext cx="274320" cy="274320"/>
          </a:xfrm>
          <a:prstGeom prst="rect">
            <a:avLst/>
          </a:prstGeom>
        </p:spPr>
      </p:pic>
      <p:sp>
        <p:nvSpPr>
          <p:cNvPr id="11" name="Text 7"/>
          <p:cNvSpPr txBox="1"/>
          <p:nvPr/>
        </p:nvSpPr>
        <p:spPr>
          <a:xfrm>
            <a:off x="1353312" y="1554480"/>
            <a:ext cx="4526280" cy="29260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Derived dedup &amp; supersession</a:t>
            </a:r>
            <a:endParaRPr lang="en-US" sz="1400" dirty="0"/>
          </a:p>
        </p:txBody>
      </p:sp>
      <p:sp>
        <p:nvSpPr>
          <p:cNvPr id="12" name="Text 8"/>
          <p:cNvSpPr txBox="1"/>
          <p:nvPr/>
        </p:nvSpPr>
        <p:spPr>
          <a:xfrm>
            <a:off x="1353312" y="1847088"/>
            <a:ext cx="4526280" cy="676656"/>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Type declares key fields; the engine hashes the identity. A newer order value (e.g. graph revision) cancels the in-flight older task; an older one gets STALE_ORDER.</a:t>
            </a:r>
            <a:endParaRPr lang="en-US" sz="1150" dirty="0"/>
          </a:p>
        </p:txBody>
      </p:sp>
      <p:sp>
        <p:nvSpPr>
          <p:cNvPr id="13" name="Shape 9"/>
          <p:cNvSpPr/>
          <p:nvPr/>
        </p:nvSpPr>
        <p:spPr>
          <a:xfrm>
            <a:off x="6181344" y="1463040"/>
            <a:ext cx="5550408" cy="1097280"/>
          </a:xfrm>
          <a:prstGeom prst="roundRect">
            <a:avLst>
              <a:gd name="adj" fmla="val 5000"/>
            </a:avLst>
          </a:prstGeom>
          <a:solidFill>
            <a:schemeClr val="bg1"/>
          </a:solidFill>
          <a:ln/>
        </p:spPr>
        <p:txBody>
          <a:bodyPr/>
          <a:lstStyle/>
          <a:p>
            <a:endParaRPr lang="en-US"/>
          </a:p>
        </p:txBody>
      </p:sp>
      <p:sp>
        <p:nvSpPr>
          <p:cNvPr id="14" name="Shape 10"/>
          <p:cNvSpPr/>
          <p:nvPr/>
        </p:nvSpPr>
        <p:spPr>
          <a:xfrm>
            <a:off x="6181344" y="1463040"/>
            <a:ext cx="5550408" cy="1097280"/>
          </a:xfrm>
          <a:prstGeom prst="roundRect">
            <a:avLst>
              <a:gd name="adj" fmla="val 5000"/>
            </a:avLst>
          </a:prstGeom>
          <a:solidFill>
            <a:schemeClr val="bg2"/>
          </a:solidFill>
          <a:ln/>
        </p:spPr>
        <p:txBody>
          <a:bodyPr/>
          <a:lstStyle/>
          <a:p>
            <a:endParaRPr lang="en-US"/>
          </a:p>
        </p:txBody>
      </p:sp>
      <p:sp>
        <p:nvSpPr>
          <p:cNvPr id="15" name="Shape 11"/>
          <p:cNvSpPr/>
          <p:nvPr/>
        </p:nvSpPr>
        <p:spPr>
          <a:xfrm>
            <a:off x="6345936" y="1737360"/>
            <a:ext cx="548640" cy="548640"/>
          </a:xfrm>
          <a:prstGeom prst="ellipse">
            <a:avLst/>
          </a:prstGeom>
          <a:solidFill>
            <a:srgbClr val="6E7B8C"/>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483096" y="1874520"/>
            <a:ext cx="274320" cy="274320"/>
          </a:xfrm>
          <a:prstGeom prst="rect">
            <a:avLst/>
          </a:prstGeom>
        </p:spPr>
      </p:pic>
      <p:sp>
        <p:nvSpPr>
          <p:cNvPr id="17" name="Text 12"/>
          <p:cNvSpPr txBox="1"/>
          <p:nvPr/>
        </p:nvSpPr>
        <p:spPr>
          <a:xfrm>
            <a:off x="7077456" y="1554480"/>
            <a:ext cx="4526280" cy="29260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Parent/child &amp; dependencies</a:t>
            </a:r>
            <a:endParaRPr lang="en-US" sz="1400" dirty="0"/>
          </a:p>
        </p:txBody>
      </p:sp>
      <p:sp>
        <p:nvSpPr>
          <p:cNvPr id="18" name="Text 13"/>
          <p:cNvSpPr txBox="1"/>
          <p:nvPr/>
        </p:nvSpPr>
        <p:spPr>
          <a:xfrm>
            <a:off x="7077456" y="1847088"/>
            <a:ext cx="4526280" cy="676656"/>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Predecessors with ALL / ANY; the task waits in blocked. Cycle check on every change; a failed predecessor cascades dependencyFailed.</a:t>
            </a:r>
            <a:endParaRPr lang="en-US" sz="1150" dirty="0"/>
          </a:p>
        </p:txBody>
      </p:sp>
      <p:sp>
        <p:nvSpPr>
          <p:cNvPr id="19" name="Shape 14"/>
          <p:cNvSpPr/>
          <p:nvPr/>
        </p:nvSpPr>
        <p:spPr>
          <a:xfrm>
            <a:off x="457200" y="2670048"/>
            <a:ext cx="5550408" cy="1097280"/>
          </a:xfrm>
          <a:prstGeom prst="roundRect">
            <a:avLst>
              <a:gd name="adj" fmla="val 5000"/>
            </a:avLst>
          </a:prstGeom>
          <a:solidFill>
            <a:schemeClr val="bg1"/>
          </a:solidFill>
          <a:ln/>
        </p:spPr>
        <p:txBody>
          <a:bodyPr/>
          <a:lstStyle/>
          <a:p>
            <a:endParaRPr lang="en-US"/>
          </a:p>
        </p:txBody>
      </p:sp>
      <p:sp>
        <p:nvSpPr>
          <p:cNvPr id="20" name="Shape 15"/>
          <p:cNvSpPr/>
          <p:nvPr/>
        </p:nvSpPr>
        <p:spPr>
          <a:xfrm>
            <a:off x="457200" y="2670048"/>
            <a:ext cx="5550408" cy="1097280"/>
          </a:xfrm>
          <a:prstGeom prst="roundRect">
            <a:avLst>
              <a:gd name="adj" fmla="val 5000"/>
            </a:avLst>
          </a:prstGeom>
          <a:solidFill>
            <a:schemeClr val="bg2"/>
          </a:solidFill>
          <a:ln/>
        </p:spPr>
        <p:txBody>
          <a:bodyPr/>
          <a:lstStyle/>
          <a:p>
            <a:endParaRPr lang="en-US"/>
          </a:p>
        </p:txBody>
      </p:sp>
      <p:sp>
        <p:nvSpPr>
          <p:cNvPr id="21" name="Shape 16"/>
          <p:cNvSpPr/>
          <p:nvPr/>
        </p:nvSpPr>
        <p:spPr>
          <a:xfrm>
            <a:off x="621792" y="2944368"/>
            <a:ext cx="548640" cy="548640"/>
          </a:xfrm>
          <a:prstGeom prst="ellipse">
            <a:avLst/>
          </a:prstGeom>
          <a:solidFill>
            <a:srgbClr val="6E7B8C"/>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758952" y="3081528"/>
            <a:ext cx="274320" cy="274320"/>
          </a:xfrm>
          <a:prstGeom prst="rect">
            <a:avLst/>
          </a:prstGeom>
        </p:spPr>
      </p:pic>
      <p:sp>
        <p:nvSpPr>
          <p:cNvPr id="23" name="Text 17"/>
          <p:cNvSpPr txBox="1"/>
          <p:nvPr/>
        </p:nvSpPr>
        <p:spPr>
          <a:xfrm>
            <a:off x="1353312" y="2761488"/>
            <a:ext cx="4526280" cy="29260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Event &amp; input waits</a:t>
            </a:r>
            <a:endParaRPr lang="en-US" sz="1400" dirty="0"/>
          </a:p>
        </p:txBody>
      </p:sp>
      <p:sp>
        <p:nvSpPr>
          <p:cNvPr id="24" name="Text 18"/>
          <p:cNvSpPr txBox="1"/>
          <p:nvPr/>
        </p:nvSpPr>
        <p:spPr>
          <a:xfrm>
            <a:off x="1353312" y="3054096"/>
            <a:ext cx="4526280" cy="676656"/>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Event waits resolved through the Event Broker consumer group; input waits via POST /wait-conditions/{id}/resolve with a JSON-schema check.</a:t>
            </a:r>
            <a:endParaRPr lang="en-US" sz="1150" dirty="0"/>
          </a:p>
        </p:txBody>
      </p:sp>
      <p:sp>
        <p:nvSpPr>
          <p:cNvPr id="25" name="Shape 19"/>
          <p:cNvSpPr/>
          <p:nvPr/>
        </p:nvSpPr>
        <p:spPr>
          <a:xfrm>
            <a:off x="6181344" y="2670048"/>
            <a:ext cx="5550408" cy="1097280"/>
          </a:xfrm>
          <a:prstGeom prst="roundRect">
            <a:avLst>
              <a:gd name="adj" fmla="val 5000"/>
            </a:avLst>
          </a:prstGeom>
          <a:solidFill>
            <a:schemeClr val="bg1"/>
          </a:solidFill>
          <a:ln/>
        </p:spPr>
        <p:txBody>
          <a:bodyPr/>
          <a:lstStyle/>
          <a:p>
            <a:endParaRPr lang="en-US"/>
          </a:p>
        </p:txBody>
      </p:sp>
      <p:sp>
        <p:nvSpPr>
          <p:cNvPr id="26" name="Shape 20"/>
          <p:cNvSpPr/>
          <p:nvPr/>
        </p:nvSpPr>
        <p:spPr>
          <a:xfrm>
            <a:off x="6181344" y="2670048"/>
            <a:ext cx="5550408" cy="1097280"/>
          </a:xfrm>
          <a:prstGeom prst="roundRect">
            <a:avLst>
              <a:gd name="adj" fmla="val 5000"/>
            </a:avLst>
          </a:prstGeom>
          <a:solidFill>
            <a:schemeClr val="bg2"/>
          </a:solidFill>
          <a:ln/>
        </p:spPr>
        <p:txBody>
          <a:bodyPr/>
          <a:lstStyle/>
          <a:p>
            <a:endParaRPr lang="en-US"/>
          </a:p>
        </p:txBody>
      </p:sp>
      <p:sp>
        <p:nvSpPr>
          <p:cNvPr id="27" name="Shape 21"/>
          <p:cNvSpPr/>
          <p:nvPr/>
        </p:nvSpPr>
        <p:spPr>
          <a:xfrm>
            <a:off x="6345936" y="2944368"/>
            <a:ext cx="548640" cy="548640"/>
          </a:xfrm>
          <a:prstGeom prst="ellipse">
            <a:avLst/>
          </a:prstGeom>
          <a:solidFill>
            <a:srgbClr val="6E7B8C"/>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6483096" y="3081528"/>
            <a:ext cx="274320" cy="274320"/>
          </a:xfrm>
          <a:prstGeom prst="rect">
            <a:avLst/>
          </a:prstGeom>
        </p:spPr>
      </p:pic>
      <p:sp>
        <p:nvSpPr>
          <p:cNvPr id="29" name="Text 22"/>
          <p:cNvSpPr txBox="1"/>
          <p:nvPr/>
        </p:nvSpPr>
        <p:spPr>
          <a:xfrm>
            <a:off x="7077456" y="2761488"/>
            <a:ext cx="4526280" cy="29260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Dead-letter queue &amp; bulk ops</a:t>
            </a:r>
            <a:endParaRPr lang="en-US" sz="1400" dirty="0"/>
          </a:p>
        </p:txBody>
      </p:sp>
      <p:sp>
        <p:nvSpPr>
          <p:cNvPr id="30" name="Text 23"/>
          <p:cNvSpPr txBox="1"/>
          <p:nvPr/>
        </p:nvSpPr>
        <p:spPr>
          <a:xfrm>
            <a:off x="7077456" y="3054096"/>
            <a:ext cx="4526280" cy="676656"/>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Exhausted tasks become dead_lettered; admin re-enqueue. Bulk cancel / retry / move / reprioritize with per-task authorization and partial success.</a:t>
            </a:r>
            <a:endParaRPr lang="en-US" sz="1150" dirty="0"/>
          </a:p>
        </p:txBody>
      </p:sp>
      <p:sp>
        <p:nvSpPr>
          <p:cNvPr id="31" name="Shape 24"/>
          <p:cNvSpPr/>
          <p:nvPr/>
        </p:nvSpPr>
        <p:spPr>
          <a:xfrm>
            <a:off x="457200" y="3877056"/>
            <a:ext cx="5550408" cy="1097280"/>
          </a:xfrm>
          <a:prstGeom prst="roundRect">
            <a:avLst>
              <a:gd name="adj" fmla="val 5000"/>
            </a:avLst>
          </a:prstGeom>
          <a:solidFill>
            <a:schemeClr val="bg1"/>
          </a:solidFill>
          <a:ln/>
        </p:spPr>
        <p:txBody>
          <a:bodyPr/>
          <a:lstStyle/>
          <a:p>
            <a:endParaRPr lang="en-US"/>
          </a:p>
        </p:txBody>
      </p:sp>
      <p:sp>
        <p:nvSpPr>
          <p:cNvPr id="32" name="Shape 25"/>
          <p:cNvSpPr/>
          <p:nvPr/>
        </p:nvSpPr>
        <p:spPr>
          <a:xfrm>
            <a:off x="457200" y="3877056"/>
            <a:ext cx="5550408" cy="1097280"/>
          </a:xfrm>
          <a:prstGeom prst="roundRect">
            <a:avLst>
              <a:gd name="adj" fmla="val 5000"/>
            </a:avLst>
          </a:prstGeom>
          <a:solidFill>
            <a:schemeClr val="bg2"/>
          </a:solidFill>
          <a:ln/>
        </p:spPr>
        <p:txBody>
          <a:bodyPr/>
          <a:lstStyle/>
          <a:p>
            <a:endParaRPr lang="en-US"/>
          </a:p>
        </p:txBody>
      </p:sp>
      <p:sp>
        <p:nvSpPr>
          <p:cNvPr id="33" name="Shape 26"/>
          <p:cNvSpPr/>
          <p:nvPr/>
        </p:nvSpPr>
        <p:spPr>
          <a:xfrm>
            <a:off x="621792" y="4151376"/>
            <a:ext cx="548640" cy="548640"/>
          </a:xfrm>
          <a:prstGeom prst="ellipse">
            <a:avLst/>
          </a:prstGeom>
          <a:solidFill>
            <a:srgbClr val="6E7B8C"/>
          </a:solidFill>
          <a:ln/>
        </p:spPr>
        <p:txBody>
          <a:bodyPr/>
          <a:lstStyle/>
          <a:p>
            <a:endParaRPr lang="en-US"/>
          </a:p>
        </p:txBody>
      </p:sp>
      <p:pic>
        <p:nvPicPr>
          <p:cNvPr id="34" name="Image 4" descr="preencoded.png"/>
          <p:cNvPicPr>
            <a:picLocks noChangeAspect="1"/>
          </p:cNvPicPr>
          <p:nvPr/>
        </p:nvPicPr>
        <p:blipFill>
          <a:blip r:embed="rId7"/>
          <a:stretch>
            <a:fillRect/>
          </a:stretch>
        </p:blipFill>
        <p:spPr>
          <a:xfrm>
            <a:off x="758952" y="4288536"/>
            <a:ext cx="274320" cy="274320"/>
          </a:xfrm>
          <a:prstGeom prst="rect">
            <a:avLst/>
          </a:prstGeom>
        </p:spPr>
      </p:pic>
      <p:sp>
        <p:nvSpPr>
          <p:cNvPr id="35" name="Text 27"/>
          <p:cNvSpPr txBox="1"/>
          <p:nvPr/>
        </p:nvSpPr>
        <p:spPr>
          <a:xfrm>
            <a:off x="1353312" y="3968496"/>
            <a:ext cx="4526280" cy="29260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Finer limits</a:t>
            </a:r>
            <a:endParaRPr lang="en-US" sz="1400" dirty="0"/>
          </a:p>
        </p:txBody>
      </p:sp>
      <p:sp>
        <p:nvSpPr>
          <p:cNvPr id="36" name="Text 28"/>
          <p:cNvSpPr txBox="1"/>
          <p:nvPr/>
        </p:nvSpPr>
        <p:spPr>
          <a:xfrm>
            <a:off x="1353312" y="4261104"/>
            <a:ext cx="4526280" cy="676656"/>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Per-type concurrency (global and per tenant), pattern-based overrides, per-tenant and per-queue rate limits (429).</a:t>
            </a:r>
            <a:endParaRPr lang="en-US" sz="1150" dirty="0"/>
          </a:p>
        </p:txBody>
      </p:sp>
      <p:sp>
        <p:nvSpPr>
          <p:cNvPr id="37" name="Shape 29"/>
          <p:cNvSpPr/>
          <p:nvPr/>
        </p:nvSpPr>
        <p:spPr>
          <a:xfrm>
            <a:off x="6181344" y="3877056"/>
            <a:ext cx="5550408" cy="1097280"/>
          </a:xfrm>
          <a:prstGeom prst="roundRect">
            <a:avLst>
              <a:gd name="adj" fmla="val 5000"/>
            </a:avLst>
          </a:prstGeom>
          <a:solidFill>
            <a:schemeClr val="bg1"/>
          </a:solidFill>
          <a:ln/>
        </p:spPr>
        <p:txBody>
          <a:bodyPr/>
          <a:lstStyle/>
          <a:p>
            <a:endParaRPr lang="en-US"/>
          </a:p>
        </p:txBody>
      </p:sp>
      <p:sp>
        <p:nvSpPr>
          <p:cNvPr id="38" name="Shape 30"/>
          <p:cNvSpPr/>
          <p:nvPr/>
        </p:nvSpPr>
        <p:spPr>
          <a:xfrm>
            <a:off x="6181344" y="3877056"/>
            <a:ext cx="5550408" cy="1097280"/>
          </a:xfrm>
          <a:prstGeom prst="roundRect">
            <a:avLst>
              <a:gd name="adj" fmla="val 5000"/>
            </a:avLst>
          </a:prstGeom>
          <a:solidFill>
            <a:schemeClr val="bg2"/>
          </a:solidFill>
          <a:ln/>
        </p:spPr>
        <p:txBody>
          <a:bodyPr/>
          <a:lstStyle/>
          <a:p>
            <a:endParaRPr lang="en-US"/>
          </a:p>
        </p:txBody>
      </p:sp>
      <p:sp>
        <p:nvSpPr>
          <p:cNvPr id="39" name="Shape 31"/>
          <p:cNvSpPr/>
          <p:nvPr/>
        </p:nvSpPr>
        <p:spPr>
          <a:xfrm>
            <a:off x="6345936" y="4151376"/>
            <a:ext cx="548640" cy="548640"/>
          </a:xfrm>
          <a:prstGeom prst="ellipse">
            <a:avLst/>
          </a:prstGeom>
          <a:solidFill>
            <a:srgbClr val="6E7B8C"/>
          </a:solidFill>
          <a:ln/>
        </p:spPr>
        <p:txBody>
          <a:bodyPr/>
          <a:lstStyle/>
          <a:p>
            <a:endParaRPr lang="en-US"/>
          </a:p>
        </p:txBody>
      </p:sp>
      <p:pic>
        <p:nvPicPr>
          <p:cNvPr id="40" name="Image 5" descr="preencoded.png"/>
          <p:cNvPicPr>
            <a:picLocks noChangeAspect="1"/>
          </p:cNvPicPr>
          <p:nvPr/>
        </p:nvPicPr>
        <p:blipFill>
          <a:blip r:embed="rId8"/>
          <a:stretch>
            <a:fillRect/>
          </a:stretch>
        </p:blipFill>
        <p:spPr>
          <a:xfrm>
            <a:off x="6483096" y="4288536"/>
            <a:ext cx="274320" cy="274320"/>
          </a:xfrm>
          <a:prstGeom prst="rect">
            <a:avLst/>
          </a:prstGeom>
        </p:spPr>
      </p:pic>
      <p:sp>
        <p:nvSpPr>
          <p:cNvPr id="41" name="Text 32"/>
          <p:cNvSpPr txBox="1"/>
          <p:nvPr/>
        </p:nvSpPr>
        <p:spPr>
          <a:xfrm>
            <a:off x="7077456" y="3968496"/>
            <a:ext cx="4526280" cy="29260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Tags &amp; resource refs</a:t>
            </a:r>
            <a:endParaRPr lang="en-US" sz="1400" dirty="0"/>
          </a:p>
        </p:txBody>
      </p:sp>
      <p:sp>
        <p:nvSpPr>
          <p:cNvPr id="42" name="Text 33"/>
          <p:cNvSpPr txBox="1"/>
          <p:nvPr/>
        </p:nvSpPr>
        <p:spPr>
          <a:xfrm>
            <a:off x="7077456" y="4261104"/>
            <a:ext cx="4526280" cy="676656"/>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Free-form tags and links to the platform resources a task touches; both searchable, refs travel in event payloads.</a:t>
            </a:r>
            <a:endParaRPr lang="en-US" sz="1150" dirty="0"/>
          </a:p>
        </p:txBody>
      </p:sp>
      <p:sp>
        <p:nvSpPr>
          <p:cNvPr id="43" name="Shape 34"/>
          <p:cNvSpPr/>
          <p:nvPr/>
        </p:nvSpPr>
        <p:spPr>
          <a:xfrm>
            <a:off x="457200" y="5084064"/>
            <a:ext cx="5550408" cy="1097280"/>
          </a:xfrm>
          <a:prstGeom prst="roundRect">
            <a:avLst>
              <a:gd name="adj" fmla="val 5000"/>
            </a:avLst>
          </a:prstGeom>
          <a:solidFill>
            <a:schemeClr val="bg1"/>
          </a:solidFill>
          <a:ln/>
        </p:spPr>
        <p:txBody>
          <a:bodyPr/>
          <a:lstStyle/>
          <a:p>
            <a:endParaRPr lang="en-US"/>
          </a:p>
        </p:txBody>
      </p:sp>
      <p:sp>
        <p:nvSpPr>
          <p:cNvPr id="44" name="Shape 35"/>
          <p:cNvSpPr/>
          <p:nvPr/>
        </p:nvSpPr>
        <p:spPr>
          <a:xfrm>
            <a:off x="457200" y="5084064"/>
            <a:ext cx="5550408" cy="1097280"/>
          </a:xfrm>
          <a:prstGeom prst="roundRect">
            <a:avLst>
              <a:gd name="adj" fmla="val 5000"/>
            </a:avLst>
          </a:prstGeom>
          <a:solidFill>
            <a:schemeClr val="bg2"/>
          </a:solidFill>
          <a:ln/>
        </p:spPr>
        <p:txBody>
          <a:bodyPr/>
          <a:lstStyle/>
          <a:p>
            <a:endParaRPr lang="en-US"/>
          </a:p>
        </p:txBody>
      </p:sp>
      <p:sp>
        <p:nvSpPr>
          <p:cNvPr id="45" name="Shape 36"/>
          <p:cNvSpPr/>
          <p:nvPr/>
        </p:nvSpPr>
        <p:spPr>
          <a:xfrm>
            <a:off x="621792" y="5358384"/>
            <a:ext cx="548640" cy="548640"/>
          </a:xfrm>
          <a:prstGeom prst="ellipse">
            <a:avLst/>
          </a:prstGeom>
          <a:solidFill>
            <a:srgbClr val="6E7B8C"/>
          </a:solidFill>
          <a:ln/>
        </p:spPr>
        <p:txBody>
          <a:bodyPr/>
          <a:lstStyle/>
          <a:p>
            <a:endParaRPr lang="en-US"/>
          </a:p>
        </p:txBody>
      </p:sp>
      <p:pic>
        <p:nvPicPr>
          <p:cNvPr id="46" name="Image 6" descr="preencoded.png"/>
          <p:cNvPicPr>
            <a:picLocks noChangeAspect="1"/>
          </p:cNvPicPr>
          <p:nvPr/>
        </p:nvPicPr>
        <p:blipFill>
          <a:blip r:embed="rId9"/>
          <a:stretch>
            <a:fillRect/>
          </a:stretch>
        </p:blipFill>
        <p:spPr>
          <a:xfrm>
            <a:off x="758952" y="5495544"/>
            <a:ext cx="274320" cy="274320"/>
          </a:xfrm>
          <a:prstGeom prst="rect">
            <a:avLst/>
          </a:prstGeom>
        </p:spPr>
      </p:pic>
      <p:sp>
        <p:nvSpPr>
          <p:cNvPr id="47" name="Text 37"/>
          <p:cNvSpPr txBox="1"/>
          <p:nvPr/>
        </p:nvSpPr>
        <p:spPr>
          <a:xfrm>
            <a:off x="1353312" y="5175504"/>
            <a:ext cx="4526280" cy="29260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Progress events &amp; policies</a:t>
            </a:r>
            <a:endParaRPr lang="en-US" sz="1400" dirty="0"/>
          </a:p>
        </p:txBody>
      </p:sp>
      <p:sp>
        <p:nvSpPr>
          <p:cNvPr id="48" name="Text 38"/>
          <p:cNvSpPr txBox="1"/>
          <p:nvPr/>
        </p:nvSpPr>
        <p:spPr>
          <a:xfrm>
            <a:off x="1353312" y="5468112"/>
            <a:ext cx="4526280" cy="676656"/>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Per type / queue: none · milestones · all, flushed in batches. event_policies choose which lifecycle events get published.</a:t>
            </a:r>
            <a:endParaRPr lang="en-US" sz="1150" dirty="0"/>
          </a:p>
        </p:txBody>
      </p:sp>
      <p:sp>
        <p:nvSpPr>
          <p:cNvPr id="49" name="Shape 39"/>
          <p:cNvSpPr/>
          <p:nvPr/>
        </p:nvSpPr>
        <p:spPr>
          <a:xfrm>
            <a:off x="6181344" y="5084064"/>
            <a:ext cx="5550408" cy="1097280"/>
          </a:xfrm>
          <a:prstGeom prst="roundRect">
            <a:avLst>
              <a:gd name="adj" fmla="val 5000"/>
            </a:avLst>
          </a:prstGeom>
          <a:solidFill>
            <a:schemeClr val="bg1"/>
          </a:solidFill>
          <a:ln/>
        </p:spPr>
        <p:txBody>
          <a:bodyPr/>
          <a:lstStyle/>
          <a:p>
            <a:endParaRPr lang="en-US"/>
          </a:p>
        </p:txBody>
      </p:sp>
      <p:sp>
        <p:nvSpPr>
          <p:cNvPr id="50" name="Shape 40"/>
          <p:cNvSpPr/>
          <p:nvPr/>
        </p:nvSpPr>
        <p:spPr>
          <a:xfrm>
            <a:off x="6181344" y="5084064"/>
            <a:ext cx="5550408" cy="1097280"/>
          </a:xfrm>
          <a:prstGeom prst="roundRect">
            <a:avLst>
              <a:gd name="adj" fmla="val 5000"/>
            </a:avLst>
          </a:prstGeom>
          <a:solidFill>
            <a:schemeClr val="bg2"/>
          </a:solidFill>
          <a:ln/>
        </p:spPr>
        <p:txBody>
          <a:bodyPr/>
          <a:lstStyle/>
          <a:p>
            <a:endParaRPr lang="en-US"/>
          </a:p>
        </p:txBody>
      </p:sp>
      <p:sp>
        <p:nvSpPr>
          <p:cNvPr id="51" name="Shape 41"/>
          <p:cNvSpPr/>
          <p:nvPr/>
        </p:nvSpPr>
        <p:spPr>
          <a:xfrm>
            <a:off x="6345936" y="5358384"/>
            <a:ext cx="548640" cy="548640"/>
          </a:xfrm>
          <a:prstGeom prst="ellipse">
            <a:avLst/>
          </a:prstGeom>
          <a:solidFill>
            <a:srgbClr val="6E7B8C"/>
          </a:solidFill>
          <a:ln/>
        </p:spPr>
        <p:txBody>
          <a:bodyPr/>
          <a:lstStyle/>
          <a:p>
            <a:endParaRPr lang="en-US"/>
          </a:p>
        </p:txBody>
      </p:sp>
      <p:pic>
        <p:nvPicPr>
          <p:cNvPr id="52" name="Image 7" descr="preencoded.png"/>
          <p:cNvPicPr>
            <a:picLocks noChangeAspect="1"/>
          </p:cNvPicPr>
          <p:nvPr/>
        </p:nvPicPr>
        <p:blipFill>
          <a:blip r:embed="rId10"/>
          <a:stretch>
            <a:fillRect/>
          </a:stretch>
        </p:blipFill>
        <p:spPr>
          <a:xfrm>
            <a:off x="6483096" y="5495544"/>
            <a:ext cx="274320" cy="274320"/>
          </a:xfrm>
          <a:prstGeom prst="rect">
            <a:avLst/>
          </a:prstGeom>
        </p:spPr>
      </p:pic>
      <p:sp>
        <p:nvSpPr>
          <p:cNvPr id="53" name="Text 42"/>
          <p:cNvSpPr txBox="1"/>
          <p:nvPr/>
        </p:nvSpPr>
        <p:spPr>
          <a:xfrm>
            <a:off x="7077456" y="5175504"/>
            <a:ext cx="4526280" cy="292608"/>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Recurring tasks &amp; ready cache</a:t>
            </a:r>
            <a:endParaRPr lang="en-US" sz="1400" dirty="0"/>
          </a:p>
        </p:txBody>
      </p:sp>
      <p:sp>
        <p:nvSpPr>
          <p:cNvPr id="54" name="Text 43"/>
          <p:cNvSpPr txBox="1"/>
          <p:nvPr/>
        </p:nvSpPr>
        <p:spPr>
          <a:xfrm>
            <a:off x="7077456" y="5468112"/>
            <a:ext cx="4526280" cy="676656"/>
          </a:xfrm>
          <a:prstGeom prst="rect">
            <a:avLst/>
          </a:prstGeom>
          <a:noFill/>
          <a:ln/>
        </p:spPr>
        <p:txBody>
          <a:bodyPr wrap="square" lIns="0" tIns="0" rIns="0" bIns="0" rtlCol="0" anchor="t"/>
          <a:lstStyle/>
          <a:p>
            <a:pPr marL="0" indent="0">
              <a:buNone/>
            </a:pPr>
            <a:r>
              <a:rPr lang="en-US" sz="1150" dirty="0">
                <a:solidFill>
                  <a:schemeClr val="tx1"/>
                </a:solidFill>
                <a:latin typeface="Calibri" pitchFamily="34" charset="0"/>
                <a:ea typeface="Calibri" pitchFamily="34" charset="-122"/>
                <a:cs typeface="Calibri" pitchFamily="34" charset="-120"/>
              </a:rPr>
              <a:t>Cron schedules with overlap policy (skip / enqueue / cancel-previous). Optional Cluster cache speeds dispatch; DB stays authoritative.</a:t>
            </a:r>
            <a:endParaRPr lang="en-US" sz="115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74552" cy="566928"/>
          </a:xfrm>
          <a:prstGeom prst="rect">
            <a:avLst/>
          </a:prstGeom>
          <a:noFill/>
          <a:ln/>
        </p:spPr>
        <p:txBody>
          <a:bodyPr wrap="square" lIns="0" tIns="0" rIns="0" bIns="0" rtlCol="0" anchor="ctr"/>
          <a:lstStyle/>
          <a:p>
            <a:pPr marL="0" indent="0" algn="l">
              <a:buNone/>
            </a:pPr>
            <a:r>
              <a:rPr lang="en-US" sz="3200" b="1" dirty="0">
                <a:solidFill>
                  <a:schemeClr val="tx1"/>
                </a:solidFill>
                <a:latin typeface="Arial" pitchFamily="34" charset="0"/>
                <a:ea typeface="Arial" pitchFamily="34" charset="-122"/>
                <a:cs typeface="Arial" pitchFamily="34" charset="-120"/>
              </a:rPr>
              <a:t>P3 in brief: multi-DB storage and fine tuning</a:t>
            </a:r>
            <a:endParaRPr lang="en-US" sz="3200" dirty="0"/>
          </a:p>
        </p:txBody>
      </p:sp>
      <p:sp>
        <p:nvSpPr>
          <p:cNvPr id="3" name="Text 0"/>
          <p:cNvSpPr>
            <a:spLocks noGrp="1"/>
          </p:cNvSpPr>
          <p:nvPr>
            <p:ph type="body" idx="101" hasCustomPrompt="1"/>
          </p:nvPr>
        </p:nvSpPr>
        <p:spPr>
          <a:xfrm>
            <a:off x="457200" y="896112"/>
            <a:ext cx="11274552" cy="384048"/>
          </a:xfrm>
          <a:prstGeom prst="rect">
            <a:avLst/>
          </a:prstGeom>
          <a:noFill/>
          <a:ln/>
        </p:spPr>
        <p:txBody>
          <a:bodyPr wrap="square" lIns="0" tIns="0" rIns="0" bIns="0" rtlCol="0" anchor="t"/>
          <a:lstStyle/>
          <a:p>
            <a:pPr marL="0" indent="0">
              <a:buNone/>
            </a:pPr>
            <a:r>
              <a:rPr lang="en-US" sz="1600" dirty="0">
                <a:solidFill>
                  <a:schemeClr val="tx2"/>
                </a:solidFill>
              </a:rPr>
              <a:t>Advanced controls for large deployments; none of them change the P1 contracts</a:t>
            </a:r>
            <a:endParaRPr lang="en-US" sz="1600" dirty="0"/>
          </a:p>
        </p:txBody>
      </p:sp>
      <p:sp>
        <p:nvSpPr>
          <p:cNvPr id="5" name="Shape 2"/>
          <p:cNvSpPr/>
          <p:nvPr/>
        </p:nvSpPr>
        <p:spPr>
          <a:xfrm>
            <a:off x="10835640" y="905256"/>
            <a:ext cx="896112" cy="274320"/>
          </a:xfrm>
          <a:prstGeom prst="roundRect">
            <a:avLst>
              <a:gd name="adj" fmla="val 50000"/>
            </a:avLst>
          </a:prstGeom>
          <a:solidFill>
            <a:schemeClr val="bg1"/>
          </a:solidFill>
          <a:ln w="9525">
            <a:solidFill>
              <a:schemeClr val="tx2"/>
            </a:solidFill>
            <a:prstDash val="solid"/>
          </a:ln>
        </p:spPr>
        <p:txBody>
          <a:bodyPr/>
          <a:lstStyle/>
          <a:p>
            <a:endParaRPr lang="en-US"/>
          </a:p>
        </p:txBody>
      </p:sp>
      <p:sp>
        <p:nvSpPr>
          <p:cNvPr id="6" name="Text 3"/>
          <p:cNvSpPr txBox="1"/>
          <p:nvPr/>
        </p:nvSpPr>
        <p:spPr>
          <a:xfrm>
            <a:off x="10835640" y="905256"/>
            <a:ext cx="896112" cy="274320"/>
          </a:xfrm>
          <a:prstGeom prst="rect">
            <a:avLst/>
          </a:prstGeom>
          <a:noFill/>
          <a:ln/>
        </p:spPr>
        <p:txBody>
          <a:bodyPr wrap="square" lIns="0" tIns="0" rIns="0" bIns="0" rtlCol="0" anchor="ctr"/>
          <a:lstStyle/>
          <a:p>
            <a:pPr marL="0" indent="0" algn="ctr">
              <a:buNone/>
            </a:pPr>
            <a:r>
              <a:rPr lang="en-US" sz="1200" b="1" dirty="0">
                <a:solidFill>
                  <a:schemeClr val="tx1"/>
                </a:solidFill>
                <a:latin typeface="Calibri" pitchFamily="34" charset="0"/>
                <a:ea typeface="Calibri" pitchFamily="34" charset="-122"/>
                <a:cs typeface="Calibri" pitchFamily="34" charset="-120"/>
              </a:rPr>
              <a:t>P3</a:t>
            </a:r>
            <a:endParaRPr lang="en-US" sz="1200" dirty="0"/>
          </a:p>
        </p:txBody>
      </p:sp>
      <p:sp>
        <p:nvSpPr>
          <p:cNvPr id="7" name="Shape 4"/>
          <p:cNvSpPr/>
          <p:nvPr/>
        </p:nvSpPr>
        <p:spPr>
          <a:xfrm>
            <a:off x="457200" y="1463040"/>
            <a:ext cx="5212080" cy="4754880"/>
          </a:xfrm>
          <a:prstGeom prst="roundRect">
            <a:avLst>
              <a:gd name="adj" fmla="val 1154"/>
            </a:avLst>
          </a:prstGeom>
          <a:solidFill>
            <a:schemeClr val="bg1"/>
          </a:solidFill>
          <a:ln/>
        </p:spPr>
        <p:txBody>
          <a:bodyPr/>
          <a:lstStyle/>
          <a:p>
            <a:endParaRPr lang="en-US"/>
          </a:p>
        </p:txBody>
      </p:sp>
      <p:sp>
        <p:nvSpPr>
          <p:cNvPr id="8" name="Shape 5"/>
          <p:cNvSpPr/>
          <p:nvPr/>
        </p:nvSpPr>
        <p:spPr>
          <a:xfrm>
            <a:off x="457200" y="1463040"/>
            <a:ext cx="5444836" cy="4754880"/>
          </a:xfrm>
          <a:prstGeom prst="roundRect">
            <a:avLst>
              <a:gd name="adj" fmla="val 1154"/>
            </a:avLst>
          </a:prstGeom>
          <a:solidFill>
            <a:schemeClr val="bg2"/>
          </a:solidFill>
          <a:ln/>
        </p:spPr>
        <p:txBody>
          <a:bodyPr/>
          <a:lstStyle/>
          <a:p>
            <a:endParaRPr lang="en-US"/>
          </a:p>
        </p:txBody>
      </p:sp>
      <p:sp>
        <p:nvSpPr>
          <p:cNvPr id="11" name="Shape 8"/>
          <p:cNvSpPr/>
          <p:nvPr/>
        </p:nvSpPr>
        <p:spPr>
          <a:xfrm>
            <a:off x="2295236" y="1691732"/>
            <a:ext cx="1828800" cy="512064"/>
          </a:xfrm>
          <a:prstGeom prst="roundRect">
            <a:avLst>
              <a:gd name="adj" fmla="val 8000"/>
            </a:avLst>
          </a:prstGeom>
          <a:solidFill>
            <a:srgbClr val="F3ECFB"/>
          </a:solidFill>
          <a:ln w="15875">
            <a:solidFill>
              <a:schemeClr val="bg1">
                <a:lumMod val="50000"/>
              </a:schemeClr>
            </a:solidFill>
            <a:prstDash val="solid"/>
          </a:ln>
        </p:spPr>
        <p:txBody>
          <a:bodyPr anchor="ctr"/>
          <a:lstStyle/>
          <a:p>
            <a:pPr algn="ctr"/>
            <a:r>
              <a:rPr lang="en-US" sz="1200" b="1" dirty="0">
                <a:latin typeface="Calibri" pitchFamily="34" charset="0"/>
                <a:ea typeface="Calibri" pitchFamily="34" charset="-122"/>
                <a:cs typeface="Calibri" pitchFamily="34" charset="-120"/>
              </a:rPr>
              <a:t>create / claim / search</a:t>
            </a:r>
            <a:endParaRPr lang="en-US" sz="1200" dirty="0"/>
          </a:p>
        </p:txBody>
      </p:sp>
      <p:sp>
        <p:nvSpPr>
          <p:cNvPr id="14" name="Shape 11"/>
          <p:cNvSpPr/>
          <p:nvPr/>
        </p:nvSpPr>
        <p:spPr>
          <a:xfrm>
            <a:off x="868680" y="2529136"/>
            <a:ext cx="4658822" cy="512064"/>
          </a:xfrm>
          <a:prstGeom prst="roundRect">
            <a:avLst>
              <a:gd name="adj" fmla="val 8000"/>
            </a:avLst>
          </a:prstGeom>
          <a:solidFill>
            <a:schemeClr val="accent1">
              <a:alpha val="16000"/>
            </a:schemeClr>
          </a:solidFill>
          <a:ln w="15875">
            <a:solidFill>
              <a:schemeClr val="accent1"/>
            </a:solidFill>
            <a:prstDash val="solid"/>
          </a:ln>
        </p:spPr>
        <p:txBody>
          <a:bodyPr anchor="ctr"/>
          <a:lstStyle/>
          <a:p>
            <a:pPr algn="ctr"/>
            <a:r>
              <a:rPr lang="en-US" sz="1200" b="1" dirty="0">
                <a:latin typeface="Calibri" pitchFamily="34" charset="0"/>
                <a:ea typeface="Calibri" pitchFamily="34" charset="-122"/>
                <a:cs typeface="Calibri" pitchFamily="34" charset="-120"/>
              </a:rPr>
              <a:t>Task Engine</a:t>
            </a:r>
            <a:endParaRPr lang="en-US" sz="1200" dirty="0"/>
          </a:p>
        </p:txBody>
      </p:sp>
      <p:sp>
        <p:nvSpPr>
          <p:cNvPr id="16" name="Shape 13"/>
          <p:cNvSpPr/>
          <p:nvPr/>
        </p:nvSpPr>
        <p:spPr>
          <a:xfrm>
            <a:off x="3200121" y="2235502"/>
            <a:ext cx="0" cy="252000"/>
          </a:xfrm>
          <a:prstGeom prst="line">
            <a:avLst/>
          </a:prstGeom>
          <a:noFill/>
          <a:ln w="15875">
            <a:solidFill>
              <a:schemeClr val="tx2"/>
            </a:solidFill>
            <a:prstDash val="solid"/>
            <a:headEnd type="none"/>
            <a:tailEnd type="triangle"/>
          </a:ln>
        </p:spPr>
        <p:txBody>
          <a:bodyPr/>
          <a:lstStyle/>
          <a:p>
            <a:endParaRPr lang="en-US"/>
          </a:p>
        </p:txBody>
      </p:sp>
      <p:sp>
        <p:nvSpPr>
          <p:cNvPr id="17" name="Shape 14"/>
          <p:cNvSpPr/>
          <p:nvPr/>
        </p:nvSpPr>
        <p:spPr>
          <a:xfrm>
            <a:off x="868680" y="4585298"/>
            <a:ext cx="1069848" cy="734939"/>
          </a:xfrm>
          <a:prstGeom prst="can">
            <a:avLst/>
          </a:prstGeom>
          <a:solidFill>
            <a:schemeClr val="accent2"/>
          </a:solidFill>
          <a:ln w="15875">
            <a:solidFill>
              <a:schemeClr val="accent2"/>
            </a:solidFill>
            <a:prstDash val="solid"/>
          </a:ln>
        </p:spPr>
        <p:txBody>
          <a:bodyPr anchor="ctr"/>
          <a:lstStyle/>
          <a:p>
            <a:pPr algn="ctr"/>
            <a:r>
              <a:rPr lang="en-US" sz="1200" b="1" dirty="0">
                <a:solidFill>
                  <a:schemeClr val="bg1"/>
                </a:solidFill>
                <a:latin typeface="Calibri" pitchFamily="34" charset="0"/>
                <a:ea typeface="Calibri" pitchFamily="34" charset="-122"/>
                <a:cs typeface="Calibri" pitchFamily="34" charset="-120"/>
              </a:rPr>
              <a:t>Operational</a:t>
            </a:r>
            <a:br>
              <a:rPr lang="en-US" sz="1200" b="1" dirty="0">
                <a:solidFill>
                  <a:schemeClr val="bg1"/>
                </a:solidFill>
                <a:latin typeface="Calibri" pitchFamily="34" charset="0"/>
                <a:ea typeface="Calibri" pitchFamily="34" charset="-122"/>
                <a:cs typeface="Calibri" pitchFamily="34" charset="-120"/>
              </a:rPr>
            </a:br>
            <a:r>
              <a:rPr lang="en-US" sz="1200" b="1" dirty="0">
                <a:solidFill>
                  <a:schemeClr val="bg1"/>
                </a:solidFill>
                <a:latin typeface="Calibri" pitchFamily="34" charset="0"/>
                <a:ea typeface="Calibri" pitchFamily="34" charset="-122"/>
                <a:cs typeface="Calibri" pitchFamily="34" charset="-120"/>
              </a:rPr>
              <a:t>DB</a:t>
            </a:r>
            <a:endParaRPr lang="en-US" sz="1200" dirty="0"/>
          </a:p>
        </p:txBody>
      </p:sp>
      <p:sp>
        <p:nvSpPr>
          <p:cNvPr id="21" name="Shape 18"/>
          <p:cNvSpPr/>
          <p:nvPr/>
        </p:nvSpPr>
        <p:spPr>
          <a:xfrm flipH="1">
            <a:off x="1431268" y="3105852"/>
            <a:ext cx="0" cy="1440000"/>
          </a:xfrm>
          <a:prstGeom prst="line">
            <a:avLst/>
          </a:prstGeom>
          <a:noFill/>
          <a:ln w="15875">
            <a:solidFill>
              <a:srgbClr val="2668C5"/>
            </a:solidFill>
            <a:prstDash val="solid"/>
            <a:headEnd type="none"/>
            <a:tailEnd type="triangle"/>
          </a:ln>
        </p:spPr>
        <p:txBody>
          <a:bodyPr/>
          <a:lstStyle/>
          <a:p>
            <a:endParaRPr lang="en-US"/>
          </a:p>
        </p:txBody>
      </p:sp>
      <p:sp>
        <p:nvSpPr>
          <p:cNvPr id="24" name="Shape 21"/>
          <p:cNvSpPr/>
          <p:nvPr/>
        </p:nvSpPr>
        <p:spPr>
          <a:xfrm>
            <a:off x="6746698" y="1554480"/>
            <a:ext cx="438912" cy="438912"/>
          </a:xfrm>
          <a:prstGeom prst="ellipse">
            <a:avLst/>
          </a:prstGeom>
          <a:solidFill>
            <a:srgbClr val="6E7B8C"/>
          </a:solidFill>
          <a:ln/>
        </p:spPr>
        <p:txBody>
          <a:bodyPr/>
          <a:lstStyle/>
          <a:p>
            <a:endParaRPr lang="en-US"/>
          </a:p>
        </p:txBody>
      </p:sp>
      <p:pic>
        <p:nvPicPr>
          <p:cNvPr id="25" name="Image 0" descr="preencoded.png"/>
          <p:cNvPicPr>
            <a:picLocks noChangeAspect="1"/>
          </p:cNvPicPr>
          <p:nvPr/>
        </p:nvPicPr>
        <p:blipFill>
          <a:blip r:embed="rId3"/>
          <a:stretch>
            <a:fillRect/>
          </a:stretch>
        </p:blipFill>
        <p:spPr>
          <a:xfrm>
            <a:off x="6856426" y="1664208"/>
            <a:ext cx="219456" cy="219456"/>
          </a:xfrm>
          <a:prstGeom prst="rect">
            <a:avLst/>
          </a:prstGeom>
        </p:spPr>
      </p:pic>
      <p:sp>
        <p:nvSpPr>
          <p:cNvPr id="26" name="Text 22"/>
          <p:cNvSpPr txBox="1"/>
          <p:nvPr/>
        </p:nvSpPr>
        <p:spPr>
          <a:xfrm>
            <a:off x="7341058" y="1490472"/>
            <a:ext cx="512064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Checkpoint</a:t>
            </a:r>
            <a:endParaRPr lang="en-US" sz="1300" dirty="0"/>
          </a:p>
        </p:txBody>
      </p:sp>
      <p:sp>
        <p:nvSpPr>
          <p:cNvPr id="27" name="Text 23"/>
          <p:cNvSpPr txBox="1"/>
          <p:nvPr/>
        </p:nvSpPr>
        <p:spPr>
          <a:xfrm>
            <a:off x="7341058" y="1764792"/>
            <a:ext cx="5120640" cy="29260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key-level merge into context; revision-guarded; 64 KiB cap</a:t>
            </a:r>
            <a:endParaRPr lang="en-US" sz="1200" dirty="0"/>
          </a:p>
        </p:txBody>
      </p:sp>
      <p:sp>
        <p:nvSpPr>
          <p:cNvPr id="28" name="Shape 24"/>
          <p:cNvSpPr/>
          <p:nvPr/>
        </p:nvSpPr>
        <p:spPr>
          <a:xfrm>
            <a:off x="6746698" y="2240280"/>
            <a:ext cx="438912" cy="438912"/>
          </a:xfrm>
          <a:prstGeom prst="ellipse">
            <a:avLst/>
          </a:prstGeom>
          <a:solidFill>
            <a:srgbClr val="6E7B8C"/>
          </a:solidFill>
          <a:ln/>
        </p:spPr>
        <p:txBody>
          <a:bodyPr/>
          <a:lstStyle/>
          <a:p>
            <a:endParaRPr lang="en-US"/>
          </a:p>
        </p:txBody>
      </p:sp>
      <p:pic>
        <p:nvPicPr>
          <p:cNvPr id="29" name="Image 1" descr="preencoded.png"/>
          <p:cNvPicPr>
            <a:picLocks noChangeAspect="1"/>
          </p:cNvPicPr>
          <p:nvPr/>
        </p:nvPicPr>
        <p:blipFill>
          <a:blip r:embed="rId4"/>
          <a:stretch>
            <a:fillRect/>
          </a:stretch>
        </p:blipFill>
        <p:spPr>
          <a:xfrm>
            <a:off x="6856426" y="2350008"/>
            <a:ext cx="219456" cy="219456"/>
          </a:xfrm>
          <a:prstGeom prst="rect">
            <a:avLst/>
          </a:prstGeom>
        </p:spPr>
      </p:pic>
      <p:sp>
        <p:nvSpPr>
          <p:cNvPr id="30" name="Text 25"/>
          <p:cNvSpPr txBox="1"/>
          <p:nvPr/>
        </p:nvSpPr>
        <p:spPr>
          <a:xfrm>
            <a:off x="7341058" y="2176272"/>
            <a:ext cx="512064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CEL match expressions</a:t>
            </a:r>
            <a:endParaRPr lang="en-US" sz="1300" dirty="0"/>
          </a:p>
        </p:txBody>
      </p:sp>
      <p:sp>
        <p:nvSpPr>
          <p:cNvPr id="31" name="Text 26"/>
          <p:cNvSpPr txBox="1"/>
          <p:nvPr/>
        </p:nvSpPr>
        <p:spPr>
          <a:xfrm>
            <a:off x="7341058" y="2450592"/>
            <a:ext cx="5120640" cy="29260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filter event waits; AST size and 10 ms evaluation limits</a:t>
            </a:r>
            <a:endParaRPr lang="en-US" sz="1200" dirty="0"/>
          </a:p>
        </p:txBody>
      </p:sp>
      <p:sp>
        <p:nvSpPr>
          <p:cNvPr id="32" name="Shape 27"/>
          <p:cNvSpPr/>
          <p:nvPr/>
        </p:nvSpPr>
        <p:spPr>
          <a:xfrm>
            <a:off x="6746698" y="2926080"/>
            <a:ext cx="438912" cy="438912"/>
          </a:xfrm>
          <a:prstGeom prst="ellipse">
            <a:avLst/>
          </a:prstGeom>
          <a:solidFill>
            <a:srgbClr val="6E7B8C"/>
          </a:solidFill>
          <a:ln/>
        </p:spPr>
        <p:txBody>
          <a:bodyPr/>
          <a:lstStyle/>
          <a:p>
            <a:endParaRPr lang="en-US"/>
          </a:p>
        </p:txBody>
      </p:sp>
      <p:pic>
        <p:nvPicPr>
          <p:cNvPr id="33" name="Image 2" descr="preencoded.png"/>
          <p:cNvPicPr>
            <a:picLocks noChangeAspect="1"/>
          </p:cNvPicPr>
          <p:nvPr/>
        </p:nvPicPr>
        <p:blipFill>
          <a:blip r:embed="rId5"/>
          <a:stretch>
            <a:fillRect/>
          </a:stretch>
        </p:blipFill>
        <p:spPr>
          <a:xfrm>
            <a:off x="6856426" y="3035808"/>
            <a:ext cx="219456" cy="219456"/>
          </a:xfrm>
          <a:prstGeom prst="rect">
            <a:avLst/>
          </a:prstGeom>
        </p:spPr>
      </p:pic>
      <p:sp>
        <p:nvSpPr>
          <p:cNvPr id="34" name="Text 28"/>
          <p:cNvSpPr txBox="1"/>
          <p:nvPr/>
        </p:nvSpPr>
        <p:spPr>
          <a:xfrm>
            <a:off x="7341058" y="2862072"/>
            <a:ext cx="512064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Worker blacklisting</a:t>
            </a:r>
            <a:endParaRPr lang="en-US" sz="1300" dirty="0"/>
          </a:p>
        </p:txBody>
      </p:sp>
      <p:sp>
        <p:nvSpPr>
          <p:cNvPr id="35" name="Text 29"/>
          <p:cNvSpPr txBox="1"/>
          <p:nvPr/>
        </p:nvSpPr>
        <p:spPr>
          <a:xfrm>
            <a:off x="7341058" y="3136392"/>
            <a:ext cx="5120640" cy="29260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10 consecutive worker-attributed failures → off the queue for 60 min</a:t>
            </a:r>
            <a:endParaRPr lang="en-US" sz="1200" dirty="0"/>
          </a:p>
        </p:txBody>
      </p:sp>
      <p:sp>
        <p:nvSpPr>
          <p:cNvPr id="36" name="Shape 30"/>
          <p:cNvSpPr/>
          <p:nvPr/>
        </p:nvSpPr>
        <p:spPr>
          <a:xfrm>
            <a:off x="6746698" y="3611880"/>
            <a:ext cx="438912" cy="438912"/>
          </a:xfrm>
          <a:prstGeom prst="ellipse">
            <a:avLst/>
          </a:prstGeom>
          <a:solidFill>
            <a:srgbClr val="6E7B8C"/>
          </a:solidFill>
          <a:ln/>
        </p:spPr>
        <p:txBody>
          <a:bodyPr/>
          <a:lstStyle/>
          <a:p>
            <a:endParaRPr lang="en-US"/>
          </a:p>
        </p:txBody>
      </p:sp>
      <p:pic>
        <p:nvPicPr>
          <p:cNvPr id="37" name="Image 3" descr="preencoded.png"/>
          <p:cNvPicPr>
            <a:picLocks noChangeAspect="1"/>
          </p:cNvPicPr>
          <p:nvPr/>
        </p:nvPicPr>
        <p:blipFill>
          <a:blip r:embed="rId6"/>
          <a:stretch>
            <a:fillRect/>
          </a:stretch>
        </p:blipFill>
        <p:spPr>
          <a:xfrm>
            <a:off x="6856426" y="3721608"/>
            <a:ext cx="219456" cy="219456"/>
          </a:xfrm>
          <a:prstGeom prst="rect">
            <a:avLst/>
          </a:prstGeom>
        </p:spPr>
      </p:pic>
      <p:sp>
        <p:nvSpPr>
          <p:cNvPr id="38" name="Text 31"/>
          <p:cNvSpPr txBox="1"/>
          <p:nvPr/>
        </p:nvSpPr>
        <p:spPr>
          <a:xfrm>
            <a:off x="7341058" y="3547872"/>
            <a:ext cx="512064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Reassignment / handoff</a:t>
            </a:r>
            <a:endParaRPr lang="en-US" sz="1300" dirty="0"/>
          </a:p>
        </p:txBody>
      </p:sp>
      <p:sp>
        <p:nvSpPr>
          <p:cNvPr id="39" name="Text 32"/>
          <p:cNvSpPr txBox="1"/>
          <p:nvPr/>
        </p:nvSpPr>
        <p:spPr>
          <a:xfrm>
            <a:off x="7341058" y="3822192"/>
            <a:ext cx="5120640" cy="29260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new lease_token and epoch+1 fence out the previous worker</a:t>
            </a:r>
            <a:endParaRPr lang="en-US" sz="1200" dirty="0"/>
          </a:p>
        </p:txBody>
      </p:sp>
      <p:sp>
        <p:nvSpPr>
          <p:cNvPr id="40" name="Shape 33"/>
          <p:cNvSpPr/>
          <p:nvPr/>
        </p:nvSpPr>
        <p:spPr>
          <a:xfrm>
            <a:off x="6746698" y="4297680"/>
            <a:ext cx="438912" cy="438912"/>
          </a:xfrm>
          <a:prstGeom prst="ellipse">
            <a:avLst/>
          </a:prstGeom>
          <a:solidFill>
            <a:srgbClr val="6E7B8C"/>
          </a:solidFill>
          <a:ln/>
        </p:spPr>
        <p:txBody>
          <a:bodyPr/>
          <a:lstStyle/>
          <a:p>
            <a:endParaRPr lang="en-US"/>
          </a:p>
        </p:txBody>
      </p:sp>
      <p:pic>
        <p:nvPicPr>
          <p:cNvPr id="41" name="Image 4" descr="preencoded.png"/>
          <p:cNvPicPr>
            <a:picLocks noChangeAspect="1"/>
          </p:cNvPicPr>
          <p:nvPr/>
        </p:nvPicPr>
        <p:blipFill>
          <a:blip r:embed="rId7"/>
          <a:stretch>
            <a:fillRect/>
          </a:stretch>
        </p:blipFill>
        <p:spPr>
          <a:xfrm>
            <a:off x="6856426" y="4407408"/>
            <a:ext cx="219456" cy="219456"/>
          </a:xfrm>
          <a:prstGeom prst="rect">
            <a:avLst/>
          </a:prstGeom>
        </p:spPr>
      </p:pic>
      <p:sp>
        <p:nvSpPr>
          <p:cNvPr id="42" name="Text 34"/>
          <p:cNvSpPr txBox="1"/>
          <p:nvPr/>
        </p:nvSpPr>
        <p:spPr>
          <a:xfrm>
            <a:off x="7341058" y="4233672"/>
            <a:ext cx="512064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Priority aging</a:t>
            </a:r>
            <a:endParaRPr lang="en-US" sz="1300" dirty="0"/>
          </a:p>
        </p:txBody>
      </p:sp>
      <p:sp>
        <p:nvSpPr>
          <p:cNvPr id="43" name="Text 35"/>
          <p:cNvSpPr txBox="1"/>
          <p:nvPr/>
        </p:nvSpPr>
        <p:spPr>
          <a:xfrm>
            <a:off x="7341058" y="4507992"/>
            <a:ext cx="5120640" cy="29260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boost tasks that have waited too long</a:t>
            </a:r>
            <a:endParaRPr lang="en-US" sz="1200" dirty="0"/>
          </a:p>
        </p:txBody>
      </p:sp>
      <p:sp>
        <p:nvSpPr>
          <p:cNvPr id="44" name="Shape 36"/>
          <p:cNvSpPr/>
          <p:nvPr/>
        </p:nvSpPr>
        <p:spPr>
          <a:xfrm>
            <a:off x="6746698" y="4983480"/>
            <a:ext cx="438912" cy="438912"/>
          </a:xfrm>
          <a:prstGeom prst="ellipse">
            <a:avLst/>
          </a:prstGeom>
          <a:solidFill>
            <a:srgbClr val="6E7B8C"/>
          </a:solidFill>
          <a:ln/>
        </p:spPr>
        <p:txBody>
          <a:bodyPr/>
          <a:lstStyle/>
          <a:p>
            <a:endParaRPr lang="en-US"/>
          </a:p>
        </p:txBody>
      </p:sp>
      <p:pic>
        <p:nvPicPr>
          <p:cNvPr id="45" name="Image 5" descr="preencoded.png"/>
          <p:cNvPicPr>
            <a:picLocks noChangeAspect="1"/>
          </p:cNvPicPr>
          <p:nvPr/>
        </p:nvPicPr>
        <p:blipFill>
          <a:blip r:embed="rId8"/>
          <a:stretch>
            <a:fillRect/>
          </a:stretch>
        </p:blipFill>
        <p:spPr>
          <a:xfrm>
            <a:off x="6856426" y="5093208"/>
            <a:ext cx="219456" cy="219456"/>
          </a:xfrm>
          <a:prstGeom prst="rect">
            <a:avLst/>
          </a:prstGeom>
        </p:spPr>
      </p:pic>
      <p:sp>
        <p:nvSpPr>
          <p:cNvPr id="46" name="Text 37"/>
          <p:cNvSpPr txBox="1"/>
          <p:nvPr/>
        </p:nvSpPr>
        <p:spPr>
          <a:xfrm>
            <a:off x="7341058" y="4919472"/>
            <a:ext cx="512064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Runtime config updates</a:t>
            </a:r>
            <a:endParaRPr lang="en-US" sz="1300" dirty="0"/>
          </a:p>
        </p:txBody>
      </p:sp>
      <p:sp>
        <p:nvSpPr>
          <p:cNvPr id="47" name="Text 38"/>
          <p:cNvSpPr txBox="1"/>
          <p:nvPr/>
        </p:nvSpPr>
        <p:spPr>
          <a:xfrm>
            <a:off x="7341058" y="5193792"/>
            <a:ext cx="5120640" cy="29260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admin API changes limits live; emits configUpdated</a:t>
            </a:r>
            <a:endParaRPr lang="en-US" sz="1200" dirty="0"/>
          </a:p>
        </p:txBody>
      </p:sp>
      <p:sp>
        <p:nvSpPr>
          <p:cNvPr id="48" name="Shape 39"/>
          <p:cNvSpPr/>
          <p:nvPr/>
        </p:nvSpPr>
        <p:spPr>
          <a:xfrm>
            <a:off x="6746698" y="5669280"/>
            <a:ext cx="438912" cy="438912"/>
          </a:xfrm>
          <a:prstGeom prst="ellipse">
            <a:avLst/>
          </a:prstGeom>
          <a:solidFill>
            <a:srgbClr val="6E7B8C"/>
          </a:solidFill>
          <a:ln/>
        </p:spPr>
        <p:txBody>
          <a:bodyPr/>
          <a:lstStyle/>
          <a:p>
            <a:endParaRPr lang="en-US"/>
          </a:p>
        </p:txBody>
      </p:sp>
      <p:pic>
        <p:nvPicPr>
          <p:cNvPr id="49" name="Image 6" descr="preencoded.png"/>
          <p:cNvPicPr>
            <a:picLocks noChangeAspect="1"/>
          </p:cNvPicPr>
          <p:nvPr/>
        </p:nvPicPr>
        <p:blipFill>
          <a:blip r:embed="rId9"/>
          <a:stretch>
            <a:fillRect/>
          </a:stretch>
        </p:blipFill>
        <p:spPr>
          <a:xfrm>
            <a:off x="6856426" y="5779008"/>
            <a:ext cx="219456" cy="219456"/>
          </a:xfrm>
          <a:prstGeom prst="rect">
            <a:avLst/>
          </a:prstGeom>
        </p:spPr>
      </p:pic>
      <p:sp>
        <p:nvSpPr>
          <p:cNvPr id="50" name="Text 40"/>
          <p:cNvSpPr txBox="1"/>
          <p:nvPr/>
        </p:nvSpPr>
        <p:spPr>
          <a:xfrm>
            <a:off x="7341058" y="5605272"/>
            <a:ext cx="5120640" cy="274320"/>
          </a:xfrm>
          <a:prstGeom prst="rect">
            <a:avLst/>
          </a:prstGeom>
          <a:noFill/>
          <a:ln/>
        </p:spPr>
        <p:txBody>
          <a:bodyPr wrap="square" lIns="0" tIns="0" rIns="0" bIns="0" rtlCol="0" anchor="t"/>
          <a:lstStyle/>
          <a:p>
            <a:pPr marL="0" indent="0">
              <a:buNone/>
            </a:pPr>
            <a:r>
              <a:rPr lang="en-US" sz="1300" b="1" dirty="0">
                <a:solidFill>
                  <a:schemeClr val="tx1"/>
                </a:solidFill>
                <a:latin typeface="Calibri" pitchFamily="34" charset="0"/>
                <a:ea typeface="Calibri" pitchFamily="34" charset="-122"/>
                <a:cs typeface="Calibri" pitchFamily="34" charset="-120"/>
              </a:rPr>
              <a:t>Non-operational data plugins</a:t>
            </a:r>
            <a:endParaRPr lang="en-US" sz="1300" dirty="0"/>
          </a:p>
        </p:txBody>
      </p:sp>
      <p:sp>
        <p:nvSpPr>
          <p:cNvPr id="51" name="Text 41"/>
          <p:cNvSpPr txBox="1"/>
          <p:nvPr/>
        </p:nvSpPr>
        <p:spPr>
          <a:xfrm>
            <a:off x="7341058" y="5879592"/>
            <a:ext cx="5120640" cy="292608"/>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cs typeface="Calibri" pitchFamily="34" charset="-120"/>
              </a:rPr>
              <a:t>Payload store, search, analytics, history</a:t>
            </a:r>
            <a:endParaRPr lang="en-US" sz="1200" dirty="0"/>
          </a:p>
        </p:txBody>
      </p:sp>
      <p:sp>
        <p:nvSpPr>
          <p:cNvPr id="4" name="Slide Number Placeholder 0"/>
          <p:cNvSpPr>
            <a:spLocks noGrp="1"/>
          </p:cNvSpPr>
          <p:nvPr>
            <p:ph type="sldNum" sz="quarter" idx="4294967295"/>
          </p:nvPr>
        </p:nvSpPr>
        <p:spPr>
          <a:xfrm>
            <a:off x="11274552" y="6446520"/>
            <a:ext cx="45720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35</a:t>
            </a:fld>
            <a:endParaRPr lang="en-US"/>
          </a:p>
        </p:txBody>
      </p:sp>
      <p:sp>
        <p:nvSpPr>
          <p:cNvPr id="52" name="Shape 11">
            <a:extLst>
              <a:ext uri="{FF2B5EF4-FFF2-40B4-BE49-F238E27FC236}">
                <a16:creationId xmlns:a16="http://schemas.microsoft.com/office/drawing/2014/main" id="{4CAB18AE-8873-D2CF-5672-FC7C518E4757}"/>
              </a:ext>
            </a:extLst>
          </p:cNvPr>
          <p:cNvSpPr/>
          <p:nvPr/>
        </p:nvSpPr>
        <p:spPr>
          <a:xfrm>
            <a:off x="2095547" y="3452996"/>
            <a:ext cx="1060006" cy="512064"/>
          </a:xfrm>
          <a:prstGeom prst="roundRect">
            <a:avLst>
              <a:gd name="adj" fmla="val 8000"/>
            </a:avLst>
          </a:prstGeom>
          <a:solidFill>
            <a:schemeClr val="accent5">
              <a:lumMod val="75000"/>
            </a:schemeClr>
          </a:solidFill>
          <a:ln w="15875">
            <a:solidFill>
              <a:schemeClr val="accent5">
                <a:lumMod val="50000"/>
              </a:schemeClr>
            </a:solidFill>
            <a:prstDash val="solid"/>
          </a:ln>
        </p:spPr>
        <p:txBody>
          <a:bodyPr anchor="ctr"/>
          <a:lstStyle/>
          <a:p>
            <a:pPr algn="ctr"/>
            <a:r>
              <a:rPr lang="en-US" sz="1100" b="1" dirty="0">
                <a:solidFill>
                  <a:schemeClr val="bg1"/>
                </a:solidFill>
                <a:latin typeface="Calibri" pitchFamily="34" charset="0"/>
                <a:cs typeface="Calibri" pitchFamily="34" charset="-120"/>
              </a:rPr>
              <a:t>Payload storage </a:t>
            </a:r>
            <a:r>
              <a:rPr lang="en-US" sz="1100" dirty="0">
                <a:solidFill>
                  <a:schemeClr val="bg1"/>
                </a:solidFill>
                <a:latin typeface="Calibri" pitchFamily="34" charset="0"/>
                <a:cs typeface="Calibri" pitchFamily="34" charset="-120"/>
              </a:rPr>
              <a:t>plugin</a:t>
            </a:r>
            <a:endParaRPr lang="en-US" sz="1100" dirty="0">
              <a:solidFill>
                <a:schemeClr val="bg1"/>
              </a:solidFill>
            </a:endParaRPr>
          </a:p>
        </p:txBody>
      </p:sp>
      <p:sp>
        <p:nvSpPr>
          <p:cNvPr id="54" name="Shape 11">
            <a:extLst>
              <a:ext uri="{FF2B5EF4-FFF2-40B4-BE49-F238E27FC236}">
                <a16:creationId xmlns:a16="http://schemas.microsoft.com/office/drawing/2014/main" id="{545E48CC-4EE3-1DCA-9994-CDF7FE3CAE50}"/>
              </a:ext>
            </a:extLst>
          </p:cNvPr>
          <p:cNvSpPr/>
          <p:nvPr/>
        </p:nvSpPr>
        <p:spPr>
          <a:xfrm>
            <a:off x="3289828" y="3448580"/>
            <a:ext cx="1060006" cy="512064"/>
          </a:xfrm>
          <a:prstGeom prst="roundRect">
            <a:avLst>
              <a:gd name="adj" fmla="val 8000"/>
            </a:avLst>
          </a:prstGeom>
          <a:solidFill>
            <a:schemeClr val="accent5">
              <a:lumMod val="75000"/>
            </a:schemeClr>
          </a:solidFill>
          <a:ln w="15875">
            <a:solidFill>
              <a:schemeClr val="accent5">
                <a:lumMod val="50000"/>
              </a:schemeClr>
            </a:solidFill>
            <a:prstDash val="solid"/>
          </a:ln>
        </p:spPr>
        <p:txBody>
          <a:bodyPr anchor="ctr"/>
          <a:lstStyle/>
          <a:p>
            <a:pPr algn="ctr"/>
            <a:r>
              <a:rPr lang="en-US" sz="1100" b="1" dirty="0">
                <a:solidFill>
                  <a:schemeClr val="bg1"/>
                </a:solidFill>
                <a:latin typeface="Calibri" pitchFamily="34" charset="0"/>
                <a:cs typeface="Calibri" pitchFamily="34" charset="-120"/>
              </a:rPr>
              <a:t>Search index</a:t>
            </a:r>
            <a:br>
              <a:rPr lang="en-US" sz="1100" b="1" dirty="0">
                <a:solidFill>
                  <a:schemeClr val="bg1"/>
                </a:solidFill>
                <a:latin typeface="Calibri" pitchFamily="34" charset="0"/>
                <a:cs typeface="Calibri" pitchFamily="34" charset="-120"/>
              </a:rPr>
            </a:br>
            <a:r>
              <a:rPr lang="en-US" sz="1100" dirty="0">
                <a:solidFill>
                  <a:schemeClr val="bg1"/>
                </a:solidFill>
                <a:latin typeface="Calibri" pitchFamily="34" charset="0"/>
                <a:cs typeface="Calibri" pitchFamily="34" charset="-120"/>
              </a:rPr>
              <a:t>plugin</a:t>
            </a:r>
            <a:endParaRPr lang="en-US" sz="1100" dirty="0">
              <a:solidFill>
                <a:schemeClr val="bg1"/>
              </a:solidFill>
            </a:endParaRPr>
          </a:p>
        </p:txBody>
      </p:sp>
      <p:sp>
        <p:nvSpPr>
          <p:cNvPr id="55" name="Shape 11">
            <a:extLst>
              <a:ext uri="{FF2B5EF4-FFF2-40B4-BE49-F238E27FC236}">
                <a16:creationId xmlns:a16="http://schemas.microsoft.com/office/drawing/2014/main" id="{3675D154-658F-8DAD-BAAE-D29D9A2E5724}"/>
              </a:ext>
            </a:extLst>
          </p:cNvPr>
          <p:cNvSpPr/>
          <p:nvPr/>
        </p:nvSpPr>
        <p:spPr>
          <a:xfrm>
            <a:off x="4472114" y="3448580"/>
            <a:ext cx="1060006" cy="512064"/>
          </a:xfrm>
          <a:prstGeom prst="roundRect">
            <a:avLst>
              <a:gd name="adj" fmla="val 8000"/>
            </a:avLst>
          </a:prstGeom>
          <a:solidFill>
            <a:schemeClr val="accent5">
              <a:lumMod val="75000"/>
            </a:schemeClr>
          </a:solidFill>
          <a:ln w="15875">
            <a:solidFill>
              <a:schemeClr val="accent5">
                <a:lumMod val="50000"/>
              </a:schemeClr>
            </a:solidFill>
            <a:prstDash val="solid"/>
          </a:ln>
        </p:spPr>
        <p:txBody>
          <a:bodyPr anchor="ctr"/>
          <a:lstStyle/>
          <a:p>
            <a:pPr algn="ctr"/>
            <a:r>
              <a:rPr lang="en-US" sz="1100" b="1" dirty="0">
                <a:solidFill>
                  <a:schemeClr val="bg1"/>
                </a:solidFill>
                <a:latin typeface="Calibri" pitchFamily="34" charset="0"/>
                <a:cs typeface="Calibri" pitchFamily="34" charset="-120"/>
              </a:rPr>
              <a:t>Archiving</a:t>
            </a:r>
            <a:br>
              <a:rPr lang="en-US" sz="1100" b="1" dirty="0">
                <a:solidFill>
                  <a:schemeClr val="bg1"/>
                </a:solidFill>
                <a:latin typeface="Calibri" pitchFamily="34" charset="0"/>
                <a:cs typeface="Calibri" pitchFamily="34" charset="-120"/>
              </a:rPr>
            </a:br>
            <a:r>
              <a:rPr lang="en-US" sz="1100" dirty="0">
                <a:solidFill>
                  <a:schemeClr val="bg1"/>
                </a:solidFill>
                <a:latin typeface="Calibri" pitchFamily="34" charset="0"/>
                <a:cs typeface="Calibri" pitchFamily="34" charset="-120"/>
              </a:rPr>
              <a:t>plugin</a:t>
            </a:r>
            <a:endParaRPr lang="en-US" sz="1100" dirty="0">
              <a:solidFill>
                <a:schemeClr val="bg1"/>
              </a:solidFill>
            </a:endParaRPr>
          </a:p>
        </p:txBody>
      </p:sp>
      <p:sp>
        <p:nvSpPr>
          <p:cNvPr id="56" name="Shape 13">
            <a:extLst>
              <a:ext uri="{FF2B5EF4-FFF2-40B4-BE49-F238E27FC236}">
                <a16:creationId xmlns:a16="http://schemas.microsoft.com/office/drawing/2014/main" id="{2922172F-B4F6-E1FF-66FD-F43DE8A11518}"/>
              </a:ext>
            </a:extLst>
          </p:cNvPr>
          <p:cNvSpPr/>
          <p:nvPr/>
        </p:nvSpPr>
        <p:spPr>
          <a:xfrm>
            <a:off x="2667351" y="3100460"/>
            <a:ext cx="0" cy="288000"/>
          </a:xfrm>
          <a:prstGeom prst="line">
            <a:avLst/>
          </a:prstGeom>
          <a:noFill/>
          <a:ln w="15875">
            <a:solidFill>
              <a:schemeClr val="bg2">
                <a:lumMod val="50000"/>
              </a:schemeClr>
            </a:solidFill>
            <a:prstDash val="solid"/>
            <a:headEnd type="none"/>
            <a:tailEnd type="triangle"/>
          </a:ln>
        </p:spPr>
        <p:txBody>
          <a:bodyPr/>
          <a:lstStyle/>
          <a:p>
            <a:endParaRPr lang="en-US"/>
          </a:p>
        </p:txBody>
      </p:sp>
      <p:sp>
        <p:nvSpPr>
          <p:cNvPr id="57" name="Shape 13">
            <a:extLst>
              <a:ext uri="{FF2B5EF4-FFF2-40B4-BE49-F238E27FC236}">
                <a16:creationId xmlns:a16="http://schemas.microsoft.com/office/drawing/2014/main" id="{DBB2EDF3-C9BB-3551-487A-37384E83DEFC}"/>
              </a:ext>
            </a:extLst>
          </p:cNvPr>
          <p:cNvSpPr/>
          <p:nvPr/>
        </p:nvSpPr>
        <p:spPr>
          <a:xfrm>
            <a:off x="3831727" y="3100460"/>
            <a:ext cx="0" cy="288000"/>
          </a:xfrm>
          <a:prstGeom prst="line">
            <a:avLst/>
          </a:prstGeom>
          <a:noFill/>
          <a:ln w="15875">
            <a:solidFill>
              <a:schemeClr val="bg2">
                <a:lumMod val="50000"/>
              </a:schemeClr>
            </a:solidFill>
            <a:prstDash val="solid"/>
            <a:headEnd type="none"/>
            <a:tailEnd type="triangle"/>
          </a:ln>
        </p:spPr>
        <p:txBody>
          <a:bodyPr/>
          <a:lstStyle/>
          <a:p>
            <a:endParaRPr lang="en-US"/>
          </a:p>
        </p:txBody>
      </p:sp>
      <p:sp>
        <p:nvSpPr>
          <p:cNvPr id="58" name="Shape 13">
            <a:extLst>
              <a:ext uri="{FF2B5EF4-FFF2-40B4-BE49-F238E27FC236}">
                <a16:creationId xmlns:a16="http://schemas.microsoft.com/office/drawing/2014/main" id="{FAC4B421-1FE7-6C04-A936-DAF05E12F951}"/>
              </a:ext>
            </a:extLst>
          </p:cNvPr>
          <p:cNvSpPr/>
          <p:nvPr/>
        </p:nvSpPr>
        <p:spPr>
          <a:xfrm>
            <a:off x="5002117" y="3100460"/>
            <a:ext cx="0" cy="288000"/>
          </a:xfrm>
          <a:prstGeom prst="line">
            <a:avLst/>
          </a:prstGeom>
          <a:noFill/>
          <a:ln w="15875">
            <a:solidFill>
              <a:schemeClr val="bg2">
                <a:lumMod val="50000"/>
              </a:schemeClr>
            </a:solidFill>
            <a:prstDash val="solid"/>
            <a:headEnd type="none"/>
            <a:tailEnd type="triangle"/>
          </a:ln>
        </p:spPr>
        <p:txBody>
          <a:bodyPr/>
          <a:lstStyle/>
          <a:p>
            <a:endParaRPr lang="en-US"/>
          </a:p>
        </p:txBody>
      </p:sp>
      <p:sp>
        <p:nvSpPr>
          <p:cNvPr id="59" name="Shape 14">
            <a:extLst>
              <a:ext uri="{FF2B5EF4-FFF2-40B4-BE49-F238E27FC236}">
                <a16:creationId xmlns:a16="http://schemas.microsoft.com/office/drawing/2014/main" id="{2897475B-2A17-235E-6EA6-4D344B550839}"/>
              </a:ext>
            </a:extLst>
          </p:cNvPr>
          <p:cNvSpPr/>
          <p:nvPr/>
        </p:nvSpPr>
        <p:spPr>
          <a:xfrm>
            <a:off x="2130273" y="4581512"/>
            <a:ext cx="1069848" cy="734939"/>
          </a:xfrm>
          <a:prstGeom prst="can">
            <a:avLst/>
          </a:prstGeom>
          <a:solidFill>
            <a:schemeClr val="accent5">
              <a:lumMod val="75000"/>
            </a:schemeClr>
          </a:solidFill>
          <a:ln w="15875">
            <a:solidFill>
              <a:schemeClr val="accent5">
                <a:lumMod val="50000"/>
              </a:schemeClr>
            </a:solidFill>
            <a:prstDash val="solid"/>
          </a:ln>
        </p:spPr>
        <p:txBody>
          <a:bodyPr anchor="ctr"/>
          <a:lstStyle/>
          <a:p>
            <a:pPr algn="ctr"/>
            <a:r>
              <a:rPr lang="en-US" sz="1200" b="1" dirty="0">
                <a:solidFill>
                  <a:schemeClr val="bg1"/>
                </a:solidFill>
                <a:latin typeface="Calibri" pitchFamily="34" charset="0"/>
                <a:ea typeface="Calibri" pitchFamily="34" charset="-122"/>
                <a:cs typeface="Calibri" pitchFamily="34" charset="-120"/>
              </a:rPr>
              <a:t>Payload</a:t>
            </a:r>
            <a:br>
              <a:rPr lang="en-US" sz="1200" b="1" dirty="0">
                <a:solidFill>
                  <a:schemeClr val="bg1"/>
                </a:solidFill>
                <a:latin typeface="Calibri" pitchFamily="34" charset="0"/>
                <a:ea typeface="Calibri" pitchFamily="34" charset="-122"/>
                <a:cs typeface="Calibri" pitchFamily="34" charset="-120"/>
              </a:rPr>
            </a:br>
            <a:r>
              <a:rPr lang="en-US" sz="1200" b="1" dirty="0">
                <a:solidFill>
                  <a:schemeClr val="bg1"/>
                </a:solidFill>
                <a:latin typeface="Calibri" pitchFamily="34" charset="0"/>
                <a:ea typeface="Calibri" pitchFamily="34" charset="-122"/>
                <a:cs typeface="Calibri" pitchFamily="34" charset="-120"/>
              </a:rPr>
              <a:t>data</a:t>
            </a:r>
            <a:endParaRPr lang="en-US" sz="1200" dirty="0"/>
          </a:p>
        </p:txBody>
      </p:sp>
      <p:sp>
        <p:nvSpPr>
          <p:cNvPr id="60" name="Shape 14">
            <a:extLst>
              <a:ext uri="{FF2B5EF4-FFF2-40B4-BE49-F238E27FC236}">
                <a16:creationId xmlns:a16="http://schemas.microsoft.com/office/drawing/2014/main" id="{D9EEC228-24F7-8035-7030-CBD07B5488A5}"/>
              </a:ext>
            </a:extLst>
          </p:cNvPr>
          <p:cNvSpPr/>
          <p:nvPr/>
        </p:nvSpPr>
        <p:spPr>
          <a:xfrm>
            <a:off x="3299506" y="4577725"/>
            <a:ext cx="1069848" cy="734939"/>
          </a:xfrm>
          <a:prstGeom prst="can">
            <a:avLst/>
          </a:prstGeom>
          <a:solidFill>
            <a:schemeClr val="accent5">
              <a:lumMod val="75000"/>
            </a:schemeClr>
          </a:solidFill>
          <a:ln w="15875">
            <a:solidFill>
              <a:schemeClr val="accent5">
                <a:lumMod val="50000"/>
              </a:schemeClr>
            </a:solidFill>
            <a:prstDash val="solid"/>
          </a:ln>
        </p:spPr>
        <p:txBody>
          <a:bodyPr anchor="ctr"/>
          <a:lstStyle/>
          <a:p>
            <a:pPr algn="ctr"/>
            <a:r>
              <a:rPr lang="en-US" sz="1200" b="1" dirty="0">
                <a:solidFill>
                  <a:schemeClr val="bg1"/>
                </a:solidFill>
                <a:latin typeface="Calibri" pitchFamily="34" charset="0"/>
                <a:ea typeface="Calibri" pitchFamily="34" charset="-122"/>
                <a:cs typeface="Calibri" pitchFamily="34" charset="-120"/>
              </a:rPr>
              <a:t>Search</a:t>
            </a:r>
            <a:br>
              <a:rPr lang="en-US" sz="1200" b="1" dirty="0">
                <a:solidFill>
                  <a:schemeClr val="bg1"/>
                </a:solidFill>
                <a:latin typeface="Calibri" pitchFamily="34" charset="0"/>
                <a:ea typeface="Calibri" pitchFamily="34" charset="-122"/>
                <a:cs typeface="Calibri" pitchFamily="34" charset="-120"/>
              </a:rPr>
            </a:br>
            <a:r>
              <a:rPr lang="en-US" sz="1200" b="1" dirty="0">
                <a:solidFill>
                  <a:schemeClr val="bg1"/>
                </a:solidFill>
                <a:latin typeface="Calibri" pitchFamily="34" charset="0"/>
                <a:ea typeface="Calibri" pitchFamily="34" charset="-122"/>
                <a:cs typeface="Calibri" pitchFamily="34" charset="-120"/>
              </a:rPr>
              <a:t>Index</a:t>
            </a:r>
            <a:endParaRPr lang="en-US" sz="1200" dirty="0"/>
          </a:p>
        </p:txBody>
      </p:sp>
      <p:sp>
        <p:nvSpPr>
          <p:cNvPr id="61" name="Shape 14">
            <a:extLst>
              <a:ext uri="{FF2B5EF4-FFF2-40B4-BE49-F238E27FC236}">
                <a16:creationId xmlns:a16="http://schemas.microsoft.com/office/drawing/2014/main" id="{A0A701B5-C551-2B92-BF43-AD3BD6226F4F}"/>
              </a:ext>
            </a:extLst>
          </p:cNvPr>
          <p:cNvSpPr/>
          <p:nvPr/>
        </p:nvSpPr>
        <p:spPr>
          <a:xfrm>
            <a:off x="4477603" y="4577725"/>
            <a:ext cx="1069848" cy="734939"/>
          </a:xfrm>
          <a:prstGeom prst="can">
            <a:avLst/>
          </a:prstGeom>
          <a:solidFill>
            <a:schemeClr val="accent5">
              <a:lumMod val="75000"/>
            </a:schemeClr>
          </a:solidFill>
          <a:ln w="15875">
            <a:solidFill>
              <a:schemeClr val="accent5">
                <a:lumMod val="50000"/>
              </a:schemeClr>
            </a:solidFill>
            <a:prstDash val="solid"/>
          </a:ln>
        </p:spPr>
        <p:txBody>
          <a:bodyPr anchor="ctr"/>
          <a:lstStyle/>
          <a:p>
            <a:pPr algn="ctr"/>
            <a:r>
              <a:rPr lang="en-US" sz="1200" b="1" dirty="0">
                <a:solidFill>
                  <a:schemeClr val="bg1"/>
                </a:solidFill>
                <a:latin typeface="Calibri" pitchFamily="34" charset="0"/>
                <a:ea typeface="Calibri" pitchFamily="34" charset="-122"/>
                <a:cs typeface="Calibri" pitchFamily="34" charset="-120"/>
              </a:rPr>
              <a:t>Archived</a:t>
            </a:r>
            <a:br>
              <a:rPr lang="en-US" sz="1200" b="1" dirty="0">
                <a:solidFill>
                  <a:schemeClr val="bg1"/>
                </a:solidFill>
                <a:latin typeface="Calibri" pitchFamily="34" charset="0"/>
                <a:ea typeface="Calibri" pitchFamily="34" charset="-122"/>
                <a:cs typeface="Calibri" pitchFamily="34" charset="-120"/>
              </a:rPr>
            </a:br>
            <a:r>
              <a:rPr lang="en-US" sz="1200" b="1" dirty="0">
                <a:solidFill>
                  <a:schemeClr val="bg1"/>
                </a:solidFill>
                <a:latin typeface="Calibri" pitchFamily="34" charset="0"/>
                <a:ea typeface="Calibri" pitchFamily="34" charset="-122"/>
                <a:cs typeface="Calibri" pitchFamily="34" charset="-120"/>
              </a:rPr>
              <a:t>data</a:t>
            </a:r>
            <a:endParaRPr lang="en-US" sz="1200" dirty="0"/>
          </a:p>
        </p:txBody>
      </p:sp>
      <p:sp>
        <p:nvSpPr>
          <p:cNvPr id="62" name="Shape 13">
            <a:extLst>
              <a:ext uri="{FF2B5EF4-FFF2-40B4-BE49-F238E27FC236}">
                <a16:creationId xmlns:a16="http://schemas.microsoft.com/office/drawing/2014/main" id="{AECAD134-132F-5701-BA07-ACC907E0D0F7}"/>
              </a:ext>
            </a:extLst>
          </p:cNvPr>
          <p:cNvSpPr/>
          <p:nvPr/>
        </p:nvSpPr>
        <p:spPr>
          <a:xfrm>
            <a:off x="5002116" y="4016061"/>
            <a:ext cx="0" cy="540000"/>
          </a:xfrm>
          <a:prstGeom prst="line">
            <a:avLst/>
          </a:prstGeom>
          <a:noFill/>
          <a:ln w="15875">
            <a:solidFill>
              <a:schemeClr val="accent5">
                <a:lumMod val="50000"/>
              </a:schemeClr>
            </a:solidFill>
            <a:prstDash val="solid"/>
            <a:headEnd type="none"/>
            <a:tailEnd type="triangle"/>
          </a:ln>
        </p:spPr>
        <p:txBody>
          <a:bodyPr/>
          <a:lstStyle/>
          <a:p>
            <a:endParaRPr lang="en-US"/>
          </a:p>
        </p:txBody>
      </p:sp>
      <p:sp>
        <p:nvSpPr>
          <p:cNvPr id="63" name="Shape 13">
            <a:extLst>
              <a:ext uri="{FF2B5EF4-FFF2-40B4-BE49-F238E27FC236}">
                <a16:creationId xmlns:a16="http://schemas.microsoft.com/office/drawing/2014/main" id="{EBBD4B72-646F-60A7-0F8B-91476EA68D32}"/>
              </a:ext>
            </a:extLst>
          </p:cNvPr>
          <p:cNvSpPr/>
          <p:nvPr/>
        </p:nvSpPr>
        <p:spPr>
          <a:xfrm>
            <a:off x="3831727" y="4016061"/>
            <a:ext cx="0" cy="540000"/>
          </a:xfrm>
          <a:prstGeom prst="line">
            <a:avLst/>
          </a:prstGeom>
          <a:noFill/>
          <a:ln w="15875">
            <a:solidFill>
              <a:schemeClr val="accent5">
                <a:lumMod val="50000"/>
              </a:schemeClr>
            </a:solidFill>
            <a:prstDash val="solid"/>
            <a:headEnd type="none"/>
            <a:tailEnd type="triangle"/>
          </a:ln>
        </p:spPr>
        <p:txBody>
          <a:bodyPr/>
          <a:lstStyle/>
          <a:p>
            <a:endParaRPr lang="en-US"/>
          </a:p>
        </p:txBody>
      </p:sp>
      <p:sp>
        <p:nvSpPr>
          <p:cNvPr id="64" name="Shape 13">
            <a:extLst>
              <a:ext uri="{FF2B5EF4-FFF2-40B4-BE49-F238E27FC236}">
                <a16:creationId xmlns:a16="http://schemas.microsoft.com/office/drawing/2014/main" id="{D3CEAF4C-8986-5BF7-CD32-B86FCADF665F}"/>
              </a:ext>
            </a:extLst>
          </p:cNvPr>
          <p:cNvSpPr/>
          <p:nvPr/>
        </p:nvSpPr>
        <p:spPr>
          <a:xfrm>
            <a:off x="2667351" y="4016061"/>
            <a:ext cx="0" cy="540000"/>
          </a:xfrm>
          <a:prstGeom prst="line">
            <a:avLst/>
          </a:prstGeom>
          <a:noFill/>
          <a:ln w="15875">
            <a:solidFill>
              <a:schemeClr val="accent5">
                <a:lumMod val="50000"/>
              </a:schemeClr>
            </a:solidFill>
            <a:prstDash val="solid"/>
            <a:headEnd type="none"/>
            <a:tailEnd type="triangle"/>
          </a:ln>
        </p:spPr>
        <p:txBody>
          <a:bodyPr/>
          <a:lstStyle/>
          <a:p>
            <a:endParaRPr lang="en-US"/>
          </a:p>
        </p:txBody>
      </p:sp>
      <p:sp>
        <p:nvSpPr>
          <p:cNvPr id="65" name="TextBox 64">
            <a:extLst>
              <a:ext uri="{FF2B5EF4-FFF2-40B4-BE49-F238E27FC236}">
                <a16:creationId xmlns:a16="http://schemas.microsoft.com/office/drawing/2014/main" id="{BA11CEB8-0060-CBDA-550E-A426AB36FEB7}"/>
              </a:ext>
            </a:extLst>
          </p:cNvPr>
          <p:cNvSpPr txBox="1"/>
          <p:nvPr/>
        </p:nvSpPr>
        <p:spPr>
          <a:xfrm>
            <a:off x="766160" y="5619321"/>
            <a:ext cx="4781291" cy="400110"/>
          </a:xfrm>
          <a:prstGeom prst="rect">
            <a:avLst/>
          </a:prstGeom>
          <a:noFill/>
        </p:spPr>
        <p:txBody>
          <a:bodyPr wrap="square" rtlCol="0">
            <a:spAutoFit/>
          </a:bodyPr>
          <a:lstStyle/>
          <a:p>
            <a:pPr algn="ctr"/>
            <a:r>
              <a:rPr lang="en-US" sz="1000" dirty="0"/>
              <a:t>Different vendors can use different plugins for heavy data storage and indexing, depending on the operations team preferences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75B0E-C82B-8240-F556-7ABBF7A6062D}"/>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9980E7A0-FFB1-2325-1AD4-42460FA99714}"/>
              </a:ext>
            </a:extLst>
          </p:cNvPr>
          <p:cNvSpPr txBox="1">
            <a:spLocks/>
          </p:cNvSpPr>
          <p:nvPr/>
        </p:nvSpPr>
        <p:spPr>
          <a:xfrm>
            <a:off x="457200" y="292608"/>
            <a:ext cx="11274552" cy="566928"/>
          </a:xfrm>
          <a:prstGeom prst="rect">
            <a:avLst/>
          </a:prstGeom>
          <a:noFill/>
          <a:ln/>
        </p:spPr>
        <p:txBody>
          <a:bodyPr wrap="square" lIns="0" tIns="0" rIns="0" bIns="0" rtlCol="0"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200" b="1" dirty="0">
                <a:solidFill>
                  <a:schemeClr val="bg1"/>
                </a:solidFill>
                <a:latin typeface="Arial" pitchFamily="34" charset="0"/>
                <a:ea typeface="Arial" pitchFamily="34" charset="-122"/>
                <a:cs typeface="Arial" pitchFamily="34" charset="-120"/>
              </a:rPr>
              <a:t>Five rules for building on the Task Engine</a:t>
            </a:r>
            <a:endParaRPr lang="en-US" sz="3200" dirty="0"/>
          </a:p>
        </p:txBody>
      </p:sp>
      <p:sp>
        <p:nvSpPr>
          <p:cNvPr id="18" name="Text 0">
            <a:extLst>
              <a:ext uri="{FF2B5EF4-FFF2-40B4-BE49-F238E27FC236}">
                <a16:creationId xmlns:a16="http://schemas.microsoft.com/office/drawing/2014/main" id="{A64F2C02-4422-BE4D-0345-F5AA01785224}"/>
              </a:ext>
            </a:extLst>
          </p:cNvPr>
          <p:cNvSpPr txBox="1">
            <a:spLocks/>
          </p:cNvSpPr>
          <p:nvPr/>
        </p:nvSpPr>
        <p:spPr>
          <a:xfrm>
            <a:off x="457200" y="896112"/>
            <a:ext cx="11274552" cy="384048"/>
          </a:xfrm>
          <a:prstGeom prst="rect">
            <a:avLst/>
          </a:prstGeom>
          <a:noFill/>
          <a:ln/>
        </p:spPr>
        <p:txBody>
          <a:bodyPr wrap="square" lIns="0" tIns="0" rIns="0" bIns="0" rtlCol="0" anchor="t"/>
          <a:lstStyle>
            <a:lvl1pPr marL="0" indent="0" algn="l" defTabSz="914400" rtl="0" eaLnBrk="1" latinLnBrk="0" hangingPunct="1">
              <a:spcBef>
                <a:spcPct val="0"/>
              </a:spcBef>
              <a:buNone/>
              <a:defRPr lang="en-US" sz="3900" b="1" kern="1200" dirty="0">
                <a:solidFill>
                  <a:srgbClr val="FFFFFF"/>
                </a:solidFill>
                <a:latin typeface="Arial" pitchFamily="34" charset="0"/>
                <a:ea typeface="Arial" pitchFamily="34" charset="-122"/>
                <a:cs typeface="Arial" pitchFamily="34" charset="-120"/>
              </a:defRPr>
            </a:lvl1pPr>
          </a:lstStyle>
          <a:p>
            <a:r>
              <a:rPr lang="en-US" sz="1600">
                <a:solidFill>
                  <a:schemeClr val="bg2"/>
                </a:solidFill>
              </a:rPr>
              <a:t>If you remember only one slide, make it this one</a:t>
            </a:r>
            <a:endParaRPr lang="en-US" sz="1600"/>
          </a:p>
        </p:txBody>
      </p:sp>
      <p:sp>
        <p:nvSpPr>
          <p:cNvPr id="19" name="Shape 2">
            <a:extLst>
              <a:ext uri="{FF2B5EF4-FFF2-40B4-BE49-F238E27FC236}">
                <a16:creationId xmlns:a16="http://schemas.microsoft.com/office/drawing/2014/main" id="{F76610C1-A77D-4011-64AC-CFA71B2525FD}"/>
              </a:ext>
            </a:extLst>
          </p:cNvPr>
          <p:cNvSpPr/>
          <p:nvPr/>
        </p:nvSpPr>
        <p:spPr>
          <a:xfrm>
            <a:off x="548640" y="1554480"/>
            <a:ext cx="603504" cy="603504"/>
          </a:xfrm>
          <a:prstGeom prst="ellipse">
            <a:avLst/>
          </a:prstGeom>
          <a:solidFill>
            <a:schemeClr val="accent1">
              <a:lumMod val="20000"/>
              <a:lumOff val="80000"/>
            </a:schemeClr>
          </a:solidFill>
          <a:ln/>
        </p:spPr>
        <p:txBody>
          <a:bodyPr anchor="ctr"/>
          <a:lstStyle/>
          <a:p>
            <a:pPr algn="ctr"/>
            <a:r>
              <a:rPr lang="en-US" b="1" dirty="0">
                <a:latin typeface="Calibri" panose="020F0502020204030204" pitchFamily="34" charset="0"/>
                <a:cs typeface="Calibri" panose="020F0502020204030204" pitchFamily="34" charset="0"/>
              </a:rPr>
              <a:t>1</a:t>
            </a:r>
          </a:p>
        </p:txBody>
      </p:sp>
      <p:sp>
        <p:nvSpPr>
          <p:cNvPr id="26" name="Text 4">
            <a:extLst>
              <a:ext uri="{FF2B5EF4-FFF2-40B4-BE49-F238E27FC236}">
                <a16:creationId xmlns:a16="http://schemas.microsoft.com/office/drawing/2014/main" id="{6AC1637A-B72C-F805-8F82-82DA8A066F91}"/>
              </a:ext>
            </a:extLst>
          </p:cNvPr>
          <p:cNvSpPr txBox="1"/>
          <p:nvPr/>
        </p:nvSpPr>
        <p:spPr>
          <a:xfrm>
            <a:off x="1417320" y="1517904"/>
            <a:ext cx="9601200" cy="365760"/>
          </a:xfrm>
          <a:prstGeom prst="rect">
            <a:avLst/>
          </a:prstGeom>
          <a:noFill/>
          <a:ln/>
        </p:spPr>
        <p:txBody>
          <a:bodyPr wrap="square" lIns="0" tIns="0" rIns="0" bIns="0" rtlCol="0" anchor="t"/>
          <a:lstStyle/>
          <a:p>
            <a:pPr marL="0" indent="0">
              <a:buNone/>
            </a:pPr>
            <a:r>
              <a:rPr lang="en-US" sz="1900" b="1" dirty="0">
                <a:solidFill>
                  <a:schemeClr val="bg1"/>
                </a:solidFill>
                <a:latin typeface="Calibri" pitchFamily="34" charset="0"/>
                <a:ea typeface="Calibri" pitchFamily="34" charset="-122"/>
                <a:cs typeface="Calibri" pitchFamily="34" charset="-120"/>
              </a:rPr>
              <a:t>Always make creation idempotent</a:t>
            </a:r>
            <a:endParaRPr lang="en-US" sz="1900" dirty="0"/>
          </a:p>
        </p:txBody>
      </p:sp>
      <p:sp>
        <p:nvSpPr>
          <p:cNvPr id="27" name="Text 5">
            <a:extLst>
              <a:ext uri="{FF2B5EF4-FFF2-40B4-BE49-F238E27FC236}">
                <a16:creationId xmlns:a16="http://schemas.microsoft.com/office/drawing/2014/main" id="{AADB081E-2EFD-9B02-3B16-23D1CA5A345B}"/>
              </a:ext>
            </a:extLst>
          </p:cNvPr>
          <p:cNvSpPr txBox="1"/>
          <p:nvPr/>
        </p:nvSpPr>
        <p:spPr>
          <a:xfrm>
            <a:off x="1417320" y="1883664"/>
            <a:ext cx="9601200" cy="329184"/>
          </a:xfrm>
          <a:prstGeom prst="rect">
            <a:avLst/>
          </a:prstGeom>
          <a:noFill/>
          <a:ln/>
        </p:spPr>
        <p:txBody>
          <a:bodyPr wrap="square" lIns="0" tIns="0" rIns="0" bIns="0" rtlCol="0" anchor="t"/>
          <a:lstStyle/>
          <a:p>
            <a:pPr marL="0" indent="0">
              <a:buNone/>
            </a:pPr>
            <a:r>
              <a:rPr lang="en-US" sz="1400" dirty="0">
                <a:solidFill>
                  <a:schemeClr val="accent3">
                    <a:lumMod val="40000"/>
                    <a:lumOff val="60000"/>
                  </a:schemeClr>
                </a:solidFill>
                <a:latin typeface="Calibri" pitchFamily="34" charset="0"/>
                <a:ea typeface="Calibri" pitchFamily="34" charset="-122"/>
                <a:cs typeface="Calibri" pitchFamily="34" charset="-120"/>
              </a:rPr>
              <a:t>send an Idempotency-Key, or use a task type with a derived dedup identity (P2)</a:t>
            </a:r>
            <a:endParaRPr lang="en-US" sz="1400" dirty="0">
              <a:solidFill>
                <a:schemeClr val="accent3">
                  <a:lumMod val="40000"/>
                  <a:lumOff val="60000"/>
                </a:schemeClr>
              </a:solidFill>
            </a:endParaRPr>
          </a:p>
        </p:txBody>
      </p:sp>
      <p:sp>
        <p:nvSpPr>
          <p:cNvPr id="28" name="Shape 6">
            <a:extLst>
              <a:ext uri="{FF2B5EF4-FFF2-40B4-BE49-F238E27FC236}">
                <a16:creationId xmlns:a16="http://schemas.microsoft.com/office/drawing/2014/main" id="{EF3CD07F-EEA1-8C19-23AB-2A0F1F4D887E}"/>
              </a:ext>
            </a:extLst>
          </p:cNvPr>
          <p:cNvSpPr/>
          <p:nvPr/>
        </p:nvSpPr>
        <p:spPr>
          <a:xfrm>
            <a:off x="548640" y="2423160"/>
            <a:ext cx="603504" cy="603504"/>
          </a:xfrm>
          <a:prstGeom prst="ellipse">
            <a:avLst/>
          </a:prstGeom>
          <a:solidFill>
            <a:schemeClr val="accent1">
              <a:lumMod val="20000"/>
              <a:lumOff val="80000"/>
            </a:schemeClr>
          </a:solidFill>
          <a:ln/>
        </p:spPr>
        <p:txBody>
          <a:bodyPr anchor="ctr"/>
          <a:lstStyle/>
          <a:p>
            <a:pPr algn="ctr"/>
            <a:r>
              <a:rPr lang="en-US" b="1" dirty="0">
                <a:latin typeface="Calibri" panose="020F0502020204030204" pitchFamily="34" charset="0"/>
                <a:cs typeface="Calibri" panose="020F0502020204030204" pitchFamily="34" charset="0"/>
              </a:rPr>
              <a:t>2</a:t>
            </a:r>
          </a:p>
        </p:txBody>
      </p:sp>
      <p:sp>
        <p:nvSpPr>
          <p:cNvPr id="30" name="Text 8">
            <a:extLst>
              <a:ext uri="{FF2B5EF4-FFF2-40B4-BE49-F238E27FC236}">
                <a16:creationId xmlns:a16="http://schemas.microsoft.com/office/drawing/2014/main" id="{5B5832BE-E57F-E457-5375-4D05BD5037B9}"/>
              </a:ext>
            </a:extLst>
          </p:cNvPr>
          <p:cNvSpPr txBox="1"/>
          <p:nvPr/>
        </p:nvSpPr>
        <p:spPr>
          <a:xfrm>
            <a:off x="1417320" y="2386584"/>
            <a:ext cx="9601200" cy="365760"/>
          </a:xfrm>
          <a:prstGeom prst="rect">
            <a:avLst/>
          </a:prstGeom>
          <a:noFill/>
          <a:ln/>
        </p:spPr>
        <p:txBody>
          <a:bodyPr wrap="square" lIns="0" tIns="0" rIns="0" bIns="0" rtlCol="0" anchor="t"/>
          <a:lstStyle/>
          <a:p>
            <a:pPr marL="0" indent="0">
              <a:buNone/>
            </a:pPr>
            <a:r>
              <a:rPr lang="en-US" sz="1900" b="1" dirty="0">
                <a:solidFill>
                  <a:schemeClr val="bg1"/>
                </a:solidFill>
                <a:latin typeface="Calibri" pitchFamily="34" charset="0"/>
                <a:ea typeface="Calibri" pitchFamily="34" charset="-122"/>
                <a:cs typeface="Calibri" pitchFamily="34" charset="-120"/>
              </a:rPr>
              <a:t>Carry the lease on every worker call</a:t>
            </a:r>
            <a:endParaRPr lang="en-US" sz="1900" dirty="0"/>
          </a:p>
        </p:txBody>
      </p:sp>
      <p:sp>
        <p:nvSpPr>
          <p:cNvPr id="31" name="Text 9">
            <a:extLst>
              <a:ext uri="{FF2B5EF4-FFF2-40B4-BE49-F238E27FC236}">
                <a16:creationId xmlns:a16="http://schemas.microsoft.com/office/drawing/2014/main" id="{70FEA3A0-5556-A74B-0215-64E28BA41137}"/>
              </a:ext>
            </a:extLst>
          </p:cNvPr>
          <p:cNvSpPr txBox="1"/>
          <p:nvPr/>
        </p:nvSpPr>
        <p:spPr>
          <a:xfrm>
            <a:off x="1417320" y="2752344"/>
            <a:ext cx="9601200" cy="329184"/>
          </a:xfrm>
          <a:prstGeom prst="rect">
            <a:avLst/>
          </a:prstGeom>
          <a:noFill/>
          <a:ln/>
        </p:spPr>
        <p:txBody>
          <a:bodyPr wrap="square" lIns="0" tIns="0" rIns="0" bIns="0" rtlCol="0" anchor="t"/>
          <a:lstStyle/>
          <a:p>
            <a:pPr marL="0" indent="0">
              <a:buNone/>
            </a:pPr>
            <a:r>
              <a:rPr lang="en-US" sz="1400" dirty="0">
                <a:solidFill>
                  <a:schemeClr val="accent3">
                    <a:lumMod val="40000"/>
                    <a:lumOff val="60000"/>
                  </a:schemeClr>
                </a:solidFill>
                <a:latin typeface="Calibri" pitchFamily="34" charset="0"/>
                <a:ea typeface="Calibri" pitchFamily="34" charset="-122"/>
                <a:cs typeface="Calibri" pitchFamily="34" charset="-120"/>
              </a:rPr>
              <a:t>lease_token in each request; on LEASE_LOST stop immediately and never retry</a:t>
            </a:r>
            <a:endParaRPr lang="en-US" sz="1400" dirty="0">
              <a:solidFill>
                <a:schemeClr val="accent3">
                  <a:lumMod val="40000"/>
                  <a:lumOff val="60000"/>
                </a:schemeClr>
              </a:solidFill>
            </a:endParaRPr>
          </a:p>
        </p:txBody>
      </p:sp>
      <p:sp>
        <p:nvSpPr>
          <p:cNvPr id="32" name="Shape 10">
            <a:extLst>
              <a:ext uri="{FF2B5EF4-FFF2-40B4-BE49-F238E27FC236}">
                <a16:creationId xmlns:a16="http://schemas.microsoft.com/office/drawing/2014/main" id="{8249D674-0DBB-C1A9-BF4E-2A4B5EC762BA}"/>
              </a:ext>
            </a:extLst>
          </p:cNvPr>
          <p:cNvSpPr/>
          <p:nvPr/>
        </p:nvSpPr>
        <p:spPr>
          <a:xfrm>
            <a:off x="548640" y="3291840"/>
            <a:ext cx="603504" cy="603504"/>
          </a:xfrm>
          <a:prstGeom prst="ellipse">
            <a:avLst/>
          </a:prstGeom>
          <a:solidFill>
            <a:schemeClr val="accent1">
              <a:lumMod val="20000"/>
              <a:lumOff val="80000"/>
            </a:schemeClr>
          </a:solidFill>
          <a:ln/>
        </p:spPr>
        <p:txBody>
          <a:bodyPr anchor="ctr"/>
          <a:lstStyle/>
          <a:p>
            <a:pPr algn="ctr"/>
            <a:r>
              <a:rPr lang="en-US" b="1" dirty="0">
                <a:latin typeface="Calibri" panose="020F0502020204030204" pitchFamily="34" charset="0"/>
                <a:cs typeface="Calibri" panose="020F0502020204030204" pitchFamily="34" charset="0"/>
              </a:rPr>
              <a:t>3</a:t>
            </a:r>
          </a:p>
        </p:txBody>
      </p:sp>
      <p:sp>
        <p:nvSpPr>
          <p:cNvPr id="34" name="Text 12">
            <a:extLst>
              <a:ext uri="{FF2B5EF4-FFF2-40B4-BE49-F238E27FC236}">
                <a16:creationId xmlns:a16="http://schemas.microsoft.com/office/drawing/2014/main" id="{467CE2E3-3701-B8EA-5A53-2BA84FBF83D3}"/>
              </a:ext>
            </a:extLst>
          </p:cNvPr>
          <p:cNvSpPr txBox="1"/>
          <p:nvPr/>
        </p:nvSpPr>
        <p:spPr>
          <a:xfrm>
            <a:off x="1417320" y="3255264"/>
            <a:ext cx="9601200" cy="365760"/>
          </a:xfrm>
          <a:prstGeom prst="rect">
            <a:avLst/>
          </a:prstGeom>
          <a:noFill/>
          <a:ln/>
        </p:spPr>
        <p:txBody>
          <a:bodyPr wrap="square" lIns="0" tIns="0" rIns="0" bIns="0" rtlCol="0" anchor="t"/>
          <a:lstStyle/>
          <a:p>
            <a:pPr marL="0" indent="0">
              <a:buNone/>
            </a:pPr>
            <a:r>
              <a:rPr lang="en-US" sz="1900" b="1" dirty="0">
                <a:solidFill>
                  <a:schemeClr val="bg1"/>
                </a:solidFill>
                <a:latin typeface="Calibri" pitchFamily="34" charset="0"/>
                <a:ea typeface="Calibri" pitchFamily="34" charset="-122"/>
                <a:cs typeface="Calibri" pitchFamily="34" charset="-120"/>
              </a:rPr>
              <a:t>Write idempotent handlers</a:t>
            </a:r>
            <a:endParaRPr lang="en-US" sz="1900" dirty="0"/>
          </a:p>
        </p:txBody>
      </p:sp>
      <p:sp>
        <p:nvSpPr>
          <p:cNvPr id="35" name="Text 13">
            <a:extLst>
              <a:ext uri="{FF2B5EF4-FFF2-40B4-BE49-F238E27FC236}">
                <a16:creationId xmlns:a16="http://schemas.microsoft.com/office/drawing/2014/main" id="{3E51554E-F606-61CF-B076-6F176748822D}"/>
              </a:ext>
            </a:extLst>
          </p:cNvPr>
          <p:cNvSpPr txBox="1"/>
          <p:nvPr/>
        </p:nvSpPr>
        <p:spPr>
          <a:xfrm>
            <a:off x="1417320" y="3621024"/>
            <a:ext cx="9601200" cy="329184"/>
          </a:xfrm>
          <a:prstGeom prst="rect">
            <a:avLst/>
          </a:prstGeom>
          <a:noFill/>
          <a:ln/>
        </p:spPr>
        <p:txBody>
          <a:bodyPr wrap="square" lIns="0" tIns="0" rIns="0" bIns="0" rtlCol="0" anchor="t"/>
          <a:lstStyle/>
          <a:p>
            <a:pPr marL="0" indent="0">
              <a:buNone/>
            </a:pPr>
            <a:r>
              <a:rPr lang="en-US" sz="1400" dirty="0">
                <a:solidFill>
                  <a:schemeClr val="accent3">
                    <a:lumMod val="40000"/>
                    <a:lumOff val="60000"/>
                  </a:schemeClr>
                </a:solidFill>
                <a:latin typeface="Calibri" pitchFamily="34" charset="0"/>
                <a:ea typeface="Calibri" pitchFamily="34" charset="-122"/>
                <a:cs typeface="Calibri" pitchFamily="34" charset="-120"/>
              </a:rPr>
              <a:t>execution is at-least-once; fence external writes with lease_epoch</a:t>
            </a:r>
            <a:endParaRPr lang="en-US" sz="1400" dirty="0">
              <a:solidFill>
                <a:schemeClr val="accent3">
                  <a:lumMod val="40000"/>
                  <a:lumOff val="60000"/>
                </a:schemeClr>
              </a:solidFill>
            </a:endParaRPr>
          </a:p>
        </p:txBody>
      </p:sp>
      <p:sp>
        <p:nvSpPr>
          <p:cNvPr id="36" name="Shape 14">
            <a:extLst>
              <a:ext uri="{FF2B5EF4-FFF2-40B4-BE49-F238E27FC236}">
                <a16:creationId xmlns:a16="http://schemas.microsoft.com/office/drawing/2014/main" id="{D1B974BB-3C80-D92D-6EE1-60B4B9E04714}"/>
              </a:ext>
            </a:extLst>
          </p:cNvPr>
          <p:cNvSpPr/>
          <p:nvPr/>
        </p:nvSpPr>
        <p:spPr>
          <a:xfrm>
            <a:off x="548640" y="4160520"/>
            <a:ext cx="603504" cy="603504"/>
          </a:xfrm>
          <a:prstGeom prst="ellipse">
            <a:avLst/>
          </a:prstGeom>
          <a:solidFill>
            <a:schemeClr val="accent1">
              <a:lumMod val="20000"/>
              <a:lumOff val="80000"/>
            </a:schemeClr>
          </a:solidFill>
          <a:ln/>
        </p:spPr>
        <p:txBody>
          <a:bodyPr anchor="ctr"/>
          <a:lstStyle/>
          <a:p>
            <a:pPr algn="ctr"/>
            <a:r>
              <a:rPr lang="en-US" b="1" dirty="0">
                <a:latin typeface="Calibri" panose="020F0502020204030204" pitchFamily="34" charset="0"/>
                <a:cs typeface="Calibri" panose="020F0502020204030204" pitchFamily="34" charset="0"/>
              </a:rPr>
              <a:t>4</a:t>
            </a:r>
          </a:p>
        </p:txBody>
      </p:sp>
      <p:sp>
        <p:nvSpPr>
          <p:cNvPr id="38" name="Text 16">
            <a:extLst>
              <a:ext uri="{FF2B5EF4-FFF2-40B4-BE49-F238E27FC236}">
                <a16:creationId xmlns:a16="http://schemas.microsoft.com/office/drawing/2014/main" id="{5745A70A-2978-544F-3243-5425A5051610}"/>
              </a:ext>
            </a:extLst>
          </p:cNvPr>
          <p:cNvSpPr txBox="1"/>
          <p:nvPr/>
        </p:nvSpPr>
        <p:spPr>
          <a:xfrm>
            <a:off x="1417320" y="4123944"/>
            <a:ext cx="9601200" cy="365760"/>
          </a:xfrm>
          <a:prstGeom prst="rect">
            <a:avLst/>
          </a:prstGeom>
          <a:noFill/>
          <a:ln/>
        </p:spPr>
        <p:txBody>
          <a:bodyPr wrap="square" lIns="0" tIns="0" rIns="0" bIns="0" rtlCol="0" anchor="t"/>
          <a:lstStyle/>
          <a:p>
            <a:pPr marL="0" indent="0">
              <a:buNone/>
            </a:pPr>
            <a:r>
              <a:rPr lang="en-US" sz="1900" b="1" dirty="0">
                <a:solidFill>
                  <a:schemeClr val="bg1"/>
                </a:solidFill>
                <a:latin typeface="Calibri" pitchFamily="34" charset="0"/>
                <a:ea typeface="Calibri" pitchFamily="34" charset="-122"/>
                <a:cs typeface="Calibri" pitchFamily="34" charset="-120"/>
              </a:rPr>
              <a:t>Park, don't sleep</a:t>
            </a:r>
            <a:endParaRPr lang="en-US" sz="1900" dirty="0"/>
          </a:p>
        </p:txBody>
      </p:sp>
      <p:sp>
        <p:nvSpPr>
          <p:cNvPr id="39" name="Text 17">
            <a:extLst>
              <a:ext uri="{FF2B5EF4-FFF2-40B4-BE49-F238E27FC236}">
                <a16:creationId xmlns:a16="http://schemas.microsoft.com/office/drawing/2014/main" id="{FDB375E9-00A4-66B8-B696-217704008AB8}"/>
              </a:ext>
            </a:extLst>
          </p:cNvPr>
          <p:cNvSpPr txBox="1"/>
          <p:nvPr/>
        </p:nvSpPr>
        <p:spPr>
          <a:xfrm>
            <a:off x="1417320" y="4489704"/>
            <a:ext cx="9601200" cy="329184"/>
          </a:xfrm>
          <a:prstGeom prst="rect">
            <a:avLst/>
          </a:prstGeom>
          <a:noFill/>
          <a:ln/>
        </p:spPr>
        <p:txBody>
          <a:bodyPr wrap="square" lIns="0" tIns="0" rIns="0" bIns="0" rtlCol="0" anchor="t"/>
          <a:lstStyle/>
          <a:p>
            <a:pPr marL="0" indent="0">
              <a:buNone/>
            </a:pPr>
            <a:r>
              <a:rPr lang="en-US" sz="1400" dirty="0">
                <a:solidFill>
                  <a:schemeClr val="accent3">
                    <a:lumMod val="40000"/>
                    <a:lumOff val="60000"/>
                  </a:schemeClr>
                </a:solidFill>
                <a:latin typeface="Calibri" pitchFamily="34" charset="0"/>
                <a:ea typeface="Calibri" pitchFamily="34" charset="-122"/>
                <a:cs typeface="Calibri" pitchFamily="34" charset="-120"/>
              </a:rPr>
              <a:t>use wait conditions for timers, events and input — the task frees its worker and slot</a:t>
            </a:r>
            <a:endParaRPr lang="en-US" sz="1400" dirty="0">
              <a:solidFill>
                <a:schemeClr val="accent3">
                  <a:lumMod val="40000"/>
                  <a:lumOff val="60000"/>
                </a:schemeClr>
              </a:solidFill>
            </a:endParaRPr>
          </a:p>
        </p:txBody>
      </p:sp>
      <p:sp>
        <p:nvSpPr>
          <p:cNvPr id="40" name="Shape 18">
            <a:extLst>
              <a:ext uri="{FF2B5EF4-FFF2-40B4-BE49-F238E27FC236}">
                <a16:creationId xmlns:a16="http://schemas.microsoft.com/office/drawing/2014/main" id="{3BA2ACB1-058A-1B4B-B0B0-44388AAE06BC}"/>
              </a:ext>
            </a:extLst>
          </p:cNvPr>
          <p:cNvSpPr/>
          <p:nvPr/>
        </p:nvSpPr>
        <p:spPr>
          <a:xfrm>
            <a:off x="548640" y="5029200"/>
            <a:ext cx="603504" cy="603504"/>
          </a:xfrm>
          <a:prstGeom prst="ellipse">
            <a:avLst/>
          </a:prstGeom>
          <a:solidFill>
            <a:schemeClr val="accent1">
              <a:lumMod val="20000"/>
              <a:lumOff val="80000"/>
            </a:schemeClr>
          </a:solidFill>
          <a:ln/>
        </p:spPr>
        <p:txBody>
          <a:bodyPr anchor="ctr"/>
          <a:lstStyle/>
          <a:p>
            <a:pPr algn="ctr"/>
            <a:r>
              <a:rPr lang="en-US" b="1" dirty="0">
                <a:latin typeface="Calibri" panose="020F0502020204030204" pitchFamily="34" charset="0"/>
                <a:cs typeface="Calibri" panose="020F0502020204030204" pitchFamily="34" charset="0"/>
              </a:rPr>
              <a:t>5</a:t>
            </a:r>
          </a:p>
        </p:txBody>
      </p:sp>
      <p:sp>
        <p:nvSpPr>
          <p:cNvPr id="42" name="Text 20">
            <a:extLst>
              <a:ext uri="{FF2B5EF4-FFF2-40B4-BE49-F238E27FC236}">
                <a16:creationId xmlns:a16="http://schemas.microsoft.com/office/drawing/2014/main" id="{1B48B89A-CF75-2747-6905-47FE0A4D808E}"/>
              </a:ext>
            </a:extLst>
          </p:cNvPr>
          <p:cNvSpPr txBox="1"/>
          <p:nvPr/>
        </p:nvSpPr>
        <p:spPr>
          <a:xfrm>
            <a:off x="1417320" y="4992624"/>
            <a:ext cx="9601200" cy="365760"/>
          </a:xfrm>
          <a:prstGeom prst="rect">
            <a:avLst/>
          </a:prstGeom>
          <a:noFill/>
          <a:ln/>
        </p:spPr>
        <p:txBody>
          <a:bodyPr wrap="square" lIns="0" tIns="0" rIns="0" bIns="0" rtlCol="0" anchor="t"/>
          <a:lstStyle/>
          <a:p>
            <a:pPr marL="0" indent="0">
              <a:buNone/>
            </a:pPr>
            <a:r>
              <a:rPr lang="en-US" sz="1900" b="1" dirty="0">
                <a:solidFill>
                  <a:schemeClr val="bg1"/>
                </a:solidFill>
                <a:latin typeface="Calibri" pitchFamily="34" charset="0"/>
                <a:ea typeface="Calibri" pitchFamily="34" charset="-122"/>
                <a:cs typeface="Calibri" pitchFamily="34" charset="-120"/>
              </a:rPr>
              <a:t>Honour back-pressure</a:t>
            </a:r>
            <a:endParaRPr lang="en-US" sz="1900" dirty="0"/>
          </a:p>
        </p:txBody>
      </p:sp>
      <p:sp>
        <p:nvSpPr>
          <p:cNvPr id="43" name="Text 21">
            <a:extLst>
              <a:ext uri="{FF2B5EF4-FFF2-40B4-BE49-F238E27FC236}">
                <a16:creationId xmlns:a16="http://schemas.microsoft.com/office/drawing/2014/main" id="{1298D1F3-4F20-6BF2-1B86-6853D307E8EF}"/>
              </a:ext>
            </a:extLst>
          </p:cNvPr>
          <p:cNvSpPr txBox="1"/>
          <p:nvPr/>
        </p:nvSpPr>
        <p:spPr>
          <a:xfrm>
            <a:off x="1417320" y="5358384"/>
            <a:ext cx="9601200" cy="329184"/>
          </a:xfrm>
          <a:prstGeom prst="rect">
            <a:avLst/>
          </a:prstGeom>
          <a:noFill/>
          <a:ln/>
        </p:spPr>
        <p:txBody>
          <a:bodyPr wrap="square" lIns="0" tIns="0" rIns="0" bIns="0" rtlCol="0" anchor="t"/>
          <a:lstStyle/>
          <a:p>
            <a:pPr marL="0" indent="0">
              <a:buNone/>
            </a:pPr>
            <a:r>
              <a:rPr lang="en-US" sz="1400" dirty="0">
                <a:solidFill>
                  <a:schemeClr val="accent3">
                    <a:lumMod val="40000"/>
                    <a:lumOff val="60000"/>
                  </a:schemeClr>
                </a:solidFill>
                <a:latin typeface="Calibri" pitchFamily="34" charset="0"/>
                <a:ea typeface="Calibri" pitchFamily="34" charset="-122"/>
                <a:cs typeface="Calibri" pitchFamily="34" charset="-120"/>
              </a:rPr>
              <a:t>429 / 503 carry Retry-After; the database is the truth, signals and caches are hints</a:t>
            </a:r>
            <a:endParaRPr lang="en-US" sz="1400" dirty="0">
              <a:solidFill>
                <a:schemeClr val="accent3">
                  <a:lumMod val="40000"/>
                  <a:lumOff val="60000"/>
                </a:schemeClr>
              </a:solidFill>
            </a:endParaRPr>
          </a:p>
        </p:txBody>
      </p:sp>
      <p:sp>
        <p:nvSpPr>
          <p:cNvPr id="44" name="Text 22">
            <a:extLst>
              <a:ext uri="{FF2B5EF4-FFF2-40B4-BE49-F238E27FC236}">
                <a16:creationId xmlns:a16="http://schemas.microsoft.com/office/drawing/2014/main" id="{697FED0A-41A2-E0EC-2B5F-F2566577F171}"/>
              </a:ext>
            </a:extLst>
          </p:cNvPr>
          <p:cNvSpPr txBox="1"/>
          <p:nvPr/>
        </p:nvSpPr>
        <p:spPr>
          <a:xfrm>
            <a:off x="548640" y="6035040"/>
            <a:ext cx="10058400" cy="320040"/>
          </a:xfrm>
          <a:prstGeom prst="rect">
            <a:avLst/>
          </a:prstGeom>
          <a:noFill/>
          <a:ln/>
        </p:spPr>
        <p:txBody>
          <a:bodyPr wrap="square" lIns="0" tIns="0" rIns="0" bIns="0" rtlCol="0" anchor="t"/>
          <a:lstStyle/>
          <a:p>
            <a:pPr marL="0" indent="0">
              <a:buNone/>
            </a:pPr>
            <a:r>
              <a:rPr lang="en-US" sz="1300" dirty="0">
                <a:solidFill>
                  <a:srgbClr val="6BA5F0"/>
                </a:solidFill>
                <a:latin typeface="Calibri" pitchFamily="34" charset="0"/>
                <a:ea typeface="Calibri" pitchFamily="34" charset="-122"/>
                <a:cs typeface="Calibri" pitchFamily="34" charset="-120"/>
              </a:rPr>
              <a:t>Read next: gears/task-engine/docs/PRD.md · DESIGN.md · ADR/0001 · schemas/</a:t>
            </a:r>
            <a:endParaRPr lang="en-US" sz="1300" dirty="0">
              <a:solidFill>
                <a:srgbClr val="6BA5F0"/>
              </a:solidFill>
            </a:endParaRPr>
          </a:p>
        </p:txBody>
      </p:sp>
    </p:spTree>
    <p:extLst>
      <p:ext uri="{BB962C8B-B14F-4D97-AF65-F5344CB8AC3E}">
        <p14:creationId xmlns:p14="http://schemas.microsoft.com/office/powerpoint/2010/main" val="1780481600"/>
      </p:ext>
    </p:extLst>
  </p:cSld>
  <p:clrMapOvr>
    <a:masterClrMapping/>
  </p:clrMapOvr>
</p:sld>
</file>

<file path=ppt/theme/theme1.xml><?xml version="1.0" encoding="utf-8"?>
<a:theme xmlns:a="http://schemas.openxmlformats.org/drawingml/2006/main" name="Office Theme">
  <a:themeElements>
    <a:clrScheme name="Constructor Fabric Extended 2026">
      <a:dk1>
        <a:srgbClr val="000000"/>
      </a:dk1>
      <a:lt1>
        <a:srgbClr val="FFFFFF"/>
      </a:lt1>
      <a:dk2>
        <a:srgbClr val="00204D"/>
      </a:dk2>
      <a:lt2>
        <a:srgbClr val="F2F6FC"/>
      </a:lt2>
      <a:accent1>
        <a:srgbClr val="0065E3"/>
      </a:accent1>
      <a:accent2>
        <a:srgbClr val="087582"/>
      </a:accent2>
      <a:accent3>
        <a:srgbClr val="8545D6"/>
      </a:accent3>
      <a:accent4>
        <a:srgbClr val="15803D"/>
      </a:accent4>
      <a:accent5>
        <a:srgbClr val="F4B544"/>
      </a:accent5>
      <a:accent6>
        <a:srgbClr val="C92E47"/>
      </a:accent6>
      <a:hlink>
        <a:srgbClr val="0065E3"/>
      </a:hlink>
      <a:folHlink>
        <a:srgbClr val="2668C5"/>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Blue 600">
      <a:srgbClr val="2668C5"/>
    </a:custClr>
    <a:custClr name="Blue 300">
      <a:srgbClr val="6BA5F0"/>
    </a:custClr>
    <a:custClr name="Navy 700">
      <a:srgbClr val="0A2D63"/>
    </a:custClr>
    <a:custClr name="Deep navy">
      <a:srgbClr val="001838"/>
    </a:custClr>
    <a:custClr name="Ink">
      <a:srgbClr val="243143"/>
    </a:custClr>
    <a:custClr name="Muted">
      <a:srgbClr val="6E7B8C"/>
    </a:custClr>
    <a:custClr name="Border">
      <a:srgbClr val="DCE3EE"/>
    </a:custClr>
    <a:custClr name="Amber text">
      <a:srgbClr val="995600"/>
    </a:custClr>
    <a:custClr name="Blue light">
      <a:srgbClr val="E6EFFA"/>
    </a:custClr>
    <a:custClr name="Teal light">
      <a:srgbClr val="E7F5F6"/>
    </a:custClr>
    <a:custClr name="Lilac light">
      <a:srgbClr val="F3ECFB"/>
    </a:custClr>
    <a:custClr name="Green light">
      <a:srgbClr val="EAF6EE"/>
    </a:custClr>
    <a:custClr name="Amber light">
      <a:srgbClr val="FFF3D6"/>
    </a:custClr>
    <a:custClr name="Red light">
      <a:srgbClr val="FDECF0"/>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349</TotalTime>
  <Words>9953</Words>
  <Application>Microsoft Macintosh PowerPoint</Application>
  <PresentationFormat>Widescreen</PresentationFormat>
  <Paragraphs>1487</Paragraphs>
  <Slides>36</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Arial</vt:lpstr>
      <vt:lpstr>Calibri</vt:lpstr>
      <vt:lpstr>Courier New</vt:lpstr>
      <vt:lpstr>Office Theme</vt:lpstr>
      <vt:lpstr>PowerPoint Presentation</vt:lpstr>
      <vt:lpstr>Context, scope &amp; the key decision</vt:lpstr>
      <vt:lpstr>Add use-cases</vt:lpstr>
      <vt:lpstr>The problem: background work spread across many services</vt:lpstr>
      <vt:lpstr>Industry options vs. what our PRD needs</vt:lpstr>
      <vt:lpstr>ADR-0001: four ways to build it — our own Gear is the winner</vt:lpstr>
      <vt:lpstr>One engine for all background work in Gears</vt:lpstr>
      <vt:lpstr>Eight words you need before anything else</vt:lpstr>
      <vt:lpstr>What ships when: P1 core, then P2 and P3</vt:lpstr>
      <vt:lpstr>Correctness lives in one place: the operational store</vt:lpstr>
      <vt:lpstr>Architecture</vt:lpstr>
      <vt:lpstr>Big picture: one gear, one database, platform gears</vt:lpstr>
      <vt:lpstr>Standard Gear structure</vt:lpstr>
      <vt:lpstr>Domain model: the Task and what hangs off it</vt:lpstr>
      <vt:lpstr>Task state machine: who moves the task</vt:lpstr>
      <vt:lpstr>Storage: a hot/cold split keeps heartbeats cheap</vt:lpstr>
      <vt:lpstr>Main flows</vt:lpstr>
      <vt:lpstr>Happy path: create → claim → run → complete</vt:lpstr>
      <vt:lpstr>Atomic claim, step by step: two workers race for T42</vt:lpstr>
      <vt:lpstr>Lease fencing stops zombie workers</vt:lpstr>
      <vt:lpstr>Cancellation: three modes, one terminal state</vt:lpstr>
      <vt:lpstr>Timeouts and retries: two mechanisms, one rule set</vt:lpstr>
      <vt:lpstr>Creating a task: one transaction, five gates</vt:lpstr>
      <vt:lpstr>Durable waits: park the task, resume on an event</vt:lpstr>
      <vt:lpstr>Interfaces</vt:lpstr>
      <vt:lpstr>REST API at a glance: /api/task_engine/v1</vt:lpstr>
      <vt:lpstr>Rust SDK: the same API in-process, with a lease handle</vt:lpstr>
      <vt:lpstr>Error contract: know these and you know the API</vt:lpstr>
      <vt:lpstr>Events: committed with state, delivered via outbox</vt:lpstr>
      <vt:lpstr>Running it &amp; what comes next</vt:lpstr>
      <vt:lpstr>Scale out: identical nodes, shared DB, sharded loops</vt:lpstr>
      <vt:lpstr>Back-pressure: 5,000 sockets ≠ 5,000 DB connections</vt:lpstr>
      <vt:lpstr>Decision log: what we chose and what we didn't</vt:lpstr>
      <vt:lpstr>P2 in brief: relationships, waits, finer control</vt:lpstr>
      <vt:lpstr>P3 in brief: multi-DB storage and fine tuning</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Alexander Andreev</dc:creator>
  <cp:keywords/>
  <dc:description/>
  <cp:lastModifiedBy>Alexander Andreev</cp:lastModifiedBy>
  <cp:revision>7</cp:revision>
  <dcterms:created xsi:type="dcterms:W3CDTF">2026-10-09T08:19:06Z</dcterms:created>
  <dcterms:modified xsi:type="dcterms:W3CDTF">2026-10-09T14:08:29Z</dcterms:modified>
  <cp:category/>
</cp:coreProperties>
</file>